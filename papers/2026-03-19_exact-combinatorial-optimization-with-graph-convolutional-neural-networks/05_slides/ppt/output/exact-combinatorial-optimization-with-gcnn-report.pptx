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paper learns a branching policy for MILP branch-and-bound, not an end-to-end neural solver.
The learned component replaces only variable selection inside SCIP.
Evidence: Abstract; Section 1 Introduction; Section 5.2 Comparative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frames the paper as a tradeoff between expensive expert decisions and usable solver-time decisions.
The evaluation target is not just imitation accuracy but downstream solve time and node count.
Evidence: Section 1; Section 3.3 MDP formulation; Section 5.1 evaluation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important change here is not just using a GNN, but using the bipartite MILP graph and direct action imitation.
The deployed policy only decides which variable to branch on next.
Evidence: Figure 2; Section 4.1; Section 4.2; Section 4.3.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critical point is that supervision is the expert action chosen at a node.
The dataset is benchmark-specific and collected with a side-effect-free strong branching implementation.
Evidence: Section 4.1; Section 5.1 Training; Supplementary Section 1 dataset collection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proposed architecture is intentionally shallow enough to keep inference cost low inside the solver.
The paper claims sum aggregation and prenorm are the key architectural choices for larger-instance generalization.
Evidence: Figure 2; Section 4.2; Section 4.3; Table 3; Section 5.3.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paper is unusually clean on output / loss / inference alignment.
The remaining mismatch is one level higher: optimize imitation, evaluate solve efficiency.
Evidence: Equation (3); Section 4.1; Section 4.3; Section 5.1.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describe this as the first imitation-learning branching paper.
The stronger novelty claim is the combination of graph representation, GCNN policy, action classification, and full-solver evaluation.
Evidence: Section 2; Table 1; Table 2; Table 3; Section 5.2; Section 5.3.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strong closing line is that the solver remains classical and exact; the learned model modernizes one important decision rule.
Future directions naturally include stronger downstream objectives and reinforcement-learning variants.
Evidence: Section 4.2; Section 5.2; Section 6 Discussion; Section 7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6459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14884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17320" y="14630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Exact Combinatorial Optimization with Graph Convolutional Neural Networks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35608" y="393192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NeurIPS 2019 | Maxime Gasse, Didier Chetelat, Nicola Ferroni, Laurent Charlin, Andrea Lodi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65836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987552"/>
            <a:ext cx="65379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152144"/>
            <a:ext cx="1298448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21615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Takeaway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62763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branching inside an exact MILP solver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68680" y="2121408"/>
            <a:ext cx="5623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bipartite GCNN imitates strong branching decisions, improves over prior learning-to-branch baselines, and still transfers to instances larger than those seen during training.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06324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Task: variable selection in branch-and-bound for mixed-integer linear programs.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Representation: current LP state as a variable-constraint bipartite graph.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setup: behavioral cloning from strong branching expert actions.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Scope: brancher only; SCIP still handles LP solves, cuts, heuristics, and exact search.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516368" y="1060704"/>
            <a:ext cx="1993392" cy="109728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2672" y="117043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62672" y="1362456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MILP branching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662672" y="1682496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next branching variable in branch-and-bound.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46920" y="1060704"/>
            <a:ext cx="1901952" cy="109728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93224" y="1170432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793224" y="136245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branching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793224" y="168249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High-quality but computationally expensive per-node decisions.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16368" y="2340864"/>
            <a:ext cx="4032504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2672" y="2450592"/>
            <a:ext cx="3739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662672" y="2642616"/>
            <a:ext cx="3739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ML brancher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662672" y="2962656"/>
            <a:ext cx="3739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Outperforms earlier ML baselines and can beat SCIP's default branching rule on large problems.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16368" y="3730752"/>
            <a:ext cx="403250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35824" y="3877056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08976" y="3941064"/>
            <a:ext cx="15910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 in the solver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17536" y="4279392"/>
            <a:ext cx="960120" cy="676656"/>
          </a:xfrm>
          <a:prstGeom prst="roundRect">
            <a:avLst>
              <a:gd name="adj" fmla="val 8108"/>
            </a:avLst>
          </a:prstGeom>
          <a:solidFill>
            <a:srgbClr val="FFF7ED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45552" y="4389120"/>
            <a:ext cx="704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45552" y="4626864"/>
            <a:ext cx="704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instance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778240" y="4517136"/>
            <a:ext cx="402336" cy="237744"/>
          </a:xfrm>
          <a:prstGeom prst="chevron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17152" y="4279392"/>
            <a:ext cx="1078992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45168" y="43891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B&amp;B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45168" y="46268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tree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405872" y="4517136"/>
            <a:ext cx="402336" cy="237744"/>
          </a:xfrm>
          <a:prstGeom prst="chevron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844784" y="4279392"/>
            <a:ext cx="512064" cy="676656"/>
          </a:xfrm>
          <a:prstGeom prst="roundRect">
            <a:avLst>
              <a:gd name="adj" fmla="val 10714"/>
            </a:avLst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2800" y="43891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GCNN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972800" y="46268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30352" y="6419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6473952"/>
            <a:ext cx="7498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Abstract; Section 1; Section 5.2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372600" y="647395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PaperReadand Report | exact-combinatorial-optimization-with-gcnn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6459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14884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17320" y="14630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Question and Why It Matters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35608" y="393192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quality versus inference cost inside exact branch-and-bound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65836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932688"/>
            <a:ext cx="5669280" cy="5376672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078992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143000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77824" y="1572768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a learned policy approximate strong branching quality without paying its per-node cost?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MILP search states be encoded without large hand-crafted feature sets?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 learned policy transfer to larger instances than seen during training?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Will better imitation accuracy inside the brancher translate into fewer B&amp;B nodes and lower solve time?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96112" y="4526280"/>
            <a:ext cx="5084064" cy="109728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7823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goal: improve an exact solver on a family of related MILPs without rewriting the full search algorithm.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37960" y="932688"/>
            <a:ext cx="5010912" cy="5376672"/>
          </a:xfrm>
          <a:prstGeom prst="roundRect">
            <a:avLst>
              <a:gd name="adj" fmla="val 10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48272" y="1078992"/>
            <a:ext cx="1755648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21424" y="1143000"/>
            <a:ext cx="1609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/ Cost Tradeoff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50608" y="5413248"/>
            <a:ext cx="3383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150608" y="5413248"/>
            <a:ext cx="0" cy="-349300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619488" y="55046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cost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56832" y="18470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quality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61504" y="4626864"/>
            <a:ext cx="1517904" cy="749808"/>
          </a:xfrm>
          <a:prstGeom prst="roundRect">
            <a:avLst>
              <a:gd name="adj" fmla="val 7317"/>
            </a:avLst>
          </a:prstGeom>
          <a:solidFill>
            <a:srgbClr val="FFF7ED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473659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heuristics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89520" y="4974336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fast, hand-designed,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general-purpose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80576" y="2359152"/>
            <a:ext cx="1517904" cy="804672"/>
          </a:xfrm>
          <a:prstGeom prst="roundRect">
            <a:avLst>
              <a:gd name="adj" fmla="val 6818"/>
            </a:avLst>
          </a:prstGeom>
          <a:solidFill>
            <a:srgbClr val="FEE2E2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08592" y="246888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branching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08592" y="270662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excellent choices,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per node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11312" y="3310128"/>
            <a:ext cx="1591056" cy="786384"/>
          </a:xfrm>
          <a:prstGeom prst="roundRect">
            <a:avLst>
              <a:gd name="adj" fmla="val 6977"/>
            </a:avLst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9328" y="341985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GCNN policy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39328" y="365760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expert-like quality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lower cost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76288" y="5724144"/>
            <a:ext cx="4261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 measures success inside a full SCIP solver, not on an isolated classifier benchmark.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30352" y="6419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73952"/>
            <a:ext cx="7498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Section 1; Section 3.3; Section 5.1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372600" y="647395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PaperReadand Report | exact-combinatorial-optimization-with-gcnn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6459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14884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17320" y="14630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 at a Glance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35608" y="393192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2 distilled into one state -&gt; policy -&gt; branch-action pipeline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65836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932688"/>
            <a:ext cx="10972800" cy="5376672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097280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61288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96112" y="1847088"/>
            <a:ext cx="169164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1956816"/>
            <a:ext cx="1435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2194560"/>
            <a:ext cx="1435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B&amp;B node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LP relaxation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97480" y="2267712"/>
            <a:ext cx="402336" cy="237744"/>
          </a:xfrm>
          <a:prstGeom prst="chevron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1847088"/>
            <a:ext cx="169164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45536" y="1956816"/>
            <a:ext cx="1435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45536" y="2194560"/>
            <a:ext cx="1435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Bipartite state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s_t = (G, C, E, V)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18888" y="2267712"/>
            <a:ext cx="402336" cy="237744"/>
          </a:xfrm>
          <a:prstGeom prst="chevron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1847088"/>
            <a:ext cx="1965960" cy="1078992"/>
          </a:xfrm>
          <a:prstGeom prst="roundRect">
            <a:avLst>
              <a:gd name="adj" fmla="val 5085"/>
            </a:avLst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66944" y="1956816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66944" y="219456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GCNN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pi_theta(a | s_t)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14616" y="2267712"/>
            <a:ext cx="402336" cy="237744"/>
          </a:xfrm>
          <a:prstGeom prst="chevron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26096" y="1847088"/>
            <a:ext cx="169164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54112" y="1956816"/>
            <a:ext cx="1435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54112" y="2194560"/>
            <a:ext cx="1435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Masked scores over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variables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427464" y="2267712"/>
            <a:ext cx="402336" cy="237744"/>
          </a:xfrm>
          <a:prstGeom prst="chevron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47504" y="1847088"/>
            <a:ext cx="169164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0" y="1956816"/>
            <a:ext cx="1435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75520" y="2194560"/>
            <a:ext cx="1435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 on the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highest-ranked variable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4400" y="3401568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LP state at a B&amp;B node, not the entire solver history.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Exploit the natural variable-constraint graph instead of relying on heavy manual feature engineering.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on expert actions directly, rather than predicting strong branching scores or rankings.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rest of SCIP untouched so the policy plugs into a realistic exact-solver workflow.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7022592" y="3255264"/>
            <a:ext cx="4160520" cy="1993392"/>
          </a:xfrm>
          <a:prstGeom prst="roundRect">
            <a:avLst>
              <a:gd name="adj" fmla="val 2752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78624" y="3456432"/>
            <a:ext cx="1682496" cy="256032"/>
          </a:xfrm>
          <a:prstGeom prst="roundRect">
            <a:avLst>
              <a:gd name="adj" fmla="val 17857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51776" y="3520440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formulation matters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278624" y="384048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work often imitated strong branching via score regression or ranking.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278624" y="4315968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paper instead uses action classification, which makes the supervision target cleaner and closer to the deployed policy.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30352" y="6419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473952"/>
            <a:ext cx="7498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Figure 2; Section 4.1; Section 4.2; Section 4.3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372600" y="647395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PaperReadand Report | exact-combinatorial-optimization-with-gcnn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6459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14884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17320" y="14630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and Supervision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35608" y="393192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State-action pairs extracted from branch-and-bound using a side-effect-free strong branching oracle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65836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932688"/>
            <a:ext cx="5577840" cy="5376672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078992"/>
            <a:ext cx="1298448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143000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Supervision design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572768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benchmark families: set covering, combinatorial auction, capacitated facility location, and maximum independent set.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benchmark: 100,000 training samples and 20,000 validation samples, with matching test collection.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label is the expert's chosen branching variable at a B&amp;B node.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label is a discrete action, not a tree-size value, node bound, or scalar score.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96112" y="4187952"/>
            <a:ext cx="4983480" cy="1024128"/>
          </a:xfrm>
          <a:prstGeom prst="roundRect">
            <a:avLst>
              <a:gd name="adj" fmla="val 5357"/>
            </a:avLst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4439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vanillafullstrong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87168" y="44074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authors re-implement strong branching without solver side effects so dataset collection is clean and reproducible.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932688"/>
            <a:ext cx="5166360" cy="5376672"/>
          </a:xfrm>
          <a:prstGeom prst="roundRect">
            <a:avLst>
              <a:gd name="adj" fmla="val 10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20256" y="1078992"/>
            <a:ext cx="1024128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93408" y="1143000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flow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56832" y="1591056"/>
            <a:ext cx="1078992" cy="804672"/>
          </a:xfrm>
          <a:prstGeom prst="roundRect">
            <a:avLst>
              <a:gd name="adj" fmla="val 6818"/>
            </a:avLst>
          </a:prstGeom>
          <a:solidFill>
            <a:srgbClr val="FFF7ED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4848" y="170078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instances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84848" y="19385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benchmark family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a time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882128" y="1856232"/>
            <a:ext cx="384048" cy="237744"/>
          </a:xfrm>
          <a:prstGeom prst="chevron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02752" y="1591056"/>
            <a:ext cx="126187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30768" y="170078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SCIP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0768" y="19385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B&amp;B node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710928" y="1856232"/>
            <a:ext cx="384048" cy="237744"/>
          </a:xfrm>
          <a:prstGeom prst="chevron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31552" y="1591056"/>
            <a:ext cx="1078992" cy="804672"/>
          </a:xfrm>
          <a:prstGeom prst="roundRect">
            <a:avLst>
              <a:gd name="adj" fmla="val 6818"/>
            </a:avLst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59568" y="170078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label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59568" y="19385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 action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node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56832" y="2788920"/>
            <a:ext cx="2084832" cy="841248"/>
          </a:xfrm>
          <a:prstGeom prst="roundRect">
            <a:avLst>
              <a:gd name="adj" fmla="val 6522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4848" y="2916936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covering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84848" y="3209544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/ medium / hard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979408" y="2788920"/>
            <a:ext cx="208483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07424" y="2916936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Combinatorial auction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07424" y="3209544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/ medium / hard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56832" y="3867912"/>
            <a:ext cx="2084832" cy="841248"/>
          </a:xfrm>
          <a:prstGeom prst="roundRect">
            <a:avLst>
              <a:gd name="adj" fmla="val 6522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84848" y="399592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Facility location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84848" y="428853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/ medium / hard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979408" y="3867912"/>
            <a:ext cx="208483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07424" y="399592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independent set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107424" y="428853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/ medium / hard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56832" y="5102352"/>
            <a:ext cx="464515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03136" y="5212080"/>
            <a:ext cx="4352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scale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803136" y="5404104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100k / 20k / 20k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803136" y="5724144"/>
            <a:ext cx="43525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/ validation / test state-action samples per benchmark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30352" y="6419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6473952"/>
            <a:ext cx="7498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Section 4.1; Section 5.1; Supplementary Section 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372600" y="647395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PaperReadand Report | exact-combinatorial-optimization-with-gcnn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6459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14884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17320" y="14630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GCNN Architecture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35608" y="393192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Bipartite message passing over constraints, variables, and sparse edge features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65836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932688"/>
            <a:ext cx="4892040" cy="5376672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078992"/>
            <a:ext cx="1353312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43000"/>
            <a:ext cx="12070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facts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77824" y="1572768"/>
            <a:ext cx="416052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 are constraint nodes, variable nodes, and sparse edge features from the current LP relaxation.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graph convolution is split into two half-convolutions: variable -&gt; constraint and constraint -&gt; variable.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message/update function is a 2-layer MLP.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final 2-layer perceptron scores variable nodes only, followed by masked softmax.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proposed variant uses sum aggregation and prenorm rather than mean aggregation.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877824" y="4937760"/>
            <a:ext cx="4206240" cy="841248"/>
          </a:xfrm>
          <a:prstGeom prst="roundRect">
            <a:avLst>
              <a:gd name="adj" fmla="val 6522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519379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Ablation takeaway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22576" y="513892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larger set covering instances, sum aggregation + prenorm generalizes better than mean or sum-without-prenorm.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5742432" y="932688"/>
            <a:ext cx="5824728" cy="5376672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0176" y="1078992"/>
            <a:ext cx="1426464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1143000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2 style diagram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3328" y="1719072"/>
            <a:ext cx="1426464" cy="932688"/>
          </a:xfrm>
          <a:prstGeom prst="roundRect">
            <a:avLst>
              <a:gd name="adj" fmla="val 5882"/>
            </a:avLst>
          </a:prstGeom>
          <a:solidFill>
            <a:srgbClr val="FFF7ED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1344" y="182880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Bipartite graph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81344" y="2066544"/>
            <a:ext cx="1170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 nodes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nodes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features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26096" y="2066544"/>
            <a:ext cx="384048" cy="237744"/>
          </a:xfrm>
          <a:prstGeom prst="chevron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65008" y="1719072"/>
            <a:ext cx="1499616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93024" y="182880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Half-conv 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93024" y="2066544"/>
            <a:ext cx="1243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-&gt;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710928" y="2066544"/>
            <a:ext cx="384048" cy="237744"/>
          </a:xfrm>
          <a:prstGeom prst="chevron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31552" y="1719072"/>
            <a:ext cx="102412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59568" y="182880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Half-conv 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59568" y="2066544"/>
            <a:ext cx="768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 -&gt;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55664" y="3255264"/>
            <a:ext cx="1554480" cy="841248"/>
          </a:xfrm>
          <a:prstGeom prst="roundRect">
            <a:avLst>
              <a:gd name="adj" fmla="val 6522"/>
            </a:avLst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336499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 aggregation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3602736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counting-style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11312" y="3255264"/>
            <a:ext cx="1371600" cy="841248"/>
          </a:xfrm>
          <a:prstGeom prst="roundRect">
            <a:avLst>
              <a:gd name="adj" fmla="val 6522"/>
            </a:avLst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9328" y="33649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Prenorm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39328" y="3602736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stabilizes training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optimization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802368" y="3255264"/>
            <a:ext cx="135331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30384" y="33649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head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930384" y="360273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2-layer MLP 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nodes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748272" y="4462272"/>
            <a:ext cx="42976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6784848" y="4626864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masked softmax over candidate branching variables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144768" y="5047488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 nodes are discarded at the end; the action is decided on variable nodes.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30352" y="6419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6473952"/>
            <a:ext cx="7498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Figure 2; Section 4.2; Section 4.3; Section 5.3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372600" y="647395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PaperReadand Report | exact-combinatorial-optimization-with-gcnn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6459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14884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17320" y="14630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Output, Loss, and Inference Are Aligned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35608" y="393192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of the cleanest action-level alignment stories in the paper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65836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932688"/>
            <a:ext cx="5486400" cy="5376672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07899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43000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equations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77824" y="1572768"/>
            <a:ext cx="4983480" cy="1060704"/>
          </a:xfrm>
          <a:prstGeom prst="roundRect">
            <a:avLst>
              <a:gd name="adj" fmla="val 5172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175564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output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93392" y="1737360"/>
            <a:ext cx="1645920" cy="40233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86200" y="17373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masked softmax over candidate branching variables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77824" y="2816352"/>
            <a:ext cx="4983480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0704" y="2999232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loss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0704" y="3218688"/>
            <a:ext cx="4389120" cy="4572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77824" y="4224528"/>
            <a:ext cx="4983480" cy="1005840"/>
          </a:xfrm>
          <a:prstGeom prst="roundRect">
            <a:avLst>
              <a:gd name="adj" fmla="val 5455"/>
            </a:avLst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60704" y="442569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rule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0704" y="4608576"/>
            <a:ext cx="4389120" cy="38404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400800" y="932688"/>
            <a:ext cx="5166360" cy="5376672"/>
          </a:xfrm>
          <a:prstGeom prst="roundRect">
            <a:avLst>
              <a:gd name="adj" fmla="val 10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620256" y="1078992"/>
            <a:ext cx="987552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693408" y="1143000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675120" y="1664208"/>
            <a:ext cx="1426464" cy="896112"/>
          </a:xfrm>
          <a:prstGeom prst="roundRect">
            <a:avLst>
              <a:gd name="adj" fmla="val 6122"/>
            </a:avLst>
          </a:prstGeom>
          <a:solidFill>
            <a:srgbClr val="FFF7ED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803136" y="177393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803136" y="20116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probability distribution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 legal branch actions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8211312" y="1993392"/>
            <a:ext cx="384048" cy="237744"/>
          </a:xfrm>
          <a:prstGeom prst="chevron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650224" y="1664208"/>
            <a:ext cx="1426464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778240" y="177393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8778240" y="20116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imitate expert's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chosen action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10186416" y="1993392"/>
            <a:ext cx="384048" cy="237744"/>
          </a:xfrm>
          <a:prstGeom prst="chevron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10625328" y="1664208"/>
            <a:ext cx="658368" cy="896112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10753344" y="177393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10753344" y="201168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6693408" y="3072384"/>
            <a:ext cx="42976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local action space is the same at training and inference time.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 does not train on solve time or node count directly; those remain downstream metrics.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action-level alignment is strong, but objective-level alignment is still surrogate learning.</a:t>
            </a:r>
            <a:endParaRPr lang="en-US" sz="1350" dirty="0"/>
          </a:p>
        </p:txBody>
      </p:sp>
      <p:sp>
        <p:nvSpPr>
          <p:cNvPr id="36" name="Shape 31"/>
          <p:cNvSpPr/>
          <p:nvPr/>
        </p:nvSpPr>
        <p:spPr>
          <a:xfrm>
            <a:off x="6656832" y="4901184"/>
            <a:ext cx="4590288" cy="896112"/>
          </a:xfrm>
          <a:prstGeom prst="roundRect">
            <a:avLst>
              <a:gd name="adj" fmla="val 6122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876288" y="513892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nuance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8083296" y="5065776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bigger mismatch is not output/loss/inference. It is imitation of a high-quality expert versus optimization of global solver efficiency.</a:t>
            </a:r>
            <a:endParaRPr lang="en-US" sz="1120" dirty="0"/>
          </a:p>
        </p:txBody>
      </p:sp>
      <p:sp>
        <p:nvSpPr>
          <p:cNvPr id="39" name="Shape 34"/>
          <p:cNvSpPr/>
          <p:nvPr/>
        </p:nvSpPr>
        <p:spPr>
          <a:xfrm>
            <a:off x="530352" y="6419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566928" y="6473952"/>
            <a:ext cx="7498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Equation (3); Section 4.1; Section 4.3; Section 5.1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9372600" y="647395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PaperReadand Report | exact-combinatorial-optimization-with-gcnn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6459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14884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17320" y="14630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Novelty and Experimental Evidence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35608" y="393192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 the representation, formulation, and realistic solver evaluation, not an exaggerated priority claim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65836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932688"/>
            <a:ext cx="3840480" cy="5376672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078992"/>
            <a:ext cx="1024128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43000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novelty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77824" y="1572768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Bipartite MILP graph state encoding instead of heavier manual feature engineering.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GCNN policy over branch actions rather than rank or score prediction.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inside a realistic SCIP setup, including comparison to default branching.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7824" y="3858768"/>
            <a:ext cx="3291840" cy="1389888"/>
          </a:xfrm>
          <a:prstGeom prst="roundRect">
            <a:avLst>
              <a:gd name="adj" fmla="val 394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409651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runtime highlight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0704" y="435254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covering, medium: GCNN 10.29 s versus LMART 14.42 s and SCIP RPB 17.41 s.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1060704" y="4773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 also reports 99/100 wins for GCNN on that split.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4645152" y="932688"/>
            <a:ext cx="3749040" cy="5376672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64608" y="1078992"/>
            <a:ext cx="1024128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143000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 1: acc@1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01184" y="140817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GCNN versus best prior ML baseline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01184" y="186537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covering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64224" y="186537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GCNN 65.5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64224" y="204825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57.6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50024" y="1883664"/>
            <a:ext cx="141732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50024" y="1883664"/>
            <a:ext cx="928345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50024" y="2066544"/>
            <a:ext cx="141732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50024" y="2066544"/>
            <a:ext cx="816376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1184" y="259689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Comb. auction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64224" y="25968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GCNN 61.6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64224" y="277977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57.3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50024" y="2615184"/>
            <a:ext cx="141732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50024" y="2615184"/>
            <a:ext cx="873069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50024" y="2798064"/>
            <a:ext cx="141732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50024" y="2798064"/>
            <a:ext cx="812124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332841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Facility location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64224" y="33284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GCNN 71.2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64224" y="35112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68.0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050024" y="3346704"/>
            <a:ext cx="141732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50024" y="3346704"/>
            <a:ext cx="1009132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50024" y="3529584"/>
            <a:ext cx="141732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50024" y="3529584"/>
            <a:ext cx="963778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01184" y="405993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indep. set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64224" y="40599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GCNN 56.5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64224" y="42428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48.9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050024" y="4078224"/>
            <a:ext cx="141732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50024" y="4078224"/>
            <a:ext cx="800786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50024" y="4261104"/>
            <a:ext cx="141732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50024" y="4261104"/>
            <a:ext cx="693069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64608" y="5010912"/>
            <a:ext cx="3090672" cy="749808"/>
          </a:xfrm>
          <a:prstGeom prst="roundRect">
            <a:avLst>
              <a:gd name="adj" fmla="val 7317"/>
            </a:avLst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84064" y="524865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833872" y="5230368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acc@1 on all four benchmarks.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577072" y="932688"/>
            <a:ext cx="2990088" cy="537667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96528" y="1078992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869680" y="1143000"/>
            <a:ext cx="9692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 2 / Table 3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814816" y="1664208"/>
            <a:ext cx="2468880" cy="987552"/>
          </a:xfrm>
          <a:prstGeom prst="roundRect">
            <a:avLst>
              <a:gd name="adj" fmla="val 5556"/>
            </a:avLst>
          </a:prstGeom>
          <a:solidFill>
            <a:srgbClr val="FFF7ED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42832" y="177393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Generalization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942832" y="201168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on easy only;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still improves solver behavior on medium / hard instances.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814816" y="2834640"/>
            <a:ext cx="246888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42832" y="2944368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Ablation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942832" y="318211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larger set covering instances,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 + prenorm beats mean and sum-without-prenorm.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814816" y="4005072"/>
            <a:ext cx="2468880" cy="987552"/>
          </a:xfrm>
          <a:prstGeom prst="roundRect">
            <a:avLst>
              <a:gd name="adj" fmla="val 5556"/>
            </a:avLst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42832" y="4114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Nuance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942832" y="435254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 shrink as problems grow much larger; speed-quality tradeoff remains.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30352" y="6419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6928" y="6473952"/>
            <a:ext cx="7498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Section 2; Table 1; Table 2; Table 3; Section 5.2; Section 5.3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372600" y="647395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PaperReadand Report | exact-combinatorial-optimization-with-gcnn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6459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14884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17320" y="14630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Strengths, Limits, and Takeaways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35608" y="393192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the paper is strongest, and where to stay disciplined in claiming novelty or capability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65836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932688"/>
            <a:ext cx="5212080" cy="4443984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078992"/>
            <a:ext cx="804672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43000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96112" y="1664208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1773936"/>
            <a:ext cx="4407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action design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2011680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Output, loss, and deployed inference operate on the same action space.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6112" y="274320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2852928"/>
            <a:ext cx="4407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 win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24128" y="3090672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bipartite graph reduces manual feature engineering and respects variable-sized MILPs.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6112" y="3822192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3931920"/>
            <a:ext cx="4407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Realistic evaluation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4169664"/>
            <a:ext cx="4407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policy is tested inside SCIP rather than in a stripped-down research solver.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08192" y="932688"/>
            <a:ext cx="5458968" cy="4443984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27648" y="1078992"/>
            <a:ext cx="585216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14300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82512" y="1664208"/>
            <a:ext cx="4910328" cy="91440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1773936"/>
            <a:ext cx="4654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 observability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10528" y="2011680"/>
            <a:ext cx="4654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graph state is only a subset of the full solver state, so the process is effectively a POMDP.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82512" y="2743200"/>
            <a:ext cx="491032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2852928"/>
            <a:ext cx="4654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Surrogate objective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10528" y="3090672"/>
            <a:ext cx="4654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imitates strong branching instead of directly optimizing solve time or node count.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82512" y="3822192"/>
            <a:ext cx="4910328" cy="9144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3931920"/>
            <a:ext cx="4654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 caveat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10528" y="4169664"/>
            <a:ext cx="4654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gains shrink on much larger instances; larger models can hurt wall-clock time despite better decisions.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50976" y="5504688"/>
            <a:ext cx="10351008" cy="438912"/>
          </a:xfrm>
          <a:prstGeom prst="roundRect">
            <a:avLst>
              <a:gd name="adj" fmla="val 12500"/>
            </a:avLst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07008" y="5632704"/>
            <a:ext cx="9838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this paper is best understood as learned branching inside a classical exact solver, not as a standalone neural combinatorial optimizer.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30352" y="6419088"/>
            <a:ext cx="11082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473952"/>
            <a:ext cx="7498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Section 4.2; Section 5.2; Section 6; Section 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372600" y="647395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PaperReadand Report | exact-combinatorial-optimization-with-gcnn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PaperReadand Report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Exact Combinatorial Optimization with GCNNs</dc:title>
  <dc:subject>Research presentation deck</dc:subject>
  <dc:creator>Codex</dc:creator>
  <cp:lastModifiedBy>Codex</cp:lastModifiedBy>
  <cp:revision>1</cp:revision>
  <dcterms:created xsi:type="dcterms:W3CDTF">2026-03-20T04:23:07Z</dcterms:created>
  <dcterms:modified xsi:type="dcterms:W3CDTF">2026-03-20T04:23:07Z</dcterms:modified>
</cp:coreProperties>
</file>