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60" r:id="rId4"/>
    <p:sldMasterId id="2147483666" r:id="rId5"/>
    <p:sldMasterId id="2147483672" r:id="rId6"/>
    <p:sldMasterId id="2147483678" r:id="rId7"/>
    <p:sldMasterId id="2147483684" r:id="rId8"/>
    <p:sldMasterId id="2147483690" r:id="rId9"/>
  </p:sldMasterIdLst>
  <p:notesMasterIdLst>
    <p:notesMasterId r:id="rId11"/>
  </p:notesMasterIdLst>
  <p:sldIdLst>
    <p:sldId id="256" r:id="rId10"/>
    <p:sldId id="257" r:id="rId12"/>
    <p:sldId id="258" r:id="rId13"/>
    <p:sldId id="259" r:id="rId14"/>
    <p:sldId id="260" r:id="rId15"/>
    <p:sldId id="261" r:id="rId16"/>
    <p:sldId id="262" r:id="rId17"/>
    <p:sldId id="263" r:id="rId18"/>
    <p:sldId id="264" r:id="rId19"/>
    <p:sldId id="265" r:id="rId20"/>
    <p:sldId id="266" r:id="rId21"/>
    <p:sldId id="267" r:id="rId22"/>
  </p:sldIdLst>
  <p:sldSz cx="12192000" cy="7239000"/>
  <p:notesSz cx="12192000" cy="7239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大家好，今天我要分享的论文是 Gasse 等人在 NeurIPS 2019 发表的 'Exact Combinatorial Optimization with Graph Convolutional Neural Networks'。这项工作并非要用神经网络端到端地求解组合优化问题，而是聚焦于一个更具体、也更深入的问题：如何在一个精确的 MILP 求解器内部，用机器学习来改进其核心部件——分支变量选择。</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本次汇报将分为四个部分。首先，我会介绍论文所处的背景以及它试图解决的核心研究问题。接着，我会详细拆解论文提出的方法，包括它的整体思路、数据如何生成、如何用图结构表示状态，以及 GCNN 模型的具体设计。之后，我们会看一下关键的实验结果和分析。最后进行总结，讨论这篇论文的贡献和局限性。</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首先我们明确一下问题的边界。我们讨论的是组合优化问题，这类问题通常可以被严谨地表述为混合整数线性规划，也就是 MILP。求解 MILP 的标准精确算法是分支定界法。在这个算法中，一个关键步骤是选择一个非整数变量进行分支，从而将问题分解为两个子问题。这个选择的好坏，直接决定了整个搜索树的大小和求解效率。传统上，Strong Branching 是一种非常强的启发式方法，但它需要在每个候选变量上试探性地求解，代价极高。因此，这篇论文的核心目标就是，设计一个机器学习模型，嵌入到求解器中，用以模仿 Strong Branching 的高质量决策，但速度要快得多。</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基于此，论文提出了三个核心研究问题。第一，我们能否在不付出巨大计算代价的前提下，通过学习来模仿 Strong Branching？第二，我们能不能摆脱繁琐的人工特征工程，用一种更通用的方式来表示 B&amp;B 树上一个节点的状态？作者想到的是图结构。第三，也是最关键的，这个模型在小问题上训练后，能直接用到大问题上吗？也就是泛化能力。这里要特别强调，评价模型好坏的最终标准不是分类准确率有多高，而是把它集成到 SCIP 求解器后，求解问题的总时间、搜索的节点数这些实际性能指标是否得到了改善。</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论文的整体方法可以概括为一句话：状态是图，动作是选择分支变量，学习方式是模仿 Strong Branching。具体来说，当 B&amp;B 算法需要做一个分支决策时，它首先会把当前的求解器状态，主要是变量和约束的关系，构建成一张二部图。然后，一个 GCNN 模型会处理这张图，并为每一个可以分支的变量打分。最后，模型选择分数最高的变量，并将这个决策返回给求解器执行。整个过程，是把一个复杂的启发式选择问题，转化成了一个基于结构化数据表示的监督学习问题。</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这个模型的训练数据不是现成的。作者通过在 SCIP 中运行大量的 MILP 实例来自己采集。在 B&amp;B 树的每个节点，他们记录下当前状态的图表示，并调用一个定制的 Strong Branching '专家'来确定此时'正确'的动作，也就是应该对哪个变量分支。这样就构成了一个（状态，动作）对。需要注意的是，他们为此专门实现了一个无副作用的专家，以保证标签的纯粹性。通过在四类经典问题上重复这个过程，他们收集了数十万个这样的样本用于训练和验证。所以，模型学的是专家的'决策过程'，而不是问题的'最终答案'。</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现在我们来看方法的核心之一：状态表示。论文的创新之处在于，它没有使用传统的手工特征，而是将一个 MILP 实例的内在结构直接映射成一个二部图。图的一边是代表各个约束的节点，另一边是代表所有变量的节点。如果一个变量出现在某个约束中，那么代表它们的节点之间就有一条边。同时，节点和边自身也带有特征。比如，变量节点会携带它当前的 LP 解值，约束节点会携带它和目标函数的关系等。这种表示方法非常通用，并且保留了问题的原始结构信息。</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有了图表示之后，就轮到 GCNN 模型登场了。这个模型结构的设计紧密贴合了分支决策的任务。它包含两个关键步骤：首先，信息从变量节点流向它们所连接的约束节点。然后，约束节点将收到的信息进行整合，再把更新后的信息传回给变量节点。这个'先出后进'的过程，让每个变量节点不仅了解自身状态，还能感知到它在整个约束系统中的上下文信息。论文在实现上也有几个关键选择，比如使用求和聚合来感知连接数，并用一种归一化技术 Prenorm 来保证大规模图训练的稳定性。最终，模型在变量节点上会得到更新后的特征表示，用于后续的决策。</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模型如何学习以及如何使用呢？首先，GCNN 的输出经过一个 Softmax 层，得到在所有候选分支变量上的一个概率分布。这里的 'Masked' 意味着我们只考虑那些当前可以被分支的变量。学习的目标非常直接：我们希望模型预测的概率分布中，专家所选择的那个动作的概率尽可能大。这在数学上就是最小化交叉熵损失。在实际使用时，我们不再需要专家，而是直接选择模型认为概率最高的那个动作去执行分支。可以看出，在'选择动作'这个局部任务上，模型的输出、训练目标和最终使用方式是完全一致的，这是一个非常清晰和优雅的设计。</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接下来我们看实验结果。论文的贡献不仅仅是提出了一个新模型，更重要的是在一个功能完备的真实求解器 SCIP 中进行了验证。结果显示，首先，GCNN 模型的模仿准确率远超之前的机器学习方法。其次，这种高准确率确实带来了实际的好处：GCNN 探索的 B&amp;B 节点数更少。虽然单步决策需要调用神经网络，会带来额外开销，但在大多数情况下，节省下来的搜索节点带来的收益更大，从而使得总求解时间也更短。这证明了 GCNN 在决策质量和推理开销之间取得了很好的平衡。特别值得一提的是，模型仅在小规模实例上训练，却能在更大、更难的实例上泛化得很好。</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为了理解模型为何有效，作者进行了一系列消融实验。结果证实了他们两个关键的设计选择：使用'sum'聚合确实比'mean'聚合效果更好；而'prenorm'这个看似微小的技术细节，对于模型的稳定性和泛化性起到了决定性作用。总结一下，这个方法的优势在于它减少了特征工程，设计上逻辑自洽，并且在真实环境中被验证有效。但它也有局限性。最根本的一条是，我们训练模型去'模仿'专家，但这只是一个代理目标，和我们最终想要的'解得快'并非完全等价。此外，模型的推理成本和泛化能力也存在边界。</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最后，我们来总结一下。这篇论文最重要的贡献，并不仅仅是“把GNN用到了MILP上”这么简单。它系统性地证明了一条新的技术路径是可行的：即通过结构化的图表示、强大的GCNN策略网络和简单的模仿学习，我们可以创造出一个能真正嵌入到现有精确求解器中并提升其性能的学习模块。这给我们带来的启示是，机器学习和经典运筹优化算法不是替代关系，而是可以深度融合、互相增强的关系。未来的方向可能包括使用强化学习来直接优化求解时间，或者设计更轻量、更高效的模型架构。我的汇报到此结束，谢谢大家。</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00" b="1" i="0">
                <a:solidFill>
                  <a:srgbClr val="4237CA"/>
                </a:solidFill>
                <a:latin typeface="Tahoma" panose="020B0604030504040204"/>
                <a:cs typeface="Tahoma" panose="020B060403050404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75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spc="-10" dirty="0"/>
              <a:t>Author</a:t>
            </a:r>
            <a:endParaRPr spc="-10" dirty="0"/>
          </a:p>
        </p:txBody>
      </p:sp>
      <p:sp>
        <p:nvSpPr>
          <p:cNvPr id="5" name="Holder 5"/>
          <p:cNvSpPr>
            <a:spLocks noGrp="1"/>
          </p:cNvSpPr>
          <p:nvPr>
            <p:ph type="dt" sz="half" idx="6"/>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4237CA"/>
                </a:solidFill>
                <a:latin typeface="Tahoma" panose="020B0604030504040204"/>
                <a:cs typeface="Tahoma" panose="020B060403050404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75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spc="-10" dirty="0"/>
              <a:t>Author</a:t>
            </a:r>
            <a:endParaRPr spc="-10" dirty="0"/>
          </a:p>
        </p:txBody>
      </p:sp>
      <p:sp>
        <p:nvSpPr>
          <p:cNvPr id="5" name="Holder 5"/>
          <p:cNvSpPr>
            <a:spLocks noGrp="1"/>
          </p:cNvSpPr>
          <p:nvPr>
            <p:ph type="dt" sz="half" idx="6"/>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4237CA"/>
                </a:solidFill>
                <a:latin typeface="Tahoma" panose="020B0604030504040204"/>
                <a:cs typeface="Tahoma" panose="020B060403050404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75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spc="-10" dirty="0"/>
              <a:t>Author</a:t>
            </a:r>
            <a:endParaRPr spc="-10" dirty="0"/>
          </a:p>
        </p:txBody>
      </p:sp>
      <p:sp>
        <p:nvSpPr>
          <p:cNvPr id="6" name="Holder 6"/>
          <p:cNvSpPr>
            <a:spLocks noGrp="1"/>
          </p:cNvSpPr>
          <p:nvPr>
            <p:ph type="dt" sz="half" idx="6"/>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4237CA"/>
                </a:solidFill>
                <a:latin typeface="Tahoma" panose="020B0604030504040204"/>
                <a:cs typeface="Tahoma" panose="020B0604030504040204"/>
              </a:defRPr>
            </a:lvl1pPr>
          </a:lstStyle>
          <a:p/>
        </p:txBody>
      </p:sp>
      <p:sp>
        <p:nvSpPr>
          <p:cNvPr id="3" name="Holder 3"/>
          <p:cNvSpPr>
            <a:spLocks noGrp="1"/>
          </p:cNvSpPr>
          <p:nvPr>
            <p:ph type="ftr" sz="quarter" idx="5"/>
          </p:nvPr>
        </p:nvSpPr>
        <p:spPr/>
        <p:txBody>
          <a:bodyPr lIns="0" tIns="0" rIns="0" bIns="0"/>
          <a:lstStyle>
            <a:lvl1pPr>
              <a:defRPr sz="75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spc="-10" dirty="0"/>
              <a:t>Author</a:t>
            </a:r>
            <a:endParaRPr spc="-10" dirty="0"/>
          </a:p>
        </p:txBody>
      </p:sp>
      <p:sp>
        <p:nvSpPr>
          <p:cNvPr id="4" name="Holder 4"/>
          <p:cNvSpPr>
            <a:spLocks noGrp="1"/>
          </p:cNvSpPr>
          <p:nvPr>
            <p:ph type="dt" sz="half" idx="6"/>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9220199" y="380999"/>
            <a:ext cx="152400" cy="152399"/>
          </a:xfrm>
          <a:prstGeom prst="rect">
            <a:avLst/>
          </a:prstGeom>
        </p:spPr>
      </p:pic>
      <p:pic>
        <p:nvPicPr>
          <p:cNvPr id="17" name="bg object 17"/>
          <p:cNvPicPr/>
          <p:nvPr/>
        </p:nvPicPr>
        <p:blipFill>
          <a:blip r:embed="rId2" cstate="print"/>
          <a:stretch>
            <a:fillRect/>
          </a:stretch>
        </p:blipFill>
        <p:spPr>
          <a:xfrm>
            <a:off x="11506199" y="761999"/>
            <a:ext cx="152400" cy="152399"/>
          </a:xfrm>
          <a:prstGeom prst="rect">
            <a:avLst/>
          </a:prstGeom>
        </p:spPr>
      </p:pic>
      <p:pic>
        <p:nvPicPr>
          <p:cNvPr id="18" name="bg object 18"/>
          <p:cNvPicPr/>
          <p:nvPr/>
        </p:nvPicPr>
        <p:blipFill>
          <a:blip r:embed="rId2" cstate="print"/>
          <a:stretch>
            <a:fillRect/>
          </a:stretch>
        </p:blipFill>
        <p:spPr>
          <a:xfrm>
            <a:off x="10363199" y="2666999"/>
            <a:ext cx="152400" cy="152399"/>
          </a:xfrm>
          <a:prstGeom prst="rect">
            <a:avLst/>
          </a:prstGeom>
        </p:spPr>
      </p:pic>
      <p:sp>
        <p:nvSpPr>
          <p:cNvPr id="19" name="bg object 19"/>
          <p:cNvSpPr/>
          <p:nvPr/>
        </p:nvSpPr>
        <p:spPr>
          <a:xfrm>
            <a:off x="9296399" y="457199"/>
            <a:ext cx="2286000" cy="2286000"/>
          </a:xfrm>
          <a:custGeom>
            <a:avLst/>
            <a:gdLst/>
            <a:ahLst/>
            <a:cxnLst/>
            <a:rect l="l" t="t" r="r" b="b"/>
            <a:pathLst>
              <a:path w="2286000" h="2286000">
                <a:moveTo>
                  <a:pt x="0" y="0"/>
                </a:moveTo>
                <a:lnTo>
                  <a:pt x="2285999" y="380999"/>
                </a:lnTo>
              </a:path>
              <a:path w="2286000" h="2286000">
                <a:moveTo>
                  <a:pt x="2285999" y="380999"/>
                </a:moveTo>
                <a:lnTo>
                  <a:pt x="1142999" y="2285999"/>
                </a:lnTo>
              </a:path>
              <a:path w="2286000" h="2286000">
                <a:moveTo>
                  <a:pt x="1142999" y="2285999"/>
                </a:moveTo>
                <a:lnTo>
                  <a:pt x="0" y="0"/>
                </a:lnTo>
              </a:path>
            </a:pathLst>
          </a:custGeom>
          <a:ln w="19049">
            <a:solidFill>
              <a:srgbClr val="4237CA"/>
            </a:solidFill>
          </a:ln>
        </p:spPr>
        <p:txBody>
          <a:bodyPr wrap="square" lIns="0" tIns="0" rIns="0" bIns="0" rtlCol="0"/>
          <a:lstStyle/>
          <a:p/>
        </p:txBody>
      </p:sp>
      <p:sp>
        <p:nvSpPr>
          <p:cNvPr id="20" name="bg object 20"/>
          <p:cNvSpPr/>
          <p:nvPr/>
        </p:nvSpPr>
        <p:spPr>
          <a:xfrm>
            <a:off x="457200" y="304799"/>
            <a:ext cx="1619250" cy="342900"/>
          </a:xfrm>
          <a:custGeom>
            <a:avLst/>
            <a:gdLst/>
            <a:ahLst/>
            <a:cxnLst/>
            <a:rect l="l" t="t" r="r" b="b"/>
            <a:pathLst>
              <a:path w="1619250" h="342900">
                <a:moveTo>
                  <a:pt x="1447799" y="342899"/>
                </a:moveTo>
                <a:lnTo>
                  <a:pt x="171449" y="342899"/>
                </a:lnTo>
                <a:lnTo>
                  <a:pt x="163027" y="342694"/>
                </a:lnTo>
                <a:lnTo>
                  <a:pt x="121680" y="335519"/>
                </a:lnTo>
                <a:lnTo>
                  <a:pt x="83315" y="318513"/>
                </a:lnTo>
                <a:lnTo>
                  <a:pt x="50216" y="292683"/>
                </a:lnTo>
                <a:lnTo>
                  <a:pt x="24386" y="259584"/>
                </a:lnTo>
                <a:lnTo>
                  <a:pt x="7380" y="221219"/>
                </a:lnTo>
                <a:lnTo>
                  <a:pt x="205" y="179872"/>
                </a:lnTo>
                <a:lnTo>
                  <a:pt x="0" y="171449"/>
                </a:lnTo>
                <a:lnTo>
                  <a:pt x="205" y="163027"/>
                </a:lnTo>
                <a:lnTo>
                  <a:pt x="7380" y="121680"/>
                </a:lnTo>
                <a:lnTo>
                  <a:pt x="24386" y="83315"/>
                </a:lnTo>
                <a:lnTo>
                  <a:pt x="50216" y="50216"/>
                </a:lnTo>
                <a:lnTo>
                  <a:pt x="83315" y="24386"/>
                </a:lnTo>
                <a:lnTo>
                  <a:pt x="121680" y="7380"/>
                </a:lnTo>
                <a:lnTo>
                  <a:pt x="163027" y="205"/>
                </a:lnTo>
                <a:lnTo>
                  <a:pt x="171449" y="0"/>
                </a:lnTo>
                <a:lnTo>
                  <a:pt x="1447799" y="0"/>
                </a:lnTo>
                <a:lnTo>
                  <a:pt x="1489468" y="5139"/>
                </a:lnTo>
                <a:lnTo>
                  <a:pt x="1528621" y="20242"/>
                </a:lnTo>
                <a:lnTo>
                  <a:pt x="1562931" y="44406"/>
                </a:lnTo>
                <a:lnTo>
                  <a:pt x="1590355" y="76197"/>
                </a:lnTo>
                <a:lnTo>
                  <a:pt x="1609231" y="113699"/>
                </a:lnTo>
                <a:lnTo>
                  <a:pt x="1618426" y="154644"/>
                </a:lnTo>
                <a:lnTo>
                  <a:pt x="1619249" y="171449"/>
                </a:lnTo>
                <a:lnTo>
                  <a:pt x="1619043" y="179872"/>
                </a:lnTo>
                <a:lnTo>
                  <a:pt x="1611869" y="221219"/>
                </a:lnTo>
                <a:lnTo>
                  <a:pt x="1594863" y="259584"/>
                </a:lnTo>
                <a:lnTo>
                  <a:pt x="1569033" y="292683"/>
                </a:lnTo>
                <a:lnTo>
                  <a:pt x="1535934" y="318513"/>
                </a:lnTo>
                <a:lnTo>
                  <a:pt x="1497569" y="335519"/>
                </a:lnTo>
                <a:lnTo>
                  <a:pt x="1456222" y="342694"/>
                </a:lnTo>
                <a:lnTo>
                  <a:pt x="1447799" y="342899"/>
                </a:lnTo>
                <a:close/>
              </a:path>
            </a:pathLst>
          </a:custGeom>
          <a:solidFill>
            <a:srgbClr val="EDF1FF"/>
          </a:solidFill>
        </p:spPr>
        <p:txBody>
          <a:bodyPr wrap="square" lIns="0" tIns="0" rIns="0" bIns="0" rtlCol="0"/>
          <a:lstStyle/>
          <a:p/>
        </p:txBody>
      </p:sp>
      <p:sp>
        <p:nvSpPr>
          <p:cNvPr id="2" name="Holder 2"/>
          <p:cNvSpPr>
            <a:spLocks noGrp="1"/>
          </p:cNvSpPr>
          <p:nvPr>
            <p:ph type="ftr" sz="quarter" idx="5"/>
          </p:nvPr>
        </p:nvSpPr>
        <p:spPr/>
        <p:txBody>
          <a:bodyPr lIns="0" tIns="0" rIns="0" bIns="0"/>
          <a:lstStyle>
            <a:lvl1pPr>
              <a:defRPr sz="75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spc="-10" dirty="0"/>
              <a:t>Author</a:t>
            </a:r>
            <a:endParaRPr spc="-10" dirty="0"/>
          </a:p>
        </p:txBody>
      </p:sp>
      <p:sp>
        <p:nvSpPr>
          <p:cNvPr id="3" name="Holder 3"/>
          <p:cNvSpPr>
            <a:spLocks noGrp="1"/>
          </p:cNvSpPr>
          <p:nvPr>
            <p:ph type="dt" sz="half" idx="6"/>
          </p:nvPr>
        </p:nvSpPr>
        <p:spPr/>
        <p:txBody>
          <a:bodyPr lIns="0" tIns="0" rIns="0" bIns="0"/>
          <a:lstStyle>
            <a:lvl1pPr>
              <a:defRPr sz="1200" b="1" i="0">
                <a:solidFill>
                  <a:schemeClr val="tx1"/>
                </a:solidFill>
                <a:latin typeface="Arial" panose="020B0604020202020204"/>
                <a:cs typeface="Arial" panose="020B0604020202020204"/>
              </a:defRPr>
            </a:lvl1p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1685382"/>
            <a:ext cx="10363200" cy="367921"/>
          </a:xfrm>
          <a:prstGeom prst="rect">
            <a:avLst/>
          </a:prstGeom>
        </p:spPr>
        <p:txBody>
          <a:bodyPr wrap="square" lIns="0" tIns="0" rIns="0" bIns="0">
            <a:spAutoFit/>
          </a:bodyPr>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044562"/>
            <a:ext cx="853440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250445"/>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250445"/>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6" name="Holder 6"/>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4" name="Holder 4"/>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3" name="Holder 3"/>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1685382"/>
            <a:ext cx="10363200" cy="367921"/>
          </a:xfrm>
          <a:prstGeom prst="rect">
            <a:avLst/>
          </a:prstGeom>
        </p:spPr>
        <p:txBody>
          <a:bodyPr wrap="square" lIns="0" tIns="0" rIns="0" bIns="0">
            <a:spAutoFit/>
          </a:bodyPr>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044562"/>
            <a:ext cx="853440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250445"/>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250445"/>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6" name="Holder 6"/>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4" name="Holder 4"/>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3" name="Holder 3"/>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1685382"/>
            <a:ext cx="10363200" cy="367921"/>
          </a:xfrm>
          <a:prstGeom prst="rect">
            <a:avLst/>
          </a:prstGeom>
        </p:spPr>
        <p:txBody>
          <a:bodyPr wrap="square" lIns="0" tIns="0" rIns="0" bIns="0">
            <a:spAutoFit/>
          </a:bodyPr>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044562"/>
            <a:ext cx="853440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250445"/>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250445"/>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6" name="Holder 6"/>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4" name="Holder 4"/>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3" name="Holder 3"/>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1685382"/>
            <a:ext cx="10363200" cy="367921"/>
          </a:xfrm>
          <a:prstGeom prst="rect">
            <a:avLst/>
          </a:prstGeom>
        </p:spPr>
        <p:txBody>
          <a:bodyPr wrap="square" lIns="0" tIns="0" rIns="0" bIns="0">
            <a:spAutoFit/>
          </a:bodyPr>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044562"/>
            <a:ext cx="853440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250445"/>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250445"/>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6" name="Holder 6"/>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4" name="Holder 4"/>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3" name="Holder 3"/>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1685382"/>
            <a:ext cx="10363200" cy="367921"/>
          </a:xfrm>
          <a:prstGeom prst="rect">
            <a:avLst/>
          </a:prstGeom>
        </p:spPr>
        <p:txBody>
          <a:bodyPr wrap="square" lIns="0" tIns="0" rIns="0" bIns="0">
            <a:spAutoFit/>
          </a:bodyPr>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044562"/>
            <a:ext cx="853440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250445"/>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250445"/>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6" name="Holder 6"/>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19100" y="95740"/>
            <a:ext cx="4953000" cy="367921"/>
          </a:xfrm>
        </p:spPr>
        <p:txBody>
          <a:bodyPr lIns="0" tIns="0" rIns="0" bIns="0"/>
          <a:lstStyle>
            <a:lvl1pPr>
              <a:defRPr sz="239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4" name="Holder 4"/>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3" name="Holder 3"/>
          <p:cNvSpPr>
            <a:spLocks noGrp="1"/>
          </p:cNvSpPr>
          <p:nvPr>
            <p:ph type="dt" sz="half" idx="6"/>
          </p:nvPr>
        </p:nvSpPr>
        <p:spPr/>
        <p:txBody>
          <a:bodyPr lIns="0" tIns="0" rIns="0" bIns="0"/>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087526"/>
            <a:ext cx="10363200" cy="460895"/>
          </a:xfrm>
          <a:prstGeom prst="rect">
            <a:avLst/>
          </a:prstGeom>
        </p:spPr>
        <p:txBody>
          <a:bodyPr wrap="square" lIns="0" tIns="0" rIns="0" bIns="0">
            <a:spAutoFit/>
          </a:bodyPr>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771014"/>
            <a:ext cx="85344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44501" y="243046"/>
            <a:ext cx="3616325" cy="460895"/>
          </a:xfrm>
        </p:spPr>
        <p:txBody>
          <a:bodyPr lIns="0" tIns="0" rIns="0" bIns="0"/>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44501" y="243046"/>
            <a:ext cx="3616325" cy="460895"/>
          </a:xfrm>
        </p:spPr>
        <p:txBody>
          <a:bodyPr lIns="0" tIns="0" rIns="0" bIns="0"/>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548809"/>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48809"/>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6" name="Holder 6"/>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44501" y="243046"/>
            <a:ext cx="3616325" cy="460895"/>
          </a:xfrm>
        </p:spPr>
        <p:txBody>
          <a:bodyPr lIns="0" tIns="0" rIns="0" bIns="0"/>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4" name="Holder 4"/>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3" name="Holder 3"/>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087526"/>
            <a:ext cx="10363200" cy="460895"/>
          </a:xfrm>
          <a:prstGeom prst="rect">
            <a:avLst/>
          </a:prstGeom>
        </p:spPr>
        <p:txBody>
          <a:bodyPr wrap="square" lIns="0" tIns="0" rIns="0" bIns="0">
            <a:spAutoFit/>
          </a:bodyPr>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771014"/>
            <a:ext cx="85344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44501" y="243046"/>
            <a:ext cx="3616325" cy="460895"/>
          </a:xfrm>
        </p:spPr>
        <p:txBody>
          <a:bodyPr lIns="0" tIns="0" rIns="0" bIns="0"/>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44501" y="243046"/>
            <a:ext cx="3616325" cy="460895"/>
          </a:xfrm>
        </p:spPr>
        <p:txBody>
          <a:bodyPr lIns="0" tIns="0" rIns="0" bIns="0"/>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609600" y="1548809"/>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48809"/>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6" name="Holder 6"/>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44501" y="243046"/>
            <a:ext cx="3616325" cy="460895"/>
          </a:xfrm>
        </p:spPr>
        <p:txBody>
          <a:bodyPr lIns="0" tIns="0" rIns="0" bIns="0"/>
          <a:lstStyle>
            <a:lvl1pPr>
              <a:defRPr sz="2995"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4" name="Holder 4"/>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3" name="Holder 3"/>
          <p:cNvSpPr>
            <a:spLocks noGrp="1"/>
          </p:cNvSpPr>
          <p:nvPr>
            <p:ph type="dt" sz="half" idx="6"/>
          </p:nvPr>
        </p:nvSpPr>
        <p:spPr/>
        <p:txBody>
          <a:bodyPr lIns="0" tIns="0" rIns="0" bIns="0"/>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6" Type="http://schemas.openxmlformats.org/officeDocument/2006/relationships/theme" Target="../theme/theme5.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6" Type="http://schemas.openxmlformats.org/officeDocument/2006/relationships/theme" Target="../theme/theme6.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6" Type="http://schemas.openxmlformats.org/officeDocument/2006/relationships/theme" Target="../theme/theme7.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8.xml.rels><?xml version="1.0" encoding="UTF-8" standalone="yes"?>
<Relationships xmlns="http://schemas.openxmlformats.org/package/2006/relationships"><Relationship Id="rId6" Type="http://schemas.openxmlformats.org/officeDocument/2006/relationships/theme" Target="../theme/theme8.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885824"/>
            <a:ext cx="609600" cy="38100"/>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44500" y="247522"/>
            <a:ext cx="4890770" cy="490855"/>
          </a:xfrm>
          <a:prstGeom prst="rect">
            <a:avLst/>
          </a:prstGeom>
        </p:spPr>
        <p:txBody>
          <a:bodyPr wrap="square" lIns="0" tIns="0" rIns="0" bIns="0">
            <a:spAutoFit/>
          </a:bodyPr>
          <a:lstStyle>
            <a:lvl1pPr>
              <a:defRPr sz="2700" b="1" i="0">
                <a:solidFill>
                  <a:srgbClr val="4237CA"/>
                </a:solidFill>
                <a:latin typeface="Tahoma" panose="020B0604030504040204"/>
                <a:cs typeface="Tahoma" panose="020B0604030504040204"/>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139699" y="6674696"/>
            <a:ext cx="295275" cy="131445"/>
          </a:xfrm>
          <a:prstGeom prst="rect">
            <a:avLst/>
          </a:prstGeom>
        </p:spPr>
        <p:txBody>
          <a:bodyPr wrap="square" lIns="0" tIns="0" rIns="0" bIns="0">
            <a:spAutoFit/>
          </a:bodyPr>
          <a:lstStyle>
            <a:lvl1pPr>
              <a:defRPr sz="75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spc="-10" dirty="0"/>
              <a:t>Author</a:t>
            </a:r>
            <a:endParaRPr spc="-10" dirty="0"/>
          </a:p>
        </p:txBody>
      </p:sp>
      <p:sp>
        <p:nvSpPr>
          <p:cNvPr id="5" name="Holder 5"/>
          <p:cNvSpPr>
            <a:spLocks noGrp="1"/>
          </p:cNvSpPr>
          <p:nvPr>
            <p:ph type="dt" sz="half" idx="6"/>
          </p:nvPr>
        </p:nvSpPr>
        <p:spPr>
          <a:xfrm>
            <a:off x="10325942" y="6383485"/>
            <a:ext cx="1590675" cy="196215"/>
          </a:xfrm>
          <a:prstGeom prst="rect">
            <a:avLst/>
          </a:prstGeom>
        </p:spPr>
        <p:txBody>
          <a:bodyPr wrap="square" lIns="0" tIns="0" rIns="0" bIns="0">
            <a:spAutoFit/>
          </a:bodyPr>
          <a:lstStyle>
            <a:lvl1pPr>
              <a:defRPr sz="1200" b="1" i="0">
                <a:solidFill>
                  <a:schemeClr val="tx1"/>
                </a:solidFill>
                <a:latin typeface="Arial" panose="020B0604020202020204"/>
                <a:cs typeface="Arial" panose="020B0604020202020204"/>
              </a:defRPr>
            </a:lvl1p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694525"/>
            <a:ext cx="609600" cy="29872"/>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19100" y="95740"/>
            <a:ext cx="4953000" cy="469359"/>
          </a:xfrm>
          <a:prstGeom prst="rect">
            <a:avLst/>
          </a:prstGeom>
        </p:spPr>
        <p:txBody>
          <a:bodyPr wrap="square" lIns="0" tIns="0" rIns="0" bIns="0">
            <a:spAutoFit/>
          </a:bodyPr>
          <a:lstStyle>
            <a:lvl1pPr>
              <a:defRPr sz="305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609599" y="941469"/>
            <a:ext cx="523875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139700" y="5233255"/>
            <a:ext cx="295275"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a:xfrm>
            <a:off x="562074" y="5233255"/>
            <a:ext cx="311150"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a:xfrm>
            <a:off x="8778240" y="5056148"/>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defRPr>
          <a:latin typeface="+mj-lt"/>
          <a:ea typeface="+mj-ea"/>
          <a:cs typeface="+mj-cs"/>
        </a:defRPr>
      </a:lvl1pPr>
    </p:titleStyle>
    <p:body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bodyStyle>
    <p:other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694525"/>
            <a:ext cx="609600" cy="29872"/>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19100" y="95740"/>
            <a:ext cx="4953000" cy="469359"/>
          </a:xfrm>
          <a:prstGeom prst="rect">
            <a:avLst/>
          </a:prstGeom>
        </p:spPr>
        <p:txBody>
          <a:bodyPr wrap="square" lIns="0" tIns="0" rIns="0" bIns="0">
            <a:spAutoFit/>
          </a:bodyPr>
          <a:lstStyle>
            <a:lvl1pPr>
              <a:defRPr sz="305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609599" y="941469"/>
            <a:ext cx="523875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139700" y="5233255"/>
            <a:ext cx="295275"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a:xfrm>
            <a:off x="562074" y="5233255"/>
            <a:ext cx="311150"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a:xfrm>
            <a:off x="8778240" y="5056148"/>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bodyStyle>
    <p:other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694525"/>
            <a:ext cx="609600" cy="29872"/>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19100" y="95740"/>
            <a:ext cx="4953000" cy="469359"/>
          </a:xfrm>
          <a:prstGeom prst="rect">
            <a:avLst/>
          </a:prstGeom>
        </p:spPr>
        <p:txBody>
          <a:bodyPr wrap="square" lIns="0" tIns="0" rIns="0" bIns="0">
            <a:spAutoFit/>
          </a:bodyPr>
          <a:lstStyle>
            <a:lvl1pPr>
              <a:defRPr sz="305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609599" y="941469"/>
            <a:ext cx="523875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139700" y="5233255"/>
            <a:ext cx="295275"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a:xfrm>
            <a:off x="562074" y="5233255"/>
            <a:ext cx="311150"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a:xfrm>
            <a:off x="8778240" y="5056148"/>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bodyStyle>
    <p:other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694525"/>
            <a:ext cx="609600" cy="29872"/>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19100" y="95740"/>
            <a:ext cx="4953000" cy="469359"/>
          </a:xfrm>
          <a:prstGeom prst="rect">
            <a:avLst/>
          </a:prstGeom>
        </p:spPr>
        <p:txBody>
          <a:bodyPr wrap="square" lIns="0" tIns="0" rIns="0" bIns="0">
            <a:spAutoFit/>
          </a:bodyPr>
          <a:lstStyle>
            <a:lvl1pPr>
              <a:defRPr sz="305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609599" y="941469"/>
            <a:ext cx="523875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139700" y="5233255"/>
            <a:ext cx="295275"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a:xfrm>
            <a:off x="562074" y="5233255"/>
            <a:ext cx="311150"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a:xfrm>
            <a:off x="8778240" y="5056148"/>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bodyStyle>
    <p:other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694525"/>
            <a:ext cx="609600" cy="29872"/>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19100" y="95740"/>
            <a:ext cx="4953000" cy="469359"/>
          </a:xfrm>
          <a:prstGeom prst="rect">
            <a:avLst/>
          </a:prstGeom>
        </p:spPr>
        <p:txBody>
          <a:bodyPr wrap="square" lIns="0" tIns="0" rIns="0" bIns="0">
            <a:spAutoFit/>
          </a:bodyPr>
          <a:lstStyle>
            <a:lvl1pPr>
              <a:defRPr sz="305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609599" y="941469"/>
            <a:ext cx="5238750" cy="27699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139700" y="5233255"/>
            <a:ext cx="295275"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a:xfrm>
            <a:off x="562074" y="5233255"/>
            <a:ext cx="311150" cy="90474"/>
          </a:xfrm>
          <a:prstGeom prst="rect">
            <a:avLst/>
          </a:prstGeom>
        </p:spPr>
        <p:txBody>
          <a:bodyPr wrap="square" lIns="0" tIns="0" rIns="0" bIns="0">
            <a:spAutoFit/>
          </a:bodyPr>
          <a:lstStyle>
            <a:lvl1pPr>
              <a:defRPr sz="590"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a:xfrm>
            <a:off x="8778240" y="5056148"/>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bodyStyle>
    <p:otherStyle>
      <a:lvl1pPr marL="0">
        <a:defRPr>
          <a:latin typeface="+mn-lt"/>
          <a:ea typeface="+mn-ea"/>
          <a:cs typeface="+mn-cs"/>
        </a:defRPr>
      </a:lvl1pPr>
      <a:lvl2pPr marL="358140">
        <a:defRPr>
          <a:latin typeface="+mn-lt"/>
          <a:ea typeface="+mn-ea"/>
          <a:cs typeface="+mn-cs"/>
        </a:defRPr>
      </a:lvl2pPr>
      <a:lvl3pPr marL="716915">
        <a:defRPr>
          <a:latin typeface="+mn-lt"/>
          <a:ea typeface="+mn-ea"/>
          <a:cs typeface="+mn-cs"/>
        </a:defRPr>
      </a:lvl3pPr>
      <a:lvl4pPr marL="1075055">
        <a:defRPr>
          <a:latin typeface="+mn-lt"/>
          <a:ea typeface="+mn-ea"/>
          <a:cs typeface="+mn-cs"/>
        </a:defRPr>
      </a:lvl4pPr>
      <a:lvl5pPr marL="1433830">
        <a:defRPr>
          <a:latin typeface="+mn-lt"/>
          <a:ea typeface="+mn-ea"/>
          <a:cs typeface="+mn-cs"/>
        </a:defRPr>
      </a:lvl5pPr>
      <a:lvl6pPr marL="1791970">
        <a:defRPr>
          <a:latin typeface="+mn-lt"/>
          <a:ea typeface="+mn-ea"/>
          <a:cs typeface="+mn-cs"/>
        </a:defRPr>
      </a:lvl6pPr>
      <a:lvl7pPr marL="2150745">
        <a:defRPr>
          <a:latin typeface="+mn-lt"/>
          <a:ea typeface="+mn-ea"/>
          <a:cs typeface="+mn-cs"/>
        </a:defRPr>
      </a:lvl7pPr>
      <a:lvl8pPr marL="2508885">
        <a:defRPr>
          <a:latin typeface="+mn-lt"/>
          <a:ea typeface="+mn-ea"/>
          <a:cs typeface="+mn-cs"/>
        </a:defRPr>
      </a:lvl8pPr>
      <a:lvl9pPr marL="286766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869801"/>
            <a:ext cx="609600" cy="37411"/>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44501" y="243046"/>
            <a:ext cx="3616325" cy="481976"/>
          </a:xfrm>
          <a:prstGeom prst="rect">
            <a:avLst/>
          </a:prstGeom>
        </p:spPr>
        <p:txBody>
          <a:bodyPr wrap="square" lIns="0" tIns="0" rIns="0" bIns="0">
            <a:spAutoFit/>
          </a:bodyPr>
          <a:lstStyle>
            <a:lvl1pPr>
              <a:defRPr sz="305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609600" y="1548809"/>
            <a:ext cx="109728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139700" y="7049659"/>
            <a:ext cx="295275" cy="113236"/>
          </a:xfrm>
          <a:prstGeom prst="rect">
            <a:avLst/>
          </a:prstGeom>
        </p:spPr>
        <p:txBody>
          <a:bodyPr wrap="square" lIns="0" tIns="0" rIns="0" bIns="0">
            <a:spAutoFit/>
          </a:bodyPr>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a:xfrm>
            <a:off x="562074" y="7049659"/>
            <a:ext cx="311150" cy="113236"/>
          </a:xfrm>
          <a:prstGeom prst="rect">
            <a:avLst/>
          </a:prstGeom>
        </p:spPr>
        <p:txBody>
          <a:bodyPr wrap="square" lIns="0" tIns="0" rIns="0" bIns="0">
            <a:spAutoFit/>
          </a:bodyPr>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a:xfrm>
            <a:off x="8778240" y="6262577"/>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Lst>
  <p:txStyles>
    <p:titleStyle>
      <a:lvl1pPr>
        <a:defRPr>
          <a:latin typeface="+mj-lt"/>
          <a:ea typeface="+mj-ea"/>
          <a:cs typeface="+mj-cs"/>
        </a:defRPr>
      </a:lvl1pPr>
    </p:titleStyle>
    <p:bodyStyle>
      <a:lvl1pPr marL="0">
        <a:defRPr>
          <a:latin typeface="+mn-lt"/>
          <a:ea typeface="+mn-ea"/>
          <a:cs typeface="+mn-cs"/>
        </a:defRPr>
      </a:lvl1pPr>
      <a:lvl2pPr marL="448945">
        <a:defRPr>
          <a:latin typeface="+mn-lt"/>
          <a:ea typeface="+mn-ea"/>
          <a:cs typeface="+mn-cs"/>
        </a:defRPr>
      </a:lvl2pPr>
      <a:lvl3pPr marL="897890">
        <a:defRPr>
          <a:latin typeface="+mn-lt"/>
          <a:ea typeface="+mn-ea"/>
          <a:cs typeface="+mn-cs"/>
        </a:defRPr>
      </a:lvl3pPr>
      <a:lvl4pPr marL="1346835">
        <a:defRPr>
          <a:latin typeface="+mn-lt"/>
          <a:ea typeface="+mn-ea"/>
          <a:cs typeface="+mn-cs"/>
        </a:defRPr>
      </a:lvl4pPr>
      <a:lvl5pPr marL="1795780">
        <a:defRPr>
          <a:latin typeface="+mn-lt"/>
          <a:ea typeface="+mn-ea"/>
          <a:cs typeface="+mn-cs"/>
        </a:defRPr>
      </a:lvl5pPr>
      <a:lvl6pPr marL="2244725">
        <a:defRPr>
          <a:latin typeface="+mn-lt"/>
          <a:ea typeface="+mn-ea"/>
          <a:cs typeface="+mn-cs"/>
        </a:defRPr>
      </a:lvl6pPr>
      <a:lvl7pPr marL="2693670">
        <a:defRPr>
          <a:latin typeface="+mn-lt"/>
          <a:ea typeface="+mn-ea"/>
          <a:cs typeface="+mn-cs"/>
        </a:defRPr>
      </a:lvl7pPr>
      <a:lvl8pPr marL="3142615">
        <a:defRPr>
          <a:latin typeface="+mn-lt"/>
          <a:ea typeface="+mn-ea"/>
          <a:cs typeface="+mn-cs"/>
        </a:defRPr>
      </a:lvl8pPr>
      <a:lvl9pPr marL="3591560">
        <a:defRPr>
          <a:latin typeface="+mn-lt"/>
          <a:ea typeface="+mn-ea"/>
          <a:cs typeface="+mn-cs"/>
        </a:defRPr>
      </a:lvl9pPr>
    </p:bodyStyle>
    <p:otherStyle>
      <a:lvl1pPr marL="0">
        <a:defRPr>
          <a:latin typeface="+mn-lt"/>
          <a:ea typeface="+mn-ea"/>
          <a:cs typeface="+mn-cs"/>
        </a:defRPr>
      </a:lvl1pPr>
      <a:lvl2pPr marL="448945">
        <a:defRPr>
          <a:latin typeface="+mn-lt"/>
          <a:ea typeface="+mn-ea"/>
          <a:cs typeface="+mn-cs"/>
        </a:defRPr>
      </a:lvl2pPr>
      <a:lvl3pPr marL="897890">
        <a:defRPr>
          <a:latin typeface="+mn-lt"/>
          <a:ea typeface="+mn-ea"/>
          <a:cs typeface="+mn-cs"/>
        </a:defRPr>
      </a:lvl3pPr>
      <a:lvl4pPr marL="1346835">
        <a:defRPr>
          <a:latin typeface="+mn-lt"/>
          <a:ea typeface="+mn-ea"/>
          <a:cs typeface="+mn-cs"/>
        </a:defRPr>
      </a:lvl4pPr>
      <a:lvl5pPr marL="1795780">
        <a:defRPr>
          <a:latin typeface="+mn-lt"/>
          <a:ea typeface="+mn-ea"/>
          <a:cs typeface="+mn-cs"/>
        </a:defRPr>
      </a:lvl5pPr>
      <a:lvl6pPr marL="2244725">
        <a:defRPr>
          <a:latin typeface="+mn-lt"/>
          <a:ea typeface="+mn-ea"/>
          <a:cs typeface="+mn-cs"/>
        </a:defRPr>
      </a:lvl6pPr>
      <a:lvl7pPr marL="2693670">
        <a:defRPr>
          <a:latin typeface="+mn-lt"/>
          <a:ea typeface="+mn-ea"/>
          <a:cs typeface="+mn-cs"/>
        </a:defRPr>
      </a:lvl7pPr>
      <a:lvl8pPr marL="3142615">
        <a:defRPr>
          <a:latin typeface="+mn-lt"/>
          <a:ea typeface="+mn-ea"/>
          <a:cs typeface="+mn-cs"/>
        </a:defRPr>
      </a:lvl8pPr>
      <a:lvl9pPr marL="3591560">
        <a:defRPr>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869801"/>
            <a:ext cx="609600" cy="37411"/>
          </a:xfrm>
          <a:custGeom>
            <a:avLst/>
            <a:gdLst/>
            <a:ahLst/>
            <a:cxnLst/>
            <a:rect l="l" t="t" r="r" b="b"/>
            <a:pathLst>
              <a:path w="609600" h="38100">
                <a:moveTo>
                  <a:pt x="593076" y="38099"/>
                </a:moveTo>
                <a:lnTo>
                  <a:pt x="16523" y="38099"/>
                </a:lnTo>
                <a:lnTo>
                  <a:pt x="14093" y="37616"/>
                </a:lnTo>
                <a:lnTo>
                  <a:pt x="0" y="21576"/>
                </a:lnTo>
                <a:lnTo>
                  <a:pt x="0" y="19049"/>
                </a:lnTo>
                <a:lnTo>
                  <a:pt x="0" y="16523"/>
                </a:lnTo>
                <a:lnTo>
                  <a:pt x="16523" y="0"/>
                </a:lnTo>
                <a:lnTo>
                  <a:pt x="593076" y="0"/>
                </a:lnTo>
                <a:lnTo>
                  <a:pt x="609599" y="16523"/>
                </a:lnTo>
                <a:lnTo>
                  <a:pt x="609599" y="21576"/>
                </a:lnTo>
                <a:lnTo>
                  <a:pt x="595506" y="37616"/>
                </a:lnTo>
                <a:lnTo>
                  <a:pt x="593076" y="38099"/>
                </a:lnTo>
                <a:close/>
              </a:path>
            </a:pathLst>
          </a:custGeom>
          <a:solidFill>
            <a:srgbClr val="2562EB"/>
          </a:solidFill>
        </p:spPr>
        <p:txBody>
          <a:bodyPr wrap="square" lIns="0" tIns="0" rIns="0" bIns="0" rtlCol="0"/>
          <a:lstStyle/>
          <a:p/>
        </p:txBody>
      </p:sp>
      <p:sp>
        <p:nvSpPr>
          <p:cNvPr id="2" name="Holder 2"/>
          <p:cNvSpPr>
            <a:spLocks noGrp="1"/>
          </p:cNvSpPr>
          <p:nvPr>
            <p:ph type="title"/>
          </p:nvPr>
        </p:nvSpPr>
        <p:spPr>
          <a:xfrm>
            <a:off x="444501" y="243046"/>
            <a:ext cx="3616325" cy="481976"/>
          </a:xfrm>
          <a:prstGeom prst="rect">
            <a:avLst/>
          </a:prstGeom>
        </p:spPr>
        <p:txBody>
          <a:bodyPr wrap="square" lIns="0" tIns="0" rIns="0" bIns="0">
            <a:spAutoFit/>
          </a:bodyPr>
          <a:lstStyle>
            <a:lvl1pPr>
              <a:defRPr sz="3050" b="1" i="0">
                <a:solidFill>
                  <a:srgbClr val="4237CA"/>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609600" y="1548809"/>
            <a:ext cx="109728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139700" y="7049659"/>
            <a:ext cx="295275" cy="113236"/>
          </a:xfrm>
          <a:prstGeom prst="rect">
            <a:avLst/>
          </a:prstGeom>
        </p:spPr>
        <p:txBody>
          <a:bodyPr wrap="square" lIns="0" tIns="0" rIns="0" bIns="0">
            <a:spAutoFit/>
          </a:bodyPr>
          <a:lstStyle>
            <a:lvl1pPr>
              <a:defRPr sz="735" b="0" i="0">
                <a:solidFill>
                  <a:schemeClr val="bg1"/>
                </a:solidFill>
                <a:latin typeface="Times New Roman" panose="02020603050405020304"/>
                <a:cs typeface="Times New Roman" panose="02020603050405020304"/>
              </a:defRPr>
            </a:lvl1pPr>
          </a:lstStyle>
          <a:p>
            <a:pPr marL="12700">
              <a:lnSpc>
                <a:spcPct val="100000"/>
              </a:lnSpc>
              <a:spcBef>
                <a:spcPts val="15"/>
              </a:spcBef>
            </a:pPr>
            <a:r>
              <a:rPr lang="en-US" spc="-10"/>
              <a:t>Author</a:t>
            </a:r>
            <a:endParaRPr lang="en-US" spc="-10" dirty="0"/>
          </a:p>
        </p:txBody>
      </p:sp>
      <p:sp>
        <p:nvSpPr>
          <p:cNvPr id="5" name="Holder 5"/>
          <p:cNvSpPr>
            <a:spLocks noGrp="1"/>
          </p:cNvSpPr>
          <p:nvPr>
            <p:ph type="dt" sz="half" idx="6"/>
          </p:nvPr>
        </p:nvSpPr>
        <p:spPr>
          <a:xfrm>
            <a:off x="562074" y="7049659"/>
            <a:ext cx="311150" cy="113236"/>
          </a:xfrm>
          <a:prstGeom prst="rect">
            <a:avLst/>
          </a:prstGeom>
        </p:spPr>
        <p:txBody>
          <a:bodyPr wrap="square" lIns="0" tIns="0" rIns="0" bIns="0">
            <a:spAutoFit/>
          </a:bodyPr>
          <a:lstStyle>
            <a:lvl1pPr>
              <a:defRPr sz="735" b="0" i="0">
                <a:solidFill>
                  <a:schemeClr val="bg1"/>
                </a:solidFill>
                <a:latin typeface="Times New Roman" panose="02020603050405020304"/>
                <a:cs typeface="Times New Roman" panose="02020603050405020304"/>
              </a:defRPr>
            </a:lvl1pPr>
          </a:lstStyle>
          <a:p>
            <a:pPr marL="12700">
              <a:lnSpc>
                <a:spcPts val="1425"/>
              </a:lnSpc>
            </a:pPr>
            <a:r>
              <a:rPr lang="en-US"/>
              <a:t>Powered</a:t>
            </a:r>
            <a:r>
              <a:rPr lang="en-US" spc="100"/>
              <a:t> </a:t>
            </a:r>
            <a:r>
              <a:rPr lang="en-US"/>
              <a:t>By</a:t>
            </a:r>
            <a:r>
              <a:rPr lang="en-US" spc="105"/>
              <a:t> </a:t>
            </a:r>
            <a:r>
              <a:rPr lang="en-US" spc="-10"/>
              <a:t>Tosea.ai</a:t>
            </a:r>
            <a:endParaRPr lang="en-US" spc="-10" dirty="0"/>
          </a:p>
        </p:txBody>
      </p:sp>
      <p:sp>
        <p:nvSpPr>
          <p:cNvPr id="6" name="Holder 6"/>
          <p:cNvSpPr>
            <a:spLocks noGrp="1"/>
          </p:cNvSpPr>
          <p:nvPr>
            <p:ph type="sldNum" sz="quarter" idx="7"/>
          </p:nvPr>
        </p:nvSpPr>
        <p:spPr>
          <a:xfrm>
            <a:off x="8778240" y="6262577"/>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Lst>
  <p:txStyles>
    <p:titleStyle>
      <a:lvl1pPr>
        <a:defRPr>
          <a:latin typeface="+mj-lt"/>
          <a:ea typeface="+mj-ea"/>
          <a:cs typeface="+mj-cs"/>
        </a:defRPr>
      </a:lvl1pPr>
    </p:titleStyle>
    <p:bodyStyle>
      <a:lvl1pPr marL="0">
        <a:defRPr>
          <a:latin typeface="+mn-lt"/>
          <a:ea typeface="+mn-ea"/>
          <a:cs typeface="+mn-cs"/>
        </a:defRPr>
      </a:lvl1pPr>
      <a:lvl2pPr marL="448945">
        <a:defRPr>
          <a:latin typeface="+mn-lt"/>
          <a:ea typeface="+mn-ea"/>
          <a:cs typeface="+mn-cs"/>
        </a:defRPr>
      </a:lvl2pPr>
      <a:lvl3pPr marL="897890">
        <a:defRPr>
          <a:latin typeface="+mn-lt"/>
          <a:ea typeface="+mn-ea"/>
          <a:cs typeface="+mn-cs"/>
        </a:defRPr>
      </a:lvl3pPr>
      <a:lvl4pPr marL="1346835">
        <a:defRPr>
          <a:latin typeface="+mn-lt"/>
          <a:ea typeface="+mn-ea"/>
          <a:cs typeface="+mn-cs"/>
        </a:defRPr>
      </a:lvl4pPr>
      <a:lvl5pPr marL="1795780">
        <a:defRPr>
          <a:latin typeface="+mn-lt"/>
          <a:ea typeface="+mn-ea"/>
          <a:cs typeface="+mn-cs"/>
        </a:defRPr>
      </a:lvl5pPr>
      <a:lvl6pPr marL="2244725">
        <a:defRPr>
          <a:latin typeface="+mn-lt"/>
          <a:ea typeface="+mn-ea"/>
          <a:cs typeface="+mn-cs"/>
        </a:defRPr>
      </a:lvl6pPr>
      <a:lvl7pPr marL="2693670">
        <a:defRPr>
          <a:latin typeface="+mn-lt"/>
          <a:ea typeface="+mn-ea"/>
          <a:cs typeface="+mn-cs"/>
        </a:defRPr>
      </a:lvl7pPr>
      <a:lvl8pPr marL="3142615">
        <a:defRPr>
          <a:latin typeface="+mn-lt"/>
          <a:ea typeface="+mn-ea"/>
          <a:cs typeface="+mn-cs"/>
        </a:defRPr>
      </a:lvl8pPr>
      <a:lvl9pPr marL="3591560">
        <a:defRPr>
          <a:latin typeface="+mn-lt"/>
          <a:ea typeface="+mn-ea"/>
          <a:cs typeface="+mn-cs"/>
        </a:defRPr>
      </a:lvl9pPr>
    </p:bodyStyle>
    <p:otherStyle>
      <a:lvl1pPr marL="0">
        <a:defRPr>
          <a:latin typeface="+mn-lt"/>
          <a:ea typeface="+mn-ea"/>
          <a:cs typeface="+mn-cs"/>
        </a:defRPr>
      </a:lvl1pPr>
      <a:lvl2pPr marL="448945">
        <a:defRPr>
          <a:latin typeface="+mn-lt"/>
          <a:ea typeface="+mn-ea"/>
          <a:cs typeface="+mn-cs"/>
        </a:defRPr>
      </a:lvl2pPr>
      <a:lvl3pPr marL="897890">
        <a:defRPr>
          <a:latin typeface="+mn-lt"/>
          <a:ea typeface="+mn-ea"/>
          <a:cs typeface="+mn-cs"/>
        </a:defRPr>
      </a:lvl3pPr>
      <a:lvl4pPr marL="1346835">
        <a:defRPr>
          <a:latin typeface="+mn-lt"/>
          <a:ea typeface="+mn-ea"/>
          <a:cs typeface="+mn-cs"/>
        </a:defRPr>
      </a:lvl4pPr>
      <a:lvl5pPr marL="1795780">
        <a:defRPr>
          <a:latin typeface="+mn-lt"/>
          <a:ea typeface="+mn-ea"/>
          <a:cs typeface="+mn-cs"/>
        </a:defRPr>
      </a:lvl5pPr>
      <a:lvl6pPr marL="2244725">
        <a:defRPr>
          <a:latin typeface="+mn-lt"/>
          <a:ea typeface="+mn-ea"/>
          <a:cs typeface="+mn-cs"/>
        </a:defRPr>
      </a:lvl6pPr>
      <a:lvl7pPr marL="2693670">
        <a:defRPr>
          <a:latin typeface="+mn-lt"/>
          <a:ea typeface="+mn-ea"/>
          <a:cs typeface="+mn-cs"/>
        </a:defRPr>
      </a:lvl7pPr>
      <a:lvl8pPr marL="3142615">
        <a:defRPr>
          <a:latin typeface="+mn-lt"/>
          <a:ea typeface="+mn-ea"/>
          <a:cs typeface="+mn-cs"/>
        </a:defRPr>
      </a:lvl8pPr>
      <a:lvl9pPr marL="359156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xml"/><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7.xml"/><Relationship Id="rId2" Type="http://schemas.openxmlformats.org/officeDocument/2006/relationships/image" Target="../media/image3.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2.xml"/><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7.xml"/><Relationship Id="rId5" Type="http://schemas.openxmlformats.org/officeDocument/2006/relationships/image" Target="../media/image3.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33.xml"/><Relationship Id="rId4" Type="http://schemas.openxmlformats.org/officeDocument/2006/relationships/image" Target="../media/image3.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37.xml"/><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9" y="358775"/>
            <a:ext cx="1132840" cy="185420"/>
          </a:xfrm>
          <a:prstGeom prst="rect">
            <a:avLst/>
          </a:prstGeom>
        </p:spPr>
        <p:txBody>
          <a:bodyPr vert="horz" wrap="square" lIns="0" tIns="12700" rIns="0" bIns="0" rtlCol="0">
            <a:spAutoFit/>
          </a:bodyPr>
          <a:lstStyle/>
          <a:p>
            <a:pPr marL="12700">
              <a:lnSpc>
                <a:spcPct val="100000"/>
              </a:lnSpc>
              <a:spcBef>
                <a:spcPts val="100"/>
              </a:spcBef>
            </a:pPr>
            <a:r>
              <a:rPr sz="1050" b="1" spc="90" dirty="0">
                <a:solidFill>
                  <a:srgbClr val="4237CA"/>
                </a:solidFill>
                <a:latin typeface="Courier New" panose="02070309020205020404"/>
                <a:cs typeface="Courier New" panose="02070309020205020404"/>
              </a:rPr>
              <a:t>NEURIPS</a:t>
            </a:r>
            <a:r>
              <a:rPr sz="1050" b="1" spc="210" dirty="0">
                <a:solidFill>
                  <a:srgbClr val="4237CA"/>
                </a:solidFill>
                <a:latin typeface="Courier New" panose="02070309020205020404"/>
                <a:cs typeface="Courier New" panose="02070309020205020404"/>
              </a:rPr>
              <a:t> </a:t>
            </a:r>
            <a:r>
              <a:rPr sz="1050" b="1" spc="55" dirty="0">
                <a:solidFill>
                  <a:srgbClr val="4237CA"/>
                </a:solidFill>
                <a:latin typeface="Courier New" panose="02070309020205020404"/>
                <a:cs typeface="Courier New" panose="02070309020205020404"/>
              </a:rPr>
              <a:t>2019</a:t>
            </a:r>
            <a:endParaRPr sz="1050">
              <a:latin typeface="Courier New" panose="02070309020205020404"/>
              <a:cs typeface="Courier New" panose="02070309020205020404"/>
            </a:endParaRPr>
          </a:p>
        </p:txBody>
      </p:sp>
      <p:pic>
        <p:nvPicPr>
          <p:cNvPr id="3" name="object 3"/>
          <p:cNvPicPr/>
          <p:nvPr/>
        </p:nvPicPr>
        <p:blipFill>
          <a:blip r:embed="rId1" cstate="print"/>
          <a:stretch>
            <a:fillRect/>
          </a:stretch>
        </p:blipFill>
        <p:spPr>
          <a:xfrm>
            <a:off x="609599" y="438150"/>
            <a:ext cx="76200" cy="76199"/>
          </a:xfrm>
          <a:prstGeom prst="rect">
            <a:avLst/>
          </a:prstGeom>
        </p:spPr>
      </p:pic>
      <p:sp>
        <p:nvSpPr>
          <p:cNvPr id="4" name="object 4"/>
          <p:cNvSpPr/>
          <p:nvPr/>
        </p:nvSpPr>
        <p:spPr>
          <a:xfrm>
            <a:off x="457200" y="4581524"/>
            <a:ext cx="914400" cy="76200"/>
          </a:xfrm>
          <a:custGeom>
            <a:avLst/>
            <a:gdLst/>
            <a:ahLst/>
            <a:cxnLst/>
            <a:rect l="l" t="t" r="r" b="b"/>
            <a:pathLst>
              <a:path w="914400" h="76200">
                <a:moveTo>
                  <a:pt x="881352" y="76199"/>
                </a:moveTo>
                <a:lnTo>
                  <a:pt x="33047" y="76199"/>
                </a:lnTo>
                <a:lnTo>
                  <a:pt x="28187" y="75233"/>
                </a:lnTo>
                <a:lnTo>
                  <a:pt x="966" y="48012"/>
                </a:lnTo>
                <a:lnTo>
                  <a:pt x="0" y="43152"/>
                </a:lnTo>
                <a:lnTo>
                  <a:pt x="0" y="38099"/>
                </a:lnTo>
                <a:lnTo>
                  <a:pt x="0" y="33047"/>
                </a:lnTo>
                <a:lnTo>
                  <a:pt x="28187" y="966"/>
                </a:lnTo>
                <a:lnTo>
                  <a:pt x="33047" y="0"/>
                </a:lnTo>
                <a:lnTo>
                  <a:pt x="881352" y="0"/>
                </a:lnTo>
                <a:lnTo>
                  <a:pt x="913433" y="28187"/>
                </a:lnTo>
                <a:lnTo>
                  <a:pt x="914399" y="33047"/>
                </a:lnTo>
                <a:lnTo>
                  <a:pt x="914399" y="43152"/>
                </a:lnTo>
                <a:lnTo>
                  <a:pt x="886212" y="75233"/>
                </a:lnTo>
                <a:lnTo>
                  <a:pt x="881352" y="76199"/>
                </a:lnTo>
                <a:close/>
              </a:path>
            </a:pathLst>
          </a:custGeom>
          <a:solidFill>
            <a:srgbClr val="2562EB"/>
          </a:solidFill>
        </p:spPr>
        <p:txBody>
          <a:bodyPr wrap="square" lIns="0" tIns="0" rIns="0" bIns="0" rtlCol="0"/>
          <a:lstStyle/>
          <a:p/>
        </p:txBody>
      </p:sp>
      <p:sp>
        <p:nvSpPr>
          <p:cNvPr id="5" name="object 5"/>
          <p:cNvSpPr txBox="1"/>
          <p:nvPr/>
        </p:nvSpPr>
        <p:spPr>
          <a:xfrm>
            <a:off x="444500" y="1120775"/>
            <a:ext cx="6545580" cy="3115310"/>
          </a:xfrm>
          <a:prstGeom prst="rect">
            <a:avLst/>
          </a:prstGeom>
        </p:spPr>
        <p:txBody>
          <a:bodyPr vert="horz" wrap="square" lIns="0" tIns="80010" rIns="0" bIns="0" rtlCol="0">
            <a:spAutoFit/>
          </a:bodyPr>
          <a:lstStyle/>
          <a:p>
            <a:pPr marL="12700" marR="5080">
              <a:lnSpc>
                <a:spcPct val="92000"/>
              </a:lnSpc>
              <a:spcBef>
                <a:spcPts val="630"/>
              </a:spcBef>
            </a:pPr>
            <a:r>
              <a:rPr sz="5400" b="1" spc="-240" dirty="0">
                <a:solidFill>
                  <a:srgbClr val="1D293B"/>
                </a:solidFill>
                <a:latin typeface="Tahoma" panose="020B0604030504040204"/>
                <a:cs typeface="Tahoma" panose="020B0604030504040204"/>
              </a:rPr>
              <a:t>Exact</a:t>
            </a:r>
            <a:r>
              <a:rPr sz="5400" b="1" spc="-480" dirty="0">
                <a:solidFill>
                  <a:srgbClr val="1D293B"/>
                </a:solidFill>
                <a:latin typeface="Tahoma" panose="020B0604030504040204"/>
                <a:cs typeface="Tahoma" panose="020B0604030504040204"/>
              </a:rPr>
              <a:t> </a:t>
            </a:r>
            <a:r>
              <a:rPr sz="5400" b="1" spc="-145" dirty="0">
                <a:solidFill>
                  <a:srgbClr val="1D293B"/>
                </a:solidFill>
                <a:latin typeface="Tahoma" panose="020B0604030504040204"/>
                <a:cs typeface="Tahoma" panose="020B0604030504040204"/>
              </a:rPr>
              <a:t>Combinatorial </a:t>
            </a:r>
            <a:r>
              <a:rPr sz="5400" b="1" spc="-190" dirty="0">
                <a:solidFill>
                  <a:srgbClr val="1D293B"/>
                </a:solidFill>
                <a:latin typeface="Tahoma" panose="020B0604030504040204"/>
                <a:cs typeface="Tahoma" panose="020B0604030504040204"/>
              </a:rPr>
              <a:t>Optimization</a:t>
            </a:r>
            <a:r>
              <a:rPr sz="5400" b="1" spc="-440" dirty="0">
                <a:solidFill>
                  <a:srgbClr val="1D293B"/>
                </a:solidFill>
                <a:latin typeface="Tahoma" panose="020B0604030504040204"/>
                <a:cs typeface="Tahoma" panose="020B0604030504040204"/>
              </a:rPr>
              <a:t> </a:t>
            </a:r>
            <a:r>
              <a:rPr sz="5400" b="1" spc="-20" dirty="0">
                <a:solidFill>
                  <a:srgbClr val="1D293B"/>
                </a:solidFill>
                <a:latin typeface="Tahoma" panose="020B0604030504040204"/>
                <a:cs typeface="Tahoma" panose="020B0604030504040204"/>
              </a:rPr>
              <a:t>with </a:t>
            </a:r>
            <a:r>
              <a:rPr sz="5400" b="1" spc="-275" dirty="0">
                <a:solidFill>
                  <a:srgbClr val="4237CA"/>
                </a:solidFill>
                <a:latin typeface="Tahoma" panose="020B0604030504040204"/>
                <a:cs typeface="Tahoma" panose="020B0604030504040204"/>
              </a:rPr>
              <a:t>Graph</a:t>
            </a:r>
            <a:r>
              <a:rPr sz="5400" b="1" spc="-515" dirty="0">
                <a:solidFill>
                  <a:srgbClr val="4237CA"/>
                </a:solidFill>
                <a:latin typeface="Tahoma" panose="020B0604030504040204"/>
                <a:cs typeface="Tahoma" panose="020B0604030504040204"/>
              </a:rPr>
              <a:t> </a:t>
            </a:r>
            <a:r>
              <a:rPr sz="5400" b="1" spc="-190" dirty="0">
                <a:solidFill>
                  <a:srgbClr val="4237CA"/>
                </a:solidFill>
                <a:latin typeface="Tahoma" panose="020B0604030504040204"/>
                <a:cs typeface="Tahoma" panose="020B0604030504040204"/>
              </a:rPr>
              <a:t>Convolutional </a:t>
            </a:r>
            <a:r>
              <a:rPr sz="5400" b="1" spc="-235" dirty="0">
                <a:solidFill>
                  <a:srgbClr val="1D293B"/>
                </a:solidFill>
                <a:latin typeface="Tahoma" panose="020B0604030504040204"/>
                <a:cs typeface="Tahoma" panose="020B0604030504040204"/>
              </a:rPr>
              <a:t>Neural</a:t>
            </a:r>
            <a:r>
              <a:rPr sz="5400" b="1" spc="-465" dirty="0">
                <a:solidFill>
                  <a:srgbClr val="1D293B"/>
                </a:solidFill>
                <a:latin typeface="Tahoma" panose="020B0604030504040204"/>
                <a:cs typeface="Tahoma" panose="020B0604030504040204"/>
              </a:rPr>
              <a:t> </a:t>
            </a:r>
            <a:r>
              <a:rPr sz="5400" b="1" spc="-95" dirty="0">
                <a:solidFill>
                  <a:srgbClr val="1D293B"/>
                </a:solidFill>
                <a:latin typeface="Tahoma" panose="020B0604030504040204"/>
                <a:cs typeface="Tahoma" panose="020B0604030504040204"/>
              </a:rPr>
              <a:t>Networks</a:t>
            </a:r>
            <a:endParaRPr sz="5400">
              <a:latin typeface="Tahoma" panose="020B0604030504040204"/>
              <a:cs typeface="Tahoma" panose="020B0604030504040204"/>
            </a:endParaRPr>
          </a:p>
        </p:txBody>
      </p:sp>
      <p:sp>
        <p:nvSpPr>
          <p:cNvPr id="6" name="object 6"/>
          <p:cNvSpPr txBox="1"/>
          <p:nvPr/>
        </p:nvSpPr>
        <p:spPr>
          <a:xfrm>
            <a:off x="444500" y="5588000"/>
            <a:ext cx="1237615" cy="162560"/>
          </a:xfrm>
          <a:prstGeom prst="rect">
            <a:avLst/>
          </a:prstGeom>
        </p:spPr>
        <p:txBody>
          <a:bodyPr vert="horz" wrap="square" lIns="0" tIns="12700" rIns="0" bIns="0" rtlCol="0">
            <a:spAutoFit/>
          </a:bodyPr>
          <a:lstStyle/>
          <a:p>
            <a:pPr marL="12700">
              <a:lnSpc>
                <a:spcPct val="100000"/>
              </a:lnSpc>
              <a:spcBef>
                <a:spcPts val="100"/>
              </a:spcBef>
            </a:pPr>
            <a:r>
              <a:rPr sz="900" b="1" spc="130" dirty="0">
                <a:solidFill>
                  <a:srgbClr val="94A2B8"/>
                </a:solidFill>
                <a:latin typeface="Trebuchet MS" panose="020B0603020202020204"/>
                <a:cs typeface="Trebuchet MS" panose="020B0603020202020204"/>
              </a:rPr>
              <a:t>P</a:t>
            </a:r>
            <a:r>
              <a:rPr sz="900" b="1" spc="-95" dirty="0">
                <a:solidFill>
                  <a:srgbClr val="94A2B8"/>
                </a:solidFill>
                <a:latin typeface="Trebuchet MS" panose="020B0603020202020204"/>
                <a:cs typeface="Trebuchet MS" panose="020B0603020202020204"/>
              </a:rPr>
              <a:t> </a:t>
            </a:r>
            <a:r>
              <a:rPr sz="900" b="1" spc="140" dirty="0">
                <a:solidFill>
                  <a:srgbClr val="94A2B8"/>
                </a:solidFill>
                <a:latin typeface="Trebuchet MS" panose="020B0603020202020204"/>
                <a:cs typeface="Trebuchet MS" panose="020B0603020202020204"/>
              </a:rPr>
              <a:t>R</a:t>
            </a:r>
            <a:r>
              <a:rPr sz="900" b="1" spc="-95" dirty="0">
                <a:solidFill>
                  <a:srgbClr val="94A2B8"/>
                </a:solidFill>
                <a:latin typeface="Trebuchet MS" panose="020B0603020202020204"/>
                <a:cs typeface="Trebuchet MS" panose="020B0603020202020204"/>
              </a:rPr>
              <a:t> </a:t>
            </a:r>
            <a:r>
              <a:rPr sz="900" b="1" spc="95" dirty="0">
                <a:solidFill>
                  <a:srgbClr val="94A2B8"/>
                </a:solidFill>
                <a:latin typeface="Trebuchet MS" panose="020B0603020202020204"/>
                <a:cs typeface="Trebuchet MS" panose="020B0603020202020204"/>
              </a:rPr>
              <a:t>E</a:t>
            </a:r>
            <a:r>
              <a:rPr sz="900" b="1" spc="-95" dirty="0">
                <a:solidFill>
                  <a:srgbClr val="94A2B8"/>
                </a:solidFill>
                <a:latin typeface="Trebuchet MS" panose="020B0603020202020204"/>
                <a:cs typeface="Trebuchet MS" panose="020B0603020202020204"/>
              </a:rPr>
              <a:t> </a:t>
            </a:r>
            <a:r>
              <a:rPr sz="900" b="1" spc="185" dirty="0">
                <a:solidFill>
                  <a:srgbClr val="94A2B8"/>
                </a:solidFill>
                <a:latin typeface="Trebuchet MS" panose="020B0603020202020204"/>
                <a:cs typeface="Trebuchet MS" panose="020B0603020202020204"/>
              </a:rPr>
              <a:t>S</a:t>
            </a:r>
            <a:r>
              <a:rPr sz="900" b="1" spc="-95" dirty="0">
                <a:solidFill>
                  <a:srgbClr val="94A2B8"/>
                </a:solidFill>
                <a:latin typeface="Trebuchet MS" panose="020B0603020202020204"/>
                <a:cs typeface="Trebuchet MS" panose="020B0603020202020204"/>
              </a:rPr>
              <a:t> </a:t>
            </a:r>
            <a:r>
              <a:rPr sz="900" b="1" spc="95" dirty="0">
                <a:solidFill>
                  <a:srgbClr val="94A2B8"/>
                </a:solidFill>
                <a:latin typeface="Trebuchet MS" panose="020B0603020202020204"/>
                <a:cs typeface="Trebuchet MS" panose="020B0603020202020204"/>
              </a:rPr>
              <a:t>E</a:t>
            </a:r>
            <a:r>
              <a:rPr sz="900" b="1" spc="-90" dirty="0">
                <a:solidFill>
                  <a:srgbClr val="94A2B8"/>
                </a:solidFill>
                <a:latin typeface="Trebuchet MS" panose="020B0603020202020204"/>
                <a:cs typeface="Trebuchet MS" panose="020B0603020202020204"/>
              </a:rPr>
              <a:t> </a:t>
            </a:r>
            <a:r>
              <a:rPr sz="900" b="1" spc="150" dirty="0">
                <a:solidFill>
                  <a:srgbClr val="94A2B8"/>
                </a:solidFill>
                <a:latin typeface="Trebuchet MS" panose="020B0603020202020204"/>
                <a:cs typeface="Trebuchet MS" panose="020B0603020202020204"/>
              </a:rPr>
              <a:t>N</a:t>
            </a:r>
            <a:r>
              <a:rPr sz="900" b="1" spc="-95" dirty="0">
                <a:solidFill>
                  <a:srgbClr val="94A2B8"/>
                </a:solidFill>
                <a:latin typeface="Trebuchet MS" panose="020B0603020202020204"/>
                <a:cs typeface="Trebuchet MS" panose="020B0603020202020204"/>
              </a:rPr>
              <a:t> </a:t>
            </a:r>
            <a:r>
              <a:rPr sz="900" b="1" spc="60" dirty="0">
                <a:solidFill>
                  <a:srgbClr val="94A2B8"/>
                </a:solidFill>
                <a:latin typeface="Trebuchet MS" panose="020B0603020202020204"/>
                <a:cs typeface="Trebuchet MS" panose="020B0603020202020204"/>
              </a:rPr>
              <a:t>T</a:t>
            </a:r>
            <a:r>
              <a:rPr sz="900" b="1" spc="-95" dirty="0">
                <a:solidFill>
                  <a:srgbClr val="94A2B8"/>
                </a:solidFill>
                <a:latin typeface="Trebuchet MS" panose="020B0603020202020204"/>
                <a:cs typeface="Trebuchet MS" panose="020B0603020202020204"/>
              </a:rPr>
              <a:t> </a:t>
            </a:r>
            <a:r>
              <a:rPr sz="900" b="1" spc="95" dirty="0">
                <a:solidFill>
                  <a:srgbClr val="94A2B8"/>
                </a:solidFill>
                <a:latin typeface="Trebuchet MS" panose="020B0603020202020204"/>
                <a:cs typeface="Trebuchet MS" panose="020B0603020202020204"/>
              </a:rPr>
              <a:t>E</a:t>
            </a:r>
            <a:r>
              <a:rPr sz="900" b="1" spc="-95" dirty="0">
                <a:solidFill>
                  <a:srgbClr val="94A2B8"/>
                </a:solidFill>
                <a:latin typeface="Trebuchet MS" panose="020B0603020202020204"/>
                <a:cs typeface="Trebuchet MS" panose="020B0603020202020204"/>
              </a:rPr>
              <a:t> </a:t>
            </a:r>
            <a:r>
              <a:rPr sz="900" b="1" spc="165" dirty="0">
                <a:solidFill>
                  <a:srgbClr val="94A2B8"/>
                </a:solidFill>
                <a:latin typeface="Trebuchet MS" panose="020B0603020202020204"/>
                <a:cs typeface="Trebuchet MS" panose="020B0603020202020204"/>
              </a:rPr>
              <a:t>D</a:t>
            </a:r>
            <a:r>
              <a:rPr sz="900" b="1" spc="409" dirty="0">
                <a:solidFill>
                  <a:srgbClr val="94A2B8"/>
                </a:solidFill>
                <a:latin typeface="Trebuchet MS" panose="020B0603020202020204"/>
                <a:cs typeface="Trebuchet MS" panose="020B0603020202020204"/>
              </a:rPr>
              <a:t> </a:t>
            </a:r>
            <a:r>
              <a:rPr sz="900" b="1" spc="160" dirty="0">
                <a:solidFill>
                  <a:srgbClr val="94A2B8"/>
                </a:solidFill>
                <a:latin typeface="Trebuchet MS" panose="020B0603020202020204"/>
                <a:cs typeface="Trebuchet MS" panose="020B0603020202020204"/>
              </a:rPr>
              <a:t>BY</a:t>
            </a:r>
            <a:endParaRPr sz="900">
              <a:latin typeface="Trebuchet MS" panose="020B0603020202020204"/>
              <a:cs typeface="Trebuchet MS" panose="020B0603020202020204"/>
            </a:endParaRPr>
          </a:p>
        </p:txBody>
      </p:sp>
      <p:sp>
        <p:nvSpPr>
          <p:cNvPr id="7" name="object 7"/>
          <p:cNvSpPr txBox="1"/>
          <p:nvPr/>
        </p:nvSpPr>
        <p:spPr>
          <a:xfrm>
            <a:off x="444500" y="5826124"/>
            <a:ext cx="3692525" cy="635000"/>
          </a:xfrm>
          <a:prstGeom prst="rect">
            <a:avLst/>
          </a:prstGeom>
        </p:spPr>
        <p:txBody>
          <a:bodyPr vert="horz" wrap="square" lIns="0" tIns="12700" rIns="0" bIns="0" rtlCol="0">
            <a:spAutoFit/>
          </a:bodyPr>
          <a:lstStyle/>
          <a:p>
            <a:pPr marL="12700" marR="5080">
              <a:lnSpc>
                <a:spcPct val="133000"/>
              </a:lnSpc>
              <a:spcBef>
                <a:spcPts val="100"/>
              </a:spcBef>
            </a:pPr>
            <a:r>
              <a:rPr sz="1500" spc="-20" dirty="0">
                <a:solidFill>
                  <a:srgbClr val="334054"/>
                </a:solidFill>
                <a:latin typeface="Calibri" panose="020F0502020204030204"/>
                <a:cs typeface="Calibri" panose="020F0502020204030204"/>
              </a:rPr>
              <a:t>Maxime</a:t>
            </a:r>
            <a:r>
              <a:rPr sz="1500" spc="70" dirty="0">
                <a:solidFill>
                  <a:srgbClr val="334054"/>
                </a:solidFill>
                <a:latin typeface="Calibri" panose="020F0502020204030204"/>
                <a:cs typeface="Calibri" panose="020F0502020204030204"/>
              </a:rPr>
              <a:t> </a:t>
            </a:r>
            <a:r>
              <a:rPr sz="1500" dirty="0">
                <a:solidFill>
                  <a:srgbClr val="334054"/>
                </a:solidFill>
                <a:latin typeface="Calibri" panose="020F0502020204030204"/>
                <a:cs typeface="Calibri" panose="020F0502020204030204"/>
              </a:rPr>
              <a:t>Gasse,</a:t>
            </a:r>
            <a:r>
              <a:rPr sz="1500" spc="65" dirty="0">
                <a:solidFill>
                  <a:srgbClr val="334054"/>
                </a:solidFill>
                <a:latin typeface="Calibri" panose="020F0502020204030204"/>
                <a:cs typeface="Calibri" panose="020F0502020204030204"/>
              </a:rPr>
              <a:t> </a:t>
            </a:r>
            <a:r>
              <a:rPr sz="1500" dirty="0">
                <a:solidFill>
                  <a:srgbClr val="334054"/>
                </a:solidFill>
                <a:latin typeface="Calibri" panose="020F0502020204030204"/>
                <a:cs typeface="Calibri" panose="020F0502020204030204"/>
              </a:rPr>
              <a:t>Didier</a:t>
            </a:r>
            <a:r>
              <a:rPr sz="1500" spc="70" dirty="0">
                <a:solidFill>
                  <a:srgbClr val="334054"/>
                </a:solidFill>
                <a:latin typeface="Calibri" panose="020F0502020204030204"/>
                <a:cs typeface="Calibri" panose="020F0502020204030204"/>
              </a:rPr>
              <a:t> </a:t>
            </a:r>
            <a:r>
              <a:rPr sz="1500" dirty="0">
                <a:solidFill>
                  <a:srgbClr val="334054"/>
                </a:solidFill>
                <a:latin typeface="Calibri" panose="020F0502020204030204"/>
                <a:cs typeface="Calibri" panose="020F0502020204030204"/>
              </a:rPr>
              <a:t>Chetelat,</a:t>
            </a:r>
            <a:r>
              <a:rPr sz="1500" spc="65" dirty="0">
                <a:solidFill>
                  <a:srgbClr val="334054"/>
                </a:solidFill>
                <a:latin typeface="Calibri" panose="020F0502020204030204"/>
                <a:cs typeface="Calibri" panose="020F0502020204030204"/>
              </a:rPr>
              <a:t> </a:t>
            </a:r>
            <a:r>
              <a:rPr sz="1500" dirty="0">
                <a:solidFill>
                  <a:srgbClr val="334054"/>
                </a:solidFill>
                <a:latin typeface="Calibri" panose="020F0502020204030204"/>
                <a:cs typeface="Calibri" panose="020F0502020204030204"/>
              </a:rPr>
              <a:t>Nicola</a:t>
            </a:r>
            <a:r>
              <a:rPr sz="1500" spc="55" dirty="0">
                <a:solidFill>
                  <a:srgbClr val="334054"/>
                </a:solidFill>
                <a:latin typeface="Calibri" panose="020F0502020204030204"/>
                <a:cs typeface="Calibri" panose="020F0502020204030204"/>
              </a:rPr>
              <a:t> </a:t>
            </a:r>
            <a:r>
              <a:rPr sz="1500" spc="-10" dirty="0">
                <a:solidFill>
                  <a:srgbClr val="334054"/>
                </a:solidFill>
                <a:latin typeface="Calibri" panose="020F0502020204030204"/>
                <a:cs typeface="Calibri" panose="020F0502020204030204"/>
              </a:rPr>
              <a:t>Ferroni, </a:t>
            </a:r>
            <a:r>
              <a:rPr sz="1500" dirty="0">
                <a:solidFill>
                  <a:srgbClr val="334054"/>
                </a:solidFill>
                <a:latin typeface="Calibri" panose="020F0502020204030204"/>
                <a:cs typeface="Calibri" panose="020F0502020204030204"/>
              </a:rPr>
              <a:t>Laurent</a:t>
            </a:r>
            <a:r>
              <a:rPr sz="1500" spc="180" dirty="0">
                <a:solidFill>
                  <a:srgbClr val="334054"/>
                </a:solidFill>
                <a:latin typeface="Calibri" panose="020F0502020204030204"/>
                <a:cs typeface="Calibri" panose="020F0502020204030204"/>
              </a:rPr>
              <a:t> </a:t>
            </a:r>
            <a:r>
              <a:rPr sz="1500" dirty="0">
                <a:solidFill>
                  <a:srgbClr val="334054"/>
                </a:solidFill>
                <a:latin typeface="Calibri" panose="020F0502020204030204"/>
                <a:cs typeface="Calibri" panose="020F0502020204030204"/>
              </a:rPr>
              <a:t>Charlin,</a:t>
            </a:r>
            <a:r>
              <a:rPr sz="1500" spc="60" dirty="0">
                <a:solidFill>
                  <a:srgbClr val="334054"/>
                </a:solidFill>
                <a:latin typeface="Calibri" panose="020F0502020204030204"/>
                <a:cs typeface="Calibri" panose="020F0502020204030204"/>
              </a:rPr>
              <a:t> </a:t>
            </a:r>
            <a:r>
              <a:rPr sz="1500" dirty="0">
                <a:solidFill>
                  <a:srgbClr val="334054"/>
                </a:solidFill>
                <a:latin typeface="Calibri" panose="020F0502020204030204"/>
                <a:cs typeface="Calibri" panose="020F0502020204030204"/>
              </a:rPr>
              <a:t>Andrea</a:t>
            </a:r>
            <a:r>
              <a:rPr sz="1500" spc="50" dirty="0">
                <a:solidFill>
                  <a:srgbClr val="334054"/>
                </a:solidFill>
                <a:latin typeface="Calibri" panose="020F0502020204030204"/>
                <a:cs typeface="Calibri" panose="020F0502020204030204"/>
              </a:rPr>
              <a:t> </a:t>
            </a:r>
            <a:r>
              <a:rPr sz="1500" spc="30" dirty="0">
                <a:solidFill>
                  <a:srgbClr val="334054"/>
                </a:solidFill>
                <a:latin typeface="Calibri" panose="020F0502020204030204"/>
                <a:cs typeface="Calibri" panose="020F0502020204030204"/>
              </a:rPr>
              <a:t>Lodi</a:t>
            </a:r>
            <a:endParaRPr sz="1500">
              <a:latin typeface="Calibri" panose="020F0502020204030204"/>
              <a:cs typeface="Calibri" panose="020F0502020204030204"/>
            </a:endParaRPr>
          </a:p>
        </p:txBody>
      </p:sp>
      <p:grpSp>
        <p:nvGrpSpPr>
          <p:cNvPr id="8" name="object 8"/>
          <p:cNvGrpSpPr/>
          <p:nvPr/>
        </p:nvGrpSpPr>
        <p:grpSpPr>
          <a:xfrm>
            <a:off x="6324599" y="5048249"/>
            <a:ext cx="5410200" cy="1428750"/>
            <a:chOff x="6324599" y="5048249"/>
            <a:chExt cx="5410200" cy="1428750"/>
          </a:xfrm>
        </p:grpSpPr>
        <p:sp>
          <p:nvSpPr>
            <p:cNvPr id="9" name="object 9"/>
            <p:cNvSpPr/>
            <p:nvPr/>
          </p:nvSpPr>
          <p:spPr>
            <a:xfrm>
              <a:off x="6343649" y="5048249"/>
              <a:ext cx="5391150" cy="1428750"/>
            </a:xfrm>
            <a:custGeom>
              <a:avLst/>
              <a:gdLst/>
              <a:ahLst/>
              <a:cxnLst/>
              <a:rect l="l" t="t" r="r" b="b"/>
              <a:pathLst>
                <a:path w="5391150" h="1428750">
                  <a:moveTo>
                    <a:pt x="5284354" y="1428749"/>
                  </a:moveTo>
                  <a:lnTo>
                    <a:pt x="0" y="1428749"/>
                  </a:lnTo>
                  <a:lnTo>
                    <a:pt x="0" y="0"/>
                  </a:lnTo>
                  <a:lnTo>
                    <a:pt x="5284354" y="0"/>
                  </a:lnTo>
                  <a:lnTo>
                    <a:pt x="5291787" y="732"/>
                  </a:lnTo>
                  <a:lnTo>
                    <a:pt x="5334110" y="15093"/>
                  </a:lnTo>
                  <a:lnTo>
                    <a:pt x="5367716" y="44558"/>
                  </a:lnTo>
                  <a:lnTo>
                    <a:pt x="5387488" y="84640"/>
                  </a:lnTo>
                  <a:lnTo>
                    <a:pt x="5391149" y="106794"/>
                  </a:lnTo>
                  <a:lnTo>
                    <a:pt x="5391149" y="1321954"/>
                  </a:lnTo>
                  <a:lnTo>
                    <a:pt x="5379575" y="1365124"/>
                  </a:lnTo>
                  <a:lnTo>
                    <a:pt x="5352364" y="1400578"/>
                  </a:lnTo>
                  <a:lnTo>
                    <a:pt x="5313656" y="1422921"/>
                  </a:lnTo>
                  <a:lnTo>
                    <a:pt x="5284354" y="1428749"/>
                  </a:lnTo>
                  <a:close/>
                </a:path>
              </a:pathLst>
            </a:custGeom>
            <a:solidFill>
              <a:srgbClr val="F7FAFB"/>
            </a:solidFill>
          </p:spPr>
          <p:txBody>
            <a:bodyPr wrap="square" lIns="0" tIns="0" rIns="0" bIns="0" rtlCol="0"/>
            <a:lstStyle/>
            <a:p/>
          </p:txBody>
        </p:sp>
        <p:sp>
          <p:nvSpPr>
            <p:cNvPr id="10" name="object 10"/>
            <p:cNvSpPr/>
            <p:nvPr/>
          </p:nvSpPr>
          <p:spPr>
            <a:xfrm>
              <a:off x="6324599" y="5048249"/>
              <a:ext cx="38100" cy="1428750"/>
            </a:xfrm>
            <a:custGeom>
              <a:avLst/>
              <a:gdLst/>
              <a:ahLst/>
              <a:cxnLst/>
              <a:rect l="l" t="t" r="r" b="b"/>
              <a:pathLst>
                <a:path w="38100" h="1428750">
                  <a:moveTo>
                    <a:pt x="38099" y="1428749"/>
                  </a:moveTo>
                  <a:lnTo>
                    <a:pt x="0" y="1428749"/>
                  </a:lnTo>
                  <a:lnTo>
                    <a:pt x="0" y="0"/>
                  </a:lnTo>
                  <a:lnTo>
                    <a:pt x="38099" y="0"/>
                  </a:lnTo>
                  <a:lnTo>
                    <a:pt x="38099" y="1428749"/>
                  </a:lnTo>
                  <a:close/>
                </a:path>
              </a:pathLst>
            </a:custGeom>
            <a:solidFill>
              <a:srgbClr val="4237CA"/>
            </a:solidFill>
          </p:spPr>
          <p:txBody>
            <a:bodyPr wrap="square" lIns="0" tIns="0" rIns="0" bIns="0" rtlCol="0"/>
            <a:lstStyle/>
            <a:p/>
          </p:txBody>
        </p:sp>
      </p:grpSp>
      <p:sp>
        <p:nvSpPr>
          <p:cNvPr id="11" name="object 11"/>
          <p:cNvSpPr txBox="1"/>
          <p:nvPr/>
        </p:nvSpPr>
        <p:spPr>
          <a:xfrm>
            <a:off x="6654800" y="5340350"/>
            <a:ext cx="1931670" cy="162560"/>
          </a:xfrm>
          <a:prstGeom prst="rect">
            <a:avLst/>
          </a:prstGeom>
        </p:spPr>
        <p:txBody>
          <a:bodyPr vert="horz" wrap="square" lIns="0" tIns="12700" rIns="0" bIns="0" rtlCol="0">
            <a:spAutoFit/>
          </a:bodyPr>
          <a:lstStyle/>
          <a:p>
            <a:pPr marL="12700">
              <a:lnSpc>
                <a:spcPct val="100000"/>
              </a:lnSpc>
              <a:spcBef>
                <a:spcPts val="100"/>
              </a:spcBef>
            </a:pPr>
            <a:r>
              <a:rPr sz="900" b="1" spc="110" dirty="0">
                <a:solidFill>
                  <a:srgbClr val="4237CA"/>
                </a:solidFill>
                <a:latin typeface="Trebuchet MS" panose="020B0603020202020204"/>
                <a:cs typeface="Trebuchet MS" panose="020B0603020202020204"/>
              </a:rPr>
              <a:t>C</a:t>
            </a:r>
            <a:r>
              <a:rPr sz="900" b="1" spc="-95" dirty="0">
                <a:solidFill>
                  <a:srgbClr val="4237CA"/>
                </a:solidFill>
                <a:latin typeface="Trebuchet MS" panose="020B0603020202020204"/>
                <a:cs typeface="Trebuchet MS" panose="020B0603020202020204"/>
              </a:rPr>
              <a:t> </a:t>
            </a:r>
            <a:r>
              <a:rPr sz="900" b="1" spc="125" dirty="0">
                <a:solidFill>
                  <a:srgbClr val="4237CA"/>
                </a:solidFill>
                <a:latin typeface="Trebuchet MS" panose="020B0603020202020204"/>
                <a:cs typeface="Trebuchet MS" panose="020B0603020202020204"/>
              </a:rPr>
              <a:t>O</a:t>
            </a:r>
            <a:r>
              <a:rPr sz="900" b="1" spc="-95" dirty="0">
                <a:solidFill>
                  <a:srgbClr val="4237CA"/>
                </a:solidFill>
                <a:latin typeface="Trebuchet MS" panose="020B0603020202020204"/>
                <a:cs typeface="Trebuchet MS" panose="020B0603020202020204"/>
              </a:rPr>
              <a:t> </a:t>
            </a:r>
            <a:r>
              <a:rPr sz="900" b="1" spc="140" dirty="0">
                <a:solidFill>
                  <a:srgbClr val="4237CA"/>
                </a:solidFill>
                <a:latin typeface="Trebuchet MS" panose="020B0603020202020204"/>
                <a:cs typeface="Trebuchet MS" panose="020B0603020202020204"/>
              </a:rPr>
              <a:t>R</a:t>
            </a:r>
            <a:r>
              <a:rPr sz="900" b="1" spc="-95" dirty="0">
                <a:solidFill>
                  <a:srgbClr val="4237CA"/>
                </a:solidFill>
                <a:latin typeface="Trebuchet MS" panose="020B0603020202020204"/>
                <a:cs typeface="Trebuchet MS" panose="020B0603020202020204"/>
              </a:rPr>
              <a:t> </a:t>
            </a:r>
            <a:r>
              <a:rPr sz="900" b="1" spc="95" dirty="0">
                <a:solidFill>
                  <a:srgbClr val="4237CA"/>
                </a:solidFill>
                <a:latin typeface="Trebuchet MS" panose="020B0603020202020204"/>
                <a:cs typeface="Trebuchet MS" panose="020B0603020202020204"/>
              </a:rPr>
              <a:t>E</a:t>
            </a:r>
            <a:r>
              <a:rPr sz="900" b="1" spc="409" dirty="0">
                <a:solidFill>
                  <a:srgbClr val="4237CA"/>
                </a:solidFill>
                <a:latin typeface="Trebuchet MS" panose="020B0603020202020204"/>
                <a:cs typeface="Trebuchet MS" panose="020B0603020202020204"/>
              </a:rPr>
              <a:t> </a:t>
            </a:r>
            <a:r>
              <a:rPr sz="900" b="1" spc="140" dirty="0">
                <a:solidFill>
                  <a:srgbClr val="4237CA"/>
                </a:solidFill>
                <a:latin typeface="Trebuchet MS" panose="020B0603020202020204"/>
                <a:cs typeface="Trebuchet MS" panose="020B0603020202020204"/>
              </a:rPr>
              <a:t>R</a:t>
            </a:r>
            <a:r>
              <a:rPr sz="900" b="1" spc="-90" dirty="0">
                <a:solidFill>
                  <a:srgbClr val="4237CA"/>
                </a:solidFill>
                <a:latin typeface="Trebuchet MS" panose="020B0603020202020204"/>
                <a:cs typeface="Trebuchet MS" panose="020B0603020202020204"/>
              </a:rPr>
              <a:t> </a:t>
            </a:r>
            <a:r>
              <a:rPr sz="900" b="1" spc="95" dirty="0">
                <a:solidFill>
                  <a:srgbClr val="4237CA"/>
                </a:solidFill>
                <a:latin typeface="Trebuchet MS" panose="020B0603020202020204"/>
                <a:cs typeface="Trebuchet MS" panose="020B0603020202020204"/>
              </a:rPr>
              <a:t>E</a:t>
            </a:r>
            <a:r>
              <a:rPr sz="900" b="1" spc="-95" dirty="0">
                <a:solidFill>
                  <a:srgbClr val="4237CA"/>
                </a:solidFill>
                <a:latin typeface="Trebuchet MS" panose="020B0603020202020204"/>
                <a:cs typeface="Trebuchet MS" panose="020B0603020202020204"/>
              </a:rPr>
              <a:t> </a:t>
            </a:r>
            <a:r>
              <a:rPr sz="900" b="1" spc="185" dirty="0">
                <a:solidFill>
                  <a:srgbClr val="4237CA"/>
                </a:solidFill>
                <a:latin typeface="Trebuchet MS" panose="020B0603020202020204"/>
                <a:cs typeface="Trebuchet MS" panose="020B0603020202020204"/>
              </a:rPr>
              <a:t>S</a:t>
            </a:r>
            <a:r>
              <a:rPr sz="900" b="1" spc="-95" dirty="0">
                <a:solidFill>
                  <a:srgbClr val="4237CA"/>
                </a:solidFill>
                <a:latin typeface="Trebuchet MS" panose="020B0603020202020204"/>
                <a:cs typeface="Trebuchet MS" panose="020B0603020202020204"/>
              </a:rPr>
              <a:t> </a:t>
            </a:r>
            <a:r>
              <a:rPr sz="900" b="1" spc="95" dirty="0">
                <a:solidFill>
                  <a:srgbClr val="4237CA"/>
                </a:solidFill>
                <a:latin typeface="Trebuchet MS" panose="020B0603020202020204"/>
                <a:cs typeface="Trebuchet MS" panose="020B0603020202020204"/>
              </a:rPr>
              <a:t>E</a:t>
            </a:r>
            <a:r>
              <a:rPr sz="900" b="1" spc="-90" dirty="0">
                <a:solidFill>
                  <a:srgbClr val="4237CA"/>
                </a:solidFill>
                <a:latin typeface="Trebuchet MS" panose="020B0603020202020204"/>
                <a:cs typeface="Trebuchet MS" panose="020B0603020202020204"/>
              </a:rPr>
              <a:t> </a:t>
            </a:r>
            <a:r>
              <a:rPr sz="900" b="1" spc="120" dirty="0">
                <a:solidFill>
                  <a:srgbClr val="4237CA"/>
                </a:solidFill>
                <a:latin typeface="Trebuchet MS" panose="020B0603020202020204"/>
                <a:cs typeface="Trebuchet MS" panose="020B0603020202020204"/>
              </a:rPr>
              <a:t>A</a:t>
            </a:r>
            <a:r>
              <a:rPr sz="900" b="1" spc="-95" dirty="0">
                <a:solidFill>
                  <a:srgbClr val="4237CA"/>
                </a:solidFill>
                <a:latin typeface="Trebuchet MS" panose="020B0603020202020204"/>
                <a:cs typeface="Trebuchet MS" panose="020B0603020202020204"/>
              </a:rPr>
              <a:t> </a:t>
            </a:r>
            <a:r>
              <a:rPr sz="900" b="1" spc="140" dirty="0">
                <a:solidFill>
                  <a:srgbClr val="4237CA"/>
                </a:solidFill>
                <a:latin typeface="Trebuchet MS" panose="020B0603020202020204"/>
                <a:cs typeface="Trebuchet MS" panose="020B0603020202020204"/>
              </a:rPr>
              <a:t>R</a:t>
            </a:r>
            <a:r>
              <a:rPr sz="900" b="1" spc="-95" dirty="0">
                <a:solidFill>
                  <a:srgbClr val="4237CA"/>
                </a:solidFill>
                <a:latin typeface="Trebuchet MS" panose="020B0603020202020204"/>
                <a:cs typeface="Trebuchet MS" panose="020B0603020202020204"/>
              </a:rPr>
              <a:t> </a:t>
            </a:r>
            <a:r>
              <a:rPr sz="900" b="1" spc="110" dirty="0">
                <a:solidFill>
                  <a:srgbClr val="4237CA"/>
                </a:solidFill>
                <a:latin typeface="Trebuchet MS" panose="020B0603020202020204"/>
                <a:cs typeface="Trebuchet MS" panose="020B0603020202020204"/>
              </a:rPr>
              <a:t>C</a:t>
            </a:r>
            <a:r>
              <a:rPr sz="900" b="1" spc="-95" dirty="0">
                <a:solidFill>
                  <a:srgbClr val="4237CA"/>
                </a:solidFill>
                <a:latin typeface="Trebuchet MS" panose="020B0603020202020204"/>
                <a:cs typeface="Trebuchet MS" panose="020B0603020202020204"/>
              </a:rPr>
              <a:t> </a:t>
            </a:r>
            <a:r>
              <a:rPr sz="900" b="1" spc="130" dirty="0">
                <a:solidFill>
                  <a:srgbClr val="4237CA"/>
                </a:solidFill>
                <a:latin typeface="Trebuchet MS" panose="020B0603020202020204"/>
                <a:cs typeface="Trebuchet MS" panose="020B0603020202020204"/>
              </a:rPr>
              <a:t>H</a:t>
            </a:r>
            <a:r>
              <a:rPr sz="900" b="1" spc="415" dirty="0">
                <a:solidFill>
                  <a:srgbClr val="4237CA"/>
                </a:solidFill>
                <a:latin typeface="Trebuchet MS" panose="020B0603020202020204"/>
                <a:cs typeface="Trebuchet MS" panose="020B0603020202020204"/>
              </a:rPr>
              <a:t> </a:t>
            </a:r>
            <a:r>
              <a:rPr sz="900" b="1" spc="60" dirty="0">
                <a:solidFill>
                  <a:srgbClr val="4237CA"/>
                </a:solidFill>
                <a:latin typeface="Trebuchet MS" panose="020B0603020202020204"/>
                <a:cs typeface="Trebuchet MS" panose="020B0603020202020204"/>
              </a:rPr>
              <a:t>T</a:t>
            </a:r>
            <a:r>
              <a:rPr sz="900" b="1" spc="-95" dirty="0">
                <a:solidFill>
                  <a:srgbClr val="4237CA"/>
                </a:solidFill>
                <a:latin typeface="Trebuchet MS" panose="020B0603020202020204"/>
                <a:cs typeface="Trebuchet MS" panose="020B0603020202020204"/>
              </a:rPr>
              <a:t> </a:t>
            </a:r>
            <a:r>
              <a:rPr sz="900" b="1" spc="125" dirty="0">
                <a:solidFill>
                  <a:srgbClr val="4237CA"/>
                </a:solidFill>
                <a:latin typeface="Trebuchet MS" panose="020B0603020202020204"/>
                <a:cs typeface="Trebuchet MS" panose="020B0603020202020204"/>
              </a:rPr>
              <a:t>O</a:t>
            </a:r>
            <a:r>
              <a:rPr sz="900" b="1" spc="-95" dirty="0">
                <a:solidFill>
                  <a:srgbClr val="4237CA"/>
                </a:solidFill>
                <a:latin typeface="Trebuchet MS" panose="020B0603020202020204"/>
                <a:cs typeface="Trebuchet MS" panose="020B0603020202020204"/>
              </a:rPr>
              <a:t> </a:t>
            </a:r>
            <a:r>
              <a:rPr sz="900" b="1" spc="130" dirty="0">
                <a:solidFill>
                  <a:srgbClr val="4237CA"/>
                </a:solidFill>
                <a:latin typeface="Trebuchet MS" panose="020B0603020202020204"/>
                <a:cs typeface="Trebuchet MS" panose="020B0603020202020204"/>
              </a:rPr>
              <a:t>P</a:t>
            </a:r>
            <a:r>
              <a:rPr sz="900" b="1" spc="-95" dirty="0">
                <a:solidFill>
                  <a:srgbClr val="4237CA"/>
                </a:solidFill>
                <a:latin typeface="Trebuchet MS" panose="020B0603020202020204"/>
                <a:cs typeface="Trebuchet MS" panose="020B0603020202020204"/>
              </a:rPr>
              <a:t> </a:t>
            </a:r>
            <a:r>
              <a:rPr sz="900" b="1" spc="80" dirty="0">
                <a:solidFill>
                  <a:srgbClr val="4237CA"/>
                </a:solidFill>
                <a:latin typeface="Trebuchet MS" panose="020B0603020202020204"/>
                <a:cs typeface="Trebuchet MS" panose="020B0603020202020204"/>
              </a:rPr>
              <a:t>I</a:t>
            </a:r>
            <a:r>
              <a:rPr sz="900" b="1" spc="-90" dirty="0">
                <a:solidFill>
                  <a:srgbClr val="4237CA"/>
                </a:solidFill>
                <a:latin typeface="Trebuchet MS" panose="020B0603020202020204"/>
                <a:cs typeface="Trebuchet MS" panose="020B0603020202020204"/>
              </a:rPr>
              <a:t> </a:t>
            </a:r>
            <a:r>
              <a:rPr sz="900" b="1" spc="60" dirty="0">
                <a:solidFill>
                  <a:srgbClr val="4237CA"/>
                </a:solidFill>
                <a:latin typeface="Trebuchet MS" panose="020B0603020202020204"/>
                <a:cs typeface="Trebuchet MS" panose="020B0603020202020204"/>
              </a:rPr>
              <a:t>C</a:t>
            </a:r>
            <a:endParaRPr sz="900">
              <a:latin typeface="Trebuchet MS" panose="020B0603020202020204"/>
              <a:cs typeface="Trebuchet MS" panose="020B0603020202020204"/>
            </a:endParaRPr>
          </a:p>
        </p:txBody>
      </p:sp>
      <p:sp>
        <p:nvSpPr>
          <p:cNvPr id="12" name="object 12"/>
          <p:cNvSpPr txBox="1"/>
          <p:nvPr/>
        </p:nvSpPr>
        <p:spPr>
          <a:xfrm>
            <a:off x="6654800" y="5566195"/>
            <a:ext cx="4786630" cy="577850"/>
          </a:xfrm>
          <a:prstGeom prst="rect">
            <a:avLst/>
          </a:prstGeom>
        </p:spPr>
        <p:txBody>
          <a:bodyPr vert="horz" wrap="square" lIns="0" tIns="12700" rIns="0" bIns="0" rtlCol="0">
            <a:spAutoFit/>
          </a:bodyPr>
          <a:lstStyle/>
          <a:p>
            <a:pPr marL="12700" marR="5080">
              <a:lnSpc>
                <a:spcPct val="130000"/>
              </a:lnSpc>
              <a:spcBef>
                <a:spcPts val="100"/>
              </a:spcBef>
            </a:pPr>
            <a:r>
              <a:rPr sz="1400" i="1" spc="-10" dirty="0">
                <a:solidFill>
                  <a:srgbClr val="465469"/>
                </a:solidFill>
                <a:latin typeface="Calibri" panose="020F0502020204030204"/>
                <a:cs typeface="Calibri" panose="020F0502020204030204"/>
              </a:rPr>
              <a:t>Utilizing</a:t>
            </a:r>
            <a:r>
              <a:rPr sz="1400" i="1" spc="5" dirty="0">
                <a:solidFill>
                  <a:srgbClr val="465469"/>
                </a:solidFill>
                <a:latin typeface="Calibri" panose="020F0502020204030204"/>
                <a:cs typeface="Calibri" panose="020F0502020204030204"/>
              </a:rPr>
              <a:t> </a:t>
            </a:r>
            <a:r>
              <a:rPr sz="1400" b="1" i="1" spc="-290" dirty="0">
                <a:solidFill>
                  <a:srgbClr val="1D293B"/>
                </a:solidFill>
                <a:latin typeface="Verdana" panose="020B0604030504040204"/>
                <a:cs typeface="Verdana" panose="020B0604030504040204"/>
              </a:rPr>
              <a:t>GCNNs</a:t>
            </a:r>
            <a:r>
              <a:rPr sz="1400" b="1" i="1" spc="-130" dirty="0">
                <a:solidFill>
                  <a:srgbClr val="1D293B"/>
                </a:solidFill>
                <a:latin typeface="Verdana" panose="020B0604030504040204"/>
                <a:cs typeface="Verdana" panose="020B0604030504040204"/>
              </a:rPr>
              <a:t> </a:t>
            </a:r>
            <a:r>
              <a:rPr sz="1400" i="1" dirty="0">
                <a:solidFill>
                  <a:srgbClr val="465469"/>
                </a:solidFill>
                <a:latin typeface="Calibri" panose="020F0502020204030204"/>
                <a:cs typeface="Calibri" panose="020F0502020204030204"/>
              </a:rPr>
              <a:t>for</a:t>
            </a:r>
            <a:r>
              <a:rPr sz="1400" i="1" spc="-5" dirty="0">
                <a:solidFill>
                  <a:srgbClr val="465469"/>
                </a:solidFill>
                <a:latin typeface="Calibri" panose="020F0502020204030204"/>
                <a:cs typeface="Calibri" panose="020F0502020204030204"/>
              </a:rPr>
              <a:t> </a:t>
            </a:r>
            <a:r>
              <a:rPr sz="1400" b="1" i="1" u="sng" spc="-235" dirty="0">
                <a:solidFill>
                  <a:srgbClr val="4237CA"/>
                </a:solidFill>
                <a:uFill>
                  <a:solidFill>
                    <a:srgbClr val="C7D1FE"/>
                  </a:solidFill>
                </a:uFill>
                <a:latin typeface="Verdana" panose="020B0604030504040204"/>
                <a:cs typeface="Verdana" panose="020B0604030504040204"/>
              </a:rPr>
              <a:t>branching</a:t>
            </a:r>
            <a:r>
              <a:rPr sz="1400" b="1" i="1" u="sng" spc="-185" dirty="0">
                <a:solidFill>
                  <a:srgbClr val="4237CA"/>
                </a:solidFill>
                <a:uFill>
                  <a:solidFill>
                    <a:srgbClr val="C7D1FE"/>
                  </a:solidFill>
                </a:uFill>
                <a:latin typeface="Verdana" panose="020B0604030504040204"/>
                <a:cs typeface="Verdana" panose="020B0604030504040204"/>
              </a:rPr>
              <a:t> </a:t>
            </a:r>
            <a:r>
              <a:rPr sz="1400" b="1" i="1" u="sng" spc="-215" dirty="0">
                <a:solidFill>
                  <a:srgbClr val="4237CA"/>
                </a:solidFill>
                <a:uFill>
                  <a:solidFill>
                    <a:srgbClr val="C7D1FE"/>
                  </a:solidFill>
                </a:uFill>
                <a:latin typeface="Verdana" panose="020B0604030504040204"/>
                <a:cs typeface="Verdana" panose="020B0604030504040204"/>
              </a:rPr>
              <a:t>variable</a:t>
            </a:r>
            <a:r>
              <a:rPr sz="1400" b="1" i="1" u="sng" spc="-160" dirty="0">
                <a:solidFill>
                  <a:srgbClr val="4237CA"/>
                </a:solidFill>
                <a:uFill>
                  <a:solidFill>
                    <a:srgbClr val="C7D1FE"/>
                  </a:solidFill>
                </a:uFill>
                <a:latin typeface="Verdana" panose="020B0604030504040204"/>
                <a:cs typeface="Verdana" panose="020B0604030504040204"/>
              </a:rPr>
              <a:t> </a:t>
            </a:r>
            <a:r>
              <a:rPr sz="1400" b="1" i="1" u="sng" spc="-215" dirty="0">
                <a:solidFill>
                  <a:srgbClr val="4237CA"/>
                </a:solidFill>
                <a:uFill>
                  <a:solidFill>
                    <a:srgbClr val="C7D1FE"/>
                  </a:solidFill>
                </a:uFill>
                <a:latin typeface="Verdana" panose="020B0604030504040204"/>
                <a:cs typeface="Verdana" panose="020B0604030504040204"/>
              </a:rPr>
              <a:t>selection</a:t>
            </a:r>
            <a:r>
              <a:rPr sz="1400" b="1" i="1" u="none" spc="-150" dirty="0">
                <a:solidFill>
                  <a:srgbClr val="4237CA"/>
                </a:solidFill>
                <a:latin typeface="Verdana" panose="020B0604030504040204"/>
                <a:cs typeface="Verdana" panose="020B0604030504040204"/>
              </a:rPr>
              <a:t> </a:t>
            </a:r>
            <a:r>
              <a:rPr sz="1400" i="1" u="none" spc="-20" dirty="0">
                <a:solidFill>
                  <a:srgbClr val="465469"/>
                </a:solidFill>
                <a:latin typeface="Calibri" panose="020F0502020204030204"/>
                <a:cs typeface="Calibri" panose="020F0502020204030204"/>
              </a:rPr>
              <a:t>integrated</a:t>
            </a:r>
            <a:r>
              <a:rPr sz="1400" i="1" u="none" spc="10" dirty="0">
                <a:solidFill>
                  <a:srgbClr val="465469"/>
                </a:solidFill>
                <a:latin typeface="Calibri" panose="020F0502020204030204"/>
                <a:cs typeface="Calibri" panose="020F0502020204030204"/>
              </a:rPr>
              <a:t> </a:t>
            </a:r>
            <a:r>
              <a:rPr sz="1400" i="1" u="none" spc="-10" dirty="0">
                <a:solidFill>
                  <a:srgbClr val="465469"/>
                </a:solidFill>
                <a:latin typeface="Calibri" panose="020F0502020204030204"/>
                <a:cs typeface="Calibri" panose="020F0502020204030204"/>
              </a:rPr>
              <a:t>within </a:t>
            </a:r>
            <a:r>
              <a:rPr sz="1400" i="1" u="none" dirty="0">
                <a:solidFill>
                  <a:srgbClr val="465469"/>
                </a:solidFill>
                <a:latin typeface="Calibri" panose="020F0502020204030204"/>
                <a:cs typeface="Calibri" panose="020F0502020204030204"/>
              </a:rPr>
              <a:t>an</a:t>
            </a:r>
            <a:r>
              <a:rPr sz="1400" i="1" u="none" spc="-10" dirty="0">
                <a:solidFill>
                  <a:srgbClr val="465469"/>
                </a:solidFill>
                <a:latin typeface="Calibri" panose="020F0502020204030204"/>
                <a:cs typeface="Calibri" panose="020F0502020204030204"/>
              </a:rPr>
              <a:t> exact</a:t>
            </a:r>
            <a:r>
              <a:rPr sz="1400" i="1" u="none" spc="-25" dirty="0">
                <a:solidFill>
                  <a:srgbClr val="465469"/>
                </a:solidFill>
                <a:latin typeface="Calibri" panose="020F0502020204030204"/>
                <a:cs typeface="Calibri" panose="020F0502020204030204"/>
              </a:rPr>
              <a:t> </a:t>
            </a:r>
            <a:r>
              <a:rPr sz="1400" i="1" u="none" spc="-45" dirty="0">
                <a:solidFill>
                  <a:srgbClr val="465469"/>
                </a:solidFill>
                <a:latin typeface="Calibri" panose="020F0502020204030204"/>
                <a:cs typeface="Calibri" panose="020F0502020204030204"/>
              </a:rPr>
              <a:t>Mixed-</a:t>
            </a:r>
            <a:r>
              <a:rPr sz="1400" i="1" u="none" dirty="0">
                <a:solidFill>
                  <a:srgbClr val="465469"/>
                </a:solidFill>
                <a:latin typeface="Calibri" panose="020F0502020204030204"/>
                <a:cs typeface="Calibri" panose="020F0502020204030204"/>
              </a:rPr>
              <a:t>Integer</a:t>
            </a:r>
            <a:r>
              <a:rPr sz="1400" i="1" u="none" spc="-35" dirty="0">
                <a:solidFill>
                  <a:srgbClr val="465469"/>
                </a:solidFill>
                <a:latin typeface="Calibri" panose="020F0502020204030204"/>
                <a:cs typeface="Calibri" panose="020F0502020204030204"/>
              </a:rPr>
              <a:t> </a:t>
            </a:r>
            <a:r>
              <a:rPr sz="1400" i="1" u="none" dirty="0">
                <a:solidFill>
                  <a:srgbClr val="465469"/>
                </a:solidFill>
                <a:latin typeface="Calibri" panose="020F0502020204030204"/>
                <a:cs typeface="Calibri" panose="020F0502020204030204"/>
              </a:rPr>
              <a:t>Linear</a:t>
            </a:r>
            <a:r>
              <a:rPr sz="1400" i="1" u="none" spc="-35" dirty="0">
                <a:solidFill>
                  <a:srgbClr val="465469"/>
                </a:solidFill>
                <a:latin typeface="Calibri" panose="020F0502020204030204"/>
                <a:cs typeface="Calibri" panose="020F0502020204030204"/>
              </a:rPr>
              <a:t> </a:t>
            </a:r>
            <a:r>
              <a:rPr sz="1400" i="1" u="none" spc="-20" dirty="0">
                <a:solidFill>
                  <a:srgbClr val="465469"/>
                </a:solidFill>
                <a:latin typeface="Calibri" panose="020F0502020204030204"/>
                <a:cs typeface="Calibri" panose="020F0502020204030204"/>
              </a:rPr>
              <a:t>Programming</a:t>
            </a:r>
            <a:r>
              <a:rPr sz="1400" i="1" u="none" spc="-25" dirty="0">
                <a:solidFill>
                  <a:srgbClr val="465469"/>
                </a:solidFill>
                <a:latin typeface="Calibri" panose="020F0502020204030204"/>
                <a:cs typeface="Calibri" panose="020F0502020204030204"/>
              </a:rPr>
              <a:t> </a:t>
            </a:r>
            <a:r>
              <a:rPr sz="1400" i="1" u="none" spc="-35" dirty="0">
                <a:solidFill>
                  <a:srgbClr val="465469"/>
                </a:solidFill>
                <a:latin typeface="Calibri" panose="020F0502020204030204"/>
                <a:cs typeface="Calibri" panose="020F0502020204030204"/>
              </a:rPr>
              <a:t>(MILP)</a:t>
            </a:r>
            <a:r>
              <a:rPr sz="1400" i="1" u="none" spc="-55" dirty="0">
                <a:solidFill>
                  <a:srgbClr val="465469"/>
                </a:solidFill>
                <a:latin typeface="Calibri" panose="020F0502020204030204"/>
                <a:cs typeface="Calibri" panose="020F0502020204030204"/>
              </a:rPr>
              <a:t> </a:t>
            </a:r>
            <a:r>
              <a:rPr sz="1400" i="1" u="none" spc="-10" dirty="0">
                <a:solidFill>
                  <a:srgbClr val="465469"/>
                </a:solidFill>
                <a:latin typeface="Calibri" panose="020F0502020204030204"/>
                <a:cs typeface="Calibri" panose="020F0502020204030204"/>
              </a:rPr>
              <a:t>solver.</a:t>
            </a:r>
            <a:endParaRPr sz="1400">
              <a:latin typeface="Calibri" panose="020F0502020204030204"/>
              <a:cs typeface="Calibri" panose="020F0502020204030204"/>
            </a:endParaRPr>
          </a:p>
        </p:txBody>
      </p:sp>
      <p:grpSp>
        <p:nvGrpSpPr>
          <p:cNvPr id="13" name="object 13"/>
          <p:cNvGrpSpPr/>
          <p:nvPr/>
        </p:nvGrpSpPr>
        <p:grpSpPr>
          <a:xfrm>
            <a:off x="0" y="6324599"/>
            <a:ext cx="12192000" cy="533400"/>
            <a:chOff x="0" y="6324599"/>
            <a:chExt cx="12192000" cy="533400"/>
          </a:xfrm>
        </p:grpSpPr>
        <p:sp>
          <p:nvSpPr>
            <p:cNvPr id="14" name="object 14"/>
            <p:cNvSpPr/>
            <p:nvPr/>
          </p:nvSpPr>
          <p:spPr>
            <a:xfrm>
              <a:off x="0" y="6638924"/>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15" name="object 15"/>
            <p:cNvSpPr/>
            <p:nvPr/>
          </p:nvSpPr>
          <p:spPr>
            <a:xfrm>
              <a:off x="11791937" y="6724649"/>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16" name="object 16"/>
            <p:cNvSpPr/>
            <p:nvPr/>
          </p:nvSpPr>
          <p:spPr>
            <a:xfrm>
              <a:off x="11982447" y="6724649"/>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17" name="object 17"/>
            <p:cNvPicPr/>
            <p:nvPr/>
          </p:nvPicPr>
          <p:blipFill>
            <a:blip r:embed="rId2" cstate="print"/>
            <a:stretch>
              <a:fillRect/>
            </a:stretch>
          </p:blipFill>
          <p:spPr>
            <a:xfrm>
              <a:off x="9896474" y="6324599"/>
              <a:ext cx="342899" cy="342899"/>
            </a:xfrm>
            <a:prstGeom prst="rect">
              <a:avLst/>
            </a:prstGeom>
          </p:spPr>
        </p:pic>
      </p:grpSp>
      <p:sp>
        <p:nvSpPr>
          <p:cNvPr id="18" name="object 18"/>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19" name="object 19"/>
          <p:cNvSpPr txBox="1"/>
          <p:nvPr/>
        </p:nvSpPr>
        <p:spPr>
          <a:xfrm>
            <a:off x="139699" y="6671161"/>
            <a:ext cx="852805" cy="136525"/>
          </a:xfrm>
          <a:prstGeom prst="rect">
            <a:avLst/>
          </a:prstGeom>
        </p:spPr>
        <p:txBody>
          <a:bodyPr vert="horz" wrap="square" lIns="0" tIns="5715" rIns="0" bIns="0" rtlCol="0">
            <a:spAutoFit/>
          </a:bodyPr>
          <a:lstStyle/>
          <a:p>
            <a:pPr marL="12700">
              <a:lnSpc>
                <a:spcPct val="100000"/>
              </a:lnSpc>
              <a:spcBef>
                <a:spcPts val="45"/>
              </a:spcBef>
              <a:tabLst>
                <a:tab pos="485140" algn="l"/>
              </a:tabLst>
            </a:pPr>
            <a:r>
              <a:rPr sz="750" spc="-10" dirty="0">
                <a:solidFill>
                  <a:srgbClr val="FFFFFF"/>
                </a:solidFill>
                <a:latin typeface="Trebuchet MS" panose="020B0603020202020204"/>
                <a:cs typeface="Trebuchet MS" panose="020B0603020202020204"/>
              </a:rPr>
              <a:t>Author</a:t>
            </a:r>
            <a:r>
              <a:rPr sz="750" dirty="0">
                <a:solidFill>
                  <a:srgbClr val="FFFFFF"/>
                </a:solidFill>
                <a:latin typeface="Trebuchet MS" panose="020B0603020202020204"/>
                <a:cs typeface="Trebuchet MS" panose="020B0603020202020204"/>
              </a:rPr>
              <a:t>	</a:t>
            </a:r>
            <a:r>
              <a:rPr sz="750" spc="-10" dirty="0">
                <a:solidFill>
                  <a:srgbClr val="FFFFFF"/>
                </a:solidFill>
                <a:latin typeface="Trebuchet MS" panose="020B0603020202020204"/>
                <a:cs typeface="Trebuchet MS" panose="020B0603020202020204"/>
              </a:rPr>
              <a:t>Section</a:t>
            </a:r>
            <a:endParaRPr sz="750">
              <a:latin typeface="Trebuchet MS" panose="020B0603020202020204"/>
              <a:cs typeface="Trebuchet MS" panose="020B0603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3050" spc="-365" dirty="0">
                <a:latin typeface="微软雅黑" panose="020B0503020204020204" charset="-122"/>
                <a:cs typeface="微软雅黑" panose="020B0503020204020204" charset="-122"/>
              </a:rPr>
              <a:t>汇报大纲 </a:t>
            </a:r>
            <a:r>
              <a:rPr spc="-170" dirty="0"/>
              <a:t>(Presentation</a:t>
            </a:r>
            <a:r>
              <a:rPr spc="-254" dirty="0"/>
              <a:t> </a:t>
            </a:r>
            <a:r>
              <a:rPr spc="-120" dirty="0"/>
              <a:t>Outline)</a:t>
            </a:r>
            <a:endParaRPr sz="3050">
              <a:latin typeface="微软雅黑" panose="020B0503020204020204" charset="-122"/>
              <a:cs typeface="微软雅黑" panose="020B0503020204020204" charset="-122"/>
            </a:endParaRPr>
          </a:p>
        </p:txBody>
      </p:sp>
      <p:sp>
        <p:nvSpPr>
          <p:cNvPr id="3" name="object 3"/>
          <p:cNvSpPr txBox="1"/>
          <p:nvPr/>
        </p:nvSpPr>
        <p:spPr>
          <a:xfrm>
            <a:off x="444500" y="6283324"/>
            <a:ext cx="1706880" cy="185420"/>
          </a:xfrm>
          <a:prstGeom prst="rect">
            <a:avLst/>
          </a:prstGeom>
        </p:spPr>
        <p:txBody>
          <a:bodyPr vert="horz" wrap="square" lIns="0" tIns="12700" rIns="0" bIns="0" rtlCol="0">
            <a:spAutoFit/>
          </a:bodyPr>
          <a:lstStyle/>
          <a:p>
            <a:pPr marL="12700">
              <a:lnSpc>
                <a:spcPct val="100000"/>
              </a:lnSpc>
              <a:spcBef>
                <a:spcPts val="100"/>
              </a:spcBef>
            </a:pPr>
            <a:r>
              <a:rPr sz="1050" spc="85" dirty="0">
                <a:solidFill>
                  <a:srgbClr val="94A2B8"/>
                </a:solidFill>
                <a:latin typeface="Calibri" panose="020F0502020204030204"/>
                <a:cs typeface="Calibri" panose="020F0502020204030204"/>
              </a:rPr>
              <a:t>PRESENTATIO</a:t>
            </a:r>
            <a:r>
              <a:rPr sz="1050" spc="-70" dirty="0">
                <a:solidFill>
                  <a:srgbClr val="94A2B8"/>
                </a:solidFill>
                <a:latin typeface="Calibri" panose="020F0502020204030204"/>
                <a:cs typeface="Calibri" panose="020F0502020204030204"/>
              </a:rPr>
              <a:t> </a:t>
            </a:r>
            <a:r>
              <a:rPr sz="1050" dirty="0">
                <a:solidFill>
                  <a:srgbClr val="94A2B8"/>
                </a:solidFill>
                <a:latin typeface="Calibri" panose="020F0502020204030204"/>
                <a:cs typeface="Calibri" panose="020F0502020204030204"/>
              </a:rPr>
              <a:t>N</a:t>
            </a:r>
            <a:r>
              <a:rPr sz="1050" spc="140" dirty="0">
                <a:solidFill>
                  <a:srgbClr val="94A2B8"/>
                </a:solidFill>
                <a:latin typeface="Calibri" panose="020F0502020204030204"/>
                <a:cs typeface="Calibri" panose="020F0502020204030204"/>
              </a:rPr>
              <a:t> </a:t>
            </a:r>
            <a:r>
              <a:rPr sz="1050" spc="55" dirty="0">
                <a:solidFill>
                  <a:srgbClr val="94A2B8"/>
                </a:solidFill>
                <a:latin typeface="Calibri" panose="020F0502020204030204"/>
                <a:cs typeface="Calibri" panose="020F0502020204030204"/>
              </a:rPr>
              <a:t>RO</a:t>
            </a:r>
            <a:r>
              <a:rPr sz="1050" spc="-70" dirty="0">
                <a:solidFill>
                  <a:srgbClr val="94A2B8"/>
                </a:solidFill>
                <a:latin typeface="Calibri" panose="020F0502020204030204"/>
                <a:cs typeface="Calibri" panose="020F0502020204030204"/>
              </a:rPr>
              <a:t> </a:t>
            </a:r>
            <a:r>
              <a:rPr sz="1050" spc="-50" dirty="0">
                <a:solidFill>
                  <a:srgbClr val="94A2B8"/>
                </a:solidFill>
                <a:latin typeface="Calibri" panose="020F0502020204030204"/>
                <a:cs typeface="Calibri" panose="020F0502020204030204"/>
              </a:rPr>
              <a:t>A</a:t>
            </a:r>
            <a:r>
              <a:rPr sz="1050" spc="-95" dirty="0">
                <a:solidFill>
                  <a:srgbClr val="94A2B8"/>
                </a:solidFill>
                <a:latin typeface="Calibri" panose="020F0502020204030204"/>
                <a:cs typeface="Calibri" panose="020F0502020204030204"/>
              </a:rPr>
              <a:t> </a:t>
            </a:r>
            <a:r>
              <a:rPr sz="1050" spc="-25" dirty="0">
                <a:solidFill>
                  <a:srgbClr val="94A2B8"/>
                </a:solidFill>
                <a:latin typeface="Calibri" panose="020F0502020204030204"/>
                <a:cs typeface="Calibri" panose="020F0502020204030204"/>
              </a:rPr>
              <a:t>DMA</a:t>
            </a:r>
            <a:r>
              <a:rPr sz="1050" spc="-95" dirty="0">
                <a:solidFill>
                  <a:srgbClr val="94A2B8"/>
                </a:solidFill>
                <a:latin typeface="Calibri" panose="020F0502020204030204"/>
                <a:cs typeface="Calibri" panose="020F0502020204030204"/>
              </a:rPr>
              <a:t> </a:t>
            </a:r>
            <a:r>
              <a:rPr sz="1050" dirty="0">
                <a:solidFill>
                  <a:srgbClr val="94A2B8"/>
                </a:solidFill>
                <a:latin typeface="Calibri" panose="020F0502020204030204"/>
                <a:cs typeface="Calibri" panose="020F0502020204030204"/>
              </a:rPr>
              <a:t>P</a:t>
            </a:r>
            <a:endParaRPr sz="1050">
              <a:latin typeface="Calibri" panose="020F0502020204030204"/>
              <a:cs typeface="Calibri" panose="020F0502020204030204"/>
            </a:endParaRPr>
          </a:p>
        </p:txBody>
      </p:sp>
      <p:sp>
        <p:nvSpPr>
          <p:cNvPr id="4" name="object 4"/>
          <p:cNvSpPr txBox="1"/>
          <p:nvPr/>
        </p:nvSpPr>
        <p:spPr>
          <a:xfrm>
            <a:off x="11188401" y="6283324"/>
            <a:ext cx="545465" cy="185420"/>
          </a:xfrm>
          <a:prstGeom prst="rect">
            <a:avLst/>
          </a:prstGeom>
        </p:spPr>
        <p:txBody>
          <a:bodyPr vert="horz" wrap="square" lIns="0" tIns="12700" rIns="0" bIns="0" rtlCol="0">
            <a:spAutoFit/>
          </a:bodyPr>
          <a:lstStyle/>
          <a:p>
            <a:pPr marL="12700">
              <a:lnSpc>
                <a:spcPct val="100000"/>
              </a:lnSpc>
              <a:spcBef>
                <a:spcPts val="100"/>
              </a:spcBef>
            </a:pPr>
            <a:r>
              <a:rPr sz="1050" b="1" spc="50" dirty="0">
                <a:solidFill>
                  <a:srgbClr val="4237CA"/>
                </a:solidFill>
                <a:latin typeface="Calibri" panose="020F0502020204030204"/>
                <a:cs typeface="Calibri" panose="020F0502020204030204"/>
              </a:rPr>
              <a:t>02</a:t>
            </a:r>
            <a:r>
              <a:rPr sz="1050" b="1" spc="420" dirty="0">
                <a:solidFill>
                  <a:srgbClr val="4237CA"/>
                </a:solidFill>
                <a:latin typeface="Calibri" panose="020F0502020204030204"/>
                <a:cs typeface="Calibri" panose="020F0502020204030204"/>
              </a:rPr>
              <a:t> </a:t>
            </a:r>
            <a:r>
              <a:rPr sz="1050" dirty="0">
                <a:solidFill>
                  <a:srgbClr val="94A2B8"/>
                </a:solidFill>
                <a:latin typeface="Calibri" panose="020F0502020204030204"/>
                <a:cs typeface="Calibri" panose="020F0502020204030204"/>
              </a:rPr>
              <a:t>/</a:t>
            </a:r>
            <a:r>
              <a:rPr sz="1050" spc="459" dirty="0">
                <a:solidFill>
                  <a:srgbClr val="94A2B8"/>
                </a:solidFill>
                <a:latin typeface="Calibri" panose="020F0502020204030204"/>
                <a:cs typeface="Calibri" panose="020F0502020204030204"/>
              </a:rPr>
              <a:t> </a:t>
            </a:r>
            <a:r>
              <a:rPr sz="1050" spc="-25" dirty="0">
                <a:solidFill>
                  <a:srgbClr val="94A2B8"/>
                </a:solidFill>
                <a:latin typeface="Calibri" panose="020F0502020204030204"/>
                <a:cs typeface="Calibri" panose="020F0502020204030204"/>
              </a:rPr>
              <a:t>12</a:t>
            </a:r>
            <a:endParaRPr sz="1050">
              <a:latin typeface="Calibri" panose="020F0502020204030204"/>
              <a:cs typeface="Calibri" panose="020F0502020204030204"/>
            </a:endParaRPr>
          </a:p>
        </p:txBody>
      </p:sp>
      <p:grpSp>
        <p:nvGrpSpPr>
          <p:cNvPr id="5" name="object 5"/>
          <p:cNvGrpSpPr/>
          <p:nvPr/>
        </p:nvGrpSpPr>
        <p:grpSpPr>
          <a:xfrm>
            <a:off x="457199" y="1304924"/>
            <a:ext cx="5486400" cy="2266950"/>
            <a:chOff x="457199" y="1304924"/>
            <a:chExt cx="5486400" cy="2266950"/>
          </a:xfrm>
        </p:grpSpPr>
        <p:sp>
          <p:nvSpPr>
            <p:cNvPr id="6" name="object 6"/>
            <p:cNvSpPr/>
            <p:nvPr/>
          </p:nvSpPr>
          <p:spPr>
            <a:xfrm>
              <a:off x="495299" y="1304924"/>
              <a:ext cx="5448300" cy="2266950"/>
            </a:xfrm>
            <a:custGeom>
              <a:avLst/>
              <a:gdLst/>
              <a:ahLst/>
              <a:cxnLst/>
              <a:rect l="l" t="t" r="r" b="b"/>
              <a:pathLst>
                <a:path w="5448300" h="2266950">
                  <a:moveTo>
                    <a:pt x="5341504" y="2266949"/>
                  </a:moveTo>
                  <a:lnTo>
                    <a:pt x="71196" y="2266949"/>
                  </a:lnTo>
                  <a:lnTo>
                    <a:pt x="66241" y="2266217"/>
                  </a:lnTo>
                  <a:lnTo>
                    <a:pt x="29705" y="2243516"/>
                  </a:lnTo>
                  <a:lnTo>
                    <a:pt x="10062" y="2209910"/>
                  </a:lnTo>
                  <a:lnTo>
                    <a:pt x="488" y="2167587"/>
                  </a:lnTo>
                  <a:lnTo>
                    <a:pt x="0" y="2160154"/>
                  </a:lnTo>
                  <a:lnTo>
                    <a:pt x="0" y="2152649"/>
                  </a:lnTo>
                  <a:lnTo>
                    <a:pt x="0" y="106794"/>
                  </a:lnTo>
                  <a:lnTo>
                    <a:pt x="7715" y="63625"/>
                  </a:lnTo>
                  <a:lnTo>
                    <a:pt x="25856" y="28170"/>
                  </a:lnTo>
                  <a:lnTo>
                    <a:pt x="56426" y="3660"/>
                  </a:lnTo>
                  <a:lnTo>
                    <a:pt x="71196" y="0"/>
                  </a:lnTo>
                  <a:lnTo>
                    <a:pt x="5341504" y="0"/>
                  </a:lnTo>
                  <a:lnTo>
                    <a:pt x="5384673" y="11572"/>
                  </a:lnTo>
                  <a:lnTo>
                    <a:pt x="5420128" y="38784"/>
                  </a:lnTo>
                  <a:lnTo>
                    <a:pt x="5442470" y="77493"/>
                  </a:lnTo>
                  <a:lnTo>
                    <a:pt x="5448298" y="106794"/>
                  </a:lnTo>
                  <a:lnTo>
                    <a:pt x="5448298" y="2160154"/>
                  </a:lnTo>
                  <a:lnTo>
                    <a:pt x="5436726" y="2203323"/>
                  </a:lnTo>
                  <a:lnTo>
                    <a:pt x="5409514" y="2238778"/>
                  </a:lnTo>
                  <a:lnTo>
                    <a:pt x="5370805" y="2261120"/>
                  </a:lnTo>
                  <a:lnTo>
                    <a:pt x="5348937" y="2266217"/>
                  </a:lnTo>
                  <a:lnTo>
                    <a:pt x="5341504" y="2266949"/>
                  </a:lnTo>
                  <a:close/>
                </a:path>
              </a:pathLst>
            </a:custGeom>
            <a:solidFill>
              <a:srgbClr val="F7FAFB"/>
            </a:solidFill>
          </p:spPr>
          <p:txBody>
            <a:bodyPr wrap="square" lIns="0" tIns="0" rIns="0" bIns="0" rtlCol="0"/>
            <a:lstStyle/>
            <a:p/>
          </p:txBody>
        </p:sp>
        <p:sp>
          <p:nvSpPr>
            <p:cNvPr id="7" name="object 7"/>
            <p:cNvSpPr/>
            <p:nvPr/>
          </p:nvSpPr>
          <p:spPr>
            <a:xfrm>
              <a:off x="457199" y="1305190"/>
              <a:ext cx="109220" cy="2266950"/>
            </a:xfrm>
            <a:custGeom>
              <a:avLst/>
              <a:gdLst/>
              <a:ahLst/>
              <a:cxnLst/>
              <a:rect l="l" t="t" r="r" b="b"/>
              <a:pathLst>
                <a:path w="109220" h="2266950">
                  <a:moveTo>
                    <a:pt x="108803" y="2266418"/>
                  </a:moveTo>
                  <a:lnTo>
                    <a:pt x="70559" y="2257983"/>
                  </a:lnTo>
                  <a:lnTo>
                    <a:pt x="33477" y="2233206"/>
                  </a:lnTo>
                  <a:lnTo>
                    <a:pt x="8700" y="2196124"/>
                  </a:lnTo>
                  <a:lnTo>
                    <a:pt x="0" y="2152384"/>
                  </a:lnTo>
                  <a:lnTo>
                    <a:pt x="0" y="114034"/>
                  </a:lnTo>
                  <a:lnTo>
                    <a:pt x="8700" y="70293"/>
                  </a:lnTo>
                  <a:lnTo>
                    <a:pt x="33477" y="33212"/>
                  </a:lnTo>
                  <a:lnTo>
                    <a:pt x="70559" y="8434"/>
                  </a:lnTo>
                  <a:lnTo>
                    <a:pt x="108802" y="0"/>
                  </a:lnTo>
                  <a:lnTo>
                    <a:pt x="104387" y="2634"/>
                  </a:lnTo>
                  <a:lnTo>
                    <a:pt x="99719" y="8434"/>
                  </a:lnTo>
                  <a:lnTo>
                    <a:pt x="82614" y="50520"/>
                  </a:lnTo>
                  <a:lnTo>
                    <a:pt x="76924" y="91731"/>
                  </a:lnTo>
                  <a:lnTo>
                    <a:pt x="76200" y="114034"/>
                  </a:lnTo>
                  <a:lnTo>
                    <a:pt x="76200" y="2152384"/>
                  </a:lnTo>
                  <a:lnTo>
                    <a:pt x="79100" y="2196124"/>
                  </a:lnTo>
                  <a:lnTo>
                    <a:pt x="90141" y="2240783"/>
                  </a:lnTo>
                  <a:lnTo>
                    <a:pt x="104387" y="2263783"/>
                  </a:lnTo>
                  <a:lnTo>
                    <a:pt x="108803" y="2266418"/>
                  </a:lnTo>
                  <a:close/>
                </a:path>
              </a:pathLst>
            </a:custGeom>
            <a:solidFill>
              <a:srgbClr val="4237CA"/>
            </a:solidFill>
          </p:spPr>
          <p:txBody>
            <a:bodyPr wrap="square" lIns="0" tIns="0" rIns="0" bIns="0" rtlCol="0"/>
            <a:lstStyle/>
            <a:p/>
          </p:txBody>
        </p:sp>
      </p:grpSp>
      <p:sp>
        <p:nvSpPr>
          <p:cNvPr id="8" name="object 8"/>
          <p:cNvSpPr txBox="1"/>
          <p:nvPr/>
        </p:nvSpPr>
        <p:spPr>
          <a:xfrm>
            <a:off x="4902199" y="1368425"/>
            <a:ext cx="823594" cy="848360"/>
          </a:xfrm>
          <a:prstGeom prst="rect">
            <a:avLst/>
          </a:prstGeom>
        </p:spPr>
        <p:txBody>
          <a:bodyPr vert="horz" wrap="square" lIns="0" tIns="12700" rIns="0" bIns="0" rtlCol="0">
            <a:spAutoFit/>
          </a:bodyPr>
          <a:lstStyle/>
          <a:p>
            <a:pPr marL="12700">
              <a:lnSpc>
                <a:spcPct val="100000"/>
              </a:lnSpc>
              <a:spcBef>
                <a:spcPts val="100"/>
              </a:spcBef>
            </a:pPr>
            <a:r>
              <a:rPr sz="5400" b="1" spc="-330" dirty="0">
                <a:solidFill>
                  <a:srgbClr val="E2E7F0"/>
                </a:solidFill>
                <a:latin typeface="Tahoma" panose="020B0604030504040204"/>
                <a:cs typeface="Tahoma" panose="020B0604030504040204"/>
              </a:rPr>
              <a:t>01</a:t>
            </a:r>
            <a:endParaRPr sz="5400">
              <a:latin typeface="Tahoma" panose="020B0604030504040204"/>
              <a:cs typeface="Tahoma" panose="020B0604030504040204"/>
            </a:endParaRPr>
          </a:p>
        </p:txBody>
      </p:sp>
      <p:grpSp>
        <p:nvGrpSpPr>
          <p:cNvPr id="9" name="object 9"/>
          <p:cNvGrpSpPr/>
          <p:nvPr/>
        </p:nvGrpSpPr>
        <p:grpSpPr>
          <a:xfrm>
            <a:off x="838199" y="1609724"/>
            <a:ext cx="304800" cy="304800"/>
            <a:chOff x="838199" y="1609724"/>
            <a:chExt cx="304800" cy="304800"/>
          </a:xfrm>
        </p:grpSpPr>
        <p:sp>
          <p:nvSpPr>
            <p:cNvPr id="10" name="object 10"/>
            <p:cNvSpPr/>
            <p:nvPr/>
          </p:nvSpPr>
          <p:spPr>
            <a:xfrm>
              <a:off x="838199" y="1609724"/>
              <a:ext cx="304800" cy="304800"/>
            </a:xfrm>
            <a:custGeom>
              <a:avLst/>
              <a:gdLst/>
              <a:ahLst/>
              <a:cxnLst/>
              <a:rect l="l" t="t" r="r" b="b"/>
              <a:pathLst>
                <a:path w="304800" h="304800">
                  <a:moveTo>
                    <a:pt x="251402" y="304799"/>
                  </a:moveTo>
                  <a:lnTo>
                    <a:pt x="53397" y="304799"/>
                  </a:lnTo>
                  <a:lnTo>
                    <a:pt x="49681" y="304433"/>
                  </a:lnTo>
                  <a:lnTo>
                    <a:pt x="14085" y="285407"/>
                  </a:lnTo>
                  <a:lnTo>
                    <a:pt x="0" y="251402"/>
                  </a:lnTo>
                  <a:lnTo>
                    <a:pt x="0" y="247649"/>
                  </a:lnTo>
                  <a:lnTo>
                    <a:pt x="0" y="53397"/>
                  </a:lnTo>
                  <a:lnTo>
                    <a:pt x="19392" y="14085"/>
                  </a:lnTo>
                  <a:lnTo>
                    <a:pt x="53397" y="0"/>
                  </a:lnTo>
                  <a:lnTo>
                    <a:pt x="251402" y="0"/>
                  </a:lnTo>
                  <a:lnTo>
                    <a:pt x="290714" y="19392"/>
                  </a:lnTo>
                  <a:lnTo>
                    <a:pt x="304799" y="53397"/>
                  </a:lnTo>
                  <a:lnTo>
                    <a:pt x="304799" y="251402"/>
                  </a:lnTo>
                  <a:lnTo>
                    <a:pt x="285407" y="290714"/>
                  </a:lnTo>
                  <a:lnTo>
                    <a:pt x="255119" y="304433"/>
                  </a:lnTo>
                  <a:lnTo>
                    <a:pt x="251402" y="304799"/>
                  </a:lnTo>
                  <a:close/>
                </a:path>
              </a:pathLst>
            </a:custGeom>
            <a:solidFill>
              <a:srgbClr val="4237CA"/>
            </a:solidFill>
          </p:spPr>
          <p:txBody>
            <a:bodyPr wrap="square" lIns="0" tIns="0" rIns="0" bIns="0" rtlCol="0"/>
            <a:lstStyle/>
            <a:p/>
          </p:txBody>
        </p:sp>
        <p:pic>
          <p:nvPicPr>
            <p:cNvPr id="11" name="object 11"/>
            <p:cNvPicPr/>
            <p:nvPr/>
          </p:nvPicPr>
          <p:blipFill>
            <a:blip r:embed="rId1" cstate="print"/>
            <a:stretch>
              <a:fillRect/>
            </a:stretch>
          </p:blipFill>
          <p:spPr>
            <a:xfrm>
              <a:off x="911223" y="1682774"/>
              <a:ext cx="158753" cy="158749"/>
            </a:xfrm>
            <a:prstGeom prst="rect">
              <a:avLst/>
            </a:prstGeom>
          </p:spPr>
        </p:pic>
      </p:grpSp>
      <p:sp>
        <p:nvSpPr>
          <p:cNvPr id="12" name="object 12"/>
          <p:cNvSpPr txBox="1"/>
          <p:nvPr/>
        </p:nvSpPr>
        <p:spPr>
          <a:xfrm>
            <a:off x="800099" y="1394226"/>
            <a:ext cx="2449830" cy="929005"/>
          </a:xfrm>
          <a:prstGeom prst="rect">
            <a:avLst/>
          </a:prstGeom>
        </p:spPr>
        <p:txBody>
          <a:bodyPr vert="horz" wrap="square" lIns="0" tIns="199390" rIns="0" bIns="0" rtlCol="0">
            <a:spAutoFit/>
          </a:bodyPr>
          <a:lstStyle/>
          <a:p>
            <a:pPr marL="456565">
              <a:lnSpc>
                <a:spcPct val="100000"/>
              </a:lnSpc>
              <a:spcBef>
                <a:spcPts val="1570"/>
              </a:spcBef>
            </a:pPr>
            <a:r>
              <a:rPr sz="2000" b="1" spc="-210" dirty="0">
                <a:solidFill>
                  <a:srgbClr val="1D293B"/>
                </a:solidFill>
                <a:latin typeface="微软雅黑" panose="020B0503020204020204" charset="-122"/>
                <a:cs typeface="微软雅黑" panose="020B0503020204020204" charset="-122"/>
              </a:rPr>
              <a:t>引言 </a:t>
            </a:r>
            <a:r>
              <a:rPr sz="1800" b="1" spc="-110" dirty="0">
                <a:solidFill>
                  <a:srgbClr val="1D293B"/>
                </a:solidFill>
                <a:latin typeface="Tahoma" panose="020B0604030504040204"/>
                <a:cs typeface="Tahoma" panose="020B0604030504040204"/>
              </a:rPr>
              <a:t>(Introduction)</a:t>
            </a:r>
            <a:endParaRPr sz="1800">
              <a:latin typeface="Tahoma" panose="020B0604030504040204"/>
              <a:cs typeface="Tahoma" panose="020B0604030504040204"/>
            </a:endParaRPr>
          </a:p>
          <a:p>
            <a:pPr marL="160020" indent="-121920">
              <a:lnSpc>
                <a:spcPct val="100000"/>
              </a:lnSpc>
              <a:spcBef>
                <a:spcPts val="1200"/>
              </a:spcBef>
              <a:buClr>
                <a:srgbClr val="2562EB"/>
              </a:buClr>
              <a:buSzPct val="35000"/>
              <a:buFont typeface="Times New Roman" panose="02020603050405020304"/>
              <a:buChar char="●"/>
              <a:tabLst>
                <a:tab pos="160020" algn="l"/>
              </a:tabLst>
            </a:pPr>
            <a:r>
              <a:rPr sz="1700" spc="-195" dirty="0">
                <a:solidFill>
                  <a:srgbClr val="465469"/>
                </a:solidFill>
                <a:latin typeface="宋体" panose="02010600030101010101" pitchFamily="2" charset="-122"/>
                <a:cs typeface="宋体" panose="02010600030101010101" pitchFamily="2" charset="-122"/>
              </a:rPr>
              <a:t>问题背景与论文定位</a:t>
            </a:r>
            <a:endParaRPr sz="1700">
              <a:latin typeface="宋体" panose="02010600030101010101" pitchFamily="2" charset="-122"/>
              <a:cs typeface="宋体" panose="02010600030101010101" pitchFamily="2" charset="-122"/>
            </a:endParaRPr>
          </a:p>
        </p:txBody>
      </p:sp>
      <p:sp>
        <p:nvSpPr>
          <p:cNvPr id="13" name="object 13"/>
          <p:cNvSpPr txBox="1"/>
          <p:nvPr/>
        </p:nvSpPr>
        <p:spPr>
          <a:xfrm>
            <a:off x="825500" y="2419985"/>
            <a:ext cx="1290955" cy="283845"/>
          </a:xfrm>
          <a:prstGeom prst="rect">
            <a:avLst/>
          </a:prstGeom>
        </p:spPr>
        <p:txBody>
          <a:bodyPr vert="horz" wrap="square" lIns="0" tIns="12065" rIns="0" bIns="0" rtlCol="0">
            <a:spAutoFit/>
          </a:bodyPr>
          <a:lstStyle/>
          <a:p>
            <a:pPr marL="134620" indent="-121920">
              <a:lnSpc>
                <a:spcPct val="100000"/>
              </a:lnSpc>
              <a:spcBef>
                <a:spcPts val="95"/>
              </a:spcBef>
              <a:buClr>
                <a:srgbClr val="2562EB"/>
              </a:buClr>
              <a:buSzPct val="35000"/>
              <a:buFont typeface="Times New Roman" panose="02020603050405020304"/>
              <a:buChar char="●"/>
              <a:tabLst>
                <a:tab pos="134620" algn="l"/>
              </a:tabLst>
            </a:pPr>
            <a:r>
              <a:rPr sz="1700" spc="-200" dirty="0">
                <a:solidFill>
                  <a:srgbClr val="465469"/>
                </a:solidFill>
                <a:latin typeface="宋体" panose="02010600030101010101" pitchFamily="2" charset="-122"/>
                <a:cs typeface="宋体" panose="02010600030101010101" pitchFamily="2" charset="-122"/>
              </a:rPr>
              <a:t>核心研究问题</a:t>
            </a:r>
            <a:endParaRPr sz="1700">
              <a:latin typeface="宋体" panose="02010600030101010101" pitchFamily="2" charset="-122"/>
              <a:cs typeface="宋体" panose="02010600030101010101" pitchFamily="2" charset="-122"/>
            </a:endParaRPr>
          </a:p>
        </p:txBody>
      </p:sp>
      <p:grpSp>
        <p:nvGrpSpPr>
          <p:cNvPr id="14" name="object 14"/>
          <p:cNvGrpSpPr/>
          <p:nvPr/>
        </p:nvGrpSpPr>
        <p:grpSpPr>
          <a:xfrm>
            <a:off x="6248400" y="1304924"/>
            <a:ext cx="5486400" cy="2266950"/>
            <a:chOff x="6248400" y="1304924"/>
            <a:chExt cx="5486400" cy="2266950"/>
          </a:xfrm>
        </p:grpSpPr>
        <p:sp>
          <p:nvSpPr>
            <p:cNvPr id="15" name="object 15"/>
            <p:cNvSpPr/>
            <p:nvPr/>
          </p:nvSpPr>
          <p:spPr>
            <a:xfrm>
              <a:off x="6286499" y="1304924"/>
              <a:ext cx="5448300" cy="2266950"/>
            </a:xfrm>
            <a:custGeom>
              <a:avLst/>
              <a:gdLst/>
              <a:ahLst/>
              <a:cxnLst/>
              <a:rect l="l" t="t" r="r" b="b"/>
              <a:pathLst>
                <a:path w="5448300" h="2266950">
                  <a:moveTo>
                    <a:pt x="5341504" y="2266949"/>
                  </a:moveTo>
                  <a:lnTo>
                    <a:pt x="71196" y="2266949"/>
                  </a:lnTo>
                  <a:lnTo>
                    <a:pt x="66241" y="2266217"/>
                  </a:lnTo>
                  <a:lnTo>
                    <a:pt x="29705" y="2243516"/>
                  </a:lnTo>
                  <a:lnTo>
                    <a:pt x="10062" y="2209910"/>
                  </a:lnTo>
                  <a:lnTo>
                    <a:pt x="488" y="2167587"/>
                  </a:lnTo>
                  <a:lnTo>
                    <a:pt x="0" y="2160154"/>
                  </a:lnTo>
                  <a:lnTo>
                    <a:pt x="0" y="2152649"/>
                  </a:lnTo>
                  <a:lnTo>
                    <a:pt x="0" y="106794"/>
                  </a:lnTo>
                  <a:lnTo>
                    <a:pt x="7715" y="63625"/>
                  </a:lnTo>
                  <a:lnTo>
                    <a:pt x="25856" y="28170"/>
                  </a:lnTo>
                  <a:lnTo>
                    <a:pt x="56426" y="3660"/>
                  </a:lnTo>
                  <a:lnTo>
                    <a:pt x="71196" y="0"/>
                  </a:lnTo>
                  <a:lnTo>
                    <a:pt x="5341504" y="0"/>
                  </a:lnTo>
                  <a:lnTo>
                    <a:pt x="5384673" y="11572"/>
                  </a:lnTo>
                  <a:lnTo>
                    <a:pt x="5420128" y="38784"/>
                  </a:lnTo>
                  <a:lnTo>
                    <a:pt x="5442470" y="77493"/>
                  </a:lnTo>
                  <a:lnTo>
                    <a:pt x="5448298" y="106794"/>
                  </a:lnTo>
                  <a:lnTo>
                    <a:pt x="5448298" y="2160154"/>
                  </a:lnTo>
                  <a:lnTo>
                    <a:pt x="5436726" y="2203323"/>
                  </a:lnTo>
                  <a:lnTo>
                    <a:pt x="5409514" y="2238778"/>
                  </a:lnTo>
                  <a:lnTo>
                    <a:pt x="5370805" y="2261120"/>
                  </a:lnTo>
                  <a:lnTo>
                    <a:pt x="5348937" y="2266217"/>
                  </a:lnTo>
                  <a:lnTo>
                    <a:pt x="5341504" y="2266949"/>
                  </a:lnTo>
                  <a:close/>
                </a:path>
              </a:pathLst>
            </a:custGeom>
            <a:solidFill>
              <a:srgbClr val="F7FAFB"/>
            </a:solidFill>
          </p:spPr>
          <p:txBody>
            <a:bodyPr wrap="square" lIns="0" tIns="0" rIns="0" bIns="0" rtlCol="0"/>
            <a:lstStyle/>
            <a:p/>
          </p:txBody>
        </p:sp>
        <p:sp>
          <p:nvSpPr>
            <p:cNvPr id="16" name="object 16"/>
            <p:cNvSpPr/>
            <p:nvPr/>
          </p:nvSpPr>
          <p:spPr>
            <a:xfrm>
              <a:off x="6248400" y="1305190"/>
              <a:ext cx="109220" cy="2266950"/>
            </a:xfrm>
            <a:custGeom>
              <a:avLst/>
              <a:gdLst/>
              <a:ahLst/>
              <a:cxnLst/>
              <a:rect l="l" t="t" r="r" b="b"/>
              <a:pathLst>
                <a:path w="109220" h="2266950">
                  <a:moveTo>
                    <a:pt x="108803" y="2266418"/>
                  </a:moveTo>
                  <a:lnTo>
                    <a:pt x="70558" y="2257983"/>
                  </a:lnTo>
                  <a:lnTo>
                    <a:pt x="33477" y="2233206"/>
                  </a:lnTo>
                  <a:lnTo>
                    <a:pt x="8699" y="2196124"/>
                  </a:lnTo>
                  <a:lnTo>
                    <a:pt x="0" y="2152384"/>
                  </a:lnTo>
                  <a:lnTo>
                    <a:pt x="0" y="114034"/>
                  </a:lnTo>
                  <a:lnTo>
                    <a:pt x="8699" y="70293"/>
                  </a:lnTo>
                  <a:lnTo>
                    <a:pt x="33477" y="33212"/>
                  </a:lnTo>
                  <a:lnTo>
                    <a:pt x="70558" y="8434"/>
                  </a:lnTo>
                  <a:lnTo>
                    <a:pt x="108802" y="0"/>
                  </a:lnTo>
                  <a:lnTo>
                    <a:pt x="104387" y="2634"/>
                  </a:lnTo>
                  <a:lnTo>
                    <a:pt x="99719" y="8434"/>
                  </a:lnTo>
                  <a:lnTo>
                    <a:pt x="82614" y="50520"/>
                  </a:lnTo>
                  <a:lnTo>
                    <a:pt x="76924" y="91731"/>
                  </a:lnTo>
                  <a:lnTo>
                    <a:pt x="76200" y="114034"/>
                  </a:lnTo>
                  <a:lnTo>
                    <a:pt x="76200" y="2152384"/>
                  </a:lnTo>
                  <a:lnTo>
                    <a:pt x="79099" y="2196124"/>
                  </a:lnTo>
                  <a:lnTo>
                    <a:pt x="90141" y="2240783"/>
                  </a:lnTo>
                  <a:lnTo>
                    <a:pt x="104387" y="2263783"/>
                  </a:lnTo>
                  <a:lnTo>
                    <a:pt x="108803" y="2266418"/>
                  </a:lnTo>
                  <a:close/>
                </a:path>
              </a:pathLst>
            </a:custGeom>
            <a:solidFill>
              <a:srgbClr val="4237CA"/>
            </a:solidFill>
          </p:spPr>
          <p:txBody>
            <a:bodyPr wrap="square" lIns="0" tIns="0" rIns="0" bIns="0" rtlCol="0"/>
            <a:lstStyle/>
            <a:p/>
          </p:txBody>
        </p:sp>
      </p:grpSp>
      <p:sp>
        <p:nvSpPr>
          <p:cNvPr id="17" name="object 17"/>
          <p:cNvSpPr txBox="1"/>
          <p:nvPr/>
        </p:nvSpPr>
        <p:spPr>
          <a:xfrm>
            <a:off x="10693399" y="1368425"/>
            <a:ext cx="823594" cy="848360"/>
          </a:xfrm>
          <a:prstGeom prst="rect">
            <a:avLst/>
          </a:prstGeom>
        </p:spPr>
        <p:txBody>
          <a:bodyPr vert="horz" wrap="square" lIns="0" tIns="12700" rIns="0" bIns="0" rtlCol="0">
            <a:spAutoFit/>
          </a:bodyPr>
          <a:lstStyle/>
          <a:p>
            <a:pPr marL="12700">
              <a:lnSpc>
                <a:spcPct val="100000"/>
              </a:lnSpc>
              <a:spcBef>
                <a:spcPts val="100"/>
              </a:spcBef>
            </a:pPr>
            <a:r>
              <a:rPr sz="5400" b="1" spc="-330" dirty="0">
                <a:solidFill>
                  <a:srgbClr val="E2E7F0"/>
                </a:solidFill>
                <a:latin typeface="Tahoma" panose="020B0604030504040204"/>
                <a:cs typeface="Tahoma" panose="020B0604030504040204"/>
              </a:rPr>
              <a:t>02</a:t>
            </a:r>
            <a:endParaRPr sz="5400">
              <a:latin typeface="Tahoma" panose="020B0604030504040204"/>
              <a:cs typeface="Tahoma" panose="020B0604030504040204"/>
            </a:endParaRPr>
          </a:p>
        </p:txBody>
      </p:sp>
      <p:grpSp>
        <p:nvGrpSpPr>
          <p:cNvPr id="18" name="object 18"/>
          <p:cNvGrpSpPr/>
          <p:nvPr/>
        </p:nvGrpSpPr>
        <p:grpSpPr>
          <a:xfrm>
            <a:off x="6629400" y="1609724"/>
            <a:ext cx="304800" cy="304800"/>
            <a:chOff x="6629400" y="1609724"/>
            <a:chExt cx="304800" cy="304800"/>
          </a:xfrm>
        </p:grpSpPr>
        <p:sp>
          <p:nvSpPr>
            <p:cNvPr id="19" name="object 19"/>
            <p:cNvSpPr/>
            <p:nvPr/>
          </p:nvSpPr>
          <p:spPr>
            <a:xfrm>
              <a:off x="6629400" y="1609724"/>
              <a:ext cx="304800" cy="304800"/>
            </a:xfrm>
            <a:custGeom>
              <a:avLst/>
              <a:gdLst/>
              <a:ahLst/>
              <a:cxnLst/>
              <a:rect l="l" t="t" r="r" b="b"/>
              <a:pathLst>
                <a:path w="304800" h="304800">
                  <a:moveTo>
                    <a:pt x="251402" y="304799"/>
                  </a:moveTo>
                  <a:lnTo>
                    <a:pt x="53397" y="304799"/>
                  </a:lnTo>
                  <a:lnTo>
                    <a:pt x="49681" y="304433"/>
                  </a:lnTo>
                  <a:lnTo>
                    <a:pt x="14085" y="285407"/>
                  </a:lnTo>
                  <a:lnTo>
                    <a:pt x="0" y="251402"/>
                  </a:lnTo>
                  <a:lnTo>
                    <a:pt x="0" y="247649"/>
                  </a:lnTo>
                  <a:lnTo>
                    <a:pt x="0" y="53397"/>
                  </a:lnTo>
                  <a:lnTo>
                    <a:pt x="19392" y="14085"/>
                  </a:lnTo>
                  <a:lnTo>
                    <a:pt x="53397" y="0"/>
                  </a:lnTo>
                  <a:lnTo>
                    <a:pt x="251402" y="0"/>
                  </a:lnTo>
                  <a:lnTo>
                    <a:pt x="290714" y="19392"/>
                  </a:lnTo>
                  <a:lnTo>
                    <a:pt x="304799" y="53397"/>
                  </a:lnTo>
                  <a:lnTo>
                    <a:pt x="304799" y="251402"/>
                  </a:lnTo>
                  <a:lnTo>
                    <a:pt x="285407" y="290714"/>
                  </a:lnTo>
                  <a:lnTo>
                    <a:pt x="255119" y="304433"/>
                  </a:lnTo>
                  <a:lnTo>
                    <a:pt x="251402" y="304799"/>
                  </a:lnTo>
                  <a:close/>
                </a:path>
              </a:pathLst>
            </a:custGeom>
            <a:solidFill>
              <a:srgbClr val="4237CA"/>
            </a:solidFill>
          </p:spPr>
          <p:txBody>
            <a:bodyPr wrap="square" lIns="0" tIns="0" rIns="0" bIns="0" rtlCol="0"/>
            <a:lstStyle/>
            <a:p/>
          </p:txBody>
        </p:sp>
        <p:pic>
          <p:nvPicPr>
            <p:cNvPr id="20" name="object 20"/>
            <p:cNvPicPr/>
            <p:nvPr/>
          </p:nvPicPr>
          <p:blipFill>
            <a:blip r:embed="rId2" cstate="print"/>
            <a:stretch>
              <a:fillRect/>
            </a:stretch>
          </p:blipFill>
          <p:spPr>
            <a:xfrm>
              <a:off x="6718300" y="1682749"/>
              <a:ext cx="126999" cy="158749"/>
            </a:xfrm>
            <a:prstGeom prst="rect">
              <a:avLst/>
            </a:prstGeom>
          </p:spPr>
        </p:pic>
      </p:grpSp>
      <p:sp>
        <p:nvSpPr>
          <p:cNvPr id="21" name="object 21"/>
          <p:cNvSpPr txBox="1"/>
          <p:nvPr/>
        </p:nvSpPr>
        <p:spPr>
          <a:xfrm>
            <a:off x="6591300" y="1396034"/>
            <a:ext cx="2526030" cy="1465580"/>
          </a:xfrm>
          <a:prstGeom prst="rect">
            <a:avLst/>
          </a:prstGeom>
        </p:spPr>
        <p:txBody>
          <a:bodyPr vert="horz" wrap="square" lIns="0" tIns="197485" rIns="0" bIns="0" rtlCol="0">
            <a:spAutoFit/>
          </a:bodyPr>
          <a:lstStyle/>
          <a:p>
            <a:pPr marL="456565">
              <a:lnSpc>
                <a:spcPct val="100000"/>
              </a:lnSpc>
              <a:spcBef>
                <a:spcPts val="1555"/>
              </a:spcBef>
            </a:pPr>
            <a:r>
              <a:rPr sz="2000" b="1" spc="-210" dirty="0">
                <a:solidFill>
                  <a:srgbClr val="1D293B"/>
                </a:solidFill>
                <a:latin typeface="微软雅黑" panose="020B0503020204020204" charset="-122"/>
                <a:cs typeface="微软雅黑" panose="020B0503020204020204" charset="-122"/>
              </a:rPr>
              <a:t>方法 </a:t>
            </a:r>
            <a:r>
              <a:rPr sz="1800" b="1" spc="-95" dirty="0">
                <a:solidFill>
                  <a:srgbClr val="1D293B"/>
                </a:solidFill>
                <a:latin typeface="Tahoma" panose="020B0604030504040204"/>
                <a:cs typeface="Tahoma" panose="020B0604030504040204"/>
              </a:rPr>
              <a:t>(Methodology)</a:t>
            </a:r>
            <a:endParaRPr sz="1800">
              <a:latin typeface="Tahoma" panose="020B0604030504040204"/>
              <a:cs typeface="Tahoma" panose="020B0604030504040204"/>
            </a:endParaRPr>
          </a:p>
          <a:p>
            <a:pPr marL="160020" indent="-121920">
              <a:lnSpc>
                <a:spcPct val="100000"/>
              </a:lnSpc>
              <a:spcBef>
                <a:spcPts val="1100"/>
              </a:spcBef>
              <a:buClr>
                <a:srgbClr val="2562EB"/>
              </a:buClr>
              <a:buSzPct val="40000"/>
              <a:buFont typeface="Times New Roman" panose="02020603050405020304"/>
              <a:buChar char="●"/>
              <a:tabLst>
                <a:tab pos="160020" algn="l"/>
              </a:tabLst>
            </a:pPr>
            <a:r>
              <a:rPr sz="1500" spc="-195" dirty="0">
                <a:solidFill>
                  <a:srgbClr val="465469"/>
                </a:solidFill>
                <a:latin typeface="宋体" panose="02010600030101010101" pitchFamily="2" charset="-122"/>
                <a:cs typeface="宋体" panose="02010600030101010101" pitchFamily="2" charset="-122"/>
              </a:rPr>
              <a:t>整体算法思路 </a:t>
            </a:r>
            <a:r>
              <a:rPr sz="1350" dirty="0">
                <a:solidFill>
                  <a:srgbClr val="465469"/>
                </a:solidFill>
                <a:latin typeface="Calibri" panose="020F0502020204030204"/>
                <a:cs typeface="Calibri" panose="020F0502020204030204"/>
              </a:rPr>
              <a:t>&amp;</a:t>
            </a:r>
            <a:r>
              <a:rPr sz="1350" spc="-45" dirty="0">
                <a:solidFill>
                  <a:srgbClr val="465469"/>
                </a:solidFill>
                <a:latin typeface="Calibri" panose="020F0502020204030204"/>
                <a:cs typeface="Calibri" panose="020F0502020204030204"/>
              </a:rPr>
              <a:t> </a:t>
            </a:r>
            <a:r>
              <a:rPr sz="1500" spc="-125" dirty="0">
                <a:solidFill>
                  <a:srgbClr val="465469"/>
                </a:solidFill>
                <a:latin typeface="宋体" panose="02010600030101010101" pitchFamily="2" charset="-122"/>
                <a:cs typeface="宋体" panose="02010600030101010101" pitchFamily="2" charset="-122"/>
              </a:rPr>
              <a:t>状态表示</a:t>
            </a:r>
            <a:endParaRPr sz="1500">
              <a:latin typeface="宋体" panose="02010600030101010101" pitchFamily="2" charset="-122"/>
              <a:cs typeface="宋体" panose="02010600030101010101" pitchFamily="2" charset="-122"/>
            </a:endParaRPr>
          </a:p>
          <a:p>
            <a:pPr marL="160020" indent="-121920">
              <a:lnSpc>
                <a:spcPct val="100000"/>
              </a:lnSpc>
              <a:spcBef>
                <a:spcPts val="525"/>
              </a:spcBef>
              <a:buClr>
                <a:srgbClr val="2562EB"/>
              </a:buClr>
              <a:buSzPct val="40000"/>
              <a:buFont typeface="Times New Roman" panose="02020603050405020304"/>
              <a:buChar char="●"/>
              <a:tabLst>
                <a:tab pos="160020" algn="l"/>
              </a:tabLst>
            </a:pPr>
            <a:r>
              <a:rPr sz="1500" spc="-145" dirty="0">
                <a:solidFill>
                  <a:srgbClr val="465469"/>
                </a:solidFill>
                <a:latin typeface="宋体" panose="02010600030101010101" pitchFamily="2" charset="-122"/>
                <a:cs typeface="宋体" panose="02010600030101010101" pitchFamily="2" charset="-122"/>
              </a:rPr>
              <a:t>训练数据生成与学习目标</a:t>
            </a:r>
            <a:endParaRPr sz="1500">
              <a:latin typeface="宋体" panose="02010600030101010101" pitchFamily="2" charset="-122"/>
              <a:cs typeface="宋体" panose="02010600030101010101" pitchFamily="2" charset="-122"/>
            </a:endParaRPr>
          </a:p>
          <a:p>
            <a:pPr marL="160020" indent="-121920">
              <a:lnSpc>
                <a:spcPct val="100000"/>
              </a:lnSpc>
              <a:spcBef>
                <a:spcPts val="450"/>
              </a:spcBef>
              <a:buClr>
                <a:srgbClr val="2562EB"/>
              </a:buClr>
              <a:buSzPct val="44000"/>
              <a:buFont typeface="Times New Roman" panose="02020603050405020304"/>
              <a:buChar char="●"/>
              <a:tabLst>
                <a:tab pos="160020" algn="l"/>
              </a:tabLst>
            </a:pPr>
            <a:r>
              <a:rPr sz="1350" dirty="0">
                <a:solidFill>
                  <a:srgbClr val="465469"/>
                </a:solidFill>
                <a:latin typeface="Calibri" panose="020F0502020204030204"/>
                <a:cs typeface="Calibri" panose="020F0502020204030204"/>
              </a:rPr>
              <a:t>GCNN</a:t>
            </a:r>
            <a:r>
              <a:rPr sz="1350" spc="10" dirty="0">
                <a:solidFill>
                  <a:srgbClr val="465469"/>
                </a:solidFill>
                <a:latin typeface="Calibri" panose="020F0502020204030204"/>
                <a:cs typeface="Calibri" panose="020F0502020204030204"/>
              </a:rPr>
              <a:t> </a:t>
            </a:r>
            <a:r>
              <a:rPr sz="1500" spc="-135" dirty="0">
                <a:solidFill>
                  <a:srgbClr val="465469"/>
                </a:solidFill>
                <a:latin typeface="宋体" panose="02010600030101010101" pitchFamily="2" charset="-122"/>
                <a:cs typeface="宋体" panose="02010600030101010101" pitchFamily="2" charset="-122"/>
              </a:rPr>
              <a:t>策略网络建模</a:t>
            </a:r>
            <a:endParaRPr sz="1500">
              <a:latin typeface="宋体" panose="02010600030101010101" pitchFamily="2" charset="-122"/>
              <a:cs typeface="宋体" panose="02010600030101010101" pitchFamily="2" charset="-122"/>
            </a:endParaRPr>
          </a:p>
        </p:txBody>
      </p:sp>
      <p:grpSp>
        <p:nvGrpSpPr>
          <p:cNvPr id="22" name="object 22"/>
          <p:cNvGrpSpPr/>
          <p:nvPr/>
        </p:nvGrpSpPr>
        <p:grpSpPr>
          <a:xfrm>
            <a:off x="457199" y="3876675"/>
            <a:ext cx="5486400" cy="2257425"/>
            <a:chOff x="457199" y="3876675"/>
            <a:chExt cx="5486400" cy="2257425"/>
          </a:xfrm>
        </p:grpSpPr>
        <p:sp>
          <p:nvSpPr>
            <p:cNvPr id="23" name="object 23"/>
            <p:cNvSpPr/>
            <p:nvPr/>
          </p:nvSpPr>
          <p:spPr>
            <a:xfrm>
              <a:off x="495299" y="3876675"/>
              <a:ext cx="5448300" cy="2257425"/>
            </a:xfrm>
            <a:custGeom>
              <a:avLst/>
              <a:gdLst/>
              <a:ahLst/>
              <a:cxnLst/>
              <a:rect l="l" t="t" r="r" b="b"/>
              <a:pathLst>
                <a:path w="5448300" h="2257425">
                  <a:moveTo>
                    <a:pt x="5341504" y="2257424"/>
                  </a:moveTo>
                  <a:lnTo>
                    <a:pt x="71196" y="2257424"/>
                  </a:lnTo>
                  <a:lnTo>
                    <a:pt x="66241" y="2256692"/>
                  </a:lnTo>
                  <a:lnTo>
                    <a:pt x="29705" y="2233991"/>
                  </a:lnTo>
                  <a:lnTo>
                    <a:pt x="10062" y="2200385"/>
                  </a:lnTo>
                  <a:lnTo>
                    <a:pt x="488" y="2158062"/>
                  </a:lnTo>
                  <a:lnTo>
                    <a:pt x="0" y="2150629"/>
                  </a:lnTo>
                  <a:lnTo>
                    <a:pt x="0" y="2143124"/>
                  </a:lnTo>
                  <a:lnTo>
                    <a:pt x="0" y="106794"/>
                  </a:lnTo>
                  <a:lnTo>
                    <a:pt x="7715" y="63625"/>
                  </a:lnTo>
                  <a:lnTo>
                    <a:pt x="25856" y="28170"/>
                  </a:lnTo>
                  <a:lnTo>
                    <a:pt x="56426" y="3660"/>
                  </a:lnTo>
                  <a:lnTo>
                    <a:pt x="71196" y="0"/>
                  </a:lnTo>
                  <a:lnTo>
                    <a:pt x="5341504" y="0"/>
                  </a:lnTo>
                  <a:lnTo>
                    <a:pt x="5384673" y="11572"/>
                  </a:lnTo>
                  <a:lnTo>
                    <a:pt x="5420128" y="38784"/>
                  </a:lnTo>
                  <a:lnTo>
                    <a:pt x="5442470" y="77493"/>
                  </a:lnTo>
                  <a:lnTo>
                    <a:pt x="5448298" y="106794"/>
                  </a:lnTo>
                  <a:lnTo>
                    <a:pt x="5448298" y="2150629"/>
                  </a:lnTo>
                  <a:lnTo>
                    <a:pt x="5436726" y="2193798"/>
                  </a:lnTo>
                  <a:lnTo>
                    <a:pt x="5409514" y="2229253"/>
                  </a:lnTo>
                  <a:lnTo>
                    <a:pt x="5370805" y="2251595"/>
                  </a:lnTo>
                  <a:lnTo>
                    <a:pt x="5348937" y="2256692"/>
                  </a:lnTo>
                  <a:lnTo>
                    <a:pt x="5341504" y="2257424"/>
                  </a:lnTo>
                  <a:close/>
                </a:path>
              </a:pathLst>
            </a:custGeom>
            <a:solidFill>
              <a:srgbClr val="F7FAFB"/>
            </a:solidFill>
          </p:spPr>
          <p:txBody>
            <a:bodyPr wrap="square" lIns="0" tIns="0" rIns="0" bIns="0" rtlCol="0"/>
            <a:lstStyle/>
            <a:p/>
          </p:txBody>
        </p:sp>
        <p:sp>
          <p:nvSpPr>
            <p:cNvPr id="24" name="object 24"/>
            <p:cNvSpPr/>
            <p:nvPr/>
          </p:nvSpPr>
          <p:spPr>
            <a:xfrm>
              <a:off x="457199" y="3876940"/>
              <a:ext cx="109220" cy="2257425"/>
            </a:xfrm>
            <a:custGeom>
              <a:avLst/>
              <a:gdLst/>
              <a:ahLst/>
              <a:cxnLst/>
              <a:rect l="l" t="t" r="r" b="b"/>
              <a:pathLst>
                <a:path w="109220" h="2257425">
                  <a:moveTo>
                    <a:pt x="108803" y="2256893"/>
                  </a:moveTo>
                  <a:lnTo>
                    <a:pt x="70559" y="2248457"/>
                  </a:lnTo>
                  <a:lnTo>
                    <a:pt x="33477" y="2223680"/>
                  </a:lnTo>
                  <a:lnTo>
                    <a:pt x="8700" y="2186599"/>
                  </a:lnTo>
                  <a:lnTo>
                    <a:pt x="0" y="2142859"/>
                  </a:lnTo>
                  <a:lnTo>
                    <a:pt x="0" y="114034"/>
                  </a:lnTo>
                  <a:lnTo>
                    <a:pt x="8700" y="70293"/>
                  </a:lnTo>
                  <a:lnTo>
                    <a:pt x="33477" y="33212"/>
                  </a:lnTo>
                  <a:lnTo>
                    <a:pt x="70559" y="8434"/>
                  </a:lnTo>
                  <a:lnTo>
                    <a:pt x="108802" y="0"/>
                  </a:lnTo>
                  <a:lnTo>
                    <a:pt x="104387" y="2634"/>
                  </a:lnTo>
                  <a:lnTo>
                    <a:pt x="99719" y="8434"/>
                  </a:lnTo>
                  <a:lnTo>
                    <a:pt x="82614" y="50520"/>
                  </a:lnTo>
                  <a:lnTo>
                    <a:pt x="76924" y="91731"/>
                  </a:lnTo>
                  <a:lnTo>
                    <a:pt x="76200" y="114034"/>
                  </a:lnTo>
                  <a:lnTo>
                    <a:pt x="76200" y="2142859"/>
                  </a:lnTo>
                  <a:lnTo>
                    <a:pt x="79100" y="2186599"/>
                  </a:lnTo>
                  <a:lnTo>
                    <a:pt x="90141" y="2231258"/>
                  </a:lnTo>
                  <a:lnTo>
                    <a:pt x="104387" y="2254258"/>
                  </a:lnTo>
                  <a:lnTo>
                    <a:pt x="108803" y="2256893"/>
                  </a:lnTo>
                  <a:close/>
                </a:path>
              </a:pathLst>
            </a:custGeom>
            <a:solidFill>
              <a:srgbClr val="4237CA"/>
            </a:solidFill>
          </p:spPr>
          <p:txBody>
            <a:bodyPr wrap="square" lIns="0" tIns="0" rIns="0" bIns="0" rtlCol="0"/>
            <a:lstStyle/>
            <a:p/>
          </p:txBody>
        </p:sp>
      </p:grpSp>
      <p:sp>
        <p:nvSpPr>
          <p:cNvPr id="25" name="object 25"/>
          <p:cNvSpPr txBox="1"/>
          <p:nvPr/>
        </p:nvSpPr>
        <p:spPr>
          <a:xfrm>
            <a:off x="4902199" y="3940175"/>
            <a:ext cx="823594" cy="848360"/>
          </a:xfrm>
          <a:prstGeom prst="rect">
            <a:avLst/>
          </a:prstGeom>
        </p:spPr>
        <p:txBody>
          <a:bodyPr vert="horz" wrap="square" lIns="0" tIns="12700" rIns="0" bIns="0" rtlCol="0">
            <a:spAutoFit/>
          </a:bodyPr>
          <a:lstStyle/>
          <a:p>
            <a:pPr marL="12700">
              <a:lnSpc>
                <a:spcPct val="100000"/>
              </a:lnSpc>
              <a:spcBef>
                <a:spcPts val="100"/>
              </a:spcBef>
            </a:pPr>
            <a:r>
              <a:rPr sz="5400" b="1" spc="-330" dirty="0">
                <a:solidFill>
                  <a:srgbClr val="E2E7F0"/>
                </a:solidFill>
                <a:latin typeface="Tahoma" panose="020B0604030504040204"/>
                <a:cs typeface="Tahoma" panose="020B0604030504040204"/>
              </a:rPr>
              <a:t>03</a:t>
            </a:r>
            <a:endParaRPr sz="5400">
              <a:latin typeface="Tahoma" panose="020B0604030504040204"/>
              <a:cs typeface="Tahoma" panose="020B0604030504040204"/>
            </a:endParaRPr>
          </a:p>
        </p:txBody>
      </p:sp>
      <p:grpSp>
        <p:nvGrpSpPr>
          <p:cNvPr id="26" name="object 26"/>
          <p:cNvGrpSpPr/>
          <p:nvPr/>
        </p:nvGrpSpPr>
        <p:grpSpPr>
          <a:xfrm>
            <a:off x="838199" y="4181475"/>
            <a:ext cx="304800" cy="304800"/>
            <a:chOff x="838199" y="4181475"/>
            <a:chExt cx="304800" cy="304800"/>
          </a:xfrm>
        </p:grpSpPr>
        <p:sp>
          <p:nvSpPr>
            <p:cNvPr id="27" name="object 27"/>
            <p:cNvSpPr/>
            <p:nvPr/>
          </p:nvSpPr>
          <p:spPr>
            <a:xfrm>
              <a:off x="838199" y="4181475"/>
              <a:ext cx="304800" cy="304800"/>
            </a:xfrm>
            <a:custGeom>
              <a:avLst/>
              <a:gdLst/>
              <a:ahLst/>
              <a:cxnLst/>
              <a:rect l="l" t="t" r="r" b="b"/>
              <a:pathLst>
                <a:path w="304800" h="304800">
                  <a:moveTo>
                    <a:pt x="251402" y="304799"/>
                  </a:moveTo>
                  <a:lnTo>
                    <a:pt x="53397" y="304799"/>
                  </a:lnTo>
                  <a:lnTo>
                    <a:pt x="49681" y="304433"/>
                  </a:lnTo>
                  <a:lnTo>
                    <a:pt x="14085" y="285407"/>
                  </a:lnTo>
                  <a:lnTo>
                    <a:pt x="0" y="251402"/>
                  </a:lnTo>
                  <a:lnTo>
                    <a:pt x="0" y="247649"/>
                  </a:lnTo>
                  <a:lnTo>
                    <a:pt x="0" y="53397"/>
                  </a:lnTo>
                  <a:lnTo>
                    <a:pt x="19392" y="14085"/>
                  </a:lnTo>
                  <a:lnTo>
                    <a:pt x="53397" y="0"/>
                  </a:lnTo>
                  <a:lnTo>
                    <a:pt x="251402" y="0"/>
                  </a:lnTo>
                  <a:lnTo>
                    <a:pt x="290714" y="19392"/>
                  </a:lnTo>
                  <a:lnTo>
                    <a:pt x="304799" y="53397"/>
                  </a:lnTo>
                  <a:lnTo>
                    <a:pt x="304799" y="251402"/>
                  </a:lnTo>
                  <a:lnTo>
                    <a:pt x="285407" y="290714"/>
                  </a:lnTo>
                  <a:lnTo>
                    <a:pt x="255119" y="304433"/>
                  </a:lnTo>
                  <a:lnTo>
                    <a:pt x="251402" y="304799"/>
                  </a:lnTo>
                  <a:close/>
                </a:path>
              </a:pathLst>
            </a:custGeom>
            <a:solidFill>
              <a:srgbClr val="4237CA"/>
            </a:solidFill>
          </p:spPr>
          <p:txBody>
            <a:bodyPr wrap="square" lIns="0" tIns="0" rIns="0" bIns="0" rtlCol="0"/>
            <a:lstStyle/>
            <a:p/>
          </p:txBody>
        </p:sp>
        <p:pic>
          <p:nvPicPr>
            <p:cNvPr id="28" name="object 28"/>
            <p:cNvPicPr/>
            <p:nvPr/>
          </p:nvPicPr>
          <p:blipFill>
            <a:blip r:embed="rId3" cstate="print"/>
            <a:stretch>
              <a:fillRect/>
            </a:stretch>
          </p:blipFill>
          <p:spPr>
            <a:xfrm>
              <a:off x="911097" y="4254936"/>
              <a:ext cx="158440" cy="158440"/>
            </a:xfrm>
            <a:prstGeom prst="rect">
              <a:avLst/>
            </a:prstGeom>
          </p:spPr>
        </p:pic>
      </p:grpSp>
      <p:sp>
        <p:nvSpPr>
          <p:cNvPr id="29" name="object 29"/>
          <p:cNvSpPr txBox="1"/>
          <p:nvPr/>
        </p:nvSpPr>
        <p:spPr>
          <a:xfrm>
            <a:off x="800099" y="3965976"/>
            <a:ext cx="3697604" cy="929005"/>
          </a:xfrm>
          <a:prstGeom prst="rect">
            <a:avLst/>
          </a:prstGeom>
        </p:spPr>
        <p:txBody>
          <a:bodyPr vert="horz" wrap="square" lIns="0" tIns="199390" rIns="0" bIns="0" rtlCol="0">
            <a:spAutoFit/>
          </a:bodyPr>
          <a:lstStyle/>
          <a:p>
            <a:pPr marL="456565">
              <a:lnSpc>
                <a:spcPct val="100000"/>
              </a:lnSpc>
              <a:spcBef>
                <a:spcPts val="1570"/>
              </a:spcBef>
            </a:pPr>
            <a:r>
              <a:rPr sz="2000" b="1" spc="-204" dirty="0">
                <a:solidFill>
                  <a:srgbClr val="1D293B"/>
                </a:solidFill>
                <a:latin typeface="微软雅黑" panose="020B0503020204020204" charset="-122"/>
                <a:cs typeface="微软雅黑" panose="020B0503020204020204" charset="-122"/>
              </a:rPr>
              <a:t>结果与分析 </a:t>
            </a:r>
            <a:r>
              <a:rPr sz="1800" b="1" spc="-140" dirty="0">
                <a:solidFill>
                  <a:srgbClr val="1D293B"/>
                </a:solidFill>
                <a:latin typeface="Tahoma" panose="020B0604030504040204"/>
                <a:cs typeface="Tahoma" panose="020B0604030504040204"/>
              </a:rPr>
              <a:t>(Results</a:t>
            </a:r>
            <a:r>
              <a:rPr sz="1800" b="1" spc="-165" dirty="0">
                <a:solidFill>
                  <a:srgbClr val="1D293B"/>
                </a:solidFill>
                <a:latin typeface="Tahoma" panose="020B0604030504040204"/>
                <a:cs typeface="Tahoma" panose="020B0604030504040204"/>
              </a:rPr>
              <a:t> </a:t>
            </a:r>
            <a:r>
              <a:rPr sz="1800" b="1" spc="-150" dirty="0">
                <a:solidFill>
                  <a:srgbClr val="1D293B"/>
                </a:solidFill>
                <a:latin typeface="Tahoma" panose="020B0604030504040204"/>
                <a:cs typeface="Tahoma" panose="020B0604030504040204"/>
              </a:rPr>
              <a:t>&amp;</a:t>
            </a:r>
            <a:r>
              <a:rPr sz="1800" b="1" spc="-140" dirty="0">
                <a:solidFill>
                  <a:srgbClr val="1D293B"/>
                </a:solidFill>
                <a:latin typeface="Tahoma" panose="020B0604030504040204"/>
                <a:cs typeface="Tahoma" panose="020B0604030504040204"/>
              </a:rPr>
              <a:t> </a:t>
            </a:r>
            <a:r>
              <a:rPr sz="1800" b="1" spc="-65" dirty="0">
                <a:solidFill>
                  <a:srgbClr val="1D293B"/>
                </a:solidFill>
                <a:latin typeface="Tahoma" panose="020B0604030504040204"/>
                <a:cs typeface="Tahoma" panose="020B0604030504040204"/>
              </a:rPr>
              <a:t>Analysis)</a:t>
            </a:r>
            <a:endParaRPr sz="1800">
              <a:latin typeface="Tahoma" panose="020B0604030504040204"/>
              <a:cs typeface="Tahoma" panose="020B0604030504040204"/>
            </a:endParaRPr>
          </a:p>
          <a:p>
            <a:pPr marL="160020" indent="-121920">
              <a:lnSpc>
                <a:spcPct val="100000"/>
              </a:lnSpc>
              <a:spcBef>
                <a:spcPts val="1200"/>
              </a:spcBef>
              <a:buClr>
                <a:srgbClr val="2562EB"/>
              </a:buClr>
              <a:buSzPct val="35000"/>
              <a:buFont typeface="Times New Roman" panose="02020603050405020304"/>
              <a:buChar char="●"/>
              <a:tabLst>
                <a:tab pos="160020" algn="l"/>
              </a:tabLst>
            </a:pPr>
            <a:r>
              <a:rPr sz="1700" spc="-195" dirty="0">
                <a:solidFill>
                  <a:srgbClr val="465469"/>
                </a:solidFill>
                <a:latin typeface="宋体" panose="02010600030101010101" pitchFamily="2" charset="-122"/>
                <a:cs typeface="宋体" panose="02010600030101010101" pitchFamily="2" charset="-122"/>
              </a:rPr>
              <a:t>主要实验结果验证</a:t>
            </a:r>
            <a:endParaRPr sz="1700">
              <a:latin typeface="宋体" panose="02010600030101010101" pitchFamily="2" charset="-122"/>
              <a:cs typeface="宋体" panose="02010600030101010101" pitchFamily="2" charset="-122"/>
            </a:endParaRPr>
          </a:p>
        </p:txBody>
      </p:sp>
      <p:sp>
        <p:nvSpPr>
          <p:cNvPr id="30" name="object 30"/>
          <p:cNvSpPr txBox="1"/>
          <p:nvPr/>
        </p:nvSpPr>
        <p:spPr>
          <a:xfrm>
            <a:off x="825500" y="4991734"/>
            <a:ext cx="2243455" cy="283845"/>
          </a:xfrm>
          <a:prstGeom prst="rect">
            <a:avLst/>
          </a:prstGeom>
        </p:spPr>
        <p:txBody>
          <a:bodyPr vert="horz" wrap="square" lIns="0" tIns="12065" rIns="0" bIns="0" rtlCol="0">
            <a:spAutoFit/>
          </a:bodyPr>
          <a:lstStyle/>
          <a:p>
            <a:pPr marL="134620" indent="-121920">
              <a:lnSpc>
                <a:spcPct val="100000"/>
              </a:lnSpc>
              <a:spcBef>
                <a:spcPts val="95"/>
              </a:spcBef>
              <a:buClr>
                <a:srgbClr val="2562EB"/>
              </a:buClr>
              <a:buSzPct val="35000"/>
              <a:buFont typeface="Times New Roman" panose="02020603050405020304"/>
              <a:buChar char="●"/>
              <a:tabLst>
                <a:tab pos="134620" algn="l"/>
              </a:tabLst>
            </a:pPr>
            <a:r>
              <a:rPr sz="1700" spc="-204" dirty="0">
                <a:solidFill>
                  <a:srgbClr val="465469"/>
                </a:solidFill>
                <a:latin typeface="宋体" panose="02010600030101010101" pitchFamily="2" charset="-122"/>
                <a:cs typeface="宋体" panose="02010600030101010101" pitchFamily="2" charset="-122"/>
              </a:rPr>
              <a:t>消融研究与泛化能力分析</a:t>
            </a:r>
            <a:endParaRPr sz="1700">
              <a:latin typeface="宋体" panose="02010600030101010101" pitchFamily="2" charset="-122"/>
              <a:cs typeface="宋体" panose="02010600030101010101" pitchFamily="2" charset="-122"/>
            </a:endParaRPr>
          </a:p>
        </p:txBody>
      </p:sp>
      <p:grpSp>
        <p:nvGrpSpPr>
          <p:cNvPr id="31" name="object 31"/>
          <p:cNvGrpSpPr/>
          <p:nvPr/>
        </p:nvGrpSpPr>
        <p:grpSpPr>
          <a:xfrm>
            <a:off x="6248400" y="3876675"/>
            <a:ext cx="5486400" cy="2257425"/>
            <a:chOff x="6248400" y="3876675"/>
            <a:chExt cx="5486400" cy="2257425"/>
          </a:xfrm>
        </p:grpSpPr>
        <p:sp>
          <p:nvSpPr>
            <p:cNvPr id="32" name="object 32"/>
            <p:cNvSpPr/>
            <p:nvPr/>
          </p:nvSpPr>
          <p:spPr>
            <a:xfrm>
              <a:off x="6286499" y="3876675"/>
              <a:ext cx="5448300" cy="2257425"/>
            </a:xfrm>
            <a:custGeom>
              <a:avLst/>
              <a:gdLst/>
              <a:ahLst/>
              <a:cxnLst/>
              <a:rect l="l" t="t" r="r" b="b"/>
              <a:pathLst>
                <a:path w="5448300" h="2257425">
                  <a:moveTo>
                    <a:pt x="5341504" y="2257424"/>
                  </a:moveTo>
                  <a:lnTo>
                    <a:pt x="71196" y="2257424"/>
                  </a:lnTo>
                  <a:lnTo>
                    <a:pt x="66241" y="2256692"/>
                  </a:lnTo>
                  <a:lnTo>
                    <a:pt x="29705" y="2233991"/>
                  </a:lnTo>
                  <a:lnTo>
                    <a:pt x="10062" y="2200385"/>
                  </a:lnTo>
                  <a:lnTo>
                    <a:pt x="488" y="2158062"/>
                  </a:lnTo>
                  <a:lnTo>
                    <a:pt x="0" y="2150629"/>
                  </a:lnTo>
                  <a:lnTo>
                    <a:pt x="0" y="2143124"/>
                  </a:lnTo>
                  <a:lnTo>
                    <a:pt x="0" y="106794"/>
                  </a:lnTo>
                  <a:lnTo>
                    <a:pt x="7715" y="63625"/>
                  </a:lnTo>
                  <a:lnTo>
                    <a:pt x="25856" y="28170"/>
                  </a:lnTo>
                  <a:lnTo>
                    <a:pt x="56426" y="3660"/>
                  </a:lnTo>
                  <a:lnTo>
                    <a:pt x="71196" y="0"/>
                  </a:lnTo>
                  <a:lnTo>
                    <a:pt x="5341504" y="0"/>
                  </a:lnTo>
                  <a:lnTo>
                    <a:pt x="5384673" y="11572"/>
                  </a:lnTo>
                  <a:lnTo>
                    <a:pt x="5420128" y="38784"/>
                  </a:lnTo>
                  <a:lnTo>
                    <a:pt x="5442470" y="77493"/>
                  </a:lnTo>
                  <a:lnTo>
                    <a:pt x="5448298" y="106794"/>
                  </a:lnTo>
                  <a:lnTo>
                    <a:pt x="5448298" y="2150629"/>
                  </a:lnTo>
                  <a:lnTo>
                    <a:pt x="5436726" y="2193798"/>
                  </a:lnTo>
                  <a:lnTo>
                    <a:pt x="5409514" y="2229253"/>
                  </a:lnTo>
                  <a:lnTo>
                    <a:pt x="5370805" y="2251595"/>
                  </a:lnTo>
                  <a:lnTo>
                    <a:pt x="5348937" y="2256692"/>
                  </a:lnTo>
                  <a:lnTo>
                    <a:pt x="5341504" y="2257424"/>
                  </a:lnTo>
                  <a:close/>
                </a:path>
              </a:pathLst>
            </a:custGeom>
            <a:solidFill>
              <a:srgbClr val="F7FAFB"/>
            </a:solidFill>
          </p:spPr>
          <p:txBody>
            <a:bodyPr wrap="square" lIns="0" tIns="0" rIns="0" bIns="0" rtlCol="0"/>
            <a:lstStyle/>
            <a:p/>
          </p:txBody>
        </p:sp>
        <p:sp>
          <p:nvSpPr>
            <p:cNvPr id="33" name="object 33"/>
            <p:cNvSpPr/>
            <p:nvPr/>
          </p:nvSpPr>
          <p:spPr>
            <a:xfrm>
              <a:off x="6248400" y="3876940"/>
              <a:ext cx="109220" cy="2257425"/>
            </a:xfrm>
            <a:custGeom>
              <a:avLst/>
              <a:gdLst/>
              <a:ahLst/>
              <a:cxnLst/>
              <a:rect l="l" t="t" r="r" b="b"/>
              <a:pathLst>
                <a:path w="109220" h="2257425">
                  <a:moveTo>
                    <a:pt x="108802" y="2256893"/>
                  </a:moveTo>
                  <a:lnTo>
                    <a:pt x="70558" y="2248457"/>
                  </a:lnTo>
                  <a:lnTo>
                    <a:pt x="33477" y="2223680"/>
                  </a:lnTo>
                  <a:lnTo>
                    <a:pt x="8699" y="2186599"/>
                  </a:lnTo>
                  <a:lnTo>
                    <a:pt x="0" y="2142859"/>
                  </a:lnTo>
                  <a:lnTo>
                    <a:pt x="0" y="114034"/>
                  </a:lnTo>
                  <a:lnTo>
                    <a:pt x="8699" y="70293"/>
                  </a:lnTo>
                  <a:lnTo>
                    <a:pt x="33477" y="33212"/>
                  </a:lnTo>
                  <a:lnTo>
                    <a:pt x="70558" y="8434"/>
                  </a:lnTo>
                  <a:lnTo>
                    <a:pt x="108802" y="0"/>
                  </a:lnTo>
                  <a:lnTo>
                    <a:pt x="104387" y="2634"/>
                  </a:lnTo>
                  <a:lnTo>
                    <a:pt x="99719" y="8434"/>
                  </a:lnTo>
                  <a:lnTo>
                    <a:pt x="82614" y="50520"/>
                  </a:lnTo>
                  <a:lnTo>
                    <a:pt x="76924" y="91731"/>
                  </a:lnTo>
                  <a:lnTo>
                    <a:pt x="76200" y="114034"/>
                  </a:lnTo>
                  <a:lnTo>
                    <a:pt x="76200" y="2142859"/>
                  </a:lnTo>
                  <a:lnTo>
                    <a:pt x="79099" y="2186599"/>
                  </a:lnTo>
                  <a:lnTo>
                    <a:pt x="90141" y="2231258"/>
                  </a:lnTo>
                  <a:lnTo>
                    <a:pt x="104387" y="2254258"/>
                  </a:lnTo>
                  <a:lnTo>
                    <a:pt x="108802" y="2256893"/>
                  </a:lnTo>
                  <a:close/>
                </a:path>
              </a:pathLst>
            </a:custGeom>
            <a:solidFill>
              <a:srgbClr val="4237CA"/>
            </a:solidFill>
          </p:spPr>
          <p:txBody>
            <a:bodyPr wrap="square" lIns="0" tIns="0" rIns="0" bIns="0" rtlCol="0"/>
            <a:lstStyle/>
            <a:p/>
          </p:txBody>
        </p:sp>
      </p:grpSp>
      <p:sp>
        <p:nvSpPr>
          <p:cNvPr id="34" name="object 34"/>
          <p:cNvSpPr txBox="1"/>
          <p:nvPr/>
        </p:nvSpPr>
        <p:spPr>
          <a:xfrm>
            <a:off x="10693399" y="3940175"/>
            <a:ext cx="823594" cy="848360"/>
          </a:xfrm>
          <a:prstGeom prst="rect">
            <a:avLst/>
          </a:prstGeom>
        </p:spPr>
        <p:txBody>
          <a:bodyPr vert="horz" wrap="square" lIns="0" tIns="12700" rIns="0" bIns="0" rtlCol="0">
            <a:spAutoFit/>
          </a:bodyPr>
          <a:lstStyle/>
          <a:p>
            <a:pPr marL="12700">
              <a:lnSpc>
                <a:spcPct val="100000"/>
              </a:lnSpc>
              <a:spcBef>
                <a:spcPts val="100"/>
              </a:spcBef>
            </a:pPr>
            <a:r>
              <a:rPr sz="5400" b="1" spc="-330" dirty="0">
                <a:solidFill>
                  <a:srgbClr val="E2E7F0"/>
                </a:solidFill>
                <a:latin typeface="Tahoma" panose="020B0604030504040204"/>
                <a:cs typeface="Tahoma" panose="020B0604030504040204"/>
              </a:rPr>
              <a:t>04</a:t>
            </a:r>
            <a:endParaRPr sz="5400">
              <a:latin typeface="Tahoma" panose="020B0604030504040204"/>
              <a:cs typeface="Tahoma" panose="020B0604030504040204"/>
            </a:endParaRPr>
          </a:p>
        </p:txBody>
      </p:sp>
      <p:grpSp>
        <p:nvGrpSpPr>
          <p:cNvPr id="35" name="object 35"/>
          <p:cNvGrpSpPr/>
          <p:nvPr/>
        </p:nvGrpSpPr>
        <p:grpSpPr>
          <a:xfrm>
            <a:off x="6629400" y="4181475"/>
            <a:ext cx="304800" cy="304800"/>
            <a:chOff x="6629400" y="4181475"/>
            <a:chExt cx="304800" cy="304800"/>
          </a:xfrm>
        </p:grpSpPr>
        <p:sp>
          <p:nvSpPr>
            <p:cNvPr id="36" name="object 36"/>
            <p:cNvSpPr/>
            <p:nvPr/>
          </p:nvSpPr>
          <p:spPr>
            <a:xfrm>
              <a:off x="6629400" y="4181475"/>
              <a:ext cx="304800" cy="304800"/>
            </a:xfrm>
            <a:custGeom>
              <a:avLst/>
              <a:gdLst/>
              <a:ahLst/>
              <a:cxnLst/>
              <a:rect l="l" t="t" r="r" b="b"/>
              <a:pathLst>
                <a:path w="304800" h="304800">
                  <a:moveTo>
                    <a:pt x="251402" y="304799"/>
                  </a:moveTo>
                  <a:lnTo>
                    <a:pt x="53397" y="304799"/>
                  </a:lnTo>
                  <a:lnTo>
                    <a:pt x="49681" y="304433"/>
                  </a:lnTo>
                  <a:lnTo>
                    <a:pt x="14085" y="285407"/>
                  </a:lnTo>
                  <a:lnTo>
                    <a:pt x="0" y="251402"/>
                  </a:lnTo>
                  <a:lnTo>
                    <a:pt x="0" y="247649"/>
                  </a:lnTo>
                  <a:lnTo>
                    <a:pt x="0" y="53397"/>
                  </a:lnTo>
                  <a:lnTo>
                    <a:pt x="19392" y="14085"/>
                  </a:lnTo>
                  <a:lnTo>
                    <a:pt x="53397" y="0"/>
                  </a:lnTo>
                  <a:lnTo>
                    <a:pt x="251402" y="0"/>
                  </a:lnTo>
                  <a:lnTo>
                    <a:pt x="290714" y="19392"/>
                  </a:lnTo>
                  <a:lnTo>
                    <a:pt x="304799" y="53397"/>
                  </a:lnTo>
                  <a:lnTo>
                    <a:pt x="304799" y="251402"/>
                  </a:lnTo>
                  <a:lnTo>
                    <a:pt x="285407" y="290714"/>
                  </a:lnTo>
                  <a:lnTo>
                    <a:pt x="255119" y="304433"/>
                  </a:lnTo>
                  <a:lnTo>
                    <a:pt x="251402" y="304799"/>
                  </a:lnTo>
                  <a:close/>
                </a:path>
              </a:pathLst>
            </a:custGeom>
            <a:solidFill>
              <a:srgbClr val="4237CA"/>
            </a:solidFill>
          </p:spPr>
          <p:txBody>
            <a:bodyPr wrap="square" lIns="0" tIns="0" rIns="0" bIns="0" rtlCol="0"/>
            <a:lstStyle/>
            <a:p/>
          </p:txBody>
        </p:sp>
        <p:pic>
          <p:nvPicPr>
            <p:cNvPr id="37" name="object 37"/>
            <p:cNvPicPr/>
            <p:nvPr/>
          </p:nvPicPr>
          <p:blipFill>
            <a:blip r:embed="rId4" cstate="print"/>
            <a:stretch>
              <a:fillRect/>
            </a:stretch>
          </p:blipFill>
          <p:spPr>
            <a:xfrm>
              <a:off x="6702425" y="4270375"/>
              <a:ext cx="158749" cy="129008"/>
            </a:xfrm>
            <a:prstGeom prst="rect">
              <a:avLst/>
            </a:prstGeom>
          </p:spPr>
        </p:pic>
      </p:grpSp>
      <p:sp>
        <p:nvSpPr>
          <p:cNvPr id="38" name="object 38"/>
          <p:cNvSpPr txBox="1"/>
          <p:nvPr/>
        </p:nvSpPr>
        <p:spPr>
          <a:xfrm>
            <a:off x="6591300" y="3965976"/>
            <a:ext cx="2287905" cy="929005"/>
          </a:xfrm>
          <a:prstGeom prst="rect">
            <a:avLst/>
          </a:prstGeom>
        </p:spPr>
        <p:txBody>
          <a:bodyPr vert="horz" wrap="square" lIns="0" tIns="199390" rIns="0" bIns="0" rtlCol="0">
            <a:spAutoFit/>
          </a:bodyPr>
          <a:lstStyle/>
          <a:p>
            <a:pPr marL="456565">
              <a:lnSpc>
                <a:spcPct val="100000"/>
              </a:lnSpc>
              <a:spcBef>
                <a:spcPts val="1570"/>
              </a:spcBef>
            </a:pPr>
            <a:r>
              <a:rPr sz="2000" b="1" spc="-210" dirty="0">
                <a:solidFill>
                  <a:srgbClr val="1D293B"/>
                </a:solidFill>
                <a:latin typeface="微软雅黑" panose="020B0503020204020204" charset="-122"/>
                <a:cs typeface="微软雅黑" panose="020B0503020204020204" charset="-122"/>
              </a:rPr>
              <a:t>结论 </a:t>
            </a:r>
            <a:r>
              <a:rPr sz="1800" b="1" spc="-95" dirty="0">
                <a:solidFill>
                  <a:srgbClr val="1D293B"/>
                </a:solidFill>
                <a:latin typeface="Tahoma" panose="020B0604030504040204"/>
                <a:cs typeface="Tahoma" panose="020B0604030504040204"/>
              </a:rPr>
              <a:t>(Conclusion)</a:t>
            </a:r>
            <a:endParaRPr sz="1800">
              <a:latin typeface="Tahoma" panose="020B0604030504040204"/>
              <a:cs typeface="Tahoma" panose="020B0604030504040204"/>
            </a:endParaRPr>
          </a:p>
          <a:p>
            <a:pPr marL="160020" indent="-121920">
              <a:lnSpc>
                <a:spcPct val="100000"/>
              </a:lnSpc>
              <a:spcBef>
                <a:spcPts val="1200"/>
              </a:spcBef>
              <a:buClr>
                <a:srgbClr val="2562EB"/>
              </a:buClr>
              <a:buSzPct val="35000"/>
              <a:buFont typeface="Times New Roman" panose="02020603050405020304"/>
              <a:buChar char="●"/>
              <a:tabLst>
                <a:tab pos="160020" algn="l"/>
              </a:tabLst>
            </a:pPr>
            <a:r>
              <a:rPr sz="1700" spc="-185" dirty="0">
                <a:solidFill>
                  <a:srgbClr val="465469"/>
                </a:solidFill>
                <a:latin typeface="宋体" panose="02010600030101010101" pitchFamily="2" charset="-122"/>
                <a:cs typeface="宋体" panose="02010600030101010101" pitchFamily="2" charset="-122"/>
              </a:rPr>
              <a:t>核心贡献总结</a:t>
            </a:r>
            <a:endParaRPr sz="1700">
              <a:latin typeface="宋体" panose="02010600030101010101" pitchFamily="2" charset="-122"/>
              <a:cs typeface="宋体" panose="02010600030101010101" pitchFamily="2" charset="-122"/>
            </a:endParaRPr>
          </a:p>
        </p:txBody>
      </p:sp>
      <p:sp>
        <p:nvSpPr>
          <p:cNvPr id="39" name="object 39"/>
          <p:cNvSpPr txBox="1"/>
          <p:nvPr/>
        </p:nvSpPr>
        <p:spPr>
          <a:xfrm>
            <a:off x="6616700" y="4991734"/>
            <a:ext cx="1862455" cy="283845"/>
          </a:xfrm>
          <a:prstGeom prst="rect">
            <a:avLst/>
          </a:prstGeom>
        </p:spPr>
        <p:txBody>
          <a:bodyPr vert="horz" wrap="square" lIns="0" tIns="12065" rIns="0" bIns="0" rtlCol="0">
            <a:spAutoFit/>
          </a:bodyPr>
          <a:lstStyle/>
          <a:p>
            <a:pPr marL="134620" indent="-121920">
              <a:lnSpc>
                <a:spcPct val="100000"/>
              </a:lnSpc>
              <a:spcBef>
                <a:spcPts val="95"/>
              </a:spcBef>
              <a:buClr>
                <a:srgbClr val="2562EB"/>
              </a:buClr>
              <a:buSzPct val="35000"/>
              <a:buFont typeface="Times New Roman" panose="02020603050405020304"/>
              <a:buChar char="●"/>
              <a:tabLst>
                <a:tab pos="134620" algn="l"/>
              </a:tabLst>
            </a:pPr>
            <a:r>
              <a:rPr sz="1700" spc="-200" dirty="0">
                <a:solidFill>
                  <a:srgbClr val="465469"/>
                </a:solidFill>
                <a:latin typeface="宋体" panose="02010600030101010101" pitchFamily="2" charset="-122"/>
                <a:cs typeface="宋体" panose="02010600030101010101" pitchFamily="2" charset="-122"/>
              </a:rPr>
              <a:t>研究局限与未来展望</a:t>
            </a:r>
            <a:endParaRPr sz="1700">
              <a:latin typeface="宋体" panose="02010600030101010101" pitchFamily="2" charset="-122"/>
              <a:cs typeface="宋体" panose="02010600030101010101" pitchFamily="2" charset="-122"/>
            </a:endParaRPr>
          </a:p>
        </p:txBody>
      </p:sp>
      <p:grpSp>
        <p:nvGrpSpPr>
          <p:cNvPr id="40" name="object 40"/>
          <p:cNvGrpSpPr/>
          <p:nvPr/>
        </p:nvGrpSpPr>
        <p:grpSpPr>
          <a:xfrm>
            <a:off x="0" y="6324599"/>
            <a:ext cx="12192000" cy="533400"/>
            <a:chOff x="0" y="6324599"/>
            <a:chExt cx="12192000" cy="533400"/>
          </a:xfrm>
        </p:grpSpPr>
        <p:sp>
          <p:nvSpPr>
            <p:cNvPr id="41" name="object 41"/>
            <p:cNvSpPr/>
            <p:nvPr/>
          </p:nvSpPr>
          <p:spPr>
            <a:xfrm>
              <a:off x="0" y="6638924"/>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42" name="object 42"/>
            <p:cNvSpPr/>
            <p:nvPr/>
          </p:nvSpPr>
          <p:spPr>
            <a:xfrm>
              <a:off x="11791937" y="6724649"/>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43" name="object 43"/>
            <p:cNvSpPr/>
            <p:nvPr/>
          </p:nvSpPr>
          <p:spPr>
            <a:xfrm>
              <a:off x="11982447" y="6724649"/>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44" name="object 44"/>
            <p:cNvPicPr/>
            <p:nvPr/>
          </p:nvPicPr>
          <p:blipFill>
            <a:blip r:embed="rId5" cstate="print"/>
            <a:stretch>
              <a:fillRect/>
            </a:stretch>
          </p:blipFill>
          <p:spPr>
            <a:xfrm>
              <a:off x="9896474" y="6324599"/>
              <a:ext cx="342899" cy="342899"/>
            </a:xfrm>
            <a:prstGeom prst="rect">
              <a:avLst/>
            </a:prstGeom>
          </p:spPr>
        </p:pic>
      </p:grpSp>
      <p:sp>
        <p:nvSpPr>
          <p:cNvPr id="45" name="object 45"/>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46" name="object 46"/>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10" dirty="0"/>
              <a:t>Author</a:t>
            </a:r>
            <a:endParaRPr spc="-10" dirty="0"/>
          </a:p>
        </p:txBody>
      </p:sp>
      <p:sp>
        <p:nvSpPr>
          <p:cNvPr id="47" name="object 47"/>
          <p:cNvSpPr txBox="1"/>
          <p:nvPr/>
        </p:nvSpPr>
        <p:spPr>
          <a:xfrm>
            <a:off x="562074" y="6674696"/>
            <a:ext cx="311150" cy="131445"/>
          </a:xfrm>
          <a:prstGeom prst="rect">
            <a:avLst/>
          </a:prstGeom>
        </p:spPr>
        <p:txBody>
          <a:bodyPr vert="horz" wrap="square" lIns="0" tIns="1905" rIns="0" bIns="0" rtlCol="0">
            <a:spAutoFit/>
          </a:bodyPr>
          <a:lstStyle/>
          <a:p>
            <a:pPr marL="12700">
              <a:lnSpc>
                <a:spcPct val="100000"/>
              </a:lnSpc>
              <a:spcBef>
                <a:spcPts val="15"/>
              </a:spcBef>
            </a:pPr>
            <a:r>
              <a:rPr sz="750" spc="-10" dirty="0">
                <a:solidFill>
                  <a:srgbClr val="FFFFFF"/>
                </a:solidFill>
                <a:latin typeface="Times New Roman" panose="02020603050405020304"/>
                <a:cs typeface="Times New Roman" panose="02020603050405020304"/>
              </a:rPr>
              <a:t>Section</a:t>
            </a:r>
            <a:endParaRPr sz="75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247522"/>
            <a:ext cx="3273425" cy="490855"/>
          </a:xfrm>
          <a:prstGeom prst="rect">
            <a:avLst/>
          </a:prstGeom>
        </p:spPr>
        <p:txBody>
          <a:bodyPr vert="horz" wrap="square" lIns="0" tIns="12700" rIns="0" bIns="0" rtlCol="0">
            <a:spAutoFit/>
          </a:bodyPr>
          <a:lstStyle/>
          <a:p>
            <a:pPr marL="12700">
              <a:lnSpc>
                <a:spcPct val="100000"/>
              </a:lnSpc>
              <a:spcBef>
                <a:spcPts val="100"/>
              </a:spcBef>
            </a:pPr>
            <a:r>
              <a:rPr sz="3050" spc="-370" dirty="0">
                <a:latin typeface="微软雅黑" panose="020B0503020204020204" charset="-122"/>
                <a:cs typeface="微软雅黑" panose="020B0503020204020204" charset="-122"/>
              </a:rPr>
              <a:t>引言</a:t>
            </a:r>
            <a:r>
              <a:rPr spc="-235" dirty="0"/>
              <a:t>: </a:t>
            </a:r>
            <a:r>
              <a:rPr sz="3050" spc="-380" dirty="0">
                <a:latin typeface="微软雅黑" panose="020B0503020204020204" charset="-122"/>
                <a:cs typeface="微软雅黑" panose="020B0503020204020204" charset="-122"/>
              </a:rPr>
              <a:t>问题定位与背景</a:t>
            </a:r>
            <a:endParaRPr sz="3050">
              <a:latin typeface="微软雅黑" panose="020B0503020204020204" charset="-122"/>
              <a:cs typeface="微软雅黑" panose="020B0503020204020204" charset="-122"/>
            </a:endParaRPr>
          </a:p>
        </p:txBody>
      </p:sp>
      <p:sp>
        <p:nvSpPr>
          <p:cNvPr id="3" name="object 3"/>
          <p:cNvSpPr/>
          <p:nvPr/>
        </p:nvSpPr>
        <p:spPr>
          <a:xfrm>
            <a:off x="457199" y="6496049"/>
            <a:ext cx="11277600" cy="9525"/>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1F5F9"/>
          </a:solidFill>
        </p:spPr>
        <p:txBody>
          <a:bodyPr wrap="square" lIns="0" tIns="0" rIns="0" bIns="0" rtlCol="0"/>
          <a:lstStyle/>
          <a:p/>
        </p:txBody>
      </p:sp>
      <p:sp>
        <p:nvSpPr>
          <p:cNvPr id="4" name="object 4"/>
          <p:cNvSpPr txBox="1"/>
          <p:nvPr/>
        </p:nvSpPr>
        <p:spPr>
          <a:xfrm>
            <a:off x="444500" y="6630415"/>
            <a:ext cx="939800" cy="180975"/>
          </a:xfrm>
          <a:prstGeom prst="rect">
            <a:avLst/>
          </a:prstGeom>
        </p:spPr>
        <p:txBody>
          <a:bodyPr vert="horz" wrap="square" lIns="0" tIns="14604" rIns="0" bIns="0" rtlCol="0">
            <a:spAutoFit/>
          </a:bodyPr>
          <a:lstStyle/>
          <a:p>
            <a:pPr marL="12700">
              <a:lnSpc>
                <a:spcPct val="100000"/>
              </a:lnSpc>
              <a:spcBef>
                <a:spcPts val="115"/>
              </a:spcBef>
            </a:pPr>
            <a:r>
              <a:rPr sz="1000" spc="-95" dirty="0">
                <a:solidFill>
                  <a:srgbClr val="94A2B8"/>
                </a:solidFill>
                <a:latin typeface="宋体" panose="02010600030101010101" pitchFamily="2" charset="-122"/>
                <a:cs typeface="宋体" panose="02010600030101010101" pitchFamily="2" charset="-122"/>
              </a:rPr>
              <a:t>精确求解体系结构</a:t>
            </a:r>
            <a:endParaRPr sz="1000">
              <a:latin typeface="宋体" panose="02010600030101010101" pitchFamily="2" charset="-122"/>
              <a:cs typeface="宋体" panose="02010600030101010101" pitchFamily="2" charset="-122"/>
            </a:endParaRPr>
          </a:p>
        </p:txBody>
      </p:sp>
      <p:sp>
        <p:nvSpPr>
          <p:cNvPr id="5" name="object 5"/>
          <p:cNvSpPr/>
          <p:nvPr/>
        </p:nvSpPr>
        <p:spPr>
          <a:xfrm>
            <a:off x="1523999" y="6724649"/>
            <a:ext cx="914400" cy="19050"/>
          </a:xfrm>
          <a:custGeom>
            <a:avLst/>
            <a:gdLst/>
            <a:ahLst/>
            <a:cxnLst/>
            <a:rect l="l" t="t" r="r" b="b"/>
            <a:pathLst>
              <a:path w="914400" h="19050">
                <a:moveTo>
                  <a:pt x="914399" y="19049"/>
                </a:moveTo>
                <a:lnTo>
                  <a:pt x="0" y="19049"/>
                </a:lnTo>
                <a:lnTo>
                  <a:pt x="0" y="0"/>
                </a:lnTo>
                <a:lnTo>
                  <a:pt x="914399" y="0"/>
                </a:lnTo>
                <a:lnTo>
                  <a:pt x="914399" y="19049"/>
                </a:lnTo>
                <a:close/>
              </a:path>
            </a:pathLst>
          </a:custGeom>
          <a:solidFill>
            <a:srgbClr val="F1F5F9"/>
          </a:solidFill>
        </p:spPr>
        <p:txBody>
          <a:bodyPr wrap="square" lIns="0" tIns="0" rIns="0" bIns="0" rtlCol="0"/>
          <a:lstStyle/>
          <a:p/>
        </p:txBody>
      </p:sp>
      <p:sp>
        <p:nvSpPr>
          <p:cNvPr id="6" name="object 6"/>
          <p:cNvSpPr txBox="1"/>
          <p:nvPr/>
        </p:nvSpPr>
        <p:spPr>
          <a:xfrm>
            <a:off x="10921999" y="6643153"/>
            <a:ext cx="827405" cy="165100"/>
          </a:xfrm>
          <a:prstGeom prst="rect">
            <a:avLst/>
          </a:prstGeom>
        </p:spPr>
        <p:txBody>
          <a:bodyPr vert="horz" wrap="square" lIns="0" tIns="14604" rIns="0" bIns="0" rtlCol="0">
            <a:spAutoFit/>
          </a:bodyPr>
          <a:lstStyle/>
          <a:p>
            <a:pPr marL="12700">
              <a:lnSpc>
                <a:spcPct val="100000"/>
              </a:lnSpc>
              <a:spcBef>
                <a:spcPts val="115"/>
              </a:spcBef>
            </a:pPr>
            <a:r>
              <a:rPr sz="900" dirty="0">
                <a:solidFill>
                  <a:srgbClr val="A5B4FB"/>
                </a:solidFill>
                <a:latin typeface="Courier New" panose="02070309020205020404"/>
                <a:cs typeface="Courier New" panose="02070309020205020404"/>
              </a:rPr>
              <a:t>PAGE</a:t>
            </a:r>
            <a:r>
              <a:rPr sz="900" spc="-65" dirty="0">
                <a:solidFill>
                  <a:srgbClr val="A5B4FB"/>
                </a:solidFill>
                <a:latin typeface="Courier New" panose="02070309020205020404"/>
                <a:cs typeface="Courier New" panose="02070309020205020404"/>
              </a:rPr>
              <a:t> </a:t>
            </a:r>
            <a:r>
              <a:rPr sz="900" dirty="0">
                <a:solidFill>
                  <a:srgbClr val="A5B4FB"/>
                </a:solidFill>
                <a:latin typeface="Courier New" panose="02070309020205020404"/>
                <a:cs typeface="Courier New" panose="02070309020205020404"/>
              </a:rPr>
              <a:t>03</a:t>
            </a:r>
            <a:r>
              <a:rPr sz="900" spc="-55" dirty="0">
                <a:solidFill>
                  <a:srgbClr val="A5B4FB"/>
                </a:solidFill>
                <a:latin typeface="Courier New" panose="02070309020205020404"/>
                <a:cs typeface="Courier New" panose="02070309020205020404"/>
              </a:rPr>
              <a:t> </a:t>
            </a:r>
            <a:r>
              <a:rPr sz="900" dirty="0">
                <a:solidFill>
                  <a:srgbClr val="A5B4FB"/>
                </a:solidFill>
                <a:latin typeface="Courier New" panose="02070309020205020404"/>
                <a:cs typeface="Courier New" panose="02070309020205020404"/>
              </a:rPr>
              <a:t>/</a:t>
            </a:r>
            <a:r>
              <a:rPr sz="900" spc="-55" dirty="0">
                <a:solidFill>
                  <a:srgbClr val="A5B4FB"/>
                </a:solidFill>
                <a:latin typeface="Courier New" panose="02070309020205020404"/>
                <a:cs typeface="Courier New" panose="02070309020205020404"/>
              </a:rPr>
              <a:t> </a:t>
            </a:r>
            <a:r>
              <a:rPr sz="900" spc="-25" dirty="0">
                <a:solidFill>
                  <a:srgbClr val="A5B4FB"/>
                </a:solidFill>
                <a:latin typeface="Courier New" panose="02070309020205020404"/>
                <a:cs typeface="Courier New" panose="02070309020205020404"/>
              </a:rPr>
              <a:t>12</a:t>
            </a:r>
            <a:endParaRPr sz="900">
              <a:latin typeface="Courier New" panose="02070309020205020404"/>
              <a:cs typeface="Courier New" panose="02070309020205020404"/>
            </a:endParaRPr>
          </a:p>
        </p:txBody>
      </p:sp>
      <p:grpSp>
        <p:nvGrpSpPr>
          <p:cNvPr id="7" name="object 7"/>
          <p:cNvGrpSpPr/>
          <p:nvPr/>
        </p:nvGrpSpPr>
        <p:grpSpPr>
          <a:xfrm>
            <a:off x="457200" y="2952749"/>
            <a:ext cx="5448300" cy="2000250"/>
            <a:chOff x="457200" y="2952749"/>
            <a:chExt cx="5448300" cy="2000250"/>
          </a:xfrm>
        </p:grpSpPr>
        <p:sp>
          <p:nvSpPr>
            <p:cNvPr id="8" name="object 8"/>
            <p:cNvSpPr/>
            <p:nvPr/>
          </p:nvSpPr>
          <p:spPr>
            <a:xfrm>
              <a:off x="461962" y="2957512"/>
              <a:ext cx="5438775" cy="1990725"/>
            </a:xfrm>
            <a:custGeom>
              <a:avLst/>
              <a:gdLst/>
              <a:ahLst/>
              <a:cxnLst/>
              <a:rect l="l" t="t" r="r" b="b"/>
              <a:pathLst>
                <a:path w="5438775" h="1990725">
                  <a:moveTo>
                    <a:pt x="5336429" y="1990724"/>
                  </a:moveTo>
                  <a:lnTo>
                    <a:pt x="102345" y="1990724"/>
                  </a:lnTo>
                  <a:lnTo>
                    <a:pt x="95221" y="1990022"/>
                  </a:lnTo>
                  <a:lnTo>
                    <a:pt x="54661" y="1976259"/>
                  </a:lnTo>
                  <a:lnTo>
                    <a:pt x="22456" y="1948022"/>
                  </a:lnTo>
                  <a:lnTo>
                    <a:pt x="3507" y="1909610"/>
                  </a:lnTo>
                  <a:lnTo>
                    <a:pt x="0" y="1888379"/>
                  </a:lnTo>
                  <a:lnTo>
                    <a:pt x="0" y="1881187"/>
                  </a:lnTo>
                  <a:lnTo>
                    <a:pt x="0" y="102345"/>
                  </a:lnTo>
                  <a:lnTo>
                    <a:pt x="11090" y="60974"/>
                  </a:lnTo>
                  <a:lnTo>
                    <a:pt x="37168" y="26996"/>
                  </a:lnTo>
                  <a:lnTo>
                    <a:pt x="74264" y="5585"/>
                  </a:lnTo>
                  <a:lnTo>
                    <a:pt x="102345" y="0"/>
                  </a:lnTo>
                  <a:lnTo>
                    <a:pt x="5336429" y="0"/>
                  </a:lnTo>
                  <a:lnTo>
                    <a:pt x="5377799" y="11090"/>
                  </a:lnTo>
                  <a:lnTo>
                    <a:pt x="5411777" y="37168"/>
                  </a:lnTo>
                  <a:lnTo>
                    <a:pt x="5433188" y="74264"/>
                  </a:lnTo>
                  <a:lnTo>
                    <a:pt x="5438773" y="102345"/>
                  </a:lnTo>
                  <a:lnTo>
                    <a:pt x="5438773" y="1888379"/>
                  </a:lnTo>
                  <a:lnTo>
                    <a:pt x="5427683" y="1929749"/>
                  </a:lnTo>
                  <a:lnTo>
                    <a:pt x="5401605" y="1963727"/>
                  </a:lnTo>
                  <a:lnTo>
                    <a:pt x="5364509" y="1985138"/>
                  </a:lnTo>
                  <a:lnTo>
                    <a:pt x="5343552" y="1990022"/>
                  </a:lnTo>
                  <a:lnTo>
                    <a:pt x="5336429" y="1990724"/>
                  </a:lnTo>
                  <a:close/>
                </a:path>
              </a:pathLst>
            </a:custGeom>
            <a:solidFill>
              <a:srgbClr val="F7FAFB"/>
            </a:solidFill>
          </p:spPr>
          <p:txBody>
            <a:bodyPr wrap="square" lIns="0" tIns="0" rIns="0" bIns="0" rtlCol="0"/>
            <a:lstStyle/>
            <a:p/>
          </p:txBody>
        </p:sp>
        <p:sp>
          <p:nvSpPr>
            <p:cNvPr id="9" name="object 9"/>
            <p:cNvSpPr/>
            <p:nvPr/>
          </p:nvSpPr>
          <p:spPr>
            <a:xfrm>
              <a:off x="461962" y="2957512"/>
              <a:ext cx="5438775" cy="1990725"/>
            </a:xfrm>
            <a:custGeom>
              <a:avLst/>
              <a:gdLst/>
              <a:ahLst/>
              <a:cxnLst/>
              <a:rect l="l" t="t" r="r" b="b"/>
              <a:pathLst>
                <a:path w="5438775" h="1990725">
                  <a:moveTo>
                    <a:pt x="0" y="1881187"/>
                  </a:moveTo>
                  <a:lnTo>
                    <a:pt x="0" y="109537"/>
                  </a:lnTo>
                  <a:lnTo>
                    <a:pt x="0" y="102345"/>
                  </a:lnTo>
                  <a:lnTo>
                    <a:pt x="701" y="95221"/>
                  </a:lnTo>
                  <a:lnTo>
                    <a:pt x="2104" y="88167"/>
                  </a:lnTo>
                  <a:lnTo>
                    <a:pt x="3507" y="81113"/>
                  </a:lnTo>
                  <a:lnTo>
                    <a:pt x="5585" y="74264"/>
                  </a:lnTo>
                  <a:lnTo>
                    <a:pt x="8338" y="67619"/>
                  </a:lnTo>
                  <a:lnTo>
                    <a:pt x="11090" y="60974"/>
                  </a:lnTo>
                  <a:lnTo>
                    <a:pt x="14464" y="54661"/>
                  </a:lnTo>
                  <a:lnTo>
                    <a:pt x="18460" y="48681"/>
                  </a:lnTo>
                  <a:lnTo>
                    <a:pt x="22456" y="42701"/>
                  </a:lnTo>
                  <a:lnTo>
                    <a:pt x="26997" y="37168"/>
                  </a:lnTo>
                  <a:lnTo>
                    <a:pt x="32082" y="32082"/>
                  </a:lnTo>
                  <a:lnTo>
                    <a:pt x="37168" y="26996"/>
                  </a:lnTo>
                  <a:lnTo>
                    <a:pt x="42701" y="22456"/>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5329237" y="0"/>
                  </a:lnTo>
                  <a:lnTo>
                    <a:pt x="5336429" y="0"/>
                  </a:lnTo>
                  <a:lnTo>
                    <a:pt x="5343552" y="701"/>
                  </a:lnTo>
                  <a:lnTo>
                    <a:pt x="5384111" y="14464"/>
                  </a:lnTo>
                  <a:lnTo>
                    <a:pt x="5390092" y="18460"/>
                  </a:lnTo>
                  <a:lnTo>
                    <a:pt x="5396072" y="22456"/>
                  </a:lnTo>
                  <a:lnTo>
                    <a:pt x="5401605" y="26996"/>
                  </a:lnTo>
                  <a:lnTo>
                    <a:pt x="5406691" y="32082"/>
                  </a:lnTo>
                  <a:lnTo>
                    <a:pt x="5411777" y="37168"/>
                  </a:lnTo>
                  <a:lnTo>
                    <a:pt x="5416318" y="42701"/>
                  </a:lnTo>
                  <a:lnTo>
                    <a:pt x="5420314" y="48681"/>
                  </a:lnTo>
                  <a:lnTo>
                    <a:pt x="5424309" y="54661"/>
                  </a:lnTo>
                  <a:lnTo>
                    <a:pt x="5427683" y="60974"/>
                  </a:lnTo>
                  <a:lnTo>
                    <a:pt x="5430436" y="67619"/>
                  </a:lnTo>
                  <a:lnTo>
                    <a:pt x="5433188" y="74264"/>
                  </a:lnTo>
                  <a:lnTo>
                    <a:pt x="5435266" y="81113"/>
                  </a:lnTo>
                  <a:lnTo>
                    <a:pt x="5436668" y="88167"/>
                  </a:lnTo>
                  <a:lnTo>
                    <a:pt x="5438072" y="95221"/>
                  </a:lnTo>
                  <a:lnTo>
                    <a:pt x="5438773" y="102345"/>
                  </a:lnTo>
                  <a:lnTo>
                    <a:pt x="5438774" y="109537"/>
                  </a:lnTo>
                  <a:lnTo>
                    <a:pt x="5438774" y="1881187"/>
                  </a:lnTo>
                  <a:lnTo>
                    <a:pt x="5438773" y="1888379"/>
                  </a:lnTo>
                  <a:lnTo>
                    <a:pt x="5438072" y="1895502"/>
                  </a:lnTo>
                  <a:lnTo>
                    <a:pt x="5436668" y="1902556"/>
                  </a:lnTo>
                  <a:lnTo>
                    <a:pt x="5435266" y="1909610"/>
                  </a:lnTo>
                  <a:lnTo>
                    <a:pt x="5433188" y="1916460"/>
                  </a:lnTo>
                  <a:lnTo>
                    <a:pt x="5430436" y="1923104"/>
                  </a:lnTo>
                  <a:lnTo>
                    <a:pt x="5427683" y="1929749"/>
                  </a:lnTo>
                  <a:lnTo>
                    <a:pt x="5424309" y="1936062"/>
                  </a:lnTo>
                  <a:lnTo>
                    <a:pt x="5420313" y="1942042"/>
                  </a:lnTo>
                  <a:lnTo>
                    <a:pt x="5416317" y="1948022"/>
                  </a:lnTo>
                  <a:lnTo>
                    <a:pt x="5390092" y="1972263"/>
                  </a:lnTo>
                  <a:lnTo>
                    <a:pt x="5384111" y="1976259"/>
                  </a:lnTo>
                  <a:lnTo>
                    <a:pt x="5343552" y="1990022"/>
                  </a:lnTo>
                  <a:lnTo>
                    <a:pt x="5329237" y="1990724"/>
                  </a:lnTo>
                  <a:lnTo>
                    <a:pt x="109537" y="1990724"/>
                  </a:lnTo>
                  <a:lnTo>
                    <a:pt x="102345" y="1990724"/>
                  </a:lnTo>
                  <a:lnTo>
                    <a:pt x="95221" y="1990022"/>
                  </a:lnTo>
                  <a:lnTo>
                    <a:pt x="88167" y="1988619"/>
                  </a:lnTo>
                  <a:lnTo>
                    <a:pt x="81113" y="1987216"/>
                  </a:lnTo>
                  <a:lnTo>
                    <a:pt x="74264" y="1985138"/>
                  </a:lnTo>
                  <a:lnTo>
                    <a:pt x="67619" y="1982386"/>
                  </a:lnTo>
                  <a:lnTo>
                    <a:pt x="60974" y="1979633"/>
                  </a:lnTo>
                  <a:lnTo>
                    <a:pt x="26997" y="1953555"/>
                  </a:lnTo>
                  <a:lnTo>
                    <a:pt x="18460" y="1942042"/>
                  </a:lnTo>
                  <a:lnTo>
                    <a:pt x="14464" y="1936062"/>
                  </a:lnTo>
                  <a:lnTo>
                    <a:pt x="11090" y="1929749"/>
                  </a:lnTo>
                  <a:lnTo>
                    <a:pt x="8338" y="1923104"/>
                  </a:lnTo>
                  <a:lnTo>
                    <a:pt x="5585" y="1916460"/>
                  </a:lnTo>
                  <a:lnTo>
                    <a:pt x="3507" y="1909610"/>
                  </a:lnTo>
                  <a:lnTo>
                    <a:pt x="2104" y="1902556"/>
                  </a:lnTo>
                  <a:lnTo>
                    <a:pt x="701" y="1895502"/>
                  </a:lnTo>
                  <a:lnTo>
                    <a:pt x="0" y="1888379"/>
                  </a:lnTo>
                  <a:lnTo>
                    <a:pt x="0" y="1881187"/>
                  </a:lnTo>
                  <a:close/>
                </a:path>
              </a:pathLst>
            </a:custGeom>
            <a:ln w="9524">
              <a:solidFill>
                <a:srgbClr val="F1F5F9"/>
              </a:solidFill>
            </a:ln>
          </p:spPr>
          <p:txBody>
            <a:bodyPr wrap="square" lIns="0" tIns="0" rIns="0" bIns="0" rtlCol="0"/>
            <a:lstStyle/>
            <a:p/>
          </p:txBody>
        </p:sp>
        <p:pic>
          <p:nvPicPr>
            <p:cNvPr id="10" name="object 10"/>
            <p:cNvPicPr/>
            <p:nvPr/>
          </p:nvPicPr>
          <p:blipFill>
            <a:blip r:embed="rId1" cstate="print"/>
            <a:stretch>
              <a:fillRect/>
            </a:stretch>
          </p:blipFill>
          <p:spPr>
            <a:xfrm>
              <a:off x="711749" y="3244851"/>
              <a:ext cx="157651" cy="142873"/>
            </a:xfrm>
            <a:prstGeom prst="rect">
              <a:avLst/>
            </a:prstGeom>
          </p:spPr>
        </p:pic>
      </p:grpSp>
      <p:sp>
        <p:nvSpPr>
          <p:cNvPr id="11" name="object 11"/>
          <p:cNvSpPr/>
          <p:nvPr/>
        </p:nvSpPr>
        <p:spPr>
          <a:xfrm>
            <a:off x="457200" y="1228724"/>
            <a:ext cx="76200" cy="304800"/>
          </a:xfrm>
          <a:custGeom>
            <a:avLst/>
            <a:gdLst/>
            <a:ahLst/>
            <a:cxnLst/>
            <a:rect l="l" t="t" r="r" b="b"/>
            <a:pathLst>
              <a:path w="76200" h="304800">
                <a:moveTo>
                  <a:pt x="76199" y="304799"/>
                </a:moveTo>
                <a:lnTo>
                  <a:pt x="0" y="304799"/>
                </a:lnTo>
                <a:lnTo>
                  <a:pt x="0" y="0"/>
                </a:lnTo>
                <a:lnTo>
                  <a:pt x="76199" y="0"/>
                </a:lnTo>
                <a:lnTo>
                  <a:pt x="76199" y="304799"/>
                </a:lnTo>
                <a:close/>
              </a:path>
            </a:pathLst>
          </a:custGeom>
          <a:solidFill>
            <a:srgbClr val="4237CA"/>
          </a:solidFill>
        </p:spPr>
        <p:txBody>
          <a:bodyPr wrap="square" lIns="0" tIns="0" rIns="0" bIns="0" rtlCol="0"/>
          <a:lstStyle/>
          <a:p/>
        </p:txBody>
      </p:sp>
      <p:sp>
        <p:nvSpPr>
          <p:cNvPr id="12" name="object 12"/>
          <p:cNvSpPr txBox="1"/>
          <p:nvPr/>
        </p:nvSpPr>
        <p:spPr>
          <a:xfrm>
            <a:off x="634999" y="1186307"/>
            <a:ext cx="1625600" cy="335915"/>
          </a:xfrm>
          <a:prstGeom prst="rect">
            <a:avLst/>
          </a:prstGeom>
        </p:spPr>
        <p:txBody>
          <a:bodyPr vert="horz" wrap="square" lIns="0" tIns="16510" rIns="0" bIns="0" rtlCol="0">
            <a:spAutoFit/>
          </a:bodyPr>
          <a:lstStyle/>
          <a:p>
            <a:pPr marL="12700">
              <a:lnSpc>
                <a:spcPct val="100000"/>
              </a:lnSpc>
              <a:spcBef>
                <a:spcPts val="130"/>
              </a:spcBef>
            </a:pPr>
            <a:r>
              <a:rPr sz="2000" b="1" spc="-195" dirty="0">
                <a:solidFill>
                  <a:srgbClr val="1D293B"/>
                </a:solidFill>
                <a:latin typeface="微软雅黑" panose="020B0503020204020204" charset="-122"/>
                <a:cs typeface="微软雅黑" panose="020B0503020204020204" charset="-122"/>
              </a:rPr>
              <a:t>问题背景与痛点</a:t>
            </a:r>
            <a:endParaRPr sz="2000">
              <a:latin typeface="微软雅黑" panose="020B0503020204020204" charset="-122"/>
              <a:cs typeface="微软雅黑" panose="020B0503020204020204" charset="-122"/>
            </a:endParaRPr>
          </a:p>
        </p:txBody>
      </p:sp>
      <p:sp>
        <p:nvSpPr>
          <p:cNvPr id="13" name="object 13"/>
          <p:cNvSpPr txBox="1"/>
          <p:nvPr/>
        </p:nvSpPr>
        <p:spPr>
          <a:xfrm>
            <a:off x="444500" y="1746186"/>
            <a:ext cx="724535" cy="258445"/>
          </a:xfrm>
          <a:prstGeom prst="rect">
            <a:avLst/>
          </a:prstGeom>
        </p:spPr>
        <p:txBody>
          <a:bodyPr vert="horz" wrap="square" lIns="0" tIns="15875" rIns="0" bIns="0" rtlCol="0">
            <a:spAutoFit/>
          </a:bodyPr>
          <a:lstStyle/>
          <a:p>
            <a:pPr marL="12700">
              <a:lnSpc>
                <a:spcPct val="100000"/>
              </a:lnSpc>
              <a:spcBef>
                <a:spcPts val="125"/>
              </a:spcBef>
            </a:pPr>
            <a:r>
              <a:rPr sz="1500" b="1" spc="-120" dirty="0">
                <a:solidFill>
                  <a:srgbClr val="4E45E4"/>
                </a:solidFill>
                <a:latin typeface="Yu Gothic UI Semibold" panose="020B0700000000000000" charset="-128"/>
                <a:cs typeface="Yu Gothic UI Semibold" panose="020B0700000000000000" charset="-128"/>
              </a:rPr>
              <a:t>研究</a:t>
            </a:r>
            <a:r>
              <a:rPr sz="1500" b="1" spc="-120" dirty="0">
                <a:solidFill>
                  <a:srgbClr val="4E45E4"/>
                </a:solidFill>
                <a:latin typeface="微软雅黑" panose="020B0503020204020204" charset="-122"/>
                <a:cs typeface="微软雅黑" panose="020B0503020204020204" charset="-122"/>
              </a:rPr>
              <a:t>对</a:t>
            </a:r>
            <a:r>
              <a:rPr sz="1500" b="1" spc="-95" dirty="0">
                <a:solidFill>
                  <a:srgbClr val="4E45E4"/>
                </a:solidFill>
                <a:latin typeface="Yu Gothic UI Semibold" panose="020B0700000000000000" charset="-128"/>
                <a:cs typeface="Yu Gothic UI Semibold" panose="020B0700000000000000" charset="-128"/>
              </a:rPr>
              <a:t>象</a:t>
            </a:r>
            <a:endParaRPr sz="1500">
              <a:latin typeface="Yu Gothic UI Semibold" panose="020B0700000000000000" charset="-128"/>
              <a:cs typeface="Yu Gothic UI Semibold" panose="020B0700000000000000" charset="-128"/>
            </a:endParaRPr>
          </a:p>
        </p:txBody>
      </p:sp>
      <p:sp>
        <p:nvSpPr>
          <p:cNvPr id="14" name="object 14"/>
          <p:cNvSpPr txBox="1"/>
          <p:nvPr/>
        </p:nvSpPr>
        <p:spPr>
          <a:xfrm>
            <a:off x="444500" y="2040127"/>
            <a:ext cx="5445125" cy="654050"/>
          </a:xfrm>
          <a:prstGeom prst="rect">
            <a:avLst/>
          </a:prstGeom>
        </p:spPr>
        <p:txBody>
          <a:bodyPr vert="horz" wrap="square" lIns="0" tIns="12700" rIns="0" bIns="0" rtlCol="0">
            <a:spAutoFit/>
          </a:bodyPr>
          <a:lstStyle/>
          <a:p>
            <a:pPr marL="12700" marR="5080">
              <a:lnSpc>
                <a:spcPct val="121000"/>
              </a:lnSpc>
              <a:spcBef>
                <a:spcPts val="100"/>
              </a:spcBef>
            </a:pPr>
            <a:r>
              <a:rPr sz="1700" spc="-240" dirty="0">
                <a:solidFill>
                  <a:srgbClr val="334054"/>
                </a:solidFill>
                <a:latin typeface="宋体" panose="02010600030101010101" pitchFamily="2" charset="-122"/>
                <a:cs typeface="宋体" panose="02010600030101010101" pitchFamily="2" charset="-122"/>
              </a:rPr>
              <a:t>面向混合整数线性规划 </a:t>
            </a:r>
            <a:r>
              <a:rPr sz="1500" dirty="0">
                <a:solidFill>
                  <a:srgbClr val="334054"/>
                </a:solidFill>
                <a:latin typeface="Calibri" panose="020F0502020204030204"/>
                <a:cs typeface="Calibri" panose="020F0502020204030204"/>
              </a:rPr>
              <a:t>(</a:t>
            </a:r>
            <a:r>
              <a:rPr sz="1500" b="1" dirty="0">
                <a:solidFill>
                  <a:srgbClr val="372FA2"/>
                </a:solidFill>
                <a:latin typeface="Courier New" panose="02070309020205020404"/>
                <a:cs typeface="Courier New" panose="02070309020205020404"/>
              </a:rPr>
              <a:t>MILP</a:t>
            </a:r>
            <a:r>
              <a:rPr sz="1500" spc="-5" dirty="0">
                <a:solidFill>
                  <a:srgbClr val="334054"/>
                </a:solidFill>
                <a:latin typeface="Calibri" panose="020F0502020204030204"/>
                <a:cs typeface="Calibri" panose="020F0502020204030204"/>
              </a:rPr>
              <a:t>) </a:t>
            </a:r>
            <a:r>
              <a:rPr sz="1700" spc="-210" dirty="0">
                <a:solidFill>
                  <a:srgbClr val="334054"/>
                </a:solidFill>
                <a:latin typeface="宋体" panose="02010600030101010101" pitchFamily="2" charset="-122"/>
                <a:cs typeface="宋体" panose="02010600030101010101" pitchFamily="2" charset="-122"/>
              </a:rPr>
              <a:t>的精确求解，这是组合优化问题的</a:t>
            </a:r>
            <a:r>
              <a:rPr sz="1700" spc="-190" dirty="0">
                <a:solidFill>
                  <a:srgbClr val="334054"/>
                </a:solidFill>
                <a:latin typeface="宋体" panose="02010600030101010101" pitchFamily="2" charset="-122"/>
                <a:cs typeface="宋体" panose="02010600030101010101" pitchFamily="2" charset="-122"/>
              </a:rPr>
              <a:t>通用建模方式。</a:t>
            </a:r>
            <a:endParaRPr sz="1700">
              <a:latin typeface="宋体" panose="02010600030101010101" pitchFamily="2" charset="-122"/>
              <a:cs typeface="宋体" panose="02010600030101010101" pitchFamily="2" charset="-122"/>
            </a:endParaRPr>
          </a:p>
        </p:txBody>
      </p:sp>
      <p:sp>
        <p:nvSpPr>
          <p:cNvPr id="15" name="object 15"/>
          <p:cNvSpPr txBox="1"/>
          <p:nvPr/>
        </p:nvSpPr>
        <p:spPr>
          <a:xfrm>
            <a:off x="657224" y="3064522"/>
            <a:ext cx="4888865" cy="977900"/>
          </a:xfrm>
          <a:prstGeom prst="rect">
            <a:avLst/>
          </a:prstGeom>
        </p:spPr>
        <p:txBody>
          <a:bodyPr vert="horz" wrap="square" lIns="0" tIns="126365" rIns="0" bIns="0" rtlCol="0">
            <a:spAutoFit/>
          </a:bodyPr>
          <a:lstStyle/>
          <a:p>
            <a:pPr marL="304165">
              <a:lnSpc>
                <a:spcPct val="100000"/>
              </a:lnSpc>
              <a:spcBef>
                <a:spcPts val="995"/>
              </a:spcBef>
            </a:pPr>
            <a:r>
              <a:rPr sz="1500" b="1" spc="-150" dirty="0">
                <a:solidFill>
                  <a:srgbClr val="D97705"/>
                </a:solidFill>
                <a:latin typeface="微软雅黑" panose="020B0503020204020204" charset="-122"/>
                <a:cs typeface="微软雅黑" panose="020B0503020204020204" charset="-122"/>
              </a:rPr>
              <a:t>核</a:t>
            </a:r>
            <a:r>
              <a:rPr sz="1500" b="1" spc="-150" dirty="0">
                <a:solidFill>
                  <a:srgbClr val="D97705"/>
                </a:solidFill>
                <a:latin typeface="Yu Gothic UI Semibold" panose="020B0700000000000000" charset="-128"/>
                <a:cs typeface="Yu Gothic UI Semibold" panose="020B0700000000000000" charset="-128"/>
              </a:rPr>
              <a:t>心挑</a:t>
            </a:r>
            <a:r>
              <a:rPr sz="1500" b="1" spc="-150" dirty="0">
                <a:solidFill>
                  <a:srgbClr val="D97705"/>
                </a:solidFill>
                <a:latin typeface="微软雅黑" panose="020B0503020204020204" charset="-122"/>
                <a:cs typeface="微软雅黑" panose="020B0503020204020204" charset="-122"/>
              </a:rPr>
              <a:t>战</a:t>
            </a:r>
            <a:r>
              <a:rPr sz="1350" b="1" spc="-204" dirty="0">
                <a:solidFill>
                  <a:srgbClr val="D97705"/>
                </a:solidFill>
                <a:latin typeface="Verdana" panose="020B0604030504040204"/>
                <a:cs typeface="Verdana" panose="020B0604030504040204"/>
              </a:rPr>
              <a:t>: </a:t>
            </a:r>
            <a:r>
              <a:rPr sz="1500" b="1" spc="-150" dirty="0">
                <a:solidFill>
                  <a:srgbClr val="D97705"/>
                </a:solidFill>
                <a:latin typeface="Yu Gothic UI Semibold" panose="020B0700000000000000" charset="-128"/>
                <a:cs typeface="Yu Gothic UI Semibold" panose="020B0700000000000000" charset="-128"/>
              </a:rPr>
              <a:t>分</a:t>
            </a:r>
            <a:r>
              <a:rPr sz="1500" b="1" spc="-120" dirty="0">
                <a:solidFill>
                  <a:srgbClr val="D97705"/>
                </a:solidFill>
                <a:latin typeface="微软雅黑" panose="020B0503020204020204" charset="-122"/>
                <a:cs typeface="微软雅黑" panose="020B0503020204020204" charset="-122"/>
              </a:rPr>
              <a:t>支规则</a:t>
            </a:r>
            <a:endParaRPr sz="1500">
              <a:latin typeface="微软雅黑" panose="020B0503020204020204" charset="-122"/>
              <a:cs typeface="微软雅黑" panose="020B0503020204020204" charset="-122"/>
            </a:endParaRPr>
          </a:p>
          <a:p>
            <a:pPr marL="182880" marR="30480" indent="-145415">
              <a:lnSpc>
                <a:spcPct val="117000"/>
              </a:lnSpc>
              <a:spcBef>
                <a:spcPts val="600"/>
              </a:spcBef>
              <a:buClr>
                <a:srgbClr val="4237CA"/>
              </a:buClr>
              <a:buSzPct val="67000"/>
              <a:buFont typeface="Times New Roman" panose="02020603050405020304"/>
              <a:buChar char="●"/>
              <a:tabLst>
                <a:tab pos="182880" algn="l"/>
              </a:tabLst>
            </a:pPr>
            <a:r>
              <a:rPr sz="1350" b="1" spc="50" dirty="0">
                <a:solidFill>
                  <a:srgbClr val="0E1729"/>
                </a:solidFill>
                <a:latin typeface="Calibri" panose="020F0502020204030204"/>
                <a:cs typeface="Calibri" panose="020F0502020204030204"/>
              </a:rPr>
              <a:t>Strong </a:t>
            </a:r>
            <a:r>
              <a:rPr sz="1350" b="1" dirty="0">
                <a:solidFill>
                  <a:srgbClr val="0E1729"/>
                </a:solidFill>
                <a:latin typeface="Calibri" panose="020F0502020204030204"/>
                <a:cs typeface="Calibri" panose="020F0502020204030204"/>
              </a:rPr>
              <a:t>Branching: </a:t>
            </a:r>
            <a:r>
              <a:rPr sz="1500" spc="-150" dirty="0">
                <a:solidFill>
                  <a:srgbClr val="334054"/>
                </a:solidFill>
                <a:latin typeface="宋体" panose="02010600030101010101" pitchFamily="2" charset="-122"/>
                <a:cs typeface="宋体" panose="02010600030101010101" pitchFamily="2" charset="-122"/>
              </a:rPr>
              <a:t>决策极其精准，但计算成本高昂，难以在大</a:t>
            </a:r>
            <a:r>
              <a:rPr sz="1500" spc="-140" dirty="0">
                <a:solidFill>
                  <a:srgbClr val="334054"/>
                </a:solidFill>
                <a:latin typeface="宋体" panose="02010600030101010101" pitchFamily="2" charset="-122"/>
                <a:cs typeface="宋体" panose="02010600030101010101" pitchFamily="2" charset="-122"/>
              </a:rPr>
              <a:t>规模节点中普及。</a:t>
            </a:r>
            <a:endParaRPr sz="1500">
              <a:latin typeface="宋体" panose="02010600030101010101" pitchFamily="2" charset="-122"/>
              <a:cs typeface="宋体" panose="02010600030101010101" pitchFamily="2" charset="-122"/>
            </a:endParaRPr>
          </a:p>
        </p:txBody>
      </p:sp>
      <p:sp>
        <p:nvSpPr>
          <p:cNvPr id="16" name="object 16"/>
          <p:cNvSpPr txBox="1"/>
          <p:nvPr/>
        </p:nvSpPr>
        <p:spPr>
          <a:xfrm>
            <a:off x="682624" y="4131322"/>
            <a:ext cx="4876165" cy="558800"/>
          </a:xfrm>
          <a:prstGeom prst="rect">
            <a:avLst/>
          </a:prstGeom>
        </p:spPr>
        <p:txBody>
          <a:bodyPr vert="horz" wrap="square" lIns="0" tIns="12065" rIns="0" bIns="0" rtlCol="0">
            <a:spAutoFit/>
          </a:bodyPr>
          <a:lstStyle/>
          <a:p>
            <a:pPr marL="157480" marR="5080" indent="-145415">
              <a:lnSpc>
                <a:spcPct val="117000"/>
              </a:lnSpc>
              <a:spcBef>
                <a:spcPts val="95"/>
              </a:spcBef>
              <a:buClr>
                <a:srgbClr val="4237CA"/>
              </a:buClr>
              <a:buSzPct val="60000"/>
              <a:buFont typeface="Times New Roman" panose="02020603050405020304"/>
              <a:buChar char="●"/>
              <a:tabLst>
                <a:tab pos="157480" algn="l"/>
              </a:tabLst>
            </a:pPr>
            <a:r>
              <a:rPr sz="1500" b="1" spc="-150" dirty="0">
                <a:solidFill>
                  <a:srgbClr val="0E1729"/>
                </a:solidFill>
                <a:latin typeface="微软雅黑" panose="020B0503020204020204" charset="-122"/>
                <a:cs typeface="微软雅黑" panose="020B0503020204020204" charset="-122"/>
              </a:rPr>
              <a:t>论文定位</a:t>
            </a:r>
            <a:r>
              <a:rPr sz="1350" b="1" spc="-10" dirty="0">
                <a:solidFill>
                  <a:srgbClr val="0E1729"/>
                </a:solidFill>
                <a:latin typeface="Calibri" panose="020F0502020204030204"/>
                <a:cs typeface="Calibri" panose="020F0502020204030204"/>
              </a:rPr>
              <a:t>: </a:t>
            </a:r>
            <a:r>
              <a:rPr sz="1500" spc="-290" dirty="0">
                <a:solidFill>
                  <a:srgbClr val="334054"/>
                </a:solidFill>
                <a:latin typeface="宋体" panose="02010600030101010101" pitchFamily="2" charset="-122"/>
                <a:cs typeface="宋体" panose="02010600030101010101" pitchFamily="2" charset="-122"/>
              </a:rPr>
              <a:t>在 </a:t>
            </a:r>
            <a:r>
              <a:rPr sz="1350" dirty="0">
                <a:solidFill>
                  <a:srgbClr val="334054"/>
                </a:solidFill>
                <a:latin typeface="Calibri" panose="020F0502020204030204"/>
                <a:cs typeface="Calibri" panose="020F0502020204030204"/>
              </a:rPr>
              <a:t>SCIP </a:t>
            </a:r>
            <a:r>
              <a:rPr sz="1500" spc="-175" dirty="0">
                <a:solidFill>
                  <a:srgbClr val="334054"/>
                </a:solidFill>
                <a:latin typeface="宋体" panose="02010600030101010101" pitchFamily="2" charset="-122"/>
                <a:cs typeface="宋体" panose="02010600030101010101" pitchFamily="2" charset="-122"/>
              </a:rPr>
              <a:t>框架下，通过机器学习近似 </a:t>
            </a:r>
            <a:r>
              <a:rPr sz="1350" dirty="0">
                <a:solidFill>
                  <a:srgbClr val="334054"/>
                </a:solidFill>
                <a:latin typeface="Calibri" panose="020F0502020204030204"/>
                <a:cs typeface="Calibri" panose="020F0502020204030204"/>
              </a:rPr>
              <a:t>SB </a:t>
            </a:r>
            <a:r>
              <a:rPr sz="1500" spc="-150" dirty="0">
                <a:solidFill>
                  <a:srgbClr val="334054"/>
                </a:solidFill>
                <a:latin typeface="宋体" panose="02010600030101010101" pitchFamily="2" charset="-122"/>
                <a:cs typeface="宋体" panose="02010600030101010101" pitchFamily="2" charset="-122"/>
              </a:rPr>
              <a:t>策略，平衡决</a:t>
            </a:r>
            <a:r>
              <a:rPr sz="1500" spc="-140" dirty="0">
                <a:solidFill>
                  <a:srgbClr val="334054"/>
                </a:solidFill>
                <a:latin typeface="宋体" panose="02010600030101010101" pitchFamily="2" charset="-122"/>
                <a:cs typeface="宋体" panose="02010600030101010101" pitchFamily="2" charset="-122"/>
              </a:rPr>
              <a:t>策质量与效率。</a:t>
            </a:r>
            <a:endParaRPr sz="1500">
              <a:latin typeface="宋体" panose="02010600030101010101" pitchFamily="2" charset="-122"/>
              <a:cs typeface="宋体" panose="02010600030101010101" pitchFamily="2" charset="-122"/>
            </a:endParaRPr>
          </a:p>
        </p:txBody>
      </p:sp>
      <p:grpSp>
        <p:nvGrpSpPr>
          <p:cNvPr id="17" name="object 17"/>
          <p:cNvGrpSpPr/>
          <p:nvPr/>
        </p:nvGrpSpPr>
        <p:grpSpPr>
          <a:xfrm>
            <a:off x="6286499" y="1228724"/>
            <a:ext cx="5448300" cy="5114925"/>
            <a:chOff x="6286499" y="1228724"/>
            <a:chExt cx="5448300" cy="5114925"/>
          </a:xfrm>
        </p:grpSpPr>
        <p:sp>
          <p:nvSpPr>
            <p:cNvPr id="18" name="object 18"/>
            <p:cNvSpPr/>
            <p:nvPr/>
          </p:nvSpPr>
          <p:spPr>
            <a:xfrm>
              <a:off x="6286499" y="1228724"/>
              <a:ext cx="5448300" cy="5114925"/>
            </a:xfrm>
            <a:custGeom>
              <a:avLst/>
              <a:gdLst/>
              <a:ahLst/>
              <a:cxnLst/>
              <a:rect l="l" t="t" r="r" b="b"/>
              <a:pathLst>
                <a:path w="5448300" h="5114925">
                  <a:moveTo>
                    <a:pt x="5295899" y="5114924"/>
                  </a:moveTo>
                  <a:lnTo>
                    <a:pt x="152399" y="5114924"/>
                  </a:lnTo>
                  <a:lnTo>
                    <a:pt x="144912" y="5114741"/>
                  </a:lnTo>
                  <a:lnTo>
                    <a:pt x="101066" y="5106019"/>
                  </a:lnTo>
                  <a:lnTo>
                    <a:pt x="61607" y="5084928"/>
                  </a:lnTo>
                  <a:lnTo>
                    <a:pt x="29995" y="5053316"/>
                  </a:lnTo>
                  <a:lnTo>
                    <a:pt x="8904" y="5013857"/>
                  </a:lnTo>
                  <a:lnTo>
                    <a:pt x="183" y="4970011"/>
                  </a:lnTo>
                  <a:lnTo>
                    <a:pt x="0" y="4962524"/>
                  </a:lnTo>
                  <a:lnTo>
                    <a:pt x="0" y="152399"/>
                  </a:lnTo>
                  <a:lnTo>
                    <a:pt x="6560" y="108160"/>
                  </a:lnTo>
                  <a:lnTo>
                    <a:pt x="25684" y="67731"/>
                  </a:lnTo>
                  <a:lnTo>
                    <a:pt x="55717" y="34591"/>
                  </a:lnTo>
                  <a:lnTo>
                    <a:pt x="94079" y="11600"/>
                  </a:lnTo>
                  <a:lnTo>
                    <a:pt x="137461" y="732"/>
                  </a:lnTo>
                  <a:lnTo>
                    <a:pt x="152399" y="0"/>
                  </a:lnTo>
                  <a:lnTo>
                    <a:pt x="5295899" y="0"/>
                  </a:lnTo>
                  <a:lnTo>
                    <a:pt x="5340138" y="6560"/>
                  </a:lnTo>
                  <a:lnTo>
                    <a:pt x="5380567" y="25684"/>
                  </a:lnTo>
                  <a:lnTo>
                    <a:pt x="5413706" y="55717"/>
                  </a:lnTo>
                  <a:lnTo>
                    <a:pt x="5436698" y="94079"/>
                  </a:lnTo>
                  <a:lnTo>
                    <a:pt x="5447567" y="137461"/>
                  </a:lnTo>
                  <a:lnTo>
                    <a:pt x="5448299" y="152399"/>
                  </a:lnTo>
                  <a:lnTo>
                    <a:pt x="5448299" y="4962524"/>
                  </a:lnTo>
                  <a:lnTo>
                    <a:pt x="5441738" y="5006763"/>
                  </a:lnTo>
                  <a:lnTo>
                    <a:pt x="5422615" y="5047192"/>
                  </a:lnTo>
                  <a:lnTo>
                    <a:pt x="5392581" y="5080331"/>
                  </a:lnTo>
                  <a:lnTo>
                    <a:pt x="5354219" y="5103322"/>
                  </a:lnTo>
                  <a:lnTo>
                    <a:pt x="5310837" y="5114192"/>
                  </a:lnTo>
                  <a:lnTo>
                    <a:pt x="5295899" y="5114924"/>
                  </a:lnTo>
                  <a:close/>
                </a:path>
              </a:pathLst>
            </a:custGeom>
            <a:solidFill>
              <a:srgbClr val="312E81"/>
            </a:solidFill>
          </p:spPr>
          <p:txBody>
            <a:bodyPr wrap="square" lIns="0" tIns="0" rIns="0" bIns="0" rtlCol="0"/>
            <a:lstStyle/>
            <a:p/>
          </p:txBody>
        </p:sp>
        <p:sp>
          <p:nvSpPr>
            <p:cNvPr id="19" name="object 19"/>
            <p:cNvSpPr/>
            <p:nvPr/>
          </p:nvSpPr>
          <p:spPr>
            <a:xfrm>
              <a:off x="6286499" y="1228724"/>
              <a:ext cx="5448300" cy="581025"/>
            </a:xfrm>
            <a:custGeom>
              <a:avLst/>
              <a:gdLst/>
              <a:ahLst/>
              <a:cxnLst/>
              <a:rect l="l" t="t" r="r" b="b"/>
              <a:pathLst>
                <a:path w="5448300" h="581025">
                  <a:moveTo>
                    <a:pt x="5448299" y="581024"/>
                  </a:moveTo>
                  <a:lnTo>
                    <a:pt x="0" y="581024"/>
                  </a:lnTo>
                  <a:lnTo>
                    <a:pt x="0" y="152400"/>
                  </a:lnTo>
                  <a:lnTo>
                    <a:pt x="6524" y="108226"/>
                  </a:lnTo>
                  <a:lnTo>
                    <a:pt x="25659" y="67715"/>
                  </a:lnTo>
                  <a:lnTo>
                    <a:pt x="55764" y="34533"/>
                  </a:lnTo>
                  <a:lnTo>
                    <a:pt x="94077" y="11600"/>
                  </a:lnTo>
                  <a:lnTo>
                    <a:pt x="137386" y="725"/>
                  </a:lnTo>
                  <a:lnTo>
                    <a:pt x="5295899" y="0"/>
                  </a:lnTo>
                  <a:lnTo>
                    <a:pt x="5310912" y="725"/>
                  </a:lnTo>
                  <a:lnTo>
                    <a:pt x="5354220" y="11600"/>
                  </a:lnTo>
                  <a:lnTo>
                    <a:pt x="5392533" y="34533"/>
                  </a:lnTo>
                  <a:lnTo>
                    <a:pt x="5422638" y="67715"/>
                  </a:lnTo>
                  <a:lnTo>
                    <a:pt x="5441773" y="108226"/>
                  </a:lnTo>
                  <a:lnTo>
                    <a:pt x="5448299" y="152400"/>
                  </a:lnTo>
                  <a:lnTo>
                    <a:pt x="5448299" y="581024"/>
                  </a:lnTo>
                  <a:close/>
                </a:path>
              </a:pathLst>
            </a:custGeom>
            <a:solidFill>
              <a:srgbClr val="372FA2"/>
            </a:solidFill>
          </p:spPr>
          <p:txBody>
            <a:bodyPr wrap="square" lIns="0" tIns="0" rIns="0" bIns="0" rtlCol="0"/>
            <a:lstStyle/>
            <a:p/>
          </p:txBody>
        </p:sp>
        <p:sp>
          <p:nvSpPr>
            <p:cNvPr id="20" name="object 20"/>
            <p:cNvSpPr/>
            <p:nvPr/>
          </p:nvSpPr>
          <p:spPr>
            <a:xfrm>
              <a:off x="6286500" y="1800224"/>
              <a:ext cx="5448300" cy="9525"/>
            </a:xfrm>
            <a:custGeom>
              <a:avLst/>
              <a:gdLst/>
              <a:ahLst/>
              <a:cxnLst/>
              <a:rect l="l" t="t" r="r" b="b"/>
              <a:pathLst>
                <a:path w="5448300" h="9525">
                  <a:moveTo>
                    <a:pt x="5448299" y="9524"/>
                  </a:moveTo>
                  <a:lnTo>
                    <a:pt x="0" y="9524"/>
                  </a:lnTo>
                  <a:lnTo>
                    <a:pt x="0" y="0"/>
                  </a:lnTo>
                  <a:lnTo>
                    <a:pt x="5448299" y="0"/>
                  </a:lnTo>
                  <a:lnTo>
                    <a:pt x="5448299" y="9524"/>
                  </a:lnTo>
                  <a:close/>
                </a:path>
              </a:pathLst>
            </a:custGeom>
            <a:solidFill>
              <a:srgbClr val="4237CA"/>
            </a:solidFill>
          </p:spPr>
          <p:txBody>
            <a:bodyPr wrap="square" lIns="0" tIns="0" rIns="0" bIns="0" rtlCol="0"/>
            <a:lstStyle/>
            <a:p/>
          </p:txBody>
        </p:sp>
      </p:grpSp>
      <p:sp>
        <p:nvSpPr>
          <p:cNvPr id="21" name="object 21"/>
          <p:cNvSpPr txBox="1"/>
          <p:nvPr/>
        </p:nvSpPr>
        <p:spPr>
          <a:xfrm>
            <a:off x="6502399" y="1423784"/>
            <a:ext cx="1031240" cy="165100"/>
          </a:xfrm>
          <a:prstGeom prst="rect">
            <a:avLst/>
          </a:prstGeom>
        </p:spPr>
        <p:txBody>
          <a:bodyPr vert="horz" wrap="square" lIns="0" tIns="14605" rIns="0" bIns="0" rtlCol="0">
            <a:spAutoFit/>
          </a:bodyPr>
          <a:lstStyle/>
          <a:p>
            <a:pPr marL="12700">
              <a:lnSpc>
                <a:spcPct val="100000"/>
              </a:lnSpc>
              <a:spcBef>
                <a:spcPts val="115"/>
              </a:spcBef>
            </a:pPr>
            <a:r>
              <a:rPr sz="900" b="1" spc="55" dirty="0">
                <a:solidFill>
                  <a:srgbClr val="C7D1FE"/>
                </a:solidFill>
                <a:latin typeface="Courier New" panose="02070309020205020404"/>
                <a:cs typeface="Courier New" panose="02070309020205020404"/>
              </a:rPr>
              <a:t>FORMALIZATION</a:t>
            </a:r>
            <a:endParaRPr sz="900">
              <a:latin typeface="Courier New" panose="02070309020205020404"/>
              <a:cs typeface="Courier New" panose="02070309020205020404"/>
            </a:endParaRPr>
          </a:p>
        </p:txBody>
      </p:sp>
      <p:sp>
        <p:nvSpPr>
          <p:cNvPr id="22" name="object 22"/>
          <p:cNvSpPr txBox="1"/>
          <p:nvPr/>
        </p:nvSpPr>
        <p:spPr>
          <a:xfrm>
            <a:off x="9607549" y="1365186"/>
            <a:ext cx="1906270" cy="258445"/>
          </a:xfrm>
          <a:prstGeom prst="rect">
            <a:avLst/>
          </a:prstGeom>
        </p:spPr>
        <p:txBody>
          <a:bodyPr vert="horz" wrap="square" lIns="0" tIns="15875" rIns="0" bIns="0" rtlCol="0">
            <a:spAutoFit/>
          </a:bodyPr>
          <a:lstStyle/>
          <a:p>
            <a:pPr marL="12700">
              <a:lnSpc>
                <a:spcPct val="100000"/>
              </a:lnSpc>
              <a:spcBef>
                <a:spcPts val="125"/>
              </a:spcBef>
            </a:pPr>
            <a:r>
              <a:rPr sz="1500" spc="-185" dirty="0">
                <a:solidFill>
                  <a:srgbClr val="FFFFFF"/>
                </a:solidFill>
                <a:latin typeface="宋体" panose="02010600030101010101" pitchFamily="2" charset="-122"/>
                <a:cs typeface="宋体" panose="02010600030101010101" pitchFamily="2" charset="-122"/>
              </a:rPr>
              <a:t>混合整数线性规划 </a:t>
            </a:r>
            <a:r>
              <a:rPr sz="1350" spc="-10" dirty="0">
                <a:solidFill>
                  <a:srgbClr val="FFFFFF"/>
                </a:solidFill>
                <a:latin typeface="Calibri" panose="020F0502020204030204"/>
                <a:cs typeface="Calibri" panose="020F0502020204030204"/>
              </a:rPr>
              <a:t>(MILP)</a:t>
            </a:r>
            <a:endParaRPr sz="1350">
              <a:latin typeface="Calibri" panose="020F0502020204030204"/>
              <a:cs typeface="Calibri" panose="020F0502020204030204"/>
            </a:endParaRPr>
          </a:p>
        </p:txBody>
      </p:sp>
      <p:grpSp>
        <p:nvGrpSpPr>
          <p:cNvPr id="23" name="object 23"/>
          <p:cNvGrpSpPr/>
          <p:nvPr/>
        </p:nvGrpSpPr>
        <p:grpSpPr>
          <a:xfrm>
            <a:off x="6591300" y="5162549"/>
            <a:ext cx="2343150" cy="342900"/>
            <a:chOff x="6591300" y="5162549"/>
            <a:chExt cx="2343150" cy="342900"/>
          </a:xfrm>
        </p:grpSpPr>
        <p:sp>
          <p:nvSpPr>
            <p:cNvPr id="24" name="object 24"/>
            <p:cNvSpPr/>
            <p:nvPr/>
          </p:nvSpPr>
          <p:spPr>
            <a:xfrm>
              <a:off x="6591300" y="5162549"/>
              <a:ext cx="2343150" cy="342900"/>
            </a:xfrm>
            <a:custGeom>
              <a:avLst/>
              <a:gdLst/>
              <a:ahLst/>
              <a:cxnLst/>
              <a:rect l="l" t="t" r="r" b="b"/>
              <a:pathLst>
                <a:path w="2343150" h="342900">
                  <a:moveTo>
                    <a:pt x="2310102" y="342899"/>
                  </a:moveTo>
                  <a:lnTo>
                    <a:pt x="33047" y="342899"/>
                  </a:lnTo>
                  <a:lnTo>
                    <a:pt x="28187" y="341932"/>
                  </a:lnTo>
                  <a:lnTo>
                    <a:pt x="966" y="314711"/>
                  </a:lnTo>
                  <a:lnTo>
                    <a:pt x="0" y="309852"/>
                  </a:lnTo>
                  <a:lnTo>
                    <a:pt x="0" y="304799"/>
                  </a:lnTo>
                  <a:lnTo>
                    <a:pt x="0" y="33047"/>
                  </a:lnTo>
                  <a:lnTo>
                    <a:pt x="28187" y="966"/>
                  </a:lnTo>
                  <a:lnTo>
                    <a:pt x="33047" y="0"/>
                  </a:lnTo>
                  <a:lnTo>
                    <a:pt x="2310102" y="0"/>
                  </a:lnTo>
                  <a:lnTo>
                    <a:pt x="2342182" y="28187"/>
                  </a:lnTo>
                  <a:lnTo>
                    <a:pt x="2343149" y="33047"/>
                  </a:lnTo>
                  <a:lnTo>
                    <a:pt x="2343149" y="309852"/>
                  </a:lnTo>
                  <a:lnTo>
                    <a:pt x="2314961" y="341932"/>
                  </a:lnTo>
                  <a:lnTo>
                    <a:pt x="2310102" y="342899"/>
                  </a:lnTo>
                  <a:close/>
                </a:path>
              </a:pathLst>
            </a:custGeom>
            <a:solidFill>
              <a:srgbClr val="FFFFFF">
                <a:alpha val="5099"/>
              </a:srgbClr>
            </a:solidFill>
          </p:spPr>
          <p:txBody>
            <a:bodyPr wrap="square" lIns="0" tIns="0" rIns="0" bIns="0" rtlCol="0"/>
            <a:lstStyle/>
            <a:p/>
          </p:txBody>
        </p:sp>
        <p:pic>
          <p:nvPicPr>
            <p:cNvPr id="25" name="object 25"/>
            <p:cNvPicPr/>
            <p:nvPr/>
          </p:nvPicPr>
          <p:blipFill>
            <a:blip r:embed="rId2" cstate="print"/>
            <a:stretch>
              <a:fillRect/>
            </a:stretch>
          </p:blipFill>
          <p:spPr>
            <a:xfrm>
              <a:off x="6667499" y="5295899"/>
              <a:ext cx="76200" cy="76199"/>
            </a:xfrm>
            <a:prstGeom prst="rect">
              <a:avLst/>
            </a:prstGeom>
          </p:spPr>
        </p:pic>
      </p:grpSp>
      <p:sp>
        <p:nvSpPr>
          <p:cNvPr id="26" name="object 26"/>
          <p:cNvSpPr txBox="1"/>
          <p:nvPr/>
        </p:nvSpPr>
        <p:spPr>
          <a:xfrm>
            <a:off x="6807200" y="5218239"/>
            <a:ext cx="1100455" cy="206375"/>
          </a:xfrm>
          <a:prstGeom prst="rect">
            <a:avLst/>
          </a:prstGeom>
        </p:spPr>
        <p:txBody>
          <a:bodyPr vert="horz" wrap="square" lIns="0" tIns="17145" rIns="0" bIns="0" rtlCol="0">
            <a:spAutoFit/>
          </a:bodyPr>
          <a:lstStyle/>
          <a:p>
            <a:pPr marL="12700">
              <a:lnSpc>
                <a:spcPct val="100000"/>
              </a:lnSpc>
              <a:spcBef>
                <a:spcPts val="135"/>
              </a:spcBef>
            </a:pPr>
            <a:r>
              <a:rPr sz="950" spc="60" dirty="0">
                <a:solidFill>
                  <a:srgbClr val="C7D1FE"/>
                </a:solidFill>
                <a:latin typeface="Courier New" panose="02070309020205020404"/>
                <a:cs typeface="Courier New" panose="02070309020205020404"/>
              </a:rPr>
              <a:t>x</a:t>
            </a:r>
            <a:r>
              <a:rPr sz="950" spc="10" dirty="0">
                <a:solidFill>
                  <a:srgbClr val="C7D1FE"/>
                </a:solidFill>
                <a:latin typeface="Courier New" panose="02070309020205020404"/>
                <a:cs typeface="Courier New" panose="02070309020205020404"/>
              </a:rPr>
              <a:t> </a:t>
            </a:r>
            <a:r>
              <a:rPr sz="1050" spc="125" dirty="0">
                <a:solidFill>
                  <a:srgbClr val="C7D1FE"/>
                </a:solidFill>
                <a:latin typeface="Cambria" panose="02040503050406030204"/>
                <a:cs typeface="Cambria" panose="02040503050406030204"/>
              </a:rPr>
              <a:t>∈ ℤ</a:t>
            </a:r>
            <a:r>
              <a:rPr sz="950" spc="5" dirty="0">
                <a:solidFill>
                  <a:srgbClr val="C7D1FE"/>
                </a:solidFill>
                <a:latin typeface="Courier New" panose="02070309020205020404"/>
                <a:cs typeface="Courier New" panose="02070309020205020404"/>
              </a:rPr>
              <a:t>: </a:t>
            </a:r>
            <a:r>
              <a:rPr sz="1150" spc="-95" dirty="0">
                <a:solidFill>
                  <a:srgbClr val="C7D1FE"/>
                </a:solidFill>
                <a:latin typeface="宋体" panose="02010600030101010101" pitchFamily="2" charset="-122"/>
                <a:cs typeface="宋体" panose="02010600030101010101" pitchFamily="2" charset="-122"/>
              </a:rPr>
              <a:t>整数限制</a:t>
            </a:r>
            <a:endParaRPr sz="1150">
              <a:latin typeface="宋体" panose="02010600030101010101" pitchFamily="2" charset="-122"/>
              <a:cs typeface="宋体" panose="02010600030101010101" pitchFamily="2" charset="-122"/>
            </a:endParaRPr>
          </a:p>
        </p:txBody>
      </p:sp>
      <p:grpSp>
        <p:nvGrpSpPr>
          <p:cNvPr id="27" name="object 27"/>
          <p:cNvGrpSpPr/>
          <p:nvPr/>
        </p:nvGrpSpPr>
        <p:grpSpPr>
          <a:xfrm>
            <a:off x="9086850" y="5162549"/>
            <a:ext cx="2343150" cy="342900"/>
            <a:chOff x="9086850" y="5162549"/>
            <a:chExt cx="2343150" cy="342900"/>
          </a:xfrm>
        </p:grpSpPr>
        <p:sp>
          <p:nvSpPr>
            <p:cNvPr id="28" name="object 28"/>
            <p:cNvSpPr/>
            <p:nvPr/>
          </p:nvSpPr>
          <p:spPr>
            <a:xfrm>
              <a:off x="9086850" y="5162549"/>
              <a:ext cx="2343150" cy="342900"/>
            </a:xfrm>
            <a:custGeom>
              <a:avLst/>
              <a:gdLst/>
              <a:ahLst/>
              <a:cxnLst/>
              <a:rect l="l" t="t" r="r" b="b"/>
              <a:pathLst>
                <a:path w="2343150" h="342900">
                  <a:moveTo>
                    <a:pt x="2310101" y="342899"/>
                  </a:moveTo>
                  <a:lnTo>
                    <a:pt x="33047" y="342899"/>
                  </a:lnTo>
                  <a:lnTo>
                    <a:pt x="28187" y="341932"/>
                  </a:lnTo>
                  <a:lnTo>
                    <a:pt x="966" y="314711"/>
                  </a:lnTo>
                  <a:lnTo>
                    <a:pt x="0" y="309852"/>
                  </a:lnTo>
                  <a:lnTo>
                    <a:pt x="0" y="304799"/>
                  </a:lnTo>
                  <a:lnTo>
                    <a:pt x="0" y="33047"/>
                  </a:lnTo>
                  <a:lnTo>
                    <a:pt x="28187" y="966"/>
                  </a:lnTo>
                  <a:lnTo>
                    <a:pt x="33047" y="0"/>
                  </a:lnTo>
                  <a:lnTo>
                    <a:pt x="2310101" y="0"/>
                  </a:lnTo>
                  <a:lnTo>
                    <a:pt x="2342182" y="28187"/>
                  </a:lnTo>
                  <a:lnTo>
                    <a:pt x="2343149" y="33047"/>
                  </a:lnTo>
                  <a:lnTo>
                    <a:pt x="2343149" y="309852"/>
                  </a:lnTo>
                  <a:lnTo>
                    <a:pt x="2314961" y="341932"/>
                  </a:lnTo>
                  <a:lnTo>
                    <a:pt x="2310101" y="342899"/>
                  </a:lnTo>
                  <a:close/>
                </a:path>
              </a:pathLst>
            </a:custGeom>
            <a:solidFill>
              <a:srgbClr val="FFFFFF">
                <a:alpha val="5099"/>
              </a:srgbClr>
            </a:solidFill>
          </p:spPr>
          <p:txBody>
            <a:bodyPr wrap="square" lIns="0" tIns="0" rIns="0" bIns="0" rtlCol="0"/>
            <a:lstStyle/>
            <a:p/>
          </p:txBody>
        </p:sp>
        <p:pic>
          <p:nvPicPr>
            <p:cNvPr id="29" name="object 29"/>
            <p:cNvPicPr/>
            <p:nvPr/>
          </p:nvPicPr>
          <p:blipFill>
            <a:blip r:embed="rId3" cstate="print"/>
            <a:stretch>
              <a:fillRect/>
            </a:stretch>
          </p:blipFill>
          <p:spPr>
            <a:xfrm>
              <a:off x="9163049" y="5295899"/>
              <a:ext cx="76200" cy="76199"/>
            </a:xfrm>
            <a:prstGeom prst="rect">
              <a:avLst/>
            </a:prstGeom>
          </p:spPr>
        </p:pic>
      </p:grpSp>
      <p:sp>
        <p:nvSpPr>
          <p:cNvPr id="30" name="object 30"/>
          <p:cNvSpPr txBox="1"/>
          <p:nvPr/>
        </p:nvSpPr>
        <p:spPr>
          <a:xfrm>
            <a:off x="9302749" y="5218239"/>
            <a:ext cx="944244" cy="206375"/>
          </a:xfrm>
          <a:prstGeom prst="rect">
            <a:avLst/>
          </a:prstGeom>
        </p:spPr>
        <p:txBody>
          <a:bodyPr vert="horz" wrap="square" lIns="0" tIns="17145" rIns="0" bIns="0" rtlCol="0">
            <a:spAutoFit/>
          </a:bodyPr>
          <a:lstStyle/>
          <a:p>
            <a:pPr marL="12700">
              <a:lnSpc>
                <a:spcPct val="100000"/>
              </a:lnSpc>
              <a:spcBef>
                <a:spcPts val="135"/>
              </a:spcBef>
            </a:pPr>
            <a:r>
              <a:rPr sz="950" spc="80" dirty="0">
                <a:solidFill>
                  <a:srgbClr val="C7D1FE"/>
                </a:solidFill>
                <a:latin typeface="Courier New" panose="02070309020205020404"/>
                <a:cs typeface="Courier New" panose="02070309020205020404"/>
              </a:rPr>
              <a:t>c</a:t>
            </a:r>
            <a:r>
              <a:rPr sz="1050" spc="80" dirty="0">
                <a:solidFill>
                  <a:srgbClr val="C7D1FE"/>
                </a:solidFill>
                <a:latin typeface="Cambria" panose="02040503050406030204"/>
                <a:cs typeface="Cambria" panose="02040503050406030204"/>
              </a:rPr>
              <a:t>ᵀ</a:t>
            </a:r>
            <a:r>
              <a:rPr sz="950" spc="80" dirty="0">
                <a:solidFill>
                  <a:srgbClr val="C7D1FE"/>
                </a:solidFill>
                <a:latin typeface="Courier New" panose="02070309020205020404"/>
                <a:cs typeface="Courier New" panose="02070309020205020404"/>
              </a:rPr>
              <a:t>x</a:t>
            </a:r>
            <a:r>
              <a:rPr sz="950" spc="45" dirty="0">
                <a:solidFill>
                  <a:srgbClr val="C7D1FE"/>
                </a:solidFill>
                <a:latin typeface="Courier New" panose="02070309020205020404"/>
                <a:cs typeface="Courier New" panose="02070309020205020404"/>
              </a:rPr>
              <a:t>: </a:t>
            </a:r>
            <a:r>
              <a:rPr sz="1150" spc="-100" dirty="0">
                <a:solidFill>
                  <a:srgbClr val="C7D1FE"/>
                </a:solidFill>
                <a:latin typeface="宋体" panose="02010600030101010101" pitchFamily="2" charset="-122"/>
                <a:cs typeface="宋体" panose="02010600030101010101" pitchFamily="2" charset="-122"/>
              </a:rPr>
              <a:t>目标函数</a:t>
            </a:r>
            <a:endParaRPr sz="1150">
              <a:latin typeface="宋体" panose="02010600030101010101" pitchFamily="2" charset="-122"/>
              <a:cs typeface="宋体" panose="02010600030101010101" pitchFamily="2" charset="-122"/>
            </a:endParaRPr>
          </a:p>
        </p:txBody>
      </p:sp>
      <p:grpSp>
        <p:nvGrpSpPr>
          <p:cNvPr id="31" name="object 31"/>
          <p:cNvGrpSpPr/>
          <p:nvPr/>
        </p:nvGrpSpPr>
        <p:grpSpPr>
          <a:xfrm>
            <a:off x="6286500" y="5886449"/>
            <a:ext cx="5448300" cy="457200"/>
            <a:chOff x="6286500" y="5886449"/>
            <a:chExt cx="5448300" cy="457200"/>
          </a:xfrm>
        </p:grpSpPr>
        <p:sp>
          <p:nvSpPr>
            <p:cNvPr id="32" name="object 32"/>
            <p:cNvSpPr/>
            <p:nvPr/>
          </p:nvSpPr>
          <p:spPr>
            <a:xfrm>
              <a:off x="6286500" y="5886449"/>
              <a:ext cx="5448300" cy="457200"/>
            </a:xfrm>
            <a:custGeom>
              <a:avLst/>
              <a:gdLst/>
              <a:ahLst/>
              <a:cxnLst/>
              <a:rect l="l" t="t" r="r" b="b"/>
              <a:pathLst>
                <a:path w="5448300" h="457200">
                  <a:moveTo>
                    <a:pt x="5295899" y="457199"/>
                  </a:moveTo>
                  <a:lnTo>
                    <a:pt x="152400" y="457199"/>
                  </a:lnTo>
                  <a:lnTo>
                    <a:pt x="137386" y="456474"/>
                  </a:lnTo>
                  <a:lnTo>
                    <a:pt x="94078" y="445598"/>
                  </a:lnTo>
                  <a:lnTo>
                    <a:pt x="55764" y="422665"/>
                  </a:lnTo>
                  <a:lnTo>
                    <a:pt x="25659" y="389484"/>
                  </a:lnTo>
                  <a:lnTo>
                    <a:pt x="6524" y="348972"/>
                  </a:lnTo>
                  <a:lnTo>
                    <a:pt x="0" y="304800"/>
                  </a:lnTo>
                  <a:lnTo>
                    <a:pt x="0" y="0"/>
                  </a:lnTo>
                  <a:lnTo>
                    <a:pt x="5448299" y="0"/>
                  </a:lnTo>
                  <a:lnTo>
                    <a:pt x="5448299" y="304800"/>
                  </a:lnTo>
                  <a:lnTo>
                    <a:pt x="5441774" y="348972"/>
                  </a:lnTo>
                  <a:lnTo>
                    <a:pt x="5422639" y="389484"/>
                  </a:lnTo>
                  <a:lnTo>
                    <a:pt x="5392533" y="422665"/>
                  </a:lnTo>
                  <a:lnTo>
                    <a:pt x="5354220" y="445598"/>
                  </a:lnTo>
                  <a:lnTo>
                    <a:pt x="5310912" y="456474"/>
                  </a:lnTo>
                  <a:lnTo>
                    <a:pt x="5295899" y="457199"/>
                  </a:lnTo>
                  <a:close/>
                </a:path>
              </a:pathLst>
            </a:custGeom>
            <a:solidFill>
              <a:srgbClr val="1D1B4A">
                <a:alpha val="50199"/>
              </a:srgbClr>
            </a:solidFill>
          </p:spPr>
          <p:txBody>
            <a:bodyPr wrap="square" lIns="0" tIns="0" rIns="0" bIns="0" rtlCol="0"/>
            <a:lstStyle/>
            <a:p/>
          </p:txBody>
        </p:sp>
        <p:sp>
          <p:nvSpPr>
            <p:cNvPr id="33" name="object 33"/>
            <p:cNvSpPr/>
            <p:nvPr/>
          </p:nvSpPr>
          <p:spPr>
            <a:xfrm>
              <a:off x="6591299" y="6095999"/>
              <a:ext cx="457200" cy="38100"/>
            </a:xfrm>
            <a:custGeom>
              <a:avLst/>
              <a:gdLst/>
              <a:ahLst/>
              <a:cxnLst/>
              <a:rect l="l" t="t" r="r" b="b"/>
              <a:pathLst>
                <a:path w="457200" h="38100">
                  <a:moveTo>
                    <a:pt x="457199" y="38099"/>
                  </a:moveTo>
                  <a:lnTo>
                    <a:pt x="0" y="38099"/>
                  </a:lnTo>
                  <a:lnTo>
                    <a:pt x="0" y="0"/>
                  </a:lnTo>
                  <a:lnTo>
                    <a:pt x="457199" y="0"/>
                  </a:lnTo>
                  <a:lnTo>
                    <a:pt x="457199" y="38099"/>
                  </a:lnTo>
                  <a:close/>
                </a:path>
              </a:pathLst>
            </a:custGeom>
            <a:solidFill>
              <a:srgbClr val="3B81F5"/>
            </a:solidFill>
          </p:spPr>
          <p:txBody>
            <a:bodyPr wrap="square" lIns="0" tIns="0" rIns="0" bIns="0" rtlCol="0"/>
            <a:lstStyle/>
            <a:p/>
          </p:txBody>
        </p:sp>
        <p:sp>
          <p:nvSpPr>
            <p:cNvPr id="34" name="object 34"/>
            <p:cNvSpPr/>
            <p:nvPr/>
          </p:nvSpPr>
          <p:spPr>
            <a:xfrm>
              <a:off x="7086599" y="6095999"/>
              <a:ext cx="152400" cy="38100"/>
            </a:xfrm>
            <a:custGeom>
              <a:avLst/>
              <a:gdLst/>
              <a:ahLst/>
              <a:cxnLst/>
              <a:rect l="l" t="t" r="r" b="b"/>
              <a:pathLst>
                <a:path w="152400" h="38100">
                  <a:moveTo>
                    <a:pt x="152399" y="38099"/>
                  </a:moveTo>
                  <a:lnTo>
                    <a:pt x="0" y="38099"/>
                  </a:lnTo>
                  <a:lnTo>
                    <a:pt x="0" y="0"/>
                  </a:lnTo>
                  <a:lnTo>
                    <a:pt x="152399" y="0"/>
                  </a:lnTo>
                  <a:lnTo>
                    <a:pt x="152399" y="38099"/>
                  </a:lnTo>
                  <a:close/>
                </a:path>
              </a:pathLst>
            </a:custGeom>
            <a:solidFill>
              <a:srgbClr val="FFFFFF">
                <a:alpha val="19999"/>
              </a:srgbClr>
            </a:solidFill>
          </p:spPr>
          <p:txBody>
            <a:bodyPr wrap="square" lIns="0" tIns="0" rIns="0" bIns="0" rtlCol="0"/>
            <a:lstStyle/>
            <a:p/>
          </p:txBody>
        </p:sp>
      </p:grpSp>
      <p:sp>
        <p:nvSpPr>
          <p:cNvPr id="35" name="object 35"/>
          <p:cNvSpPr txBox="1"/>
          <p:nvPr/>
        </p:nvSpPr>
        <p:spPr>
          <a:xfrm>
            <a:off x="9417049" y="6017807"/>
            <a:ext cx="2027555" cy="172720"/>
          </a:xfrm>
          <a:prstGeom prst="rect">
            <a:avLst/>
          </a:prstGeom>
        </p:spPr>
        <p:txBody>
          <a:bodyPr vert="horz" wrap="square" lIns="0" tIns="14604" rIns="0" bIns="0" rtlCol="0">
            <a:spAutoFit/>
          </a:bodyPr>
          <a:lstStyle/>
          <a:p>
            <a:pPr marL="12700">
              <a:lnSpc>
                <a:spcPct val="100000"/>
              </a:lnSpc>
              <a:spcBef>
                <a:spcPts val="115"/>
              </a:spcBef>
            </a:pPr>
            <a:r>
              <a:rPr sz="950" spc="-40" dirty="0">
                <a:solidFill>
                  <a:srgbClr val="818BF7"/>
                </a:solidFill>
                <a:latin typeface="Lucida Console" panose="020B0609040504020204"/>
                <a:cs typeface="Lucida Console" panose="020B0609040504020204"/>
              </a:rPr>
              <a:t>Standard</a:t>
            </a:r>
            <a:r>
              <a:rPr sz="950" spc="-75" dirty="0">
                <a:solidFill>
                  <a:srgbClr val="818BF7"/>
                </a:solidFill>
                <a:latin typeface="Lucida Console" panose="020B0609040504020204"/>
                <a:cs typeface="Lucida Console" panose="020B0609040504020204"/>
              </a:rPr>
              <a:t> </a:t>
            </a:r>
            <a:r>
              <a:rPr sz="950" spc="-45" dirty="0">
                <a:solidFill>
                  <a:srgbClr val="818BF7"/>
                </a:solidFill>
                <a:latin typeface="Lucida Console" panose="020B0609040504020204"/>
                <a:cs typeface="Lucida Console" panose="020B0609040504020204"/>
              </a:rPr>
              <a:t>Mathematical</a:t>
            </a:r>
            <a:r>
              <a:rPr sz="950" spc="-75" dirty="0">
                <a:solidFill>
                  <a:srgbClr val="818BF7"/>
                </a:solidFill>
                <a:latin typeface="Lucida Console" panose="020B0609040504020204"/>
                <a:cs typeface="Lucida Console" panose="020B0609040504020204"/>
              </a:rPr>
              <a:t> </a:t>
            </a:r>
            <a:r>
              <a:rPr sz="950" spc="-30" dirty="0">
                <a:solidFill>
                  <a:srgbClr val="818BF7"/>
                </a:solidFill>
                <a:latin typeface="Lucida Console" panose="020B0609040504020204"/>
                <a:cs typeface="Lucida Console" panose="020B0609040504020204"/>
              </a:rPr>
              <a:t>Form</a:t>
            </a:r>
            <a:r>
              <a:rPr sz="950" spc="-70" dirty="0">
                <a:solidFill>
                  <a:srgbClr val="818BF7"/>
                </a:solidFill>
                <a:latin typeface="Lucida Console" panose="020B0609040504020204"/>
                <a:cs typeface="Lucida Console" panose="020B0609040504020204"/>
              </a:rPr>
              <a:t> </a:t>
            </a:r>
            <a:r>
              <a:rPr sz="950" spc="-85" dirty="0">
                <a:solidFill>
                  <a:srgbClr val="818BF7"/>
                </a:solidFill>
                <a:latin typeface="Lucida Console" panose="020B0609040504020204"/>
                <a:cs typeface="Lucida Console" panose="020B0609040504020204"/>
              </a:rPr>
              <a:t>(1)</a:t>
            </a:r>
            <a:endParaRPr sz="950">
              <a:latin typeface="Lucida Console" panose="020B0609040504020204"/>
              <a:cs typeface="Lucida Console" panose="020B0609040504020204"/>
            </a:endParaRPr>
          </a:p>
        </p:txBody>
      </p:sp>
      <p:sp>
        <p:nvSpPr>
          <p:cNvPr id="36" name="object 36"/>
          <p:cNvSpPr txBox="1"/>
          <p:nvPr/>
        </p:nvSpPr>
        <p:spPr>
          <a:xfrm>
            <a:off x="7035800" y="2168849"/>
            <a:ext cx="3947160" cy="265430"/>
          </a:xfrm>
          <a:prstGeom prst="rect">
            <a:avLst/>
          </a:prstGeom>
        </p:spPr>
        <p:txBody>
          <a:bodyPr vert="horz" wrap="square" lIns="0" tIns="15240" rIns="0" bIns="0" rtlCol="0">
            <a:spAutoFit/>
          </a:bodyPr>
          <a:lstStyle/>
          <a:p>
            <a:pPr marL="12700">
              <a:lnSpc>
                <a:spcPct val="100000"/>
              </a:lnSpc>
              <a:spcBef>
                <a:spcPts val="120"/>
              </a:spcBef>
            </a:pPr>
            <a:r>
              <a:rPr sz="1400" i="1" dirty="0">
                <a:solidFill>
                  <a:srgbClr val="DFE7FF"/>
                </a:solidFill>
                <a:latin typeface="Calibri" panose="020F0502020204030204"/>
                <a:cs typeface="Calibri" panose="020F0502020204030204"/>
              </a:rPr>
              <a:t>"</a:t>
            </a:r>
            <a:r>
              <a:rPr sz="1550" spc="-204" dirty="0">
                <a:solidFill>
                  <a:srgbClr val="DFE7FF"/>
                </a:solidFill>
                <a:latin typeface="宋体" panose="02010600030101010101" pitchFamily="2" charset="-122"/>
                <a:cs typeface="宋体" panose="02010600030101010101" pitchFamily="2" charset="-122"/>
              </a:rPr>
              <a:t>许多组合优化问题可以统一建模为以下数学形式：</a:t>
            </a:r>
            <a:r>
              <a:rPr sz="1400" i="1" spc="-55" dirty="0">
                <a:solidFill>
                  <a:srgbClr val="DFE7FF"/>
                </a:solidFill>
                <a:latin typeface="Calibri" panose="020F0502020204030204"/>
                <a:cs typeface="Calibri" panose="020F0502020204030204"/>
              </a:rPr>
              <a:t>"</a:t>
            </a:r>
            <a:endParaRPr sz="1400">
              <a:latin typeface="Calibri" panose="020F0502020204030204"/>
              <a:cs typeface="Calibri" panose="020F0502020204030204"/>
            </a:endParaRPr>
          </a:p>
        </p:txBody>
      </p:sp>
      <p:grpSp>
        <p:nvGrpSpPr>
          <p:cNvPr id="37" name="object 37"/>
          <p:cNvGrpSpPr/>
          <p:nvPr/>
        </p:nvGrpSpPr>
        <p:grpSpPr>
          <a:xfrm>
            <a:off x="6591299" y="2762249"/>
            <a:ext cx="5143500" cy="2095500"/>
            <a:chOff x="6591299" y="2762249"/>
            <a:chExt cx="5143500" cy="2095500"/>
          </a:xfrm>
        </p:grpSpPr>
        <p:sp>
          <p:nvSpPr>
            <p:cNvPr id="38" name="object 38"/>
            <p:cNvSpPr/>
            <p:nvPr/>
          </p:nvSpPr>
          <p:spPr>
            <a:xfrm>
              <a:off x="6591299" y="2762249"/>
              <a:ext cx="5143500" cy="2095500"/>
            </a:xfrm>
            <a:custGeom>
              <a:avLst/>
              <a:gdLst/>
              <a:ahLst/>
              <a:cxnLst/>
              <a:rect l="l" t="t" r="r" b="b"/>
              <a:pathLst>
                <a:path w="5143500" h="2095500">
                  <a:moveTo>
                    <a:pt x="5143499" y="2095499"/>
                  </a:moveTo>
                  <a:lnTo>
                    <a:pt x="76199" y="2095499"/>
                  </a:lnTo>
                  <a:lnTo>
                    <a:pt x="68693" y="2095137"/>
                  </a:lnTo>
                  <a:lnTo>
                    <a:pt x="27882" y="2078232"/>
                  </a:lnTo>
                  <a:lnTo>
                    <a:pt x="3262" y="2041386"/>
                  </a:lnTo>
                  <a:lnTo>
                    <a:pt x="0" y="2019299"/>
                  </a:lnTo>
                  <a:lnTo>
                    <a:pt x="0" y="76199"/>
                  </a:lnTo>
                  <a:lnTo>
                    <a:pt x="12830" y="33857"/>
                  </a:lnTo>
                  <a:lnTo>
                    <a:pt x="47039" y="5800"/>
                  </a:lnTo>
                  <a:lnTo>
                    <a:pt x="76199" y="0"/>
                  </a:lnTo>
                  <a:lnTo>
                    <a:pt x="5143499" y="0"/>
                  </a:lnTo>
                  <a:lnTo>
                    <a:pt x="5143499" y="2095499"/>
                  </a:lnTo>
                  <a:close/>
                </a:path>
              </a:pathLst>
            </a:custGeom>
            <a:solidFill>
              <a:srgbClr val="FFFFFF">
                <a:alpha val="5099"/>
              </a:srgbClr>
            </a:solidFill>
          </p:spPr>
          <p:txBody>
            <a:bodyPr wrap="square" lIns="0" tIns="0" rIns="0" bIns="0" rtlCol="0"/>
            <a:lstStyle/>
            <a:p/>
          </p:txBody>
        </p:sp>
        <p:sp>
          <p:nvSpPr>
            <p:cNvPr id="39" name="object 39"/>
            <p:cNvSpPr/>
            <p:nvPr/>
          </p:nvSpPr>
          <p:spPr>
            <a:xfrm>
              <a:off x="6591299" y="2762250"/>
              <a:ext cx="5143500" cy="2095500"/>
            </a:xfrm>
            <a:custGeom>
              <a:avLst/>
              <a:gdLst/>
              <a:ahLst/>
              <a:cxnLst/>
              <a:rect l="l" t="t" r="r" b="b"/>
              <a:pathLst>
                <a:path w="5143500" h="2095500">
                  <a:moveTo>
                    <a:pt x="5143499" y="2095499"/>
                  </a:moveTo>
                  <a:lnTo>
                    <a:pt x="76199" y="2095499"/>
                  </a:lnTo>
                  <a:lnTo>
                    <a:pt x="68693" y="2095137"/>
                  </a:lnTo>
                  <a:lnTo>
                    <a:pt x="27882" y="2078232"/>
                  </a:lnTo>
                  <a:lnTo>
                    <a:pt x="3262" y="2041386"/>
                  </a:lnTo>
                  <a:lnTo>
                    <a:pt x="0" y="2019299"/>
                  </a:lnTo>
                  <a:lnTo>
                    <a:pt x="0" y="76199"/>
                  </a:lnTo>
                  <a:lnTo>
                    <a:pt x="12830" y="33857"/>
                  </a:lnTo>
                  <a:lnTo>
                    <a:pt x="47039" y="5800"/>
                  </a:lnTo>
                  <a:lnTo>
                    <a:pt x="76199" y="0"/>
                  </a:lnTo>
                  <a:lnTo>
                    <a:pt x="5143499" y="0"/>
                  </a:lnTo>
                  <a:lnTo>
                    <a:pt x="5143499" y="9524"/>
                  </a:lnTo>
                  <a:lnTo>
                    <a:pt x="71822" y="9524"/>
                  </a:lnTo>
                  <a:lnTo>
                    <a:pt x="67486" y="9952"/>
                  </a:lnTo>
                  <a:lnTo>
                    <a:pt x="32149" y="25957"/>
                  </a:lnTo>
                  <a:lnTo>
                    <a:pt x="11660" y="58898"/>
                  </a:lnTo>
                  <a:lnTo>
                    <a:pt x="9524" y="71822"/>
                  </a:lnTo>
                  <a:lnTo>
                    <a:pt x="9524" y="2023677"/>
                  </a:lnTo>
                  <a:lnTo>
                    <a:pt x="23194" y="2059982"/>
                  </a:lnTo>
                  <a:lnTo>
                    <a:pt x="54729" y="2082574"/>
                  </a:lnTo>
                  <a:lnTo>
                    <a:pt x="71822" y="2085974"/>
                  </a:lnTo>
                  <a:lnTo>
                    <a:pt x="5143499" y="2085974"/>
                  </a:lnTo>
                  <a:lnTo>
                    <a:pt x="5143499" y="2095499"/>
                  </a:lnTo>
                  <a:close/>
                </a:path>
              </a:pathLst>
            </a:custGeom>
            <a:solidFill>
              <a:srgbClr val="FFFFFF">
                <a:alpha val="10198"/>
              </a:srgbClr>
            </a:solidFill>
          </p:spPr>
          <p:txBody>
            <a:bodyPr wrap="square" lIns="0" tIns="0" rIns="0" bIns="0" rtlCol="0"/>
            <a:lstStyle/>
            <a:p/>
          </p:txBody>
        </p:sp>
      </p:grpSp>
      <p:sp>
        <p:nvSpPr>
          <p:cNvPr id="40" name="object 40"/>
          <p:cNvSpPr txBox="1"/>
          <p:nvPr/>
        </p:nvSpPr>
        <p:spPr>
          <a:xfrm>
            <a:off x="8930977" y="4023143"/>
            <a:ext cx="2783840" cy="223520"/>
          </a:xfrm>
          <a:prstGeom prst="rect">
            <a:avLst/>
          </a:prstGeom>
        </p:spPr>
        <p:txBody>
          <a:bodyPr vert="horz" wrap="square" lIns="0" tIns="12065" rIns="0" bIns="0" rtlCol="0">
            <a:spAutoFit/>
          </a:bodyPr>
          <a:lstStyle/>
          <a:p>
            <a:pPr marL="12700">
              <a:lnSpc>
                <a:spcPct val="100000"/>
              </a:lnSpc>
              <a:spcBef>
                <a:spcPts val="95"/>
              </a:spcBef>
            </a:pPr>
            <a:r>
              <a:rPr sz="1300" spc="-20" dirty="0">
                <a:solidFill>
                  <a:srgbClr val="FFFFFF"/>
                </a:solidFill>
                <a:latin typeface="Lucida Console" panose="020B0609040504020204"/>
                <a:cs typeface="Lucida Console" panose="020B0609040504020204"/>
              </a:rPr>
              <a:t>\times</a:t>
            </a:r>
            <a:r>
              <a:rPr sz="1300" spc="-75" dirty="0">
                <a:solidFill>
                  <a:srgbClr val="FFFFFF"/>
                </a:solidFill>
                <a:latin typeface="Lucida Console" panose="020B0609040504020204"/>
                <a:cs typeface="Lucida Console" panose="020B0609040504020204"/>
              </a:rPr>
              <a:t> </a:t>
            </a:r>
            <a:r>
              <a:rPr sz="1300" spc="-50" dirty="0">
                <a:solidFill>
                  <a:srgbClr val="FFFFFF"/>
                </a:solidFill>
                <a:latin typeface="Lucida Console" panose="020B0609040504020204"/>
                <a:cs typeface="Lucida Console" panose="020B0609040504020204"/>
              </a:rPr>
              <a:t>\mathbb{R}^{n-</a:t>
            </a:r>
            <a:r>
              <a:rPr sz="1300" dirty="0">
                <a:solidFill>
                  <a:srgbClr val="FFFFFF"/>
                </a:solidFill>
                <a:latin typeface="Lucida Console" panose="020B0609040504020204"/>
                <a:cs typeface="Lucida Console" panose="020B0609040504020204"/>
              </a:rPr>
              <a:t>p}</a:t>
            </a:r>
            <a:r>
              <a:rPr sz="1300" spc="-75" dirty="0">
                <a:solidFill>
                  <a:srgbClr val="FFFFFF"/>
                </a:solidFill>
                <a:latin typeface="Lucida Console" panose="020B0609040504020204"/>
                <a:cs typeface="Lucida Console" panose="020B0609040504020204"/>
              </a:rPr>
              <a:t> </a:t>
            </a:r>
            <a:r>
              <a:rPr sz="1300" spc="-25" dirty="0">
                <a:solidFill>
                  <a:srgbClr val="FFFFFF"/>
                </a:solidFill>
                <a:latin typeface="Lucida Console" panose="020B0609040504020204"/>
                <a:cs typeface="Lucida Console" panose="020B0609040504020204"/>
              </a:rPr>
              <a:t>\righ</a:t>
            </a:r>
            <a:endParaRPr sz="1300">
              <a:latin typeface="Lucida Console" panose="020B0609040504020204"/>
              <a:cs typeface="Lucida Console" panose="020B0609040504020204"/>
            </a:endParaRPr>
          </a:p>
        </p:txBody>
      </p:sp>
      <p:sp>
        <p:nvSpPr>
          <p:cNvPr id="41" name="object 41"/>
          <p:cNvSpPr txBox="1"/>
          <p:nvPr/>
        </p:nvSpPr>
        <p:spPr>
          <a:xfrm>
            <a:off x="6930727" y="3077760"/>
            <a:ext cx="1926589" cy="1397000"/>
          </a:xfrm>
          <a:prstGeom prst="rect">
            <a:avLst/>
          </a:prstGeom>
        </p:spPr>
        <p:txBody>
          <a:bodyPr vert="horz" wrap="square" lIns="0" tIns="43180" rIns="0" bIns="0" rtlCol="0">
            <a:spAutoFit/>
          </a:bodyPr>
          <a:lstStyle/>
          <a:p>
            <a:pPr marL="12700">
              <a:lnSpc>
                <a:spcPct val="100000"/>
              </a:lnSpc>
              <a:spcBef>
                <a:spcPts val="340"/>
              </a:spcBef>
            </a:pPr>
            <a:r>
              <a:rPr sz="1300" spc="-35" dirty="0">
                <a:solidFill>
                  <a:srgbClr val="FFFFFF"/>
                </a:solidFill>
                <a:latin typeface="Lucida Console" panose="020B0609040504020204"/>
                <a:cs typeface="Lucida Console" panose="020B0609040504020204"/>
              </a:rPr>
              <a:t>\[\arg\min_x</a:t>
            </a:r>
            <a:r>
              <a:rPr sz="1300" spc="-110" dirty="0">
                <a:solidFill>
                  <a:srgbClr val="FFFFFF"/>
                </a:solidFill>
                <a:latin typeface="Lucida Console" panose="020B0609040504020204"/>
                <a:cs typeface="Lucida Console" panose="020B0609040504020204"/>
              </a:rPr>
              <a:t> </a:t>
            </a:r>
            <a:r>
              <a:rPr sz="1300" spc="-10" dirty="0">
                <a:solidFill>
                  <a:srgbClr val="FFFFFF"/>
                </a:solidFill>
                <a:latin typeface="Lucida Console" panose="020B0609040504020204"/>
                <a:cs typeface="Lucida Console" panose="020B0609040504020204"/>
              </a:rPr>
              <a:t>\left\</a:t>
            </a:r>
            <a:endParaRPr sz="1300">
              <a:latin typeface="Lucida Console" panose="020B0609040504020204"/>
              <a:cs typeface="Lucida Console" panose="020B0609040504020204"/>
            </a:endParaRPr>
          </a:p>
          <a:p>
            <a:pPr marL="12700" marR="481965">
              <a:lnSpc>
                <a:spcPct val="115000"/>
              </a:lnSpc>
            </a:pPr>
            <a:r>
              <a:rPr sz="1300" dirty="0">
                <a:solidFill>
                  <a:srgbClr val="FFFFFF"/>
                </a:solidFill>
                <a:latin typeface="Lucida Console" panose="020B0609040504020204"/>
                <a:cs typeface="Lucida Console" panose="020B0609040504020204"/>
              </a:rPr>
              <a:t>{</a:t>
            </a:r>
            <a:r>
              <a:rPr sz="1300" spc="-105" dirty="0">
                <a:solidFill>
                  <a:srgbClr val="FFFFFF"/>
                </a:solidFill>
                <a:latin typeface="Lucida Console" panose="020B0609040504020204"/>
                <a:cs typeface="Lucida Console" panose="020B0609040504020204"/>
              </a:rPr>
              <a:t> </a:t>
            </a:r>
            <a:r>
              <a:rPr sz="1300" spc="-20" dirty="0">
                <a:solidFill>
                  <a:srgbClr val="FFFFFF"/>
                </a:solidFill>
                <a:latin typeface="Lucida Console" panose="020B0609040504020204"/>
                <a:cs typeface="Lucida Console" panose="020B0609040504020204"/>
              </a:rPr>
              <a:t>c^\top</a:t>
            </a:r>
            <a:r>
              <a:rPr sz="1300" spc="-105"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x</a:t>
            </a:r>
            <a:r>
              <a:rPr sz="1300" spc="-105" dirty="0">
                <a:solidFill>
                  <a:srgbClr val="FFFFFF"/>
                </a:solidFill>
                <a:latin typeface="Lucida Console" panose="020B0609040504020204"/>
                <a:cs typeface="Lucida Console" panose="020B0609040504020204"/>
              </a:rPr>
              <a:t> </a:t>
            </a:r>
            <a:r>
              <a:rPr sz="1300" spc="-60" dirty="0">
                <a:solidFill>
                  <a:srgbClr val="FFFFFF"/>
                </a:solidFill>
                <a:latin typeface="Lucida Console" panose="020B0609040504020204"/>
                <a:cs typeface="Lucida Console" panose="020B0609040504020204"/>
              </a:rPr>
              <a:t>\mid </a:t>
            </a:r>
            <a:r>
              <a:rPr sz="1300" dirty="0">
                <a:solidFill>
                  <a:srgbClr val="FFFFFF"/>
                </a:solidFill>
                <a:latin typeface="Lucida Console" panose="020B0609040504020204"/>
                <a:cs typeface="Lucida Console" panose="020B0609040504020204"/>
              </a:rPr>
              <a:t>Ax</a:t>
            </a:r>
            <a:r>
              <a:rPr sz="1300" spc="-140"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\le</a:t>
            </a:r>
            <a:r>
              <a:rPr sz="1300" spc="-135" dirty="0">
                <a:solidFill>
                  <a:srgbClr val="FFFFFF"/>
                </a:solidFill>
                <a:latin typeface="Lucida Console" panose="020B0609040504020204"/>
                <a:cs typeface="Lucida Console" panose="020B0609040504020204"/>
              </a:rPr>
              <a:t> </a:t>
            </a:r>
            <a:r>
              <a:rPr sz="1300" spc="-25" dirty="0">
                <a:solidFill>
                  <a:srgbClr val="FFFFFF"/>
                </a:solidFill>
                <a:latin typeface="Lucida Console" panose="020B0609040504020204"/>
                <a:cs typeface="Lucida Console" panose="020B0609040504020204"/>
              </a:rPr>
              <a:t>b,</a:t>
            </a:r>
            <a:endParaRPr sz="1300">
              <a:latin typeface="Lucida Console" panose="020B0609040504020204"/>
              <a:cs typeface="Lucida Console" panose="020B0609040504020204"/>
            </a:endParaRPr>
          </a:p>
          <a:p>
            <a:pPr marL="12700">
              <a:lnSpc>
                <a:spcPct val="100000"/>
              </a:lnSpc>
              <a:spcBef>
                <a:spcPts val="240"/>
              </a:spcBef>
            </a:pPr>
            <a:r>
              <a:rPr sz="1300" dirty="0">
                <a:solidFill>
                  <a:srgbClr val="FFFFFF"/>
                </a:solidFill>
                <a:latin typeface="Lucida Console" panose="020B0609040504020204"/>
                <a:cs typeface="Lucida Console" panose="020B0609040504020204"/>
              </a:rPr>
              <a:t>\</a:t>
            </a:r>
            <a:r>
              <a:rPr sz="1300" spc="-110"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l</a:t>
            </a:r>
            <a:r>
              <a:rPr sz="1300" spc="-110"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\le</a:t>
            </a:r>
            <a:r>
              <a:rPr sz="1300" spc="-110"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x</a:t>
            </a:r>
            <a:r>
              <a:rPr sz="1300" spc="-105"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\le</a:t>
            </a:r>
            <a:r>
              <a:rPr sz="1300" spc="-110" dirty="0">
                <a:solidFill>
                  <a:srgbClr val="FFFFFF"/>
                </a:solidFill>
                <a:latin typeface="Lucida Console" panose="020B0609040504020204"/>
                <a:cs typeface="Lucida Console" panose="020B0609040504020204"/>
              </a:rPr>
              <a:t> </a:t>
            </a:r>
            <a:r>
              <a:rPr sz="1300" spc="-25" dirty="0">
                <a:solidFill>
                  <a:srgbClr val="FFFFFF"/>
                </a:solidFill>
                <a:latin typeface="Lucida Console" panose="020B0609040504020204"/>
                <a:cs typeface="Lucida Console" panose="020B0609040504020204"/>
              </a:rPr>
              <a:t>u,</a:t>
            </a:r>
            <a:endParaRPr sz="1300">
              <a:latin typeface="Lucida Console" panose="020B0609040504020204"/>
              <a:cs typeface="Lucida Console" panose="020B0609040504020204"/>
            </a:endParaRPr>
          </a:p>
          <a:p>
            <a:pPr marL="12700">
              <a:lnSpc>
                <a:spcPct val="100000"/>
              </a:lnSpc>
              <a:spcBef>
                <a:spcPts val="240"/>
              </a:spcBef>
            </a:pPr>
            <a:r>
              <a:rPr sz="1300" dirty="0">
                <a:solidFill>
                  <a:srgbClr val="FFFFFF"/>
                </a:solidFill>
                <a:latin typeface="Lucida Console" panose="020B0609040504020204"/>
                <a:cs typeface="Lucida Console" panose="020B0609040504020204"/>
              </a:rPr>
              <a:t>\</a:t>
            </a:r>
            <a:r>
              <a:rPr sz="1300" spc="-105"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x</a:t>
            </a:r>
            <a:r>
              <a:rPr sz="1300" spc="-105" dirty="0">
                <a:solidFill>
                  <a:srgbClr val="FFFFFF"/>
                </a:solidFill>
                <a:latin typeface="Lucida Console" panose="020B0609040504020204"/>
                <a:cs typeface="Lucida Console" panose="020B0609040504020204"/>
              </a:rPr>
              <a:t> </a:t>
            </a:r>
            <a:r>
              <a:rPr sz="1300" dirty="0">
                <a:solidFill>
                  <a:srgbClr val="FFFFFF"/>
                </a:solidFill>
                <a:latin typeface="Lucida Console" panose="020B0609040504020204"/>
                <a:cs typeface="Lucida Console" panose="020B0609040504020204"/>
              </a:rPr>
              <a:t>\in</a:t>
            </a:r>
            <a:r>
              <a:rPr sz="1300" spc="-100" dirty="0">
                <a:solidFill>
                  <a:srgbClr val="FFFFFF"/>
                </a:solidFill>
                <a:latin typeface="Lucida Console" panose="020B0609040504020204"/>
                <a:cs typeface="Lucida Console" panose="020B0609040504020204"/>
              </a:rPr>
              <a:t> </a:t>
            </a:r>
            <a:r>
              <a:rPr sz="1300" spc="-45" dirty="0">
                <a:solidFill>
                  <a:srgbClr val="FFFFFF"/>
                </a:solidFill>
                <a:latin typeface="Lucida Console" panose="020B0609040504020204"/>
                <a:cs typeface="Lucida Console" panose="020B0609040504020204"/>
              </a:rPr>
              <a:t>\mathbb{Z}^p</a:t>
            </a:r>
            <a:endParaRPr sz="1300">
              <a:latin typeface="Lucida Console" panose="020B0609040504020204"/>
              <a:cs typeface="Lucida Console" panose="020B0609040504020204"/>
            </a:endParaRPr>
          </a:p>
          <a:p>
            <a:pPr marL="12700">
              <a:lnSpc>
                <a:spcPct val="100000"/>
              </a:lnSpc>
              <a:spcBef>
                <a:spcPts val="240"/>
              </a:spcBef>
            </a:pPr>
            <a:r>
              <a:rPr sz="1300" spc="-10" dirty="0">
                <a:solidFill>
                  <a:srgbClr val="FFFFFF"/>
                </a:solidFill>
                <a:latin typeface="Lucida Console" panose="020B0609040504020204"/>
                <a:cs typeface="Lucida Console" panose="020B0609040504020204"/>
              </a:rPr>
              <a:t>\tag{1}\]</a:t>
            </a:r>
            <a:endParaRPr sz="1300">
              <a:latin typeface="Lucida Console" panose="020B0609040504020204"/>
              <a:cs typeface="Lucida Console" panose="020B0609040504020204"/>
            </a:endParaRPr>
          </a:p>
        </p:txBody>
      </p:sp>
      <p:grpSp>
        <p:nvGrpSpPr>
          <p:cNvPr id="42" name="object 42"/>
          <p:cNvGrpSpPr/>
          <p:nvPr/>
        </p:nvGrpSpPr>
        <p:grpSpPr>
          <a:xfrm>
            <a:off x="0" y="6667500"/>
            <a:ext cx="12192000" cy="523875"/>
            <a:chOff x="0" y="6667500"/>
            <a:chExt cx="12192000" cy="523875"/>
          </a:xfrm>
        </p:grpSpPr>
        <p:sp>
          <p:nvSpPr>
            <p:cNvPr id="43" name="object 43"/>
            <p:cNvSpPr/>
            <p:nvPr/>
          </p:nvSpPr>
          <p:spPr>
            <a:xfrm>
              <a:off x="0" y="6972299"/>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44" name="object 44"/>
            <p:cNvSpPr/>
            <p:nvPr/>
          </p:nvSpPr>
          <p:spPr>
            <a:xfrm>
              <a:off x="11791937" y="7058025"/>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45" name="object 45"/>
            <p:cNvSpPr/>
            <p:nvPr/>
          </p:nvSpPr>
          <p:spPr>
            <a:xfrm>
              <a:off x="11982447" y="7058024"/>
              <a:ext cx="57150" cy="57150"/>
            </a:xfrm>
            <a:custGeom>
              <a:avLst/>
              <a:gdLst/>
              <a:ahLst/>
              <a:cxnLst/>
              <a:rect l="l" t="t" r="r" b="b"/>
              <a:pathLst>
                <a:path w="57150" h="57150">
                  <a:moveTo>
                    <a:pt x="32365" y="57149"/>
                  </a:moveTo>
                  <a:lnTo>
                    <a:pt x="24784" y="57149"/>
                  </a:lnTo>
                  <a:lnTo>
                    <a:pt x="21139" y="56423"/>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46" name="object 46"/>
            <p:cNvPicPr/>
            <p:nvPr/>
          </p:nvPicPr>
          <p:blipFill>
            <a:blip r:embed="rId4" cstate="print"/>
            <a:stretch>
              <a:fillRect/>
            </a:stretch>
          </p:blipFill>
          <p:spPr>
            <a:xfrm>
              <a:off x="9896474" y="6667500"/>
              <a:ext cx="342899" cy="342899"/>
            </a:xfrm>
            <a:prstGeom prst="rect">
              <a:avLst/>
            </a:prstGeom>
          </p:spPr>
        </p:pic>
      </p:grpSp>
      <p:sp>
        <p:nvSpPr>
          <p:cNvPr id="47" name="object 47"/>
          <p:cNvSpPr txBox="1"/>
          <p:nvPr/>
        </p:nvSpPr>
        <p:spPr>
          <a:xfrm>
            <a:off x="10325942" y="6726386"/>
            <a:ext cx="1590675" cy="196215"/>
          </a:xfrm>
          <a:prstGeom prst="rect">
            <a:avLst/>
          </a:prstGeom>
        </p:spPr>
        <p:txBody>
          <a:bodyPr vert="horz" wrap="square" lIns="0" tIns="0" rIns="0" bIns="0" rtlCol="0">
            <a:spAutoFit/>
          </a:bodyPr>
          <a:lstStyle/>
          <a:p>
            <a:pPr marL="12700">
              <a:lnSpc>
                <a:spcPts val="1425"/>
              </a:lnSpc>
            </a:pPr>
            <a:r>
              <a:rPr sz="1200" b="1" dirty="0">
                <a:latin typeface="Arial" panose="020B0604020202020204"/>
                <a:cs typeface="Arial" panose="020B0604020202020204"/>
              </a:rPr>
              <a:t>Powered</a:t>
            </a:r>
            <a:r>
              <a:rPr sz="1200" b="1" spc="100" dirty="0">
                <a:latin typeface="Arial" panose="020B0604020202020204"/>
                <a:cs typeface="Arial" panose="020B0604020202020204"/>
              </a:rPr>
              <a:t> </a:t>
            </a:r>
            <a:r>
              <a:rPr sz="1200" b="1" dirty="0">
                <a:latin typeface="Arial" panose="020B0604020202020204"/>
                <a:cs typeface="Arial" panose="020B0604020202020204"/>
              </a:rPr>
              <a:t>By</a:t>
            </a:r>
            <a:r>
              <a:rPr sz="1200" b="1" spc="105" dirty="0">
                <a:latin typeface="Arial" panose="020B0604020202020204"/>
                <a:cs typeface="Arial" panose="020B0604020202020204"/>
              </a:rPr>
              <a:t> </a:t>
            </a:r>
            <a:r>
              <a:rPr sz="1200" b="1" spc="-10" dirty="0">
                <a:latin typeface="Arial" panose="020B0604020202020204"/>
                <a:cs typeface="Arial" panose="020B0604020202020204"/>
              </a:rPr>
              <a:t>Tosea.ai</a:t>
            </a:r>
            <a:endParaRPr sz="1200">
              <a:latin typeface="Arial" panose="020B0604020202020204"/>
              <a:cs typeface="Arial" panose="020B0604020202020204"/>
            </a:endParaRPr>
          </a:p>
        </p:txBody>
      </p:sp>
      <p:sp>
        <p:nvSpPr>
          <p:cNvPr id="48" name="object 48"/>
          <p:cNvSpPr txBox="1"/>
          <p:nvPr/>
        </p:nvSpPr>
        <p:spPr>
          <a:xfrm>
            <a:off x="139699" y="7008071"/>
            <a:ext cx="295275" cy="131445"/>
          </a:xfrm>
          <a:prstGeom prst="rect">
            <a:avLst/>
          </a:prstGeom>
        </p:spPr>
        <p:txBody>
          <a:bodyPr vert="horz" wrap="square" lIns="0" tIns="1905" rIns="0" bIns="0" rtlCol="0">
            <a:spAutoFit/>
          </a:bodyPr>
          <a:lstStyle/>
          <a:p>
            <a:pPr marL="12700">
              <a:lnSpc>
                <a:spcPct val="100000"/>
              </a:lnSpc>
              <a:spcBef>
                <a:spcPts val="15"/>
              </a:spcBef>
            </a:pPr>
            <a:r>
              <a:rPr sz="750" spc="-10" dirty="0">
                <a:solidFill>
                  <a:srgbClr val="FFFFFF"/>
                </a:solidFill>
                <a:latin typeface="Times New Roman" panose="02020603050405020304"/>
                <a:cs typeface="Times New Roman" panose="02020603050405020304"/>
              </a:rPr>
              <a:t>Author</a:t>
            </a:r>
            <a:endParaRPr sz="750">
              <a:latin typeface="Times New Roman" panose="02020603050405020304"/>
              <a:cs typeface="Times New Roman" panose="02020603050405020304"/>
            </a:endParaRPr>
          </a:p>
        </p:txBody>
      </p:sp>
      <p:sp>
        <p:nvSpPr>
          <p:cNvPr id="49" name="object 49"/>
          <p:cNvSpPr txBox="1"/>
          <p:nvPr/>
        </p:nvSpPr>
        <p:spPr>
          <a:xfrm>
            <a:off x="562074" y="7008071"/>
            <a:ext cx="311150" cy="131445"/>
          </a:xfrm>
          <a:prstGeom prst="rect">
            <a:avLst/>
          </a:prstGeom>
        </p:spPr>
        <p:txBody>
          <a:bodyPr vert="horz" wrap="square" lIns="0" tIns="1905" rIns="0" bIns="0" rtlCol="0">
            <a:spAutoFit/>
          </a:bodyPr>
          <a:lstStyle/>
          <a:p>
            <a:pPr marL="12700">
              <a:lnSpc>
                <a:spcPct val="100000"/>
              </a:lnSpc>
              <a:spcBef>
                <a:spcPts val="15"/>
              </a:spcBef>
            </a:pPr>
            <a:r>
              <a:rPr sz="750" spc="-10" dirty="0">
                <a:solidFill>
                  <a:srgbClr val="FFFFFF"/>
                </a:solidFill>
                <a:latin typeface="Times New Roman" panose="02020603050405020304"/>
                <a:cs typeface="Times New Roman" panose="02020603050405020304"/>
              </a:rPr>
              <a:t>Section</a:t>
            </a:r>
            <a:endParaRPr sz="75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247522"/>
            <a:ext cx="2082800" cy="490855"/>
          </a:xfrm>
          <a:prstGeom prst="rect">
            <a:avLst/>
          </a:prstGeom>
        </p:spPr>
        <p:txBody>
          <a:bodyPr vert="horz" wrap="square" lIns="0" tIns="12700" rIns="0" bIns="0" rtlCol="0">
            <a:spAutoFit/>
          </a:bodyPr>
          <a:lstStyle/>
          <a:p>
            <a:pPr marL="12700">
              <a:lnSpc>
                <a:spcPct val="100000"/>
              </a:lnSpc>
              <a:spcBef>
                <a:spcPts val="100"/>
              </a:spcBef>
            </a:pPr>
            <a:r>
              <a:rPr sz="3050" spc="-380" dirty="0">
                <a:latin typeface="微软雅黑" panose="020B0503020204020204" charset="-122"/>
                <a:cs typeface="微软雅黑" panose="020B0503020204020204" charset="-122"/>
              </a:rPr>
              <a:t>核心研究问题</a:t>
            </a:r>
            <a:endParaRPr sz="3050">
              <a:latin typeface="微软雅黑" panose="020B0503020204020204" charset="-122"/>
              <a:cs typeface="微软雅黑" panose="020B0503020204020204" charset="-122"/>
            </a:endParaRPr>
          </a:p>
        </p:txBody>
      </p:sp>
      <p:grpSp>
        <p:nvGrpSpPr>
          <p:cNvPr id="3" name="object 3"/>
          <p:cNvGrpSpPr/>
          <p:nvPr/>
        </p:nvGrpSpPr>
        <p:grpSpPr>
          <a:xfrm>
            <a:off x="457200" y="1228724"/>
            <a:ext cx="6448425" cy="1343025"/>
            <a:chOff x="457200" y="1228724"/>
            <a:chExt cx="6448425" cy="1343025"/>
          </a:xfrm>
        </p:grpSpPr>
        <p:sp>
          <p:nvSpPr>
            <p:cNvPr id="4" name="object 4"/>
            <p:cNvSpPr/>
            <p:nvPr/>
          </p:nvSpPr>
          <p:spPr>
            <a:xfrm>
              <a:off x="476249" y="1228724"/>
              <a:ext cx="6429375" cy="1343025"/>
            </a:xfrm>
            <a:custGeom>
              <a:avLst/>
              <a:gdLst/>
              <a:ahLst/>
              <a:cxnLst/>
              <a:rect l="l" t="t" r="r" b="b"/>
              <a:pathLst>
                <a:path w="6429375" h="1343025">
                  <a:moveTo>
                    <a:pt x="6358177" y="1343024"/>
                  </a:moveTo>
                  <a:lnTo>
                    <a:pt x="0" y="1343024"/>
                  </a:lnTo>
                  <a:lnTo>
                    <a:pt x="0" y="0"/>
                  </a:lnTo>
                  <a:lnTo>
                    <a:pt x="6358177" y="0"/>
                  </a:lnTo>
                  <a:lnTo>
                    <a:pt x="6363132" y="488"/>
                  </a:lnTo>
                  <a:lnTo>
                    <a:pt x="6399668" y="15621"/>
                  </a:lnTo>
                  <a:lnTo>
                    <a:pt x="6425488" y="51662"/>
                  </a:lnTo>
                  <a:lnTo>
                    <a:pt x="6429373" y="71196"/>
                  </a:lnTo>
                  <a:lnTo>
                    <a:pt x="6429373" y="1271828"/>
                  </a:lnTo>
                  <a:lnTo>
                    <a:pt x="6413752" y="1313319"/>
                  </a:lnTo>
                  <a:lnTo>
                    <a:pt x="6377711" y="1339139"/>
                  </a:lnTo>
                  <a:lnTo>
                    <a:pt x="6358177" y="1343024"/>
                  </a:lnTo>
                  <a:close/>
                </a:path>
              </a:pathLst>
            </a:custGeom>
            <a:solidFill>
              <a:srgbClr val="EDF1FF"/>
            </a:solidFill>
          </p:spPr>
          <p:txBody>
            <a:bodyPr wrap="square" lIns="0" tIns="0" rIns="0" bIns="0" rtlCol="0"/>
            <a:lstStyle/>
            <a:p/>
          </p:txBody>
        </p:sp>
        <p:sp>
          <p:nvSpPr>
            <p:cNvPr id="5" name="object 5"/>
            <p:cNvSpPr/>
            <p:nvPr/>
          </p:nvSpPr>
          <p:spPr>
            <a:xfrm>
              <a:off x="457200" y="1228724"/>
              <a:ext cx="38100" cy="1343025"/>
            </a:xfrm>
            <a:custGeom>
              <a:avLst/>
              <a:gdLst/>
              <a:ahLst/>
              <a:cxnLst/>
              <a:rect l="l" t="t" r="r" b="b"/>
              <a:pathLst>
                <a:path w="38100" h="1343025">
                  <a:moveTo>
                    <a:pt x="38099" y="1343024"/>
                  </a:moveTo>
                  <a:lnTo>
                    <a:pt x="0" y="1343024"/>
                  </a:lnTo>
                  <a:lnTo>
                    <a:pt x="0" y="0"/>
                  </a:lnTo>
                  <a:lnTo>
                    <a:pt x="38099" y="0"/>
                  </a:lnTo>
                  <a:lnTo>
                    <a:pt x="38099" y="1343024"/>
                  </a:lnTo>
                  <a:close/>
                </a:path>
              </a:pathLst>
            </a:custGeom>
            <a:solidFill>
              <a:srgbClr val="4237CA"/>
            </a:solidFill>
          </p:spPr>
          <p:txBody>
            <a:bodyPr wrap="square" lIns="0" tIns="0" rIns="0" bIns="0" rtlCol="0"/>
            <a:lstStyle/>
            <a:p/>
          </p:txBody>
        </p:sp>
      </p:grpSp>
      <p:sp>
        <p:nvSpPr>
          <p:cNvPr id="6" name="object 6"/>
          <p:cNvSpPr txBox="1"/>
          <p:nvPr/>
        </p:nvSpPr>
        <p:spPr>
          <a:xfrm>
            <a:off x="673099" y="1287652"/>
            <a:ext cx="5892800" cy="1063625"/>
          </a:xfrm>
          <a:prstGeom prst="rect">
            <a:avLst/>
          </a:prstGeom>
        </p:spPr>
        <p:txBody>
          <a:bodyPr vert="horz" wrap="square" lIns="0" tIns="115570" rIns="0" bIns="0" rtlCol="0">
            <a:spAutoFit/>
          </a:bodyPr>
          <a:lstStyle/>
          <a:p>
            <a:pPr marL="12700">
              <a:lnSpc>
                <a:spcPct val="100000"/>
              </a:lnSpc>
              <a:spcBef>
                <a:spcPts val="910"/>
              </a:spcBef>
            </a:pPr>
            <a:r>
              <a:rPr sz="1500" b="1" spc="229" dirty="0">
                <a:solidFill>
                  <a:srgbClr val="312E81"/>
                </a:solidFill>
                <a:latin typeface="Calibri" panose="020F0502020204030204"/>
                <a:cs typeface="Calibri" panose="020F0502020204030204"/>
              </a:rPr>
              <a:t># </a:t>
            </a:r>
            <a:r>
              <a:rPr sz="1700" b="1" spc="-190" dirty="0">
                <a:solidFill>
                  <a:srgbClr val="312E81"/>
                </a:solidFill>
                <a:latin typeface="微软雅黑" panose="020B0503020204020204" charset="-122"/>
                <a:cs typeface="微软雅黑" panose="020B0503020204020204" charset="-122"/>
              </a:rPr>
              <a:t>总问题 </a:t>
            </a:r>
            <a:r>
              <a:rPr sz="1500" b="1" dirty="0">
                <a:solidFill>
                  <a:srgbClr val="312E81"/>
                </a:solidFill>
                <a:latin typeface="Calibri" panose="020F0502020204030204"/>
                <a:cs typeface="Calibri" panose="020F0502020204030204"/>
              </a:rPr>
              <a:t>(General</a:t>
            </a:r>
            <a:r>
              <a:rPr sz="1500" b="1" spc="-25" dirty="0">
                <a:solidFill>
                  <a:srgbClr val="312E81"/>
                </a:solidFill>
                <a:latin typeface="Calibri" panose="020F0502020204030204"/>
                <a:cs typeface="Calibri" panose="020F0502020204030204"/>
              </a:rPr>
              <a:t> </a:t>
            </a:r>
            <a:r>
              <a:rPr sz="1500" b="1" spc="40" dirty="0">
                <a:solidFill>
                  <a:srgbClr val="312E81"/>
                </a:solidFill>
                <a:latin typeface="Calibri" panose="020F0502020204030204"/>
                <a:cs typeface="Calibri" panose="020F0502020204030204"/>
              </a:rPr>
              <a:t>Question)</a:t>
            </a:r>
            <a:endParaRPr sz="1500">
              <a:latin typeface="Calibri" panose="020F0502020204030204"/>
              <a:cs typeface="Calibri" panose="020F0502020204030204"/>
            </a:endParaRPr>
          </a:p>
          <a:p>
            <a:pPr marL="12700" marR="5080">
              <a:lnSpc>
                <a:spcPct val="121000"/>
              </a:lnSpc>
              <a:spcBef>
                <a:spcPts val="375"/>
              </a:spcBef>
            </a:pPr>
            <a:r>
              <a:rPr sz="1700" spc="-245" dirty="0">
                <a:solidFill>
                  <a:srgbClr val="1D293B"/>
                </a:solidFill>
                <a:latin typeface="宋体" panose="02010600030101010101" pitchFamily="2" charset="-122"/>
                <a:cs typeface="宋体" panose="02010600030101010101" pitchFamily="2" charset="-122"/>
              </a:rPr>
              <a:t>能否学习一个能逼近 </a:t>
            </a:r>
            <a:r>
              <a:rPr sz="1500" b="1" spc="-235" dirty="0">
                <a:solidFill>
                  <a:srgbClr val="4237CA"/>
                </a:solidFill>
                <a:latin typeface="Verdana" panose="020B0604030504040204"/>
                <a:cs typeface="Verdana" panose="020B0604030504040204"/>
              </a:rPr>
              <a:t>Strong</a:t>
            </a:r>
            <a:r>
              <a:rPr sz="1500" b="1" spc="-130" dirty="0">
                <a:solidFill>
                  <a:srgbClr val="4237CA"/>
                </a:solidFill>
                <a:latin typeface="Verdana" panose="020B0604030504040204"/>
                <a:cs typeface="Verdana" panose="020B0604030504040204"/>
              </a:rPr>
              <a:t> </a:t>
            </a:r>
            <a:r>
              <a:rPr sz="1500" b="1" spc="-250" dirty="0">
                <a:solidFill>
                  <a:srgbClr val="4237CA"/>
                </a:solidFill>
                <a:latin typeface="Verdana" panose="020B0604030504040204"/>
                <a:cs typeface="Verdana" panose="020B0604030504040204"/>
              </a:rPr>
              <a:t>Branching</a:t>
            </a:r>
            <a:r>
              <a:rPr sz="1500" b="1" spc="-130" dirty="0">
                <a:solidFill>
                  <a:srgbClr val="4237CA"/>
                </a:solidFill>
                <a:latin typeface="Verdana" panose="020B0604030504040204"/>
                <a:cs typeface="Verdana" panose="020B0604030504040204"/>
              </a:rPr>
              <a:t> </a:t>
            </a:r>
            <a:r>
              <a:rPr sz="1700" spc="-204" dirty="0">
                <a:solidFill>
                  <a:srgbClr val="1D293B"/>
                </a:solidFill>
                <a:latin typeface="宋体" panose="02010600030101010101" pitchFamily="2" charset="-122"/>
                <a:cs typeface="宋体" panose="02010600030101010101" pitchFamily="2" charset="-122"/>
              </a:rPr>
              <a:t>决策质量、减少特征工程、并能</a:t>
            </a:r>
            <a:r>
              <a:rPr sz="1700" spc="-200" dirty="0">
                <a:solidFill>
                  <a:srgbClr val="1D293B"/>
                </a:solidFill>
                <a:latin typeface="宋体" panose="02010600030101010101" pitchFamily="2" charset="-122"/>
                <a:cs typeface="宋体" panose="02010600030101010101" pitchFamily="2" charset="-122"/>
              </a:rPr>
              <a:t>泛化到更大规模实例的分支策略？</a:t>
            </a:r>
            <a:endParaRPr sz="1700">
              <a:latin typeface="宋体" panose="02010600030101010101" pitchFamily="2" charset="-122"/>
              <a:cs typeface="宋体" panose="02010600030101010101" pitchFamily="2" charset="-122"/>
            </a:endParaRPr>
          </a:p>
        </p:txBody>
      </p:sp>
      <p:grpSp>
        <p:nvGrpSpPr>
          <p:cNvPr id="7" name="object 7"/>
          <p:cNvGrpSpPr/>
          <p:nvPr/>
        </p:nvGrpSpPr>
        <p:grpSpPr>
          <a:xfrm>
            <a:off x="457200" y="2800349"/>
            <a:ext cx="6448425" cy="742950"/>
            <a:chOff x="457200" y="2800349"/>
            <a:chExt cx="6448425" cy="742950"/>
          </a:xfrm>
        </p:grpSpPr>
        <p:sp>
          <p:nvSpPr>
            <p:cNvPr id="8" name="object 8"/>
            <p:cNvSpPr/>
            <p:nvPr/>
          </p:nvSpPr>
          <p:spPr>
            <a:xfrm>
              <a:off x="461962" y="2805112"/>
              <a:ext cx="6438900" cy="733425"/>
            </a:xfrm>
            <a:custGeom>
              <a:avLst/>
              <a:gdLst/>
              <a:ahLst/>
              <a:cxnLst/>
              <a:rect l="l" t="t" r="r" b="b"/>
              <a:pathLst>
                <a:path w="6438900" h="733425">
                  <a:moveTo>
                    <a:pt x="6336554" y="733424"/>
                  </a:moveTo>
                  <a:lnTo>
                    <a:pt x="102345" y="733424"/>
                  </a:lnTo>
                  <a:lnTo>
                    <a:pt x="95221" y="732723"/>
                  </a:lnTo>
                  <a:lnTo>
                    <a:pt x="54661" y="718960"/>
                  </a:lnTo>
                  <a:lnTo>
                    <a:pt x="22456" y="690723"/>
                  </a:lnTo>
                  <a:lnTo>
                    <a:pt x="3507" y="652311"/>
                  </a:lnTo>
                  <a:lnTo>
                    <a:pt x="0" y="631079"/>
                  </a:lnTo>
                  <a:lnTo>
                    <a:pt x="0" y="623887"/>
                  </a:lnTo>
                  <a:lnTo>
                    <a:pt x="0" y="102345"/>
                  </a:lnTo>
                  <a:lnTo>
                    <a:pt x="11090" y="60974"/>
                  </a:lnTo>
                  <a:lnTo>
                    <a:pt x="37168" y="26996"/>
                  </a:lnTo>
                  <a:lnTo>
                    <a:pt x="74264" y="5585"/>
                  </a:lnTo>
                  <a:lnTo>
                    <a:pt x="102345" y="0"/>
                  </a:lnTo>
                  <a:lnTo>
                    <a:pt x="6336554" y="0"/>
                  </a:lnTo>
                  <a:lnTo>
                    <a:pt x="6377924" y="11090"/>
                  </a:lnTo>
                  <a:lnTo>
                    <a:pt x="6411901" y="37168"/>
                  </a:lnTo>
                  <a:lnTo>
                    <a:pt x="6433313" y="74264"/>
                  </a:lnTo>
                  <a:lnTo>
                    <a:pt x="6438899" y="102345"/>
                  </a:lnTo>
                  <a:lnTo>
                    <a:pt x="6438899" y="631079"/>
                  </a:lnTo>
                  <a:lnTo>
                    <a:pt x="6427807" y="672450"/>
                  </a:lnTo>
                  <a:lnTo>
                    <a:pt x="6401729" y="706427"/>
                  </a:lnTo>
                  <a:lnTo>
                    <a:pt x="6364634" y="727838"/>
                  </a:lnTo>
                  <a:lnTo>
                    <a:pt x="6343677" y="732723"/>
                  </a:lnTo>
                  <a:lnTo>
                    <a:pt x="6336554" y="733424"/>
                  </a:lnTo>
                  <a:close/>
                </a:path>
              </a:pathLst>
            </a:custGeom>
            <a:solidFill>
              <a:srgbClr val="F7FAFB"/>
            </a:solidFill>
          </p:spPr>
          <p:txBody>
            <a:bodyPr wrap="square" lIns="0" tIns="0" rIns="0" bIns="0" rtlCol="0"/>
            <a:lstStyle/>
            <a:p/>
          </p:txBody>
        </p:sp>
        <p:sp>
          <p:nvSpPr>
            <p:cNvPr id="9" name="object 9"/>
            <p:cNvSpPr/>
            <p:nvPr/>
          </p:nvSpPr>
          <p:spPr>
            <a:xfrm>
              <a:off x="461962" y="2805112"/>
              <a:ext cx="6438900" cy="733425"/>
            </a:xfrm>
            <a:custGeom>
              <a:avLst/>
              <a:gdLst/>
              <a:ahLst/>
              <a:cxnLst/>
              <a:rect l="l" t="t" r="r" b="b"/>
              <a:pathLst>
                <a:path w="6438900" h="733425">
                  <a:moveTo>
                    <a:pt x="0" y="623887"/>
                  </a:moveTo>
                  <a:lnTo>
                    <a:pt x="0" y="109537"/>
                  </a:lnTo>
                  <a:lnTo>
                    <a:pt x="0" y="102345"/>
                  </a:lnTo>
                  <a:lnTo>
                    <a:pt x="701" y="95221"/>
                  </a:lnTo>
                  <a:lnTo>
                    <a:pt x="2104" y="88167"/>
                  </a:lnTo>
                  <a:lnTo>
                    <a:pt x="3507" y="81113"/>
                  </a:lnTo>
                  <a:lnTo>
                    <a:pt x="5585" y="74264"/>
                  </a:lnTo>
                  <a:lnTo>
                    <a:pt x="8338" y="67619"/>
                  </a:lnTo>
                  <a:lnTo>
                    <a:pt x="11090" y="60974"/>
                  </a:lnTo>
                  <a:lnTo>
                    <a:pt x="14464" y="54661"/>
                  </a:lnTo>
                  <a:lnTo>
                    <a:pt x="18460" y="48681"/>
                  </a:lnTo>
                  <a:lnTo>
                    <a:pt x="22456" y="42701"/>
                  </a:lnTo>
                  <a:lnTo>
                    <a:pt x="26997" y="37168"/>
                  </a:lnTo>
                  <a:lnTo>
                    <a:pt x="32082" y="32082"/>
                  </a:lnTo>
                  <a:lnTo>
                    <a:pt x="37168" y="26996"/>
                  </a:lnTo>
                  <a:lnTo>
                    <a:pt x="42701" y="22456"/>
                  </a:lnTo>
                  <a:lnTo>
                    <a:pt x="48681" y="18460"/>
                  </a:lnTo>
                  <a:lnTo>
                    <a:pt x="54661" y="14464"/>
                  </a:lnTo>
                  <a:lnTo>
                    <a:pt x="60974" y="11090"/>
                  </a:lnTo>
                  <a:lnTo>
                    <a:pt x="67619" y="8338"/>
                  </a:lnTo>
                  <a:lnTo>
                    <a:pt x="74264" y="5585"/>
                  </a:lnTo>
                  <a:lnTo>
                    <a:pt x="81113" y="3507"/>
                  </a:lnTo>
                  <a:lnTo>
                    <a:pt x="88167" y="2104"/>
                  </a:lnTo>
                  <a:lnTo>
                    <a:pt x="95221" y="701"/>
                  </a:lnTo>
                  <a:lnTo>
                    <a:pt x="102345" y="0"/>
                  </a:lnTo>
                  <a:lnTo>
                    <a:pt x="109537" y="0"/>
                  </a:lnTo>
                  <a:lnTo>
                    <a:pt x="6329361" y="0"/>
                  </a:lnTo>
                  <a:lnTo>
                    <a:pt x="6336554" y="0"/>
                  </a:lnTo>
                  <a:lnTo>
                    <a:pt x="6343677" y="701"/>
                  </a:lnTo>
                  <a:lnTo>
                    <a:pt x="6350731" y="2104"/>
                  </a:lnTo>
                  <a:lnTo>
                    <a:pt x="6357784" y="3507"/>
                  </a:lnTo>
                  <a:lnTo>
                    <a:pt x="6364634" y="5585"/>
                  </a:lnTo>
                  <a:lnTo>
                    <a:pt x="6371279" y="8338"/>
                  </a:lnTo>
                  <a:lnTo>
                    <a:pt x="6377924" y="11090"/>
                  </a:lnTo>
                  <a:lnTo>
                    <a:pt x="6384236" y="14464"/>
                  </a:lnTo>
                  <a:lnTo>
                    <a:pt x="6390216" y="18460"/>
                  </a:lnTo>
                  <a:lnTo>
                    <a:pt x="6396196" y="22456"/>
                  </a:lnTo>
                  <a:lnTo>
                    <a:pt x="6424434" y="54661"/>
                  </a:lnTo>
                  <a:lnTo>
                    <a:pt x="6430560" y="67619"/>
                  </a:lnTo>
                  <a:lnTo>
                    <a:pt x="6433313" y="74264"/>
                  </a:lnTo>
                  <a:lnTo>
                    <a:pt x="6435390" y="81113"/>
                  </a:lnTo>
                  <a:lnTo>
                    <a:pt x="6436794" y="88167"/>
                  </a:lnTo>
                  <a:lnTo>
                    <a:pt x="6438197" y="95221"/>
                  </a:lnTo>
                  <a:lnTo>
                    <a:pt x="6438899" y="102345"/>
                  </a:lnTo>
                  <a:lnTo>
                    <a:pt x="6438899" y="109537"/>
                  </a:lnTo>
                  <a:lnTo>
                    <a:pt x="6438899" y="623887"/>
                  </a:lnTo>
                  <a:lnTo>
                    <a:pt x="6438899" y="631079"/>
                  </a:lnTo>
                  <a:lnTo>
                    <a:pt x="6438197" y="638202"/>
                  </a:lnTo>
                  <a:lnTo>
                    <a:pt x="6436794" y="645256"/>
                  </a:lnTo>
                  <a:lnTo>
                    <a:pt x="6435390" y="652311"/>
                  </a:lnTo>
                  <a:lnTo>
                    <a:pt x="6433313" y="659160"/>
                  </a:lnTo>
                  <a:lnTo>
                    <a:pt x="6430560" y="665805"/>
                  </a:lnTo>
                  <a:lnTo>
                    <a:pt x="6427807" y="672450"/>
                  </a:lnTo>
                  <a:lnTo>
                    <a:pt x="6401729" y="706427"/>
                  </a:lnTo>
                  <a:lnTo>
                    <a:pt x="6364634" y="727838"/>
                  </a:lnTo>
                  <a:lnTo>
                    <a:pt x="6329361" y="733424"/>
                  </a:lnTo>
                  <a:lnTo>
                    <a:pt x="109537" y="733424"/>
                  </a:lnTo>
                  <a:lnTo>
                    <a:pt x="102345" y="733424"/>
                  </a:lnTo>
                  <a:lnTo>
                    <a:pt x="95221" y="732723"/>
                  </a:lnTo>
                  <a:lnTo>
                    <a:pt x="88167" y="731319"/>
                  </a:lnTo>
                  <a:lnTo>
                    <a:pt x="81113" y="729916"/>
                  </a:lnTo>
                  <a:lnTo>
                    <a:pt x="48681" y="714964"/>
                  </a:lnTo>
                  <a:lnTo>
                    <a:pt x="42701" y="710968"/>
                  </a:lnTo>
                  <a:lnTo>
                    <a:pt x="18460" y="684742"/>
                  </a:lnTo>
                  <a:lnTo>
                    <a:pt x="14464" y="678762"/>
                  </a:lnTo>
                  <a:lnTo>
                    <a:pt x="11090" y="672450"/>
                  </a:lnTo>
                  <a:lnTo>
                    <a:pt x="8338" y="665805"/>
                  </a:lnTo>
                  <a:lnTo>
                    <a:pt x="5585" y="659160"/>
                  </a:lnTo>
                  <a:lnTo>
                    <a:pt x="3507" y="652311"/>
                  </a:lnTo>
                  <a:lnTo>
                    <a:pt x="2104" y="645256"/>
                  </a:lnTo>
                  <a:lnTo>
                    <a:pt x="701" y="638202"/>
                  </a:lnTo>
                  <a:lnTo>
                    <a:pt x="0" y="631079"/>
                  </a:lnTo>
                  <a:lnTo>
                    <a:pt x="0" y="623887"/>
                  </a:lnTo>
                  <a:close/>
                </a:path>
              </a:pathLst>
            </a:custGeom>
            <a:ln w="9524">
              <a:solidFill>
                <a:srgbClr val="F1F5F9"/>
              </a:solidFill>
            </a:ln>
          </p:spPr>
          <p:txBody>
            <a:bodyPr wrap="square" lIns="0" tIns="0" rIns="0" bIns="0" rtlCol="0"/>
            <a:lstStyle/>
            <a:p/>
          </p:txBody>
        </p:sp>
        <p:sp>
          <p:nvSpPr>
            <p:cNvPr id="10" name="object 10"/>
            <p:cNvSpPr/>
            <p:nvPr/>
          </p:nvSpPr>
          <p:spPr>
            <a:xfrm>
              <a:off x="619124" y="2962274"/>
              <a:ext cx="304800" cy="304800"/>
            </a:xfrm>
            <a:custGeom>
              <a:avLst/>
              <a:gdLst/>
              <a:ahLst/>
              <a:cxnLst/>
              <a:rect l="l" t="t" r="r" b="b"/>
              <a:pathLst>
                <a:path w="304800" h="304800">
                  <a:moveTo>
                    <a:pt x="233603" y="304799"/>
                  </a:moveTo>
                  <a:lnTo>
                    <a:pt x="71196" y="304799"/>
                  </a:lnTo>
                  <a:lnTo>
                    <a:pt x="66241" y="304311"/>
                  </a:lnTo>
                  <a:lnTo>
                    <a:pt x="29705" y="289178"/>
                  </a:lnTo>
                  <a:lnTo>
                    <a:pt x="3885" y="253137"/>
                  </a:lnTo>
                  <a:lnTo>
                    <a:pt x="0" y="233603"/>
                  </a:lnTo>
                  <a:lnTo>
                    <a:pt x="0" y="228599"/>
                  </a:lnTo>
                  <a:lnTo>
                    <a:pt x="0" y="71196"/>
                  </a:lnTo>
                  <a:lnTo>
                    <a:pt x="15621" y="29705"/>
                  </a:lnTo>
                  <a:lnTo>
                    <a:pt x="51662" y="3885"/>
                  </a:lnTo>
                  <a:lnTo>
                    <a:pt x="71196" y="0"/>
                  </a:lnTo>
                  <a:lnTo>
                    <a:pt x="233603" y="0"/>
                  </a:lnTo>
                  <a:lnTo>
                    <a:pt x="275094" y="15621"/>
                  </a:lnTo>
                  <a:lnTo>
                    <a:pt x="300914" y="51661"/>
                  </a:lnTo>
                  <a:lnTo>
                    <a:pt x="304799" y="71196"/>
                  </a:lnTo>
                  <a:lnTo>
                    <a:pt x="304799" y="233603"/>
                  </a:lnTo>
                  <a:lnTo>
                    <a:pt x="289178" y="275094"/>
                  </a:lnTo>
                  <a:lnTo>
                    <a:pt x="253137" y="300914"/>
                  </a:lnTo>
                  <a:lnTo>
                    <a:pt x="238558" y="304311"/>
                  </a:lnTo>
                  <a:lnTo>
                    <a:pt x="233603" y="304799"/>
                  </a:lnTo>
                  <a:close/>
                </a:path>
              </a:pathLst>
            </a:custGeom>
            <a:solidFill>
              <a:srgbClr val="DFE7FF"/>
            </a:solidFill>
          </p:spPr>
          <p:txBody>
            <a:bodyPr wrap="square" lIns="0" tIns="0" rIns="0" bIns="0" rtlCol="0"/>
            <a:lstStyle/>
            <a:p/>
          </p:txBody>
        </p:sp>
      </p:grpSp>
      <p:sp>
        <p:nvSpPr>
          <p:cNvPr id="11" name="object 11"/>
          <p:cNvSpPr txBox="1"/>
          <p:nvPr/>
        </p:nvSpPr>
        <p:spPr>
          <a:xfrm>
            <a:off x="720724" y="2987675"/>
            <a:ext cx="10160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4237CA"/>
                </a:solidFill>
                <a:latin typeface="Times New Roman" panose="02020603050405020304"/>
                <a:cs typeface="Times New Roman" panose="02020603050405020304"/>
              </a:rPr>
              <a:t>1</a:t>
            </a:r>
            <a:endParaRPr sz="1200">
              <a:latin typeface="Times New Roman" panose="02020603050405020304"/>
              <a:cs typeface="Times New Roman" panose="02020603050405020304"/>
            </a:endParaRPr>
          </a:p>
        </p:txBody>
      </p:sp>
      <p:sp>
        <p:nvSpPr>
          <p:cNvPr id="12" name="object 12"/>
          <p:cNvSpPr txBox="1"/>
          <p:nvPr/>
        </p:nvSpPr>
        <p:spPr>
          <a:xfrm>
            <a:off x="1063625" y="2929763"/>
            <a:ext cx="3771900" cy="422909"/>
          </a:xfrm>
          <a:prstGeom prst="rect">
            <a:avLst/>
          </a:prstGeom>
        </p:spPr>
        <p:txBody>
          <a:bodyPr vert="horz" wrap="square" lIns="0" tIns="13335" rIns="0" bIns="0" rtlCol="0">
            <a:spAutoFit/>
          </a:bodyPr>
          <a:lstStyle/>
          <a:p>
            <a:pPr marL="12700">
              <a:lnSpc>
                <a:spcPts val="1560"/>
              </a:lnSpc>
              <a:spcBef>
                <a:spcPts val="105"/>
              </a:spcBef>
            </a:pPr>
            <a:r>
              <a:rPr sz="1350" b="1" spc="-150" dirty="0">
                <a:solidFill>
                  <a:srgbClr val="1D293B"/>
                </a:solidFill>
                <a:latin typeface="微软雅黑" panose="020B0503020204020204" charset="-122"/>
                <a:cs typeface="微软雅黑" panose="020B0503020204020204" charset="-122"/>
              </a:rPr>
              <a:t>模仿与效率</a:t>
            </a:r>
            <a:endParaRPr sz="1350">
              <a:latin typeface="微软雅黑" panose="020B0503020204020204" charset="-122"/>
              <a:cs typeface="微软雅黑" panose="020B0503020204020204" charset="-122"/>
            </a:endParaRPr>
          </a:p>
          <a:p>
            <a:pPr marL="12700">
              <a:lnSpc>
                <a:spcPts val="1560"/>
              </a:lnSpc>
            </a:pPr>
            <a:r>
              <a:rPr sz="1350" spc="-215" dirty="0">
                <a:solidFill>
                  <a:srgbClr val="465469"/>
                </a:solidFill>
                <a:latin typeface="宋体" panose="02010600030101010101" pitchFamily="2" charset="-122"/>
                <a:cs typeface="宋体" panose="02010600030101010101" pitchFamily="2" charset="-122"/>
              </a:rPr>
              <a:t>能近似 </a:t>
            </a:r>
            <a:r>
              <a:rPr sz="1200" dirty="0">
                <a:solidFill>
                  <a:srgbClr val="465469"/>
                </a:solidFill>
                <a:latin typeface="Times New Roman" panose="02020603050405020304"/>
                <a:cs typeface="Times New Roman" panose="02020603050405020304"/>
              </a:rPr>
              <a:t>Strong</a:t>
            </a:r>
            <a:r>
              <a:rPr sz="1200" spc="25" dirty="0">
                <a:solidFill>
                  <a:srgbClr val="465469"/>
                </a:solidFill>
                <a:latin typeface="Times New Roman" panose="02020603050405020304"/>
                <a:cs typeface="Times New Roman" panose="02020603050405020304"/>
              </a:rPr>
              <a:t> </a:t>
            </a:r>
            <a:r>
              <a:rPr sz="1200" dirty="0">
                <a:solidFill>
                  <a:srgbClr val="465469"/>
                </a:solidFill>
                <a:latin typeface="Times New Roman" panose="02020603050405020304"/>
                <a:cs typeface="Times New Roman" panose="02020603050405020304"/>
              </a:rPr>
              <a:t>Branching</a:t>
            </a:r>
            <a:r>
              <a:rPr sz="1200" spc="25" dirty="0">
                <a:solidFill>
                  <a:srgbClr val="465469"/>
                </a:solidFill>
                <a:latin typeface="Times New Roman" panose="02020603050405020304"/>
                <a:cs typeface="Times New Roman" panose="02020603050405020304"/>
              </a:rPr>
              <a:t> </a:t>
            </a:r>
            <a:r>
              <a:rPr sz="1350" spc="-165" dirty="0">
                <a:solidFill>
                  <a:srgbClr val="465469"/>
                </a:solidFill>
                <a:latin typeface="宋体" panose="02010600030101010101" pitchFamily="2" charset="-122"/>
                <a:cs typeface="宋体" panose="02010600030101010101" pitchFamily="2" charset="-122"/>
              </a:rPr>
              <a:t>而不承担高昂的在线计算代价？</a:t>
            </a:r>
            <a:endParaRPr sz="1350">
              <a:latin typeface="宋体" panose="02010600030101010101" pitchFamily="2" charset="-122"/>
              <a:cs typeface="宋体" panose="02010600030101010101" pitchFamily="2" charset="-122"/>
            </a:endParaRPr>
          </a:p>
        </p:txBody>
      </p:sp>
      <p:grpSp>
        <p:nvGrpSpPr>
          <p:cNvPr id="13" name="object 13"/>
          <p:cNvGrpSpPr/>
          <p:nvPr/>
        </p:nvGrpSpPr>
        <p:grpSpPr>
          <a:xfrm>
            <a:off x="457200" y="3695699"/>
            <a:ext cx="6448425" cy="742950"/>
            <a:chOff x="457200" y="3695699"/>
            <a:chExt cx="6448425" cy="742950"/>
          </a:xfrm>
        </p:grpSpPr>
        <p:sp>
          <p:nvSpPr>
            <p:cNvPr id="14" name="object 14"/>
            <p:cNvSpPr/>
            <p:nvPr/>
          </p:nvSpPr>
          <p:spPr>
            <a:xfrm>
              <a:off x="461962" y="3700462"/>
              <a:ext cx="6438900" cy="733425"/>
            </a:xfrm>
            <a:custGeom>
              <a:avLst/>
              <a:gdLst/>
              <a:ahLst/>
              <a:cxnLst/>
              <a:rect l="l" t="t" r="r" b="b"/>
              <a:pathLst>
                <a:path w="6438900" h="733425">
                  <a:moveTo>
                    <a:pt x="6336554" y="733424"/>
                  </a:moveTo>
                  <a:lnTo>
                    <a:pt x="102345" y="733424"/>
                  </a:lnTo>
                  <a:lnTo>
                    <a:pt x="95221" y="732723"/>
                  </a:lnTo>
                  <a:lnTo>
                    <a:pt x="54661" y="718960"/>
                  </a:lnTo>
                  <a:lnTo>
                    <a:pt x="22456" y="690722"/>
                  </a:lnTo>
                  <a:lnTo>
                    <a:pt x="3507" y="652310"/>
                  </a:lnTo>
                  <a:lnTo>
                    <a:pt x="0" y="631079"/>
                  </a:lnTo>
                  <a:lnTo>
                    <a:pt x="0" y="623887"/>
                  </a:lnTo>
                  <a:lnTo>
                    <a:pt x="0" y="102344"/>
                  </a:lnTo>
                  <a:lnTo>
                    <a:pt x="11090" y="60974"/>
                  </a:lnTo>
                  <a:lnTo>
                    <a:pt x="37168" y="26996"/>
                  </a:lnTo>
                  <a:lnTo>
                    <a:pt x="74264" y="5585"/>
                  </a:lnTo>
                  <a:lnTo>
                    <a:pt x="102345" y="0"/>
                  </a:lnTo>
                  <a:lnTo>
                    <a:pt x="6336554" y="0"/>
                  </a:lnTo>
                  <a:lnTo>
                    <a:pt x="6377924" y="11090"/>
                  </a:lnTo>
                  <a:lnTo>
                    <a:pt x="6411901" y="37168"/>
                  </a:lnTo>
                  <a:lnTo>
                    <a:pt x="6433313" y="74263"/>
                  </a:lnTo>
                  <a:lnTo>
                    <a:pt x="6438899" y="102344"/>
                  </a:lnTo>
                  <a:lnTo>
                    <a:pt x="6438899" y="631079"/>
                  </a:lnTo>
                  <a:lnTo>
                    <a:pt x="6427807" y="672449"/>
                  </a:lnTo>
                  <a:lnTo>
                    <a:pt x="6401729" y="706427"/>
                  </a:lnTo>
                  <a:lnTo>
                    <a:pt x="6364634" y="727838"/>
                  </a:lnTo>
                  <a:lnTo>
                    <a:pt x="6343677" y="732723"/>
                  </a:lnTo>
                  <a:lnTo>
                    <a:pt x="6336554" y="733424"/>
                  </a:lnTo>
                  <a:close/>
                </a:path>
              </a:pathLst>
            </a:custGeom>
            <a:solidFill>
              <a:srgbClr val="F7FAFB"/>
            </a:solidFill>
          </p:spPr>
          <p:txBody>
            <a:bodyPr wrap="square" lIns="0" tIns="0" rIns="0" bIns="0" rtlCol="0"/>
            <a:lstStyle/>
            <a:p/>
          </p:txBody>
        </p:sp>
        <p:sp>
          <p:nvSpPr>
            <p:cNvPr id="15" name="object 15"/>
            <p:cNvSpPr/>
            <p:nvPr/>
          </p:nvSpPr>
          <p:spPr>
            <a:xfrm>
              <a:off x="461962" y="3700462"/>
              <a:ext cx="6438900" cy="733425"/>
            </a:xfrm>
            <a:custGeom>
              <a:avLst/>
              <a:gdLst/>
              <a:ahLst/>
              <a:cxnLst/>
              <a:rect l="l" t="t" r="r" b="b"/>
              <a:pathLst>
                <a:path w="6438900" h="733425">
                  <a:moveTo>
                    <a:pt x="0" y="623887"/>
                  </a:moveTo>
                  <a:lnTo>
                    <a:pt x="0" y="109537"/>
                  </a:lnTo>
                  <a:lnTo>
                    <a:pt x="0" y="102344"/>
                  </a:lnTo>
                  <a:lnTo>
                    <a:pt x="701" y="95221"/>
                  </a:lnTo>
                  <a:lnTo>
                    <a:pt x="2104" y="88167"/>
                  </a:lnTo>
                  <a:lnTo>
                    <a:pt x="3507" y="81113"/>
                  </a:lnTo>
                  <a:lnTo>
                    <a:pt x="5585" y="74263"/>
                  </a:lnTo>
                  <a:lnTo>
                    <a:pt x="8338" y="67618"/>
                  </a:lnTo>
                  <a:lnTo>
                    <a:pt x="11090" y="60974"/>
                  </a:lnTo>
                  <a:lnTo>
                    <a:pt x="14464" y="54661"/>
                  </a:lnTo>
                  <a:lnTo>
                    <a:pt x="18460" y="48681"/>
                  </a:lnTo>
                  <a:lnTo>
                    <a:pt x="22456" y="42701"/>
                  </a:lnTo>
                  <a:lnTo>
                    <a:pt x="26997" y="37168"/>
                  </a:lnTo>
                  <a:lnTo>
                    <a:pt x="32082" y="32082"/>
                  </a:lnTo>
                  <a:lnTo>
                    <a:pt x="37168" y="26996"/>
                  </a:lnTo>
                  <a:lnTo>
                    <a:pt x="42701" y="22455"/>
                  </a:lnTo>
                  <a:lnTo>
                    <a:pt x="48681" y="18459"/>
                  </a:lnTo>
                  <a:lnTo>
                    <a:pt x="54661" y="14463"/>
                  </a:lnTo>
                  <a:lnTo>
                    <a:pt x="60974" y="11090"/>
                  </a:lnTo>
                  <a:lnTo>
                    <a:pt x="67619" y="8337"/>
                  </a:lnTo>
                  <a:lnTo>
                    <a:pt x="74264" y="5585"/>
                  </a:lnTo>
                  <a:lnTo>
                    <a:pt x="81113" y="3507"/>
                  </a:lnTo>
                  <a:lnTo>
                    <a:pt x="88167" y="2104"/>
                  </a:lnTo>
                  <a:lnTo>
                    <a:pt x="95221" y="701"/>
                  </a:lnTo>
                  <a:lnTo>
                    <a:pt x="102345" y="0"/>
                  </a:lnTo>
                  <a:lnTo>
                    <a:pt x="109537" y="0"/>
                  </a:lnTo>
                  <a:lnTo>
                    <a:pt x="6329361" y="0"/>
                  </a:lnTo>
                  <a:lnTo>
                    <a:pt x="6336554" y="0"/>
                  </a:lnTo>
                  <a:lnTo>
                    <a:pt x="6343677" y="701"/>
                  </a:lnTo>
                  <a:lnTo>
                    <a:pt x="6350731" y="2104"/>
                  </a:lnTo>
                  <a:lnTo>
                    <a:pt x="6357784" y="3507"/>
                  </a:lnTo>
                  <a:lnTo>
                    <a:pt x="6364634" y="5585"/>
                  </a:lnTo>
                  <a:lnTo>
                    <a:pt x="6371279" y="8337"/>
                  </a:lnTo>
                  <a:lnTo>
                    <a:pt x="6377924" y="11090"/>
                  </a:lnTo>
                  <a:lnTo>
                    <a:pt x="6384236" y="14463"/>
                  </a:lnTo>
                  <a:lnTo>
                    <a:pt x="6390216" y="18459"/>
                  </a:lnTo>
                  <a:lnTo>
                    <a:pt x="6396196" y="22455"/>
                  </a:lnTo>
                  <a:lnTo>
                    <a:pt x="6424434" y="54661"/>
                  </a:lnTo>
                  <a:lnTo>
                    <a:pt x="6430560" y="67618"/>
                  </a:lnTo>
                  <a:lnTo>
                    <a:pt x="6433313" y="74263"/>
                  </a:lnTo>
                  <a:lnTo>
                    <a:pt x="6435390" y="81113"/>
                  </a:lnTo>
                  <a:lnTo>
                    <a:pt x="6436794" y="88167"/>
                  </a:lnTo>
                  <a:lnTo>
                    <a:pt x="6438197" y="95221"/>
                  </a:lnTo>
                  <a:lnTo>
                    <a:pt x="6438899" y="102344"/>
                  </a:lnTo>
                  <a:lnTo>
                    <a:pt x="6438899" y="109537"/>
                  </a:lnTo>
                  <a:lnTo>
                    <a:pt x="6438899" y="623887"/>
                  </a:lnTo>
                  <a:lnTo>
                    <a:pt x="6438899" y="631079"/>
                  </a:lnTo>
                  <a:lnTo>
                    <a:pt x="6438197" y="638202"/>
                  </a:lnTo>
                  <a:lnTo>
                    <a:pt x="6436794" y="645256"/>
                  </a:lnTo>
                  <a:lnTo>
                    <a:pt x="6435390" y="652310"/>
                  </a:lnTo>
                  <a:lnTo>
                    <a:pt x="6416442" y="690722"/>
                  </a:lnTo>
                  <a:lnTo>
                    <a:pt x="6384236" y="718960"/>
                  </a:lnTo>
                  <a:lnTo>
                    <a:pt x="6371279" y="725086"/>
                  </a:lnTo>
                  <a:lnTo>
                    <a:pt x="6364634" y="727838"/>
                  </a:lnTo>
                  <a:lnTo>
                    <a:pt x="6357784" y="729916"/>
                  </a:lnTo>
                  <a:lnTo>
                    <a:pt x="6350731" y="731320"/>
                  </a:lnTo>
                  <a:lnTo>
                    <a:pt x="6343677" y="732723"/>
                  </a:lnTo>
                  <a:lnTo>
                    <a:pt x="6336554" y="733424"/>
                  </a:lnTo>
                  <a:lnTo>
                    <a:pt x="6329361" y="733424"/>
                  </a:lnTo>
                  <a:lnTo>
                    <a:pt x="109537" y="733424"/>
                  </a:lnTo>
                  <a:lnTo>
                    <a:pt x="102345" y="733424"/>
                  </a:lnTo>
                  <a:lnTo>
                    <a:pt x="95221" y="732723"/>
                  </a:lnTo>
                  <a:lnTo>
                    <a:pt x="88167" y="731320"/>
                  </a:lnTo>
                  <a:lnTo>
                    <a:pt x="81113" y="729916"/>
                  </a:lnTo>
                  <a:lnTo>
                    <a:pt x="74264" y="727838"/>
                  </a:lnTo>
                  <a:lnTo>
                    <a:pt x="67619" y="725086"/>
                  </a:lnTo>
                  <a:lnTo>
                    <a:pt x="60974" y="722334"/>
                  </a:lnTo>
                  <a:lnTo>
                    <a:pt x="26997" y="696255"/>
                  </a:lnTo>
                  <a:lnTo>
                    <a:pt x="5585" y="659160"/>
                  </a:lnTo>
                  <a:lnTo>
                    <a:pt x="2104" y="645256"/>
                  </a:lnTo>
                  <a:lnTo>
                    <a:pt x="701" y="638202"/>
                  </a:lnTo>
                  <a:lnTo>
                    <a:pt x="0" y="631079"/>
                  </a:lnTo>
                  <a:lnTo>
                    <a:pt x="0" y="623887"/>
                  </a:lnTo>
                  <a:close/>
                </a:path>
              </a:pathLst>
            </a:custGeom>
            <a:ln w="9524">
              <a:solidFill>
                <a:srgbClr val="F1F5F9"/>
              </a:solidFill>
            </a:ln>
          </p:spPr>
          <p:txBody>
            <a:bodyPr wrap="square" lIns="0" tIns="0" rIns="0" bIns="0" rtlCol="0"/>
            <a:lstStyle/>
            <a:p/>
          </p:txBody>
        </p:sp>
        <p:sp>
          <p:nvSpPr>
            <p:cNvPr id="16" name="object 16"/>
            <p:cNvSpPr/>
            <p:nvPr/>
          </p:nvSpPr>
          <p:spPr>
            <a:xfrm>
              <a:off x="619124" y="3857624"/>
              <a:ext cx="304800" cy="304800"/>
            </a:xfrm>
            <a:custGeom>
              <a:avLst/>
              <a:gdLst/>
              <a:ahLst/>
              <a:cxnLst/>
              <a:rect l="l" t="t" r="r" b="b"/>
              <a:pathLst>
                <a:path w="304800" h="304800">
                  <a:moveTo>
                    <a:pt x="233603" y="304799"/>
                  </a:moveTo>
                  <a:lnTo>
                    <a:pt x="71196" y="304799"/>
                  </a:lnTo>
                  <a:lnTo>
                    <a:pt x="66241" y="304311"/>
                  </a:lnTo>
                  <a:lnTo>
                    <a:pt x="29705" y="289177"/>
                  </a:lnTo>
                  <a:lnTo>
                    <a:pt x="3885" y="253137"/>
                  </a:lnTo>
                  <a:lnTo>
                    <a:pt x="0" y="233603"/>
                  </a:lnTo>
                  <a:lnTo>
                    <a:pt x="0" y="228599"/>
                  </a:lnTo>
                  <a:lnTo>
                    <a:pt x="0" y="71196"/>
                  </a:lnTo>
                  <a:lnTo>
                    <a:pt x="15621" y="29705"/>
                  </a:lnTo>
                  <a:lnTo>
                    <a:pt x="51662" y="3885"/>
                  </a:lnTo>
                  <a:lnTo>
                    <a:pt x="71196" y="0"/>
                  </a:lnTo>
                  <a:lnTo>
                    <a:pt x="233603" y="0"/>
                  </a:lnTo>
                  <a:lnTo>
                    <a:pt x="275094" y="15621"/>
                  </a:lnTo>
                  <a:lnTo>
                    <a:pt x="300914" y="51661"/>
                  </a:lnTo>
                  <a:lnTo>
                    <a:pt x="304799" y="71196"/>
                  </a:lnTo>
                  <a:lnTo>
                    <a:pt x="304799" y="233603"/>
                  </a:lnTo>
                  <a:lnTo>
                    <a:pt x="289178" y="275093"/>
                  </a:lnTo>
                  <a:lnTo>
                    <a:pt x="253137" y="300913"/>
                  </a:lnTo>
                  <a:lnTo>
                    <a:pt x="238558" y="304311"/>
                  </a:lnTo>
                  <a:lnTo>
                    <a:pt x="233603" y="304799"/>
                  </a:lnTo>
                  <a:close/>
                </a:path>
              </a:pathLst>
            </a:custGeom>
            <a:solidFill>
              <a:srgbClr val="DFE7FF"/>
            </a:solidFill>
          </p:spPr>
          <p:txBody>
            <a:bodyPr wrap="square" lIns="0" tIns="0" rIns="0" bIns="0" rtlCol="0"/>
            <a:lstStyle/>
            <a:p/>
          </p:txBody>
        </p:sp>
      </p:grpSp>
      <p:sp>
        <p:nvSpPr>
          <p:cNvPr id="17" name="object 17"/>
          <p:cNvSpPr txBox="1"/>
          <p:nvPr/>
        </p:nvSpPr>
        <p:spPr>
          <a:xfrm>
            <a:off x="720724" y="3883025"/>
            <a:ext cx="10160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4237CA"/>
                </a:solidFill>
                <a:latin typeface="Times New Roman" panose="02020603050405020304"/>
                <a:cs typeface="Times New Roman" panose="02020603050405020304"/>
              </a:rPr>
              <a:t>2</a:t>
            </a:r>
            <a:endParaRPr sz="1200">
              <a:latin typeface="Times New Roman" panose="02020603050405020304"/>
              <a:cs typeface="Times New Roman" panose="02020603050405020304"/>
            </a:endParaRPr>
          </a:p>
        </p:txBody>
      </p:sp>
      <p:sp>
        <p:nvSpPr>
          <p:cNvPr id="18" name="object 18"/>
          <p:cNvSpPr txBox="1"/>
          <p:nvPr/>
        </p:nvSpPr>
        <p:spPr>
          <a:xfrm>
            <a:off x="1063625" y="3825112"/>
            <a:ext cx="2921000" cy="422909"/>
          </a:xfrm>
          <a:prstGeom prst="rect">
            <a:avLst/>
          </a:prstGeom>
        </p:spPr>
        <p:txBody>
          <a:bodyPr vert="horz" wrap="square" lIns="0" tIns="13335" rIns="0" bIns="0" rtlCol="0">
            <a:spAutoFit/>
          </a:bodyPr>
          <a:lstStyle/>
          <a:p>
            <a:pPr marL="12700">
              <a:lnSpc>
                <a:spcPts val="1560"/>
              </a:lnSpc>
              <a:spcBef>
                <a:spcPts val="105"/>
              </a:spcBef>
            </a:pPr>
            <a:r>
              <a:rPr sz="1350" b="1" spc="-140" dirty="0">
                <a:solidFill>
                  <a:srgbClr val="1D293B"/>
                </a:solidFill>
                <a:latin typeface="微软雅黑" panose="020B0503020204020204" charset="-122"/>
                <a:cs typeface="微软雅黑" panose="020B0503020204020204" charset="-122"/>
              </a:rPr>
              <a:t>状态表示</a:t>
            </a:r>
            <a:endParaRPr sz="1350">
              <a:latin typeface="微软雅黑" panose="020B0503020204020204" charset="-122"/>
              <a:cs typeface="微软雅黑" panose="020B0503020204020204" charset="-122"/>
            </a:endParaRPr>
          </a:p>
          <a:p>
            <a:pPr marL="12700">
              <a:lnSpc>
                <a:spcPts val="1560"/>
              </a:lnSpc>
            </a:pPr>
            <a:r>
              <a:rPr sz="1350" spc="-165" dirty="0">
                <a:solidFill>
                  <a:srgbClr val="465469"/>
                </a:solidFill>
                <a:latin typeface="宋体" panose="02010600030101010101" pitchFamily="2" charset="-122"/>
                <a:cs typeface="宋体" panose="02010600030101010101" pitchFamily="2" charset="-122"/>
              </a:rPr>
              <a:t>用自然的图结构替换传统的人工特征工程？</a:t>
            </a:r>
            <a:endParaRPr sz="1350">
              <a:latin typeface="宋体" panose="02010600030101010101" pitchFamily="2" charset="-122"/>
              <a:cs typeface="宋体" panose="02010600030101010101" pitchFamily="2" charset="-122"/>
            </a:endParaRPr>
          </a:p>
        </p:txBody>
      </p:sp>
      <p:grpSp>
        <p:nvGrpSpPr>
          <p:cNvPr id="19" name="object 19"/>
          <p:cNvGrpSpPr/>
          <p:nvPr/>
        </p:nvGrpSpPr>
        <p:grpSpPr>
          <a:xfrm>
            <a:off x="457200" y="4591049"/>
            <a:ext cx="6448425" cy="742950"/>
            <a:chOff x="457200" y="4591049"/>
            <a:chExt cx="6448425" cy="742950"/>
          </a:xfrm>
        </p:grpSpPr>
        <p:sp>
          <p:nvSpPr>
            <p:cNvPr id="20" name="object 20"/>
            <p:cNvSpPr/>
            <p:nvPr/>
          </p:nvSpPr>
          <p:spPr>
            <a:xfrm>
              <a:off x="461962" y="4595812"/>
              <a:ext cx="6438900" cy="733425"/>
            </a:xfrm>
            <a:custGeom>
              <a:avLst/>
              <a:gdLst/>
              <a:ahLst/>
              <a:cxnLst/>
              <a:rect l="l" t="t" r="r" b="b"/>
              <a:pathLst>
                <a:path w="6438900" h="733425">
                  <a:moveTo>
                    <a:pt x="6336554" y="733424"/>
                  </a:moveTo>
                  <a:lnTo>
                    <a:pt x="102345" y="733424"/>
                  </a:lnTo>
                  <a:lnTo>
                    <a:pt x="95221" y="732722"/>
                  </a:lnTo>
                  <a:lnTo>
                    <a:pt x="54661" y="718959"/>
                  </a:lnTo>
                  <a:lnTo>
                    <a:pt x="22456" y="690722"/>
                  </a:lnTo>
                  <a:lnTo>
                    <a:pt x="3507" y="652310"/>
                  </a:lnTo>
                  <a:lnTo>
                    <a:pt x="0" y="631079"/>
                  </a:lnTo>
                  <a:lnTo>
                    <a:pt x="0" y="623887"/>
                  </a:lnTo>
                  <a:lnTo>
                    <a:pt x="0" y="102344"/>
                  </a:lnTo>
                  <a:lnTo>
                    <a:pt x="11090" y="60973"/>
                  </a:lnTo>
                  <a:lnTo>
                    <a:pt x="37168" y="26996"/>
                  </a:lnTo>
                  <a:lnTo>
                    <a:pt x="74264" y="5585"/>
                  </a:lnTo>
                  <a:lnTo>
                    <a:pt x="102345" y="0"/>
                  </a:lnTo>
                  <a:lnTo>
                    <a:pt x="6336554" y="0"/>
                  </a:lnTo>
                  <a:lnTo>
                    <a:pt x="6377924" y="11090"/>
                  </a:lnTo>
                  <a:lnTo>
                    <a:pt x="6411901" y="37168"/>
                  </a:lnTo>
                  <a:lnTo>
                    <a:pt x="6433313" y="74263"/>
                  </a:lnTo>
                  <a:lnTo>
                    <a:pt x="6438899" y="102344"/>
                  </a:lnTo>
                  <a:lnTo>
                    <a:pt x="6438899" y="631079"/>
                  </a:lnTo>
                  <a:lnTo>
                    <a:pt x="6427807" y="672449"/>
                  </a:lnTo>
                  <a:lnTo>
                    <a:pt x="6401729" y="706427"/>
                  </a:lnTo>
                  <a:lnTo>
                    <a:pt x="6364634" y="727838"/>
                  </a:lnTo>
                  <a:lnTo>
                    <a:pt x="6343677" y="732722"/>
                  </a:lnTo>
                  <a:lnTo>
                    <a:pt x="6336554" y="733424"/>
                  </a:lnTo>
                  <a:close/>
                </a:path>
              </a:pathLst>
            </a:custGeom>
            <a:solidFill>
              <a:srgbClr val="F7FAFB"/>
            </a:solidFill>
          </p:spPr>
          <p:txBody>
            <a:bodyPr wrap="square" lIns="0" tIns="0" rIns="0" bIns="0" rtlCol="0"/>
            <a:lstStyle/>
            <a:p/>
          </p:txBody>
        </p:sp>
        <p:sp>
          <p:nvSpPr>
            <p:cNvPr id="21" name="object 21"/>
            <p:cNvSpPr/>
            <p:nvPr/>
          </p:nvSpPr>
          <p:spPr>
            <a:xfrm>
              <a:off x="461962" y="4595812"/>
              <a:ext cx="6438900" cy="733425"/>
            </a:xfrm>
            <a:custGeom>
              <a:avLst/>
              <a:gdLst/>
              <a:ahLst/>
              <a:cxnLst/>
              <a:rect l="l" t="t" r="r" b="b"/>
              <a:pathLst>
                <a:path w="6438900" h="733425">
                  <a:moveTo>
                    <a:pt x="0" y="623887"/>
                  </a:moveTo>
                  <a:lnTo>
                    <a:pt x="0" y="109537"/>
                  </a:lnTo>
                  <a:lnTo>
                    <a:pt x="0" y="102344"/>
                  </a:lnTo>
                  <a:lnTo>
                    <a:pt x="701" y="95221"/>
                  </a:lnTo>
                  <a:lnTo>
                    <a:pt x="2104" y="88167"/>
                  </a:lnTo>
                  <a:lnTo>
                    <a:pt x="3507" y="81113"/>
                  </a:lnTo>
                  <a:lnTo>
                    <a:pt x="5585" y="74263"/>
                  </a:lnTo>
                  <a:lnTo>
                    <a:pt x="8338" y="67619"/>
                  </a:lnTo>
                  <a:lnTo>
                    <a:pt x="11090" y="60974"/>
                  </a:lnTo>
                  <a:lnTo>
                    <a:pt x="14464" y="54661"/>
                  </a:lnTo>
                  <a:lnTo>
                    <a:pt x="18460" y="48681"/>
                  </a:lnTo>
                  <a:lnTo>
                    <a:pt x="22456" y="42701"/>
                  </a:lnTo>
                  <a:lnTo>
                    <a:pt x="26997" y="37168"/>
                  </a:lnTo>
                  <a:lnTo>
                    <a:pt x="32082" y="32082"/>
                  </a:lnTo>
                  <a:lnTo>
                    <a:pt x="37168" y="26996"/>
                  </a:lnTo>
                  <a:lnTo>
                    <a:pt x="42701" y="22456"/>
                  </a:lnTo>
                  <a:lnTo>
                    <a:pt x="48681" y="18460"/>
                  </a:lnTo>
                  <a:lnTo>
                    <a:pt x="54661" y="14464"/>
                  </a:lnTo>
                  <a:lnTo>
                    <a:pt x="60974" y="11090"/>
                  </a:lnTo>
                  <a:lnTo>
                    <a:pt x="102345" y="0"/>
                  </a:lnTo>
                  <a:lnTo>
                    <a:pt x="109537" y="0"/>
                  </a:lnTo>
                  <a:lnTo>
                    <a:pt x="6329361" y="0"/>
                  </a:lnTo>
                  <a:lnTo>
                    <a:pt x="6336554" y="0"/>
                  </a:lnTo>
                  <a:lnTo>
                    <a:pt x="6343677" y="701"/>
                  </a:lnTo>
                  <a:lnTo>
                    <a:pt x="6350731" y="2104"/>
                  </a:lnTo>
                  <a:lnTo>
                    <a:pt x="6357784" y="3507"/>
                  </a:lnTo>
                  <a:lnTo>
                    <a:pt x="6390216" y="18460"/>
                  </a:lnTo>
                  <a:lnTo>
                    <a:pt x="6396196" y="22456"/>
                  </a:lnTo>
                  <a:lnTo>
                    <a:pt x="6424434" y="54661"/>
                  </a:lnTo>
                  <a:lnTo>
                    <a:pt x="6430560" y="67619"/>
                  </a:lnTo>
                  <a:lnTo>
                    <a:pt x="6433313" y="74263"/>
                  </a:lnTo>
                  <a:lnTo>
                    <a:pt x="6435390" y="81113"/>
                  </a:lnTo>
                  <a:lnTo>
                    <a:pt x="6436794" y="88167"/>
                  </a:lnTo>
                  <a:lnTo>
                    <a:pt x="6438197" y="95221"/>
                  </a:lnTo>
                  <a:lnTo>
                    <a:pt x="6438899" y="102344"/>
                  </a:lnTo>
                  <a:lnTo>
                    <a:pt x="6438899" y="109537"/>
                  </a:lnTo>
                  <a:lnTo>
                    <a:pt x="6438899" y="623887"/>
                  </a:lnTo>
                  <a:lnTo>
                    <a:pt x="6438899" y="631079"/>
                  </a:lnTo>
                  <a:lnTo>
                    <a:pt x="6438197" y="638202"/>
                  </a:lnTo>
                  <a:lnTo>
                    <a:pt x="6436794" y="645256"/>
                  </a:lnTo>
                  <a:lnTo>
                    <a:pt x="6435390" y="652310"/>
                  </a:lnTo>
                  <a:lnTo>
                    <a:pt x="6433313" y="659160"/>
                  </a:lnTo>
                  <a:lnTo>
                    <a:pt x="6430560" y="665804"/>
                  </a:lnTo>
                  <a:lnTo>
                    <a:pt x="6427807" y="672449"/>
                  </a:lnTo>
                  <a:lnTo>
                    <a:pt x="6401729" y="706427"/>
                  </a:lnTo>
                  <a:lnTo>
                    <a:pt x="6364634" y="727838"/>
                  </a:lnTo>
                  <a:lnTo>
                    <a:pt x="6329361" y="733424"/>
                  </a:lnTo>
                  <a:lnTo>
                    <a:pt x="109537" y="733424"/>
                  </a:lnTo>
                  <a:lnTo>
                    <a:pt x="67619" y="725086"/>
                  </a:lnTo>
                  <a:lnTo>
                    <a:pt x="60974" y="722333"/>
                  </a:lnTo>
                  <a:lnTo>
                    <a:pt x="32082" y="701341"/>
                  </a:lnTo>
                  <a:lnTo>
                    <a:pt x="26997" y="696256"/>
                  </a:lnTo>
                  <a:lnTo>
                    <a:pt x="22456" y="690722"/>
                  </a:lnTo>
                  <a:lnTo>
                    <a:pt x="18460" y="684742"/>
                  </a:lnTo>
                  <a:lnTo>
                    <a:pt x="14464" y="678762"/>
                  </a:lnTo>
                  <a:lnTo>
                    <a:pt x="11090" y="672449"/>
                  </a:lnTo>
                  <a:lnTo>
                    <a:pt x="8338" y="665804"/>
                  </a:lnTo>
                  <a:lnTo>
                    <a:pt x="5585" y="659160"/>
                  </a:lnTo>
                  <a:lnTo>
                    <a:pt x="3507" y="652310"/>
                  </a:lnTo>
                  <a:lnTo>
                    <a:pt x="2104" y="645256"/>
                  </a:lnTo>
                  <a:lnTo>
                    <a:pt x="701" y="638202"/>
                  </a:lnTo>
                  <a:lnTo>
                    <a:pt x="0" y="631079"/>
                  </a:lnTo>
                  <a:lnTo>
                    <a:pt x="0" y="623887"/>
                  </a:lnTo>
                  <a:close/>
                </a:path>
              </a:pathLst>
            </a:custGeom>
            <a:ln w="9524">
              <a:solidFill>
                <a:srgbClr val="F1F5F9"/>
              </a:solidFill>
            </a:ln>
          </p:spPr>
          <p:txBody>
            <a:bodyPr wrap="square" lIns="0" tIns="0" rIns="0" bIns="0" rtlCol="0"/>
            <a:lstStyle/>
            <a:p/>
          </p:txBody>
        </p:sp>
        <p:sp>
          <p:nvSpPr>
            <p:cNvPr id="22" name="object 22"/>
            <p:cNvSpPr/>
            <p:nvPr/>
          </p:nvSpPr>
          <p:spPr>
            <a:xfrm>
              <a:off x="619124" y="4752974"/>
              <a:ext cx="304800" cy="304800"/>
            </a:xfrm>
            <a:custGeom>
              <a:avLst/>
              <a:gdLst/>
              <a:ahLst/>
              <a:cxnLst/>
              <a:rect l="l" t="t" r="r" b="b"/>
              <a:pathLst>
                <a:path w="304800" h="304800">
                  <a:moveTo>
                    <a:pt x="233603" y="304799"/>
                  </a:moveTo>
                  <a:lnTo>
                    <a:pt x="71196" y="304799"/>
                  </a:lnTo>
                  <a:lnTo>
                    <a:pt x="66241" y="304311"/>
                  </a:lnTo>
                  <a:lnTo>
                    <a:pt x="29705" y="289178"/>
                  </a:lnTo>
                  <a:lnTo>
                    <a:pt x="3885" y="253137"/>
                  </a:lnTo>
                  <a:lnTo>
                    <a:pt x="0" y="233603"/>
                  </a:lnTo>
                  <a:lnTo>
                    <a:pt x="0" y="228599"/>
                  </a:lnTo>
                  <a:lnTo>
                    <a:pt x="0" y="71196"/>
                  </a:lnTo>
                  <a:lnTo>
                    <a:pt x="15621" y="29705"/>
                  </a:lnTo>
                  <a:lnTo>
                    <a:pt x="51662" y="3885"/>
                  </a:lnTo>
                  <a:lnTo>
                    <a:pt x="71196" y="0"/>
                  </a:lnTo>
                  <a:lnTo>
                    <a:pt x="233603" y="0"/>
                  </a:lnTo>
                  <a:lnTo>
                    <a:pt x="275094" y="15621"/>
                  </a:lnTo>
                  <a:lnTo>
                    <a:pt x="300914" y="51661"/>
                  </a:lnTo>
                  <a:lnTo>
                    <a:pt x="304799" y="71196"/>
                  </a:lnTo>
                  <a:lnTo>
                    <a:pt x="304799" y="233603"/>
                  </a:lnTo>
                  <a:lnTo>
                    <a:pt x="289178" y="275094"/>
                  </a:lnTo>
                  <a:lnTo>
                    <a:pt x="253137" y="300914"/>
                  </a:lnTo>
                  <a:lnTo>
                    <a:pt x="238558" y="304311"/>
                  </a:lnTo>
                  <a:lnTo>
                    <a:pt x="233603" y="304799"/>
                  </a:lnTo>
                  <a:close/>
                </a:path>
              </a:pathLst>
            </a:custGeom>
            <a:solidFill>
              <a:srgbClr val="DFE7FF"/>
            </a:solidFill>
          </p:spPr>
          <p:txBody>
            <a:bodyPr wrap="square" lIns="0" tIns="0" rIns="0" bIns="0" rtlCol="0"/>
            <a:lstStyle/>
            <a:p/>
          </p:txBody>
        </p:sp>
      </p:grpSp>
      <p:sp>
        <p:nvSpPr>
          <p:cNvPr id="23" name="object 23"/>
          <p:cNvSpPr txBox="1"/>
          <p:nvPr/>
        </p:nvSpPr>
        <p:spPr>
          <a:xfrm>
            <a:off x="720724" y="4778375"/>
            <a:ext cx="10160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4237CA"/>
                </a:solidFill>
                <a:latin typeface="Times New Roman" panose="02020603050405020304"/>
                <a:cs typeface="Times New Roman" panose="02020603050405020304"/>
              </a:rPr>
              <a:t>3</a:t>
            </a:r>
            <a:endParaRPr sz="1200">
              <a:latin typeface="Times New Roman" panose="02020603050405020304"/>
              <a:cs typeface="Times New Roman" panose="02020603050405020304"/>
            </a:endParaRPr>
          </a:p>
        </p:txBody>
      </p:sp>
      <p:sp>
        <p:nvSpPr>
          <p:cNvPr id="24" name="object 24"/>
          <p:cNvSpPr txBox="1"/>
          <p:nvPr/>
        </p:nvSpPr>
        <p:spPr>
          <a:xfrm>
            <a:off x="1063625" y="4720462"/>
            <a:ext cx="3987800" cy="422909"/>
          </a:xfrm>
          <a:prstGeom prst="rect">
            <a:avLst/>
          </a:prstGeom>
        </p:spPr>
        <p:txBody>
          <a:bodyPr vert="horz" wrap="square" lIns="0" tIns="13335" rIns="0" bIns="0" rtlCol="0">
            <a:spAutoFit/>
          </a:bodyPr>
          <a:lstStyle/>
          <a:p>
            <a:pPr marL="12700">
              <a:lnSpc>
                <a:spcPts val="1560"/>
              </a:lnSpc>
              <a:spcBef>
                <a:spcPts val="105"/>
              </a:spcBef>
            </a:pPr>
            <a:r>
              <a:rPr sz="1350" b="1" spc="-140" dirty="0">
                <a:solidFill>
                  <a:srgbClr val="1D293B"/>
                </a:solidFill>
                <a:latin typeface="微软雅黑" panose="020B0503020204020204" charset="-122"/>
                <a:cs typeface="微软雅黑" panose="020B0503020204020204" charset="-122"/>
              </a:rPr>
              <a:t>泛化能力</a:t>
            </a:r>
            <a:endParaRPr sz="1350">
              <a:latin typeface="微软雅黑" panose="020B0503020204020204" charset="-122"/>
              <a:cs typeface="微软雅黑" panose="020B0503020204020204" charset="-122"/>
            </a:endParaRPr>
          </a:p>
          <a:p>
            <a:pPr marL="12700">
              <a:lnSpc>
                <a:spcPts val="1560"/>
              </a:lnSpc>
            </a:pPr>
            <a:r>
              <a:rPr sz="1350" spc="-170" dirty="0">
                <a:solidFill>
                  <a:srgbClr val="465469"/>
                </a:solidFill>
                <a:latin typeface="宋体" panose="02010600030101010101" pitchFamily="2" charset="-122"/>
                <a:cs typeface="宋体" panose="02010600030101010101" pitchFamily="2" charset="-122"/>
              </a:rPr>
              <a:t>从小规模样本训练的模型，能否有效应对中等或复杂实例？</a:t>
            </a:r>
            <a:endParaRPr sz="1350">
              <a:latin typeface="宋体" panose="02010600030101010101" pitchFamily="2" charset="-122"/>
              <a:cs typeface="宋体" panose="02010600030101010101" pitchFamily="2" charset="-122"/>
            </a:endParaRPr>
          </a:p>
        </p:txBody>
      </p:sp>
      <p:sp>
        <p:nvSpPr>
          <p:cNvPr id="25" name="object 25"/>
          <p:cNvSpPr txBox="1"/>
          <p:nvPr/>
        </p:nvSpPr>
        <p:spPr>
          <a:xfrm>
            <a:off x="7200850" y="1208214"/>
            <a:ext cx="2027555" cy="206375"/>
          </a:xfrm>
          <a:prstGeom prst="rect">
            <a:avLst/>
          </a:prstGeom>
        </p:spPr>
        <p:txBody>
          <a:bodyPr vert="horz" wrap="square" lIns="0" tIns="17145" rIns="0" bIns="0" rtlCol="0">
            <a:spAutoFit/>
          </a:bodyPr>
          <a:lstStyle/>
          <a:p>
            <a:pPr marL="12700">
              <a:lnSpc>
                <a:spcPct val="100000"/>
              </a:lnSpc>
              <a:spcBef>
                <a:spcPts val="135"/>
              </a:spcBef>
            </a:pPr>
            <a:r>
              <a:rPr sz="1150" b="1" spc="5" dirty="0">
                <a:solidFill>
                  <a:srgbClr val="94A2B8"/>
                </a:solidFill>
                <a:latin typeface="微软雅黑" panose="020B0503020204020204" charset="-122"/>
                <a:cs typeface="微软雅黑" panose="020B0503020204020204" charset="-122"/>
              </a:rPr>
              <a:t>评价目标 </a:t>
            </a:r>
            <a:r>
              <a:rPr sz="1050" b="1" spc="80" dirty="0">
                <a:solidFill>
                  <a:srgbClr val="94A2B8"/>
                </a:solidFill>
                <a:latin typeface="Calibri" panose="020F0502020204030204"/>
                <a:cs typeface="Calibri" panose="020F0502020204030204"/>
              </a:rPr>
              <a:t>/ </a:t>
            </a:r>
            <a:r>
              <a:rPr sz="1050" b="1" spc="125" dirty="0">
                <a:solidFill>
                  <a:srgbClr val="94A2B8"/>
                </a:solidFill>
                <a:latin typeface="Calibri" panose="020F0502020204030204"/>
                <a:cs typeface="Calibri" panose="020F0502020204030204"/>
              </a:rPr>
              <a:t>SUCCESS</a:t>
            </a:r>
            <a:r>
              <a:rPr sz="1050" b="1" spc="165" dirty="0">
                <a:solidFill>
                  <a:srgbClr val="94A2B8"/>
                </a:solidFill>
                <a:latin typeface="Calibri" panose="020F0502020204030204"/>
                <a:cs typeface="Calibri" panose="020F0502020204030204"/>
              </a:rPr>
              <a:t> </a:t>
            </a:r>
            <a:r>
              <a:rPr sz="1050" b="1" spc="55" dirty="0">
                <a:solidFill>
                  <a:srgbClr val="94A2B8"/>
                </a:solidFill>
                <a:latin typeface="Calibri" panose="020F0502020204030204"/>
                <a:cs typeface="Calibri" panose="020F0502020204030204"/>
              </a:rPr>
              <a:t>MET</a:t>
            </a:r>
            <a:r>
              <a:rPr sz="1050" b="1" spc="-60" dirty="0">
                <a:solidFill>
                  <a:srgbClr val="94A2B8"/>
                </a:solidFill>
                <a:latin typeface="Calibri" panose="020F0502020204030204"/>
                <a:cs typeface="Calibri" panose="020F0502020204030204"/>
              </a:rPr>
              <a:t> </a:t>
            </a:r>
            <a:r>
              <a:rPr sz="1050" b="1" spc="114" dirty="0">
                <a:solidFill>
                  <a:srgbClr val="94A2B8"/>
                </a:solidFill>
                <a:latin typeface="Calibri" panose="020F0502020204030204"/>
                <a:cs typeface="Calibri" panose="020F0502020204030204"/>
              </a:rPr>
              <a:t>RICS</a:t>
            </a:r>
            <a:endParaRPr sz="1050">
              <a:latin typeface="Calibri" panose="020F0502020204030204"/>
              <a:cs typeface="Calibri" panose="020F0502020204030204"/>
            </a:endParaRPr>
          </a:p>
        </p:txBody>
      </p:sp>
      <p:sp>
        <p:nvSpPr>
          <p:cNvPr id="26" name="object 26"/>
          <p:cNvSpPr/>
          <p:nvPr/>
        </p:nvSpPr>
        <p:spPr>
          <a:xfrm>
            <a:off x="7210425" y="2495549"/>
            <a:ext cx="4524375" cy="457200"/>
          </a:xfrm>
          <a:custGeom>
            <a:avLst/>
            <a:gdLst/>
            <a:ahLst/>
            <a:cxnLst/>
            <a:rect l="l" t="t" r="r" b="b"/>
            <a:pathLst>
              <a:path w="4524375" h="457200">
                <a:moveTo>
                  <a:pt x="4453177" y="457199"/>
                </a:moveTo>
                <a:lnTo>
                  <a:pt x="71196" y="457199"/>
                </a:lnTo>
                <a:lnTo>
                  <a:pt x="66241" y="456711"/>
                </a:lnTo>
                <a:lnTo>
                  <a:pt x="29705" y="441578"/>
                </a:lnTo>
                <a:lnTo>
                  <a:pt x="3885" y="405537"/>
                </a:lnTo>
                <a:lnTo>
                  <a:pt x="0" y="386003"/>
                </a:lnTo>
                <a:lnTo>
                  <a:pt x="0" y="380999"/>
                </a:lnTo>
                <a:lnTo>
                  <a:pt x="0" y="71196"/>
                </a:lnTo>
                <a:lnTo>
                  <a:pt x="15621" y="29705"/>
                </a:lnTo>
                <a:lnTo>
                  <a:pt x="51662" y="3885"/>
                </a:lnTo>
                <a:lnTo>
                  <a:pt x="71196" y="0"/>
                </a:lnTo>
                <a:lnTo>
                  <a:pt x="4453177" y="0"/>
                </a:lnTo>
                <a:lnTo>
                  <a:pt x="4494668" y="15621"/>
                </a:lnTo>
                <a:lnTo>
                  <a:pt x="4520488" y="51661"/>
                </a:lnTo>
                <a:lnTo>
                  <a:pt x="4524374" y="71196"/>
                </a:lnTo>
                <a:lnTo>
                  <a:pt x="4524374" y="386003"/>
                </a:lnTo>
                <a:lnTo>
                  <a:pt x="4508752" y="427494"/>
                </a:lnTo>
                <a:lnTo>
                  <a:pt x="4472711" y="453314"/>
                </a:lnTo>
                <a:lnTo>
                  <a:pt x="4458133" y="456711"/>
                </a:lnTo>
                <a:lnTo>
                  <a:pt x="4453177" y="457199"/>
                </a:lnTo>
                <a:close/>
              </a:path>
            </a:pathLst>
          </a:custGeom>
          <a:solidFill>
            <a:srgbClr val="1D293B"/>
          </a:solidFill>
        </p:spPr>
        <p:txBody>
          <a:bodyPr wrap="square" lIns="0" tIns="0" rIns="0" bIns="0" rtlCol="0"/>
          <a:lstStyle/>
          <a:p/>
        </p:txBody>
      </p:sp>
      <p:sp>
        <p:nvSpPr>
          <p:cNvPr id="27" name="object 27"/>
          <p:cNvSpPr txBox="1"/>
          <p:nvPr/>
        </p:nvSpPr>
        <p:spPr>
          <a:xfrm>
            <a:off x="7353250" y="2589339"/>
            <a:ext cx="1741805" cy="206375"/>
          </a:xfrm>
          <a:prstGeom prst="rect">
            <a:avLst/>
          </a:prstGeom>
        </p:spPr>
        <p:txBody>
          <a:bodyPr vert="horz" wrap="square" lIns="0" tIns="17145" rIns="0" bIns="0" rtlCol="0">
            <a:spAutoFit/>
          </a:bodyPr>
          <a:lstStyle/>
          <a:p>
            <a:pPr marL="12700">
              <a:lnSpc>
                <a:spcPct val="100000"/>
              </a:lnSpc>
              <a:spcBef>
                <a:spcPts val="135"/>
              </a:spcBef>
            </a:pPr>
            <a:r>
              <a:rPr sz="1150" b="1" spc="-110" dirty="0">
                <a:solidFill>
                  <a:srgbClr val="E2E7F0"/>
                </a:solidFill>
                <a:latin typeface="微软雅黑" panose="020B0503020204020204" charset="-122"/>
                <a:cs typeface="微软雅黑" panose="020B0503020204020204" charset="-122"/>
              </a:rPr>
              <a:t>胜出实</a:t>
            </a:r>
            <a:r>
              <a:rPr sz="1150" b="1" spc="-100" dirty="0">
                <a:solidFill>
                  <a:srgbClr val="E2E7F0"/>
                </a:solidFill>
                <a:latin typeface="Yu Gothic UI Semibold" panose="020B0700000000000000" charset="-128"/>
                <a:cs typeface="Yu Gothic UI Semibold" panose="020B0700000000000000" charset="-128"/>
              </a:rPr>
              <a:t>例比例 </a:t>
            </a:r>
            <a:r>
              <a:rPr sz="1050" b="1" dirty="0">
                <a:solidFill>
                  <a:srgbClr val="E2E7F0"/>
                </a:solidFill>
                <a:latin typeface="Times New Roman" panose="02020603050405020304"/>
                <a:cs typeface="Times New Roman" panose="02020603050405020304"/>
              </a:rPr>
              <a:t>(Winning</a:t>
            </a:r>
            <a:r>
              <a:rPr sz="1050" b="1" spc="-25" dirty="0">
                <a:solidFill>
                  <a:srgbClr val="E2E7F0"/>
                </a:solidFill>
                <a:latin typeface="Times New Roman" panose="02020603050405020304"/>
                <a:cs typeface="Times New Roman" panose="02020603050405020304"/>
              </a:rPr>
              <a:t> </a:t>
            </a:r>
            <a:r>
              <a:rPr sz="1050" b="1" spc="-10" dirty="0">
                <a:solidFill>
                  <a:srgbClr val="E2E7F0"/>
                </a:solidFill>
                <a:latin typeface="Times New Roman" panose="02020603050405020304"/>
                <a:cs typeface="Times New Roman" panose="02020603050405020304"/>
              </a:rPr>
              <a:t>Rate)</a:t>
            </a:r>
            <a:endParaRPr sz="1050">
              <a:latin typeface="Times New Roman" panose="02020603050405020304"/>
              <a:cs typeface="Times New Roman" panose="02020603050405020304"/>
            </a:endParaRPr>
          </a:p>
        </p:txBody>
      </p:sp>
      <p:sp>
        <p:nvSpPr>
          <p:cNvPr id="28" name="object 28"/>
          <p:cNvSpPr txBox="1"/>
          <p:nvPr/>
        </p:nvSpPr>
        <p:spPr>
          <a:xfrm>
            <a:off x="10331449" y="2601577"/>
            <a:ext cx="1259840" cy="226060"/>
          </a:xfrm>
          <a:prstGeom prst="rect">
            <a:avLst/>
          </a:prstGeom>
        </p:spPr>
        <p:txBody>
          <a:bodyPr vert="horz" wrap="square" lIns="0" tIns="14604" rIns="0" bIns="0" rtlCol="0">
            <a:spAutoFit/>
          </a:bodyPr>
          <a:lstStyle/>
          <a:p>
            <a:pPr marL="12700">
              <a:lnSpc>
                <a:spcPct val="100000"/>
              </a:lnSpc>
              <a:spcBef>
                <a:spcPts val="115"/>
              </a:spcBef>
            </a:pPr>
            <a:r>
              <a:rPr sz="1300" b="1" spc="-10" dirty="0">
                <a:solidFill>
                  <a:srgbClr val="33D399"/>
                </a:solidFill>
                <a:latin typeface="Courier New" panose="02070309020205020404"/>
                <a:cs typeface="Courier New" panose="02070309020205020404"/>
              </a:rPr>
              <a:t>Wins</a:t>
            </a:r>
            <a:r>
              <a:rPr sz="1300" b="1" spc="-114" dirty="0">
                <a:solidFill>
                  <a:srgbClr val="33D399"/>
                </a:solidFill>
                <a:latin typeface="Courier New" panose="02070309020205020404"/>
                <a:cs typeface="Courier New" panose="02070309020205020404"/>
              </a:rPr>
              <a:t> </a:t>
            </a:r>
            <a:r>
              <a:rPr sz="1300" b="1" dirty="0">
                <a:solidFill>
                  <a:srgbClr val="33D399"/>
                </a:solidFill>
                <a:latin typeface="Courier New" panose="02070309020205020404"/>
                <a:cs typeface="Courier New" panose="02070309020205020404"/>
              </a:rPr>
              <a:t>/</a:t>
            </a:r>
            <a:r>
              <a:rPr sz="1300" b="1" spc="-114" dirty="0">
                <a:solidFill>
                  <a:srgbClr val="33D399"/>
                </a:solidFill>
                <a:latin typeface="Courier New" panose="02070309020205020404"/>
                <a:cs typeface="Courier New" panose="02070309020205020404"/>
              </a:rPr>
              <a:t> </a:t>
            </a:r>
            <a:r>
              <a:rPr sz="1300" b="1" spc="-10" dirty="0">
                <a:solidFill>
                  <a:srgbClr val="33D399"/>
                </a:solidFill>
                <a:latin typeface="Courier New" panose="02070309020205020404"/>
                <a:cs typeface="Courier New" panose="02070309020205020404"/>
              </a:rPr>
              <a:t>Solved</a:t>
            </a:r>
            <a:endParaRPr sz="1300">
              <a:latin typeface="Courier New" panose="02070309020205020404"/>
              <a:cs typeface="Courier New" panose="02070309020205020404"/>
            </a:endParaRPr>
          </a:p>
        </p:txBody>
      </p:sp>
      <p:grpSp>
        <p:nvGrpSpPr>
          <p:cNvPr id="29" name="object 29"/>
          <p:cNvGrpSpPr/>
          <p:nvPr/>
        </p:nvGrpSpPr>
        <p:grpSpPr>
          <a:xfrm>
            <a:off x="7210424" y="3181349"/>
            <a:ext cx="4524375" cy="3133725"/>
            <a:chOff x="7210424" y="3181349"/>
            <a:chExt cx="4524375" cy="3133725"/>
          </a:xfrm>
        </p:grpSpPr>
        <p:sp>
          <p:nvSpPr>
            <p:cNvPr id="30" name="object 30"/>
            <p:cNvSpPr/>
            <p:nvPr/>
          </p:nvSpPr>
          <p:spPr>
            <a:xfrm>
              <a:off x="7210424" y="3200399"/>
              <a:ext cx="4524375" cy="3114675"/>
            </a:xfrm>
            <a:custGeom>
              <a:avLst/>
              <a:gdLst/>
              <a:ahLst/>
              <a:cxnLst/>
              <a:rect l="l" t="t" r="r" b="b"/>
              <a:pathLst>
                <a:path w="4524375" h="3114675">
                  <a:moveTo>
                    <a:pt x="4417579" y="3114674"/>
                  </a:moveTo>
                  <a:lnTo>
                    <a:pt x="106794" y="3114674"/>
                  </a:lnTo>
                  <a:lnTo>
                    <a:pt x="99362" y="3113942"/>
                  </a:lnTo>
                  <a:lnTo>
                    <a:pt x="57038" y="3099580"/>
                  </a:lnTo>
                  <a:lnTo>
                    <a:pt x="23432" y="3070115"/>
                  </a:lnTo>
                  <a:lnTo>
                    <a:pt x="3660" y="3030033"/>
                  </a:lnTo>
                  <a:lnTo>
                    <a:pt x="0" y="3007879"/>
                  </a:lnTo>
                  <a:lnTo>
                    <a:pt x="0" y="3000374"/>
                  </a:lnTo>
                  <a:lnTo>
                    <a:pt x="0" y="88995"/>
                  </a:lnTo>
                  <a:lnTo>
                    <a:pt x="15093" y="47531"/>
                  </a:lnTo>
                  <a:lnTo>
                    <a:pt x="44558" y="19526"/>
                  </a:lnTo>
                  <a:lnTo>
                    <a:pt x="84640" y="3050"/>
                  </a:lnTo>
                  <a:lnTo>
                    <a:pt x="106794" y="0"/>
                  </a:lnTo>
                  <a:lnTo>
                    <a:pt x="4417579" y="0"/>
                  </a:lnTo>
                  <a:lnTo>
                    <a:pt x="4460748" y="9643"/>
                  </a:lnTo>
                  <a:lnTo>
                    <a:pt x="4496203" y="32320"/>
                  </a:lnTo>
                  <a:lnTo>
                    <a:pt x="4518545" y="64577"/>
                  </a:lnTo>
                  <a:lnTo>
                    <a:pt x="4524374" y="88995"/>
                  </a:lnTo>
                  <a:lnTo>
                    <a:pt x="4524374" y="3007879"/>
                  </a:lnTo>
                  <a:lnTo>
                    <a:pt x="4512801" y="3051048"/>
                  </a:lnTo>
                  <a:lnTo>
                    <a:pt x="4485589" y="3086503"/>
                  </a:lnTo>
                  <a:lnTo>
                    <a:pt x="4446881" y="3108845"/>
                  </a:lnTo>
                  <a:lnTo>
                    <a:pt x="4425012" y="3113942"/>
                  </a:lnTo>
                  <a:lnTo>
                    <a:pt x="4417579" y="3114674"/>
                  </a:lnTo>
                  <a:close/>
                </a:path>
              </a:pathLst>
            </a:custGeom>
            <a:solidFill>
              <a:srgbClr val="F7FAFB"/>
            </a:solidFill>
          </p:spPr>
          <p:txBody>
            <a:bodyPr wrap="square" lIns="0" tIns="0" rIns="0" bIns="0" rtlCol="0"/>
            <a:lstStyle/>
            <a:p/>
          </p:txBody>
        </p:sp>
        <p:sp>
          <p:nvSpPr>
            <p:cNvPr id="31" name="object 31"/>
            <p:cNvSpPr/>
            <p:nvPr/>
          </p:nvSpPr>
          <p:spPr>
            <a:xfrm>
              <a:off x="7210424" y="3181349"/>
              <a:ext cx="4524375" cy="114300"/>
            </a:xfrm>
            <a:custGeom>
              <a:avLst/>
              <a:gdLst/>
              <a:ahLst/>
              <a:cxnLst/>
              <a:rect l="l" t="t" r="r" b="b"/>
              <a:pathLst>
                <a:path w="4524375" h="114300">
                  <a:moveTo>
                    <a:pt x="0" y="114299"/>
                  </a:moveTo>
                  <a:lnTo>
                    <a:pt x="8699" y="70558"/>
                  </a:lnTo>
                  <a:lnTo>
                    <a:pt x="33477" y="33477"/>
                  </a:lnTo>
                  <a:lnTo>
                    <a:pt x="70557" y="8700"/>
                  </a:lnTo>
                  <a:lnTo>
                    <a:pt x="114299" y="0"/>
                  </a:lnTo>
                  <a:lnTo>
                    <a:pt x="4410074" y="0"/>
                  </a:lnTo>
                  <a:lnTo>
                    <a:pt x="4453814" y="8700"/>
                  </a:lnTo>
                  <a:lnTo>
                    <a:pt x="4490896" y="33477"/>
                  </a:lnTo>
                  <a:lnTo>
                    <a:pt x="4495093" y="38099"/>
                  </a:lnTo>
                  <a:lnTo>
                    <a:pt x="114299" y="38099"/>
                  </a:lnTo>
                  <a:lnTo>
                    <a:pt x="103040" y="38462"/>
                  </a:lnTo>
                  <a:lnTo>
                    <a:pt x="60363" y="47107"/>
                  </a:lnTo>
                  <a:lnTo>
                    <a:pt x="25899" y="65982"/>
                  </a:lnTo>
                  <a:lnTo>
                    <a:pt x="5009" y="91996"/>
                  </a:lnTo>
                  <a:lnTo>
                    <a:pt x="4893" y="92213"/>
                  </a:lnTo>
                  <a:lnTo>
                    <a:pt x="2174" y="99431"/>
                  </a:lnTo>
                  <a:lnTo>
                    <a:pt x="543" y="106793"/>
                  </a:lnTo>
                  <a:lnTo>
                    <a:pt x="0" y="114299"/>
                  </a:lnTo>
                  <a:close/>
                </a:path>
                <a:path w="4524375" h="114300">
                  <a:moveTo>
                    <a:pt x="4524374" y="114299"/>
                  </a:moveTo>
                  <a:lnTo>
                    <a:pt x="4510861" y="78342"/>
                  </a:lnTo>
                  <a:lnTo>
                    <a:pt x="4473587" y="50929"/>
                  </a:lnTo>
                  <a:lnTo>
                    <a:pt x="4432377" y="39550"/>
                  </a:lnTo>
                  <a:lnTo>
                    <a:pt x="4410074" y="38099"/>
                  </a:lnTo>
                  <a:lnTo>
                    <a:pt x="4495093" y="38099"/>
                  </a:lnTo>
                  <a:lnTo>
                    <a:pt x="4515672" y="70558"/>
                  </a:lnTo>
                  <a:lnTo>
                    <a:pt x="4523830" y="103040"/>
                  </a:lnTo>
                  <a:lnTo>
                    <a:pt x="4524374" y="114299"/>
                  </a:lnTo>
                  <a:close/>
                </a:path>
              </a:pathLst>
            </a:custGeom>
            <a:solidFill>
              <a:srgbClr val="94A2B8"/>
            </a:solidFill>
          </p:spPr>
          <p:txBody>
            <a:bodyPr wrap="square" lIns="0" tIns="0" rIns="0" bIns="0" rtlCol="0"/>
            <a:lstStyle/>
            <a:p/>
          </p:txBody>
        </p:sp>
        <p:pic>
          <p:nvPicPr>
            <p:cNvPr id="32" name="object 32"/>
            <p:cNvPicPr/>
            <p:nvPr/>
          </p:nvPicPr>
          <p:blipFill>
            <a:blip r:embed="rId1" cstate="print"/>
            <a:stretch>
              <a:fillRect/>
            </a:stretch>
          </p:blipFill>
          <p:spPr>
            <a:xfrm>
              <a:off x="7426324" y="3441699"/>
              <a:ext cx="101600" cy="127000"/>
            </a:xfrm>
            <a:prstGeom prst="rect">
              <a:avLst/>
            </a:prstGeom>
          </p:spPr>
        </p:pic>
      </p:grpSp>
      <p:sp>
        <p:nvSpPr>
          <p:cNvPr id="33" name="object 33"/>
          <p:cNvSpPr txBox="1"/>
          <p:nvPr/>
        </p:nvSpPr>
        <p:spPr>
          <a:xfrm>
            <a:off x="7619950" y="3384801"/>
            <a:ext cx="1614805" cy="212090"/>
          </a:xfrm>
          <a:prstGeom prst="rect">
            <a:avLst/>
          </a:prstGeom>
        </p:spPr>
        <p:txBody>
          <a:bodyPr vert="horz" wrap="square" lIns="0" tIns="15240" rIns="0" bIns="0" rtlCol="0">
            <a:spAutoFit/>
          </a:bodyPr>
          <a:lstStyle/>
          <a:p>
            <a:pPr marL="12700">
              <a:lnSpc>
                <a:spcPct val="100000"/>
              </a:lnSpc>
              <a:spcBef>
                <a:spcPts val="120"/>
              </a:spcBef>
            </a:pPr>
            <a:r>
              <a:rPr sz="1200" b="1" spc="-165" dirty="0">
                <a:solidFill>
                  <a:srgbClr val="64738B"/>
                </a:solidFill>
                <a:latin typeface="微软雅黑" panose="020B0503020204020204" charset="-122"/>
                <a:cs typeface="微软雅黑" panose="020B0503020204020204" charset="-122"/>
              </a:rPr>
              <a:t>定义</a:t>
            </a:r>
            <a:r>
              <a:rPr sz="1050" b="1" i="1" dirty="0">
                <a:solidFill>
                  <a:srgbClr val="64738B"/>
                </a:solidFill>
                <a:latin typeface="Calibri" panose="020F0502020204030204"/>
                <a:cs typeface="Calibri" panose="020F0502020204030204"/>
              </a:rPr>
              <a:t>: </a:t>
            </a:r>
            <a:r>
              <a:rPr sz="1200" b="1" spc="-155" dirty="0">
                <a:solidFill>
                  <a:srgbClr val="64738B"/>
                </a:solidFill>
                <a:latin typeface="微软雅黑" panose="020B0503020204020204" charset="-122"/>
                <a:cs typeface="微软雅黑" panose="020B0503020204020204" charset="-122"/>
              </a:rPr>
              <a:t>分支操作 </a:t>
            </a:r>
            <a:r>
              <a:rPr sz="1050" b="1" i="1" spc="-10" dirty="0">
                <a:solidFill>
                  <a:srgbClr val="64738B"/>
                </a:solidFill>
                <a:latin typeface="Calibri" panose="020F0502020204030204"/>
                <a:cs typeface="Calibri" panose="020F0502020204030204"/>
              </a:rPr>
              <a:t>(Branching)</a:t>
            </a:r>
            <a:endParaRPr sz="1050">
              <a:latin typeface="Calibri" panose="020F0502020204030204"/>
              <a:cs typeface="Calibri" panose="020F0502020204030204"/>
            </a:endParaRPr>
          </a:p>
        </p:txBody>
      </p:sp>
      <p:grpSp>
        <p:nvGrpSpPr>
          <p:cNvPr id="34" name="object 34"/>
          <p:cNvGrpSpPr/>
          <p:nvPr/>
        </p:nvGrpSpPr>
        <p:grpSpPr>
          <a:xfrm>
            <a:off x="7400925" y="4600574"/>
            <a:ext cx="4143375" cy="1066800"/>
            <a:chOff x="7400925" y="4600574"/>
            <a:chExt cx="4143375" cy="1066800"/>
          </a:xfrm>
        </p:grpSpPr>
        <p:sp>
          <p:nvSpPr>
            <p:cNvPr id="35" name="object 35"/>
            <p:cNvSpPr/>
            <p:nvPr/>
          </p:nvSpPr>
          <p:spPr>
            <a:xfrm>
              <a:off x="7405687" y="4605337"/>
              <a:ext cx="4133850" cy="1057275"/>
            </a:xfrm>
            <a:custGeom>
              <a:avLst/>
              <a:gdLst/>
              <a:ahLst/>
              <a:cxnLst/>
              <a:rect l="l" t="t" r="r" b="b"/>
              <a:pathLst>
                <a:path w="4133850" h="1057275">
                  <a:moveTo>
                    <a:pt x="4067102" y="1057274"/>
                  </a:moveTo>
                  <a:lnTo>
                    <a:pt x="66746" y="1057274"/>
                  </a:lnTo>
                  <a:lnTo>
                    <a:pt x="62101" y="1056817"/>
                  </a:lnTo>
                  <a:lnTo>
                    <a:pt x="24240" y="1039667"/>
                  </a:lnTo>
                  <a:lnTo>
                    <a:pt x="2287" y="1004374"/>
                  </a:lnTo>
                  <a:lnTo>
                    <a:pt x="0" y="990528"/>
                  </a:lnTo>
                  <a:lnTo>
                    <a:pt x="0" y="985837"/>
                  </a:lnTo>
                  <a:lnTo>
                    <a:pt x="0" y="66746"/>
                  </a:lnTo>
                  <a:lnTo>
                    <a:pt x="14645" y="27848"/>
                  </a:lnTo>
                  <a:lnTo>
                    <a:pt x="48433" y="3642"/>
                  </a:lnTo>
                  <a:lnTo>
                    <a:pt x="66746" y="0"/>
                  </a:lnTo>
                  <a:lnTo>
                    <a:pt x="4067102" y="0"/>
                  </a:lnTo>
                  <a:lnTo>
                    <a:pt x="4106000" y="14644"/>
                  </a:lnTo>
                  <a:lnTo>
                    <a:pt x="4130206" y="48432"/>
                  </a:lnTo>
                  <a:lnTo>
                    <a:pt x="4133849" y="66746"/>
                  </a:lnTo>
                  <a:lnTo>
                    <a:pt x="4133849" y="990528"/>
                  </a:lnTo>
                  <a:lnTo>
                    <a:pt x="4119203" y="1029425"/>
                  </a:lnTo>
                  <a:lnTo>
                    <a:pt x="4085416" y="1053631"/>
                  </a:lnTo>
                  <a:lnTo>
                    <a:pt x="4071747" y="1056817"/>
                  </a:lnTo>
                  <a:lnTo>
                    <a:pt x="4067102" y="1057274"/>
                  </a:lnTo>
                  <a:close/>
                </a:path>
              </a:pathLst>
            </a:custGeom>
            <a:solidFill>
              <a:srgbClr val="FFFFFF"/>
            </a:solidFill>
          </p:spPr>
          <p:txBody>
            <a:bodyPr wrap="square" lIns="0" tIns="0" rIns="0" bIns="0" rtlCol="0"/>
            <a:lstStyle/>
            <a:p/>
          </p:txBody>
        </p:sp>
        <p:sp>
          <p:nvSpPr>
            <p:cNvPr id="36" name="object 36"/>
            <p:cNvSpPr/>
            <p:nvPr/>
          </p:nvSpPr>
          <p:spPr>
            <a:xfrm>
              <a:off x="7405687" y="4605337"/>
              <a:ext cx="4133850" cy="1057275"/>
            </a:xfrm>
            <a:custGeom>
              <a:avLst/>
              <a:gdLst/>
              <a:ahLst/>
              <a:cxnLst/>
              <a:rect l="l" t="t" r="r" b="b"/>
              <a:pathLst>
                <a:path w="4133850" h="1057275">
                  <a:moveTo>
                    <a:pt x="0" y="985837"/>
                  </a:moveTo>
                  <a:lnTo>
                    <a:pt x="0" y="71437"/>
                  </a:lnTo>
                  <a:lnTo>
                    <a:pt x="0" y="66746"/>
                  </a:lnTo>
                  <a:lnTo>
                    <a:pt x="457" y="62101"/>
                  </a:lnTo>
                  <a:lnTo>
                    <a:pt x="1372" y="57500"/>
                  </a:lnTo>
                  <a:lnTo>
                    <a:pt x="2287" y="52899"/>
                  </a:lnTo>
                  <a:lnTo>
                    <a:pt x="3642" y="48432"/>
                  </a:lnTo>
                  <a:lnTo>
                    <a:pt x="5437" y="44099"/>
                  </a:lnTo>
                  <a:lnTo>
                    <a:pt x="7232" y="39765"/>
                  </a:lnTo>
                  <a:lnTo>
                    <a:pt x="9433" y="35648"/>
                  </a:lnTo>
                  <a:lnTo>
                    <a:pt x="12039" y="31748"/>
                  </a:lnTo>
                  <a:lnTo>
                    <a:pt x="14645" y="27848"/>
                  </a:lnTo>
                  <a:lnTo>
                    <a:pt x="17606" y="24239"/>
                  </a:lnTo>
                  <a:lnTo>
                    <a:pt x="20923" y="20923"/>
                  </a:lnTo>
                  <a:lnTo>
                    <a:pt x="24240" y="17606"/>
                  </a:lnTo>
                  <a:lnTo>
                    <a:pt x="27848" y="14644"/>
                  </a:lnTo>
                  <a:lnTo>
                    <a:pt x="66746" y="0"/>
                  </a:lnTo>
                  <a:lnTo>
                    <a:pt x="71437" y="0"/>
                  </a:lnTo>
                  <a:lnTo>
                    <a:pt x="4062412" y="0"/>
                  </a:lnTo>
                  <a:lnTo>
                    <a:pt x="4067102" y="0"/>
                  </a:lnTo>
                  <a:lnTo>
                    <a:pt x="4071747" y="457"/>
                  </a:lnTo>
                  <a:lnTo>
                    <a:pt x="4109608" y="17606"/>
                  </a:lnTo>
                  <a:lnTo>
                    <a:pt x="4112925" y="20923"/>
                  </a:lnTo>
                  <a:lnTo>
                    <a:pt x="4116242" y="24239"/>
                  </a:lnTo>
                  <a:lnTo>
                    <a:pt x="4119204" y="27848"/>
                  </a:lnTo>
                  <a:lnTo>
                    <a:pt x="4121809" y="31748"/>
                  </a:lnTo>
                  <a:lnTo>
                    <a:pt x="4124415" y="35648"/>
                  </a:lnTo>
                  <a:lnTo>
                    <a:pt x="4132476" y="57500"/>
                  </a:lnTo>
                  <a:lnTo>
                    <a:pt x="4133391" y="62100"/>
                  </a:lnTo>
                  <a:lnTo>
                    <a:pt x="4133849" y="66746"/>
                  </a:lnTo>
                  <a:lnTo>
                    <a:pt x="4133849" y="71437"/>
                  </a:lnTo>
                  <a:lnTo>
                    <a:pt x="4133849" y="985837"/>
                  </a:lnTo>
                  <a:lnTo>
                    <a:pt x="4133849" y="990528"/>
                  </a:lnTo>
                  <a:lnTo>
                    <a:pt x="4133391" y="995173"/>
                  </a:lnTo>
                  <a:lnTo>
                    <a:pt x="4132476" y="999774"/>
                  </a:lnTo>
                  <a:lnTo>
                    <a:pt x="4131561" y="1004374"/>
                  </a:lnTo>
                  <a:lnTo>
                    <a:pt x="4130206" y="1008841"/>
                  </a:lnTo>
                  <a:lnTo>
                    <a:pt x="4128411" y="1013174"/>
                  </a:lnTo>
                  <a:lnTo>
                    <a:pt x="4126616" y="1017508"/>
                  </a:lnTo>
                  <a:lnTo>
                    <a:pt x="4124415" y="1021625"/>
                  </a:lnTo>
                  <a:lnTo>
                    <a:pt x="4121809" y="1025525"/>
                  </a:lnTo>
                  <a:lnTo>
                    <a:pt x="4119203" y="1029425"/>
                  </a:lnTo>
                  <a:lnTo>
                    <a:pt x="4089749" y="1051836"/>
                  </a:lnTo>
                  <a:lnTo>
                    <a:pt x="4085416" y="1053631"/>
                  </a:lnTo>
                  <a:lnTo>
                    <a:pt x="4080949" y="1054987"/>
                  </a:lnTo>
                  <a:lnTo>
                    <a:pt x="4076348" y="1055902"/>
                  </a:lnTo>
                  <a:lnTo>
                    <a:pt x="4071747" y="1056817"/>
                  </a:lnTo>
                  <a:lnTo>
                    <a:pt x="4067102" y="1057274"/>
                  </a:lnTo>
                  <a:lnTo>
                    <a:pt x="4062412" y="1057274"/>
                  </a:lnTo>
                  <a:lnTo>
                    <a:pt x="71437" y="1057274"/>
                  </a:lnTo>
                  <a:lnTo>
                    <a:pt x="66746" y="1057274"/>
                  </a:lnTo>
                  <a:lnTo>
                    <a:pt x="62101" y="1056817"/>
                  </a:lnTo>
                  <a:lnTo>
                    <a:pt x="57500" y="1055902"/>
                  </a:lnTo>
                  <a:lnTo>
                    <a:pt x="52900" y="1054987"/>
                  </a:lnTo>
                  <a:lnTo>
                    <a:pt x="48433" y="1053631"/>
                  </a:lnTo>
                  <a:lnTo>
                    <a:pt x="44099" y="1051836"/>
                  </a:lnTo>
                  <a:lnTo>
                    <a:pt x="39765" y="1050041"/>
                  </a:lnTo>
                  <a:lnTo>
                    <a:pt x="12039" y="1025525"/>
                  </a:lnTo>
                  <a:lnTo>
                    <a:pt x="9433" y="1021625"/>
                  </a:lnTo>
                  <a:lnTo>
                    <a:pt x="7232" y="1017508"/>
                  </a:lnTo>
                  <a:lnTo>
                    <a:pt x="5437" y="1013174"/>
                  </a:lnTo>
                  <a:lnTo>
                    <a:pt x="3642" y="1008841"/>
                  </a:lnTo>
                  <a:lnTo>
                    <a:pt x="2287" y="1004374"/>
                  </a:lnTo>
                  <a:lnTo>
                    <a:pt x="1372" y="999774"/>
                  </a:lnTo>
                  <a:lnTo>
                    <a:pt x="457" y="995173"/>
                  </a:lnTo>
                  <a:lnTo>
                    <a:pt x="0" y="990528"/>
                  </a:lnTo>
                  <a:lnTo>
                    <a:pt x="0" y="985837"/>
                  </a:lnTo>
                  <a:close/>
                </a:path>
              </a:pathLst>
            </a:custGeom>
            <a:ln w="9524">
              <a:solidFill>
                <a:srgbClr val="E2E7F0"/>
              </a:solidFill>
            </a:ln>
          </p:spPr>
          <p:txBody>
            <a:bodyPr wrap="square" lIns="0" tIns="0" rIns="0" bIns="0" rtlCol="0"/>
            <a:lstStyle/>
            <a:p/>
          </p:txBody>
        </p:sp>
      </p:grpSp>
      <p:sp>
        <p:nvSpPr>
          <p:cNvPr id="37" name="object 37"/>
          <p:cNvSpPr txBox="1"/>
          <p:nvPr/>
        </p:nvSpPr>
        <p:spPr>
          <a:xfrm>
            <a:off x="11131549" y="5978071"/>
            <a:ext cx="425450" cy="140335"/>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94A2B8"/>
                </a:solidFill>
                <a:latin typeface="Lucida Console" panose="020B0609040504020204"/>
                <a:cs typeface="Lucida Console" panose="020B0609040504020204"/>
              </a:rPr>
              <a:t>Eq.</a:t>
            </a:r>
            <a:r>
              <a:rPr sz="750" spc="-5" dirty="0">
                <a:solidFill>
                  <a:srgbClr val="94A2B8"/>
                </a:solidFill>
                <a:latin typeface="Lucida Console" panose="020B0609040504020204"/>
                <a:cs typeface="Lucida Console" panose="020B0609040504020204"/>
              </a:rPr>
              <a:t> </a:t>
            </a:r>
            <a:r>
              <a:rPr sz="750" spc="-25" dirty="0">
                <a:solidFill>
                  <a:srgbClr val="94A2B8"/>
                </a:solidFill>
                <a:latin typeface="Lucida Console" panose="020B0609040504020204"/>
                <a:cs typeface="Lucida Console" panose="020B0609040504020204"/>
              </a:rPr>
              <a:t>(2)</a:t>
            </a:r>
            <a:endParaRPr sz="750">
              <a:latin typeface="Lucida Console" panose="020B0609040504020204"/>
              <a:cs typeface="Lucida Console" panose="020B0609040504020204"/>
            </a:endParaRPr>
          </a:p>
        </p:txBody>
      </p:sp>
      <p:sp>
        <p:nvSpPr>
          <p:cNvPr id="38" name="object 38"/>
          <p:cNvSpPr txBox="1"/>
          <p:nvPr/>
        </p:nvSpPr>
        <p:spPr>
          <a:xfrm>
            <a:off x="7365950" y="3639083"/>
            <a:ext cx="4109085" cy="537845"/>
          </a:xfrm>
          <a:prstGeom prst="rect">
            <a:avLst/>
          </a:prstGeom>
        </p:spPr>
        <p:txBody>
          <a:bodyPr vert="horz" wrap="square" lIns="0" tIns="19685" rIns="0" bIns="0" rtlCol="0">
            <a:spAutoFit/>
          </a:bodyPr>
          <a:lstStyle/>
          <a:p>
            <a:pPr marL="38100" marR="30480">
              <a:lnSpc>
                <a:spcPct val="110000"/>
              </a:lnSpc>
              <a:spcBef>
                <a:spcPts val="155"/>
              </a:spcBef>
            </a:pPr>
            <a:r>
              <a:rPr sz="1150" spc="-145" dirty="0">
                <a:solidFill>
                  <a:srgbClr val="465469"/>
                </a:solidFill>
                <a:latin typeface="宋体" panose="02010600030101010101" pitchFamily="2" charset="-122"/>
                <a:cs typeface="宋体" panose="02010600030101010101" pitchFamily="2" charset="-122"/>
              </a:rPr>
              <a:t>当整数变量 </a:t>
            </a:r>
            <a:r>
              <a:rPr sz="1800" i="1" spc="160" dirty="0">
                <a:solidFill>
                  <a:srgbClr val="465469"/>
                </a:solidFill>
                <a:latin typeface="Cambria" panose="02040503050406030204"/>
                <a:cs typeface="Cambria" panose="02040503050406030204"/>
              </a:rPr>
              <a:t>x</a:t>
            </a:r>
            <a:r>
              <a:rPr sz="1875" i="1" spc="240" baseline="-13000" dirty="0">
                <a:solidFill>
                  <a:srgbClr val="465469"/>
                </a:solidFill>
                <a:latin typeface="Cambria" panose="02040503050406030204"/>
                <a:cs typeface="Cambria" panose="02040503050406030204"/>
              </a:rPr>
              <a:t>i</a:t>
            </a:r>
            <a:r>
              <a:rPr sz="1875" i="1" spc="112" baseline="-13000" dirty="0">
                <a:solidFill>
                  <a:srgbClr val="465469"/>
                </a:solidFill>
                <a:latin typeface="Cambria" panose="02040503050406030204"/>
                <a:cs typeface="Cambria" panose="02040503050406030204"/>
              </a:rPr>
              <a:t> </a:t>
            </a:r>
            <a:r>
              <a:rPr sz="1150" spc="-155" dirty="0">
                <a:solidFill>
                  <a:srgbClr val="465469"/>
                </a:solidFill>
                <a:latin typeface="宋体" panose="02010600030101010101" pitchFamily="2" charset="-122"/>
                <a:cs typeface="宋体" panose="02010600030101010101" pitchFamily="2" charset="-122"/>
              </a:rPr>
              <a:t>在松弛解 </a:t>
            </a:r>
            <a:r>
              <a:rPr sz="1800" i="1" spc="-35" dirty="0">
                <a:solidFill>
                  <a:srgbClr val="465469"/>
                </a:solidFill>
                <a:latin typeface="Cambria" panose="02040503050406030204"/>
                <a:cs typeface="Cambria" panose="02040503050406030204"/>
              </a:rPr>
              <a:t>x</a:t>
            </a:r>
            <a:r>
              <a:rPr sz="1875" spc="-52" baseline="29000" dirty="0">
                <a:solidFill>
                  <a:srgbClr val="465469"/>
                </a:solidFill>
                <a:latin typeface="Lucida Sans Unicode" panose="020B0602030504020204"/>
                <a:cs typeface="Lucida Sans Unicode" panose="020B0602030504020204"/>
              </a:rPr>
              <a:t>⋆ </a:t>
            </a:r>
            <a:r>
              <a:rPr sz="1150" spc="-110" dirty="0">
                <a:solidFill>
                  <a:srgbClr val="465469"/>
                </a:solidFill>
                <a:latin typeface="宋体" panose="02010600030101010101" pitchFamily="2" charset="-122"/>
                <a:cs typeface="宋体" panose="02010600030101010101" pitchFamily="2" charset="-122"/>
              </a:rPr>
              <a:t>中取非整数值时，分支操作创建两个子</a:t>
            </a:r>
            <a:r>
              <a:rPr sz="1150" spc="-90" dirty="0">
                <a:solidFill>
                  <a:srgbClr val="465469"/>
                </a:solidFill>
                <a:latin typeface="宋体" panose="02010600030101010101" pitchFamily="2" charset="-122"/>
                <a:cs typeface="宋体" panose="02010600030101010101" pitchFamily="2" charset="-122"/>
              </a:rPr>
              <a:t>空间：</a:t>
            </a:r>
            <a:endParaRPr sz="1150">
              <a:latin typeface="宋体" panose="02010600030101010101" pitchFamily="2" charset="-122"/>
              <a:cs typeface="宋体" panose="02010600030101010101" pitchFamily="2" charset="-122"/>
            </a:endParaRPr>
          </a:p>
        </p:txBody>
      </p:sp>
      <p:sp>
        <p:nvSpPr>
          <p:cNvPr id="39" name="object 39"/>
          <p:cNvSpPr/>
          <p:nvPr/>
        </p:nvSpPr>
        <p:spPr>
          <a:xfrm>
            <a:off x="7210425" y="1533524"/>
            <a:ext cx="2209800" cy="847725"/>
          </a:xfrm>
          <a:custGeom>
            <a:avLst/>
            <a:gdLst/>
            <a:ahLst/>
            <a:cxnLst/>
            <a:rect l="l" t="t" r="r" b="b"/>
            <a:pathLst>
              <a:path w="2209800" h="847725">
                <a:moveTo>
                  <a:pt x="2138603" y="847724"/>
                </a:moveTo>
                <a:lnTo>
                  <a:pt x="71196" y="847724"/>
                </a:lnTo>
                <a:lnTo>
                  <a:pt x="66241" y="847236"/>
                </a:lnTo>
                <a:lnTo>
                  <a:pt x="29705" y="832103"/>
                </a:lnTo>
                <a:lnTo>
                  <a:pt x="3885" y="796062"/>
                </a:lnTo>
                <a:lnTo>
                  <a:pt x="0" y="776528"/>
                </a:lnTo>
                <a:lnTo>
                  <a:pt x="0" y="771524"/>
                </a:lnTo>
                <a:lnTo>
                  <a:pt x="0" y="71196"/>
                </a:lnTo>
                <a:lnTo>
                  <a:pt x="15621" y="29705"/>
                </a:lnTo>
                <a:lnTo>
                  <a:pt x="51662" y="3885"/>
                </a:lnTo>
                <a:lnTo>
                  <a:pt x="71196" y="0"/>
                </a:lnTo>
                <a:lnTo>
                  <a:pt x="2138603" y="0"/>
                </a:lnTo>
                <a:lnTo>
                  <a:pt x="2180094" y="15621"/>
                </a:lnTo>
                <a:lnTo>
                  <a:pt x="2205913" y="51662"/>
                </a:lnTo>
                <a:lnTo>
                  <a:pt x="2209799" y="71196"/>
                </a:lnTo>
                <a:lnTo>
                  <a:pt x="2209799" y="776528"/>
                </a:lnTo>
                <a:lnTo>
                  <a:pt x="2194177" y="818019"/>
                </a:lnTo>
                <a:lnTo>
                  <a:pt x="2158137" y="843839"/>
                </a:lnTo>
                <a:lnTo>
                  <a:pt x="2143558" y="847236"/>
                </a:lnTo>
                <a:lnTo>
                  <a:pt x="2138603" y="847724"/>
                </a:lnTo>
                <a:close/>
              </a:path>
            </a:pathLst>
          </a:custGeom>
          <a:solidFill>
            <a:srgbClr val="4237CA"/>
          </a:solidFill>
        </p:spPr>
        <p:txBody>
          <a:bodyPr wrap="square" lIns="0" tIns="0" rIns="0" bIns="0" rtlCol="0"/>
          <a:lstStyle/>
          <a:p/>
        </p:txBody>
      </p:sp>
      <p:sp>
        <p:nvSpPr>
          <p:cNvPr id="40" name="object 40"/>
          <p:cNvSpPr txBox="1"/>
          <p:nvPr/>
        </p:nvSpPr>
        <p:spPr>
          <a:xfrm>
            <a:off x="7959576" y="1658366"/>
            <a:ext cx="711200" cy="566420"/>
          </a:xfrm>
          <a:prstGeom prst="rect">
            <a:avLst/>
          </a:prstGeom>
        </p:spPr>
        <p:txBody>
          <a:bodyPr vert="horz" wrap="square" lIns="0" tIns="14604" rIns="0" bIns="0" rtlCol="0">
            <a:spAutoFit/>
          </a:bodyPr>
          <a:lstStyle/>
          <a:p>
            <a:pPr marL="12700">
              <a:lnSpc>
                <a:spcPct val="100000"/>
              </a:lnSpc>
              <a:spcBef>
                <a:spcPts val="115"/>
              </a:spcBef>
            </a:pPr>
            <a:r>
              <a:rPr sz="1000" spc="-95" dirty="0">
                <a:solidFill>
                  <a:srgbClr val="FFFFFF"/>
                </a:solidFill>
                <a:latin typeface="宋体" panose="02010600030101010101" pitchFamily="2" charset="-122"/>
                <a:cs typeface="宋体" panose="02010600030101010101" pitchFamily="2" charset="-122"/>
              </a:rPr>
              <a:t>关键效率指标</a:t>
            </a:r>
            <a:endParaRPr sz="1000">
              <a:latin typeface="宋体" panose="02010600030101010101" pitchFamily="2" charset="-122"/>
              <a:cs typeface="宋体" panose="02010600030101010101" pitchFamily="2" charset="-122"/>
            </a:endParaRPr>
          </a:p>
          <a:p>
            <a:pPr marL="12700">
              <a:lnSpc>
                <a:spcPct val="100000"/>
              </a:lnSpc>
              <a:spcBef>
                <a:spcPts val="25"/>
              </a:spcBef>
            </a:pPr>
            <a:r>
              <a:rPr sz="1500" b="1" spc="-140" dirty="0">
                <a:solidFill>
                  <a:srgbClr val="FFFFFF"/>
                </a:solidFill>
                <a:latin typeface="微软雅黑" panose="020B0503020204020204" charset="-122"/>
                <a:cs typeface="微软雅黑" panose="020B0503020204020204" charset="-122"/>
              </a:rPr>
              <a:t>求解时间</a:t>
            </a:r>
            <a:endParaRPr sz="1500">
              <a:latin typeface="微软雅黑" panose="020B0503020204020204" charset="-122"/>
              <a:cs typeface="微软雅黑" panose="020B0503020204020204" charset="-122"/>
            </a:endParaRPr>
          </a:p>
          <a:p>
            <a:pPr marL="69850">
              <a:lnSpc>
                <a:spcPct val="100000"/>
              </a:lnSpc>
              <a:spcBef>
                <a:spcPts val="250"/>
              </a:spcBef>
            </a:pPr>
            <a:r>
              <a:rPr sz="800" i="1" spc="-25" dirty="0">
                <a:solidFill>
                  <a:srgbClr val="FFFFFF"/>
                </a:solidFill>
                <a:latin typeface="Courier New" panose="02070309020205020404"/>
                <a:cs typeface="Courier New" panose="02070309020205020404"/>
              </a:rPr>
              <a:t>Solve</a:t>
            </a:r>
            <a:r>
              <a:rPr sz="800" i="1" spc="-80" dirty="0">
                <a:solidFill>
                  <a:srgbClr val="FFFFFF"/>
                </a:solidFill>
                <a:latin typeface="Courier New" panose="02070309020205020404"/>
                <a:cs typeface="Courier New" panose="02070309020205020404"/>
              </a:rPr>
              <a:t> </a:t>
            </a:r>
            <a:r>
              <a:rPr sz="800" i="1" spc="-20" dirty="0">
                <a:solidFill>
                  <a:srgbClr val="FFFFFF"/>
                </a:solidFill>
                <a:latin typeface="Courier New" panose="02070309020205020404"/>
                <a:cs typeface="Courier New" panose="02070309020205020404"/>
              </a:rPr>
              <a:t>Time</a:t>
            </a:r>
            <a:endParaRPr sz="800">
              <a:latin typeface="Courier New" panose="02070309020205020404"/>
              <a:cs typeface="Courier New" panose="02070309020205020404"/>
            </a:endParaRPr>
          </a:p>
        </p:txBody>
      </p:sp>
      <p:sp>
        <p:nvSpPr>
          <p:cNvPr id="41" name="object 41"/>
          <p:cNvSpPr/>
          <p:nvPr/>
        </p:nvSpPr>
        <p:spPr>
          <a:xfrm>
            <a:off x="9534524" y="1533524"/>
            <a:ext cx="2200275" cy="847725"/>
          </a:xfrm>
          <a:custGeom>
            <a:avLst/>
            <a:gdLst/>
            <a:ahLst/>
            <a:cxnLst/>
            <a:rect l="l" t="t" r="r" b="b"/>
            <a:pathLst>
              <a:path w="2200275" h="847725">
                <a:moveTo>
                  <a:pt x="2129078" y="847724"/>
                </a:moveTo>
                <a:lnTo>
                  <a:pt x="71196" y="847724"/>
                </a:lnTo>
                <a:lnTo>
                  <a:pt x="66241" y="847236"/>
                </a:lnTo>
                <a:lnTo>
                  <a:pt x="29705" y="832103"/>
                </a:lnTo>
                <a:lnTo>
                  <a:pt x="3885" y="796062"/>
                </a:lnTo>
                <a:lnTo>
                  <a:pt x="0" y="776528"/>
                </a:lnTo>
                <a:lnTo>
                  <a:pt x="0" y="771524"/>
                </a:lnTo>
                <a:lnTo>
                  <a:pt x="0" y="71196"/>
                </a:lnTo>
                <a:lnTo>
                  <a:pt x="15621" y="29705"/>
                </a:lnTo>
                <a:lnTo>
                  <a:pt x="51662" y="3885"/>
                </a:lnTo>
                <a:lnTo>
                  <a:pt x="71196" y="0"/>
                </a:lnTo>
                <a:lnTo>
                  <a:pt x="2129078" y="0"/>
                </a:lnTo>
                <a:lnTo>
                  <a:pt x="2170569" y="15621"/>
                </a:lnTo>
                <a:lnTo>
                  <a:pt x="2196388" y="51662"/>
                </a:lnTo>
                <a:lnTo>
                  <a:pt x="2200274" y="71196"/>
                </a:lnTo>
                <a:lnTo>
                  <a:pt x="2200274" y="776528"/>
                </a:lnTo>
                <a:lnTo>
                  <a:pt x="2184652" y="818019"/>
                </a:lnTo>
                <a:lnTo>
                  <a:pt x="2148612" y="843839"/>
                </a:lnTo>
                <a:lnTo>
                  <a:pt x="2134033" y="847236"/>
                </a:lnTo>
                <a:lnTo>
                  <a:pt x="2129078" y="847724"/>
                </a:lnTo>
                <a:close/>
              </a:path>
            </a:pathLst>
          </a:custGeom>
          <a:solidFill>
            <a:srgbClr val="2562EB"/>
          </a:solidFill>
        </p:spPr>
        <p:txBody>
          <a:bodyPr wrap="square" lIns="0" tIns="0" rIns="0" bIns="0" rtlCol="0"/>
          <a:lstStyle/>
          <a:p/>
        </p:txBody>
      </p:sp>
      <p:sp>
        <p:nvSpPr>
          <p:cNvPr id="42" name="object 42"/>
          <p:cNvSpPr txBox="1"/>
          <p:nvPr/>
        </p:nvSpPr>
        <p:spPr>
          <a:xfrm>
            <a:off x="10155832" y="1658366"/>
            <a:ext cx="954405" cy="566420"/>
          </a:xfrm>
          <a:prstGeom prst="rect">
            <a:avLst/>
          </a:prstGeom>
        </p:spPr>
        <p:txBody>
          <a:bodyPr vert="horz" wrap="square" lIns="0" tIns="14604" rIns="0" bIns="0" rtlCol="0">
            <a:spAutoFit/>
          </a:bodyPr>
          <a:lstStyle/>
          <a:p>
            <a:pPr algn="ctr">
              <a:lnSpc>
                <a:spcPct val="100000"/>
              </a:lnSpc>
              <a:spcBef>
                <a:spcPts val="115"/>
              </a:spcBef>
            </a:pPr>
            <a:r>
              <a:rPr sz="1000" spc="-90" dirty="0">
                <a:solidFill>
                  <a:srgbClr val="FFFFFF"/>
                </a:solidFill>
                <a:latin typeface="宋体" panose="02010600030101010101" pitchFamily="2" charset="-122"/>
                <a:cs typeface="宋体" panose="02010600030101010101" pitchFamily="2" charset="-122"/>
              </a:rPr>
              <a:t>搜索质量</a:t>
            </a:r>
            <a:endParaRPr sz="1000">
              <a:latin typeface="宋体" panose="02010600030101010101" pitchFamily="2" charset="-122"/>
              <a:cs typeface="宋体" panose="02010600030101010101" pitchFamily="2" charset="-122"/>
            </a:endParaRPr>
          </a:p>
          <a:p>
            <a:pPr algn="ctr">
              <a:lnSpc>
                <a:spcPct val="100000"/>
              </a:lnSpc>
              <a:spcBef>
                <a:spcPts val="25"/>
              </a:spcBef>
            </a:pPr>
            <a:r>
              <a:rPr sz="1350" b="1" dirty="0">
                <a:solidFill>
                  <a:srgbClr val="FFFFFF"/>
                </a:solidFill>
                <a:latin typeface="Times New Roman" panose="02020603050405020304"/>
                <a:cs typeface="Times New Roman" panose="02020603050405020304"/>
              </a:rPr>
              <a:t>B&amp;B </a:t>
            </a:r>
            <a:r>
              <a:rPr sz="1500" b="1" spc="-120" dirty="0">
                <a:solidFill>
                  <a:srgbClr val="FFFFFF"/>
                </a:solidFill>
                <a:latin typeface="微软雅黑" panose="020B0503020204020204" charset="-122"/>
                <a:cs typeface="微软雅黑" panose="020B0503020204020204" charset="-122"/>
              </a:rPr>
              <a:t>节点数</a:t>
            </a:r>
            <a:endParaRPr sz="1500">
              <a:latin typeface="微软雅黑" panose="020B0503020204020204" charset="-122"/>
              <a:cs typeface="微软雅黑" panose="020B0503020204020204" charset="-122"/>
            </a:endParaRPr>
          </a:p>
          <a:p>
            <a:pPr algn="ctr">
              <a:lnSpc>
                <a:spcPct val="100000"/>
              </a:lnSpc>
              <a:spcBef>
                <a:spcPts val="250"/>
              </a:spcBef>
            </a:pPr>
            <a:r>
              <a:rPr sz="800" i="1" spc="-25" dirty="0">
                <a:solidFill>
                  <a:srgbClr val="FFFFFF"/>
                </a:solidFill>
                <a:latin typeface="Courier New" panose="02070309020205020404"/>
                <a:cs typeface="Courier New" panose="02070309020205020404"/>
              </a:rPr>
              <a:t>Nodes</a:t>
            </a:r>
            <a:r>
              <a:rPr sz="800" i="1" spc="-80" dirty="0">
                <a:solidFill>
                  <a:srgbClr val="FFFFFF"/>
                </a:solidFill>
                <a:latin typeface="Courier New" panose="02070309020205020404"/>
                <a:cs typeface="Courier New" panose="02070309020205020404"/>
              </a:rPr>
              <a:t> </a:t>
            </a:r>
            <a:r>
              <a:rPr sz="800" i="1" spc="-10" dirty="0">
                <a:solidFill>
                  <a:srgbClr val="FFFFFF"/>
                </a:solidFill>
                <a:latin typeface="Courier New" panose="02070309020205020404"/>
                <a:cs typeface="Courier New" panose="02070309020205020404"/>
              </a:rPr>
              <a:t>Count</a:t>
            </a:r>
            <a:endParaRPr sz="800">
              <a:latin typeface="Courier New" panose="02070309020205020404"/>
              <a:cs typeface="Courier New" panose="02070309020205020404"/>
            </a:endParaRPr>
          </a:p>
        </p:txBody>
      </p:sp>
      <p:sp>
        <p:nvSpPr>
          <p:cNvPr id="43" name="object 43"/>
          <p:cNvSpPr txBox="1"/>
          <p:nvPr/>
        </p:nvSpPr>
        <p:spPr>
          <a:xfrm>
            <a:off x="7378104" y="4949825"/>
            <a:ext cx="2445385" cy="343535"/>
          </a:xfrm>
          <a:prstGeom prst="rect">
            <a:avLst/>
          </a:prstGeom>
        </p:spPr>
        <p:txBody>
          <a:bodyPr vert="horz" wrap="square" lIns="0" tIns="12700" rIns="0" bIns="0" rtlCol="0">
            <a:spAutoFit/>
          </a:bodyPr>
          <a:lstStyle/>
          <a:p>
            <a:pPr marL="50800">
              <a:lnSpc>
                <a:spcPts val="1580"/>
              </a:lnSpc>
              <a:spcBef>
                <a:spcPts val="100"/>
              </a:spcBef>
            </a:pPr>
            <a:r>
              <a:rPr sz="1800" i="1" spc="160" dirty="0">
                <a:solidFill>
                  <a:srgbClr val="312E81"/>
                </a:solidFill>
                <a:latin typeface="Cambria" panose="02040503050406030204"/>
                <a:cs typeface="Cambria" panose="02040503050406030204"/>
              </a:rPr>
              <a:t>x</a:t>
            </a:r>
            <a:r>
              <a:rPr sz="1875" i="1" spc="240" baseline="-13000" dirty="0">
                <a:solidFill>
                  <a:srgbClr val="312E81"/>
                </a:solidFill>
                <a:latin typeface="Cambria" panose="02040503050406030204"/>
                <a:cs typeface="Cambria" panose="02040503050406030204"/>
              </a:rPr>
              <a:t>i</a:t>
            </a:r>
            <a:r>
              <a:rPr sz="1875" i="1" spc="359" baseline="-13000" dirty="0">
                <a:solidFill>
                  <a:srgbClr val="312E81"/>
                </a:solidFill>
                <a:latin typeface="Cambria" panose="02040503050406030204"/>
                <a:cs typeface="Cambria" panose="02040503050406030204"/>
              </a:rPr>
              <a:t> </a:t>
            </a:r>
            <a:r>
              <a:rPr sz="1800" dirty="0">
                <a:solidFill>
                  <a:srgbClr val="312E81"/>
                </a:solidFill>
                <a:latin typeface="Lucida Sans Unicode" panose="020B0602030504020204"/>
                <a:cs typeface="Lucida Sans Unicode" panose="020B0602030504020204"/>
              </a:rPr>
              <a:t>≤</a:t>
            </a:r>
            <a:r>
              <a:rPr sz="1800" spc="-120" dirty="0">
                <a:solidFill>
                  <a:srgbClr val="312E81"/>
                </a:solidFill>
                <a:latin typeface="Lucida Sans Unicode" panose="020B0602030504020204"/>
                <a:cs typeface="Lucida Sans Unicode" panose="020B0602030504020204"/>
              </a:rPr>
              <a:t> </a:t>
            </a:r>
            <a:r>
              <a:rPr sz="1800" dirty="0">
                <a:solidFill>
                  <a:srgbClr val="312E81"/>
                </a:solidFill>
                <a:latin typeface="Lucida Sans Unicode" panose="020B0602030504020204"/>
                <a:cs typeface="Lucida Sans Unicode" panose="020B0602030504020204"/>
              </a:rPr>
              <a:t>⌊</a:t>
            </a:r>
            <a:r>
              <a:rPr sz="1800" i="1" dirty="0">
                <a:solidFill>
                  <a:srgbClr val="312E81"/>
                </a:solidFill>
                <a:latin typeface="Cambria" panose="02040503050406030204"/>
                <a:cs typeface="Cambria" panose="02040503050406030204"/>
              </a:rPr>
              <a:t>x</a:t>
            </a:r>
            <a:r>
              <a:rPr sz="1875" baseline="33000" dirty="0">
                <a:solidFill>
                  <a:srgbClr val="312E81"/>
                </a:solidFill>
                <a:latin typeface="Lucida Sans Unicode" panose="020B0602030504020204"/>
                <a:cs typeface="Lucida Sans Unicode" panose="020B0602030504020204"/>
              </a:rPr>
              <a:t>⋆</a:t>
            </a:r>
            <a:r>
              <a:rPr sz="1800" dirty="0">
                <a:solidFill>
                  <a:srgbClr val="312E81"/>
                </a:solidFill>
                <a:latin typeface="Lucida Sans Unicode" panose="020B0602030504020204"/>
                <a:cs typeface="Lucida Sans Unicode" panose="020B0602030504020204"/>
              </a:rPr>
              <a:t>⌋</a:t>
            </a:r>
            <a:r>
              <a:rPr sz="1800" spc="229" dirty="0">
                <a:solidFill>
                  <a:srgbClr val="312E81"/>
                </a:solidFill>
                <a:latin typeface="Lucida Sans Unicode" panose="020B0602030504020204"/>
                <a:cs typeface="Lucida Sans Unicode" panose="020B0602030504020204"/>
              </a:rPr>
              <a:t> </a:t>
            </a:r>
            <a:r>
              <a:rPr sz="1800" dirty="0">
                <a:solidFill>
                  <a:srgbClr val="312E81"/>
                </a:solidFill>
                <a:latin typeface="Lucida Sans Unicode" panose="020B0602030504020204"/>
                <a:cs typeface="Lucida Sans Unicode" panose="020B0602030504020204"/>
              </a:rPr>
              <a:t>∨</a:t>
            </a:r>
            <a:r>
              <a:rPr sz="1800" spc="210" dirty="0">
                <a:solidFill>
                  <a:srgbClr val="312E81"/>
                </a:solidFill>
                <a:latin typeface="Lucida Sans Unicode" panose="020B0602030504020204"/>
                <a:cs typeface="Lucida Sans Unicode" panose="020B0602030504020204"/>
              </a:rPr>
              <a:t> </a:t>
            </a:r>
            <a:r>
              <a:rPr sz="1800" i="1" spc="160" dirty="0">
                <a:solidFill>
                  <a:srgbClr val="312E81"/>
                </a:solidFill>
                <a:latin typeface="Cambria" panose="02040503050406030204"/>
                <a:cs typeface="Cambria" panose="02040503050406030204"/>
              </a:rPr>
              <a:t>x</a:t>
            </a:r>
            <a:r>
              <a:rPr sz="1875" i="1" spc="240" baseline="-13000" dirty="0">
                <a:solidFill>
                  <a:srgbClr val="312E81"/>
                </a:solidFill>
                <a:latin typeface="Cambria" panose="02040503050406030204"/>
                <a:cs typeface="Cambria" panose="02040503050406030204"/>
              </a:rPr>
              <a:t>i</a:t>
            </a:r>
            <a:r>
              <a:rPr sz="1875" i="1" spc="359" baseline="-13000" dirty="0">
                <a:solidFill>
                  <a:srgbClr val="312E81"/>
                </a:solidFill>
                <a:latin typeface="Cambria" panose="02040503050406030204"/>
                <a:cs typeface="Cambria" panose="02040503050406030204"/>
              </a:rPr>
              <a:t> </a:t>
            </a:r>
            <a:r>
              <a:rPr sz="1800" dirty="0">
                <a:solidFill>
                  <a:srgbClr val="312E81"/>
                </a:solidFill>
                <a:latin typeface="Lucida Sans Unicode" panose="020B0602030504020204"/>
                <a:cs typeface="Lucida Sans Unicode" panose="020B0602030504020204"/>
              </a:rPr>
              <a:t>≥</a:t>
            </a:r>
            <a:r>
              <a:rPr sz="1800" spc="-120" dirty="0">
                <a:solidFill>
                  <a:srgbClr val="312E81"/>
                </a:solidFill>
                <a:latin typeface="Lucida Sans Unicode" panose="020B0602030504020204"/>
                <a:cs typeface="Lucida Sans Unicode" panose="020B0602030504020204"/>
              </a:rPr>
              <a:t> </a:t>
            </a:r>
            <a:r>
              <a:rPr sz="1800" spc="-20" dirty="0">
                <a:solidFill>
                  <a:srgbClr val="312E81"/>
                </a:solidFill>
                <a:latin typeface="Lucida Sans Unicode" panose="020B0602030504020204"/>
                <a:cs typeface="Lucida Sans Unicode" panose="020B0602030504020204"/>
              </a:rPr>
              <a:t>⌈</a:t>
            </a:r>
            <a:r>
              <a:rPr sz="1800" i="1" spc="-20" dirty="0">
                <a:solidFill>
                  <a:srgbClr val="312E81"/>
                </a:solidFill>
                <a:latin typeface="Cambria" panose="02040503050406030204"/>
                <a:cs typeface="Cambria" panose="02040503050406030204"/>
              </a:rPr>
              <a:t>x</a:t>
            </a:r>
            <a:r>
              <a:rPr sz="1875" spc="-30" baseline="33000" dirty="0">
                <a:solidFill>
                  <a:srgbClr val="312E81"/>
                </a:solidFill>
                <a:latin typeface="Lucida Sans Unicode" panose="020B0602030504020204"/>
                <a:cs typeface="Lucida Sans Unicode" panose="020B0602030504020204"/>
              </a:rPr>
              <a:t>⋆</a:t>
            </a:r>
            <a:r>
              <a:rPr sz="1800" spc="-20" dirty="0">
                <a:solidFill>
                  <a:srgbClr val="312E81"/>
                </a:solidFill>
                <a:latin typeface="Lucida Sans Unicode" panose="020B0602030504020204"/>
                <a:cs typeface="Lucida Sans Unicode" panose="020B0602030504020204"/>
              </a:rPr>
              <a:t>⌉,</a:t>
            </a:r>
            <a:endParaRPr sz="1800">
              <a:latin typeface="Lucida Sans Unicode" panose="020B0602030504020204"/>
              <a:cs typeface="Lucida Sans Unicode" panose="020B0602030504020204"/>
            </a:endParaRPr>
          </a:p>
          <a:p>
            <a:pPr marL="798195">
              <a:lnSpc>
                <a:spcPts val="920"/>
              </a:lnSpc>
              <a:tabLst>
                <a:tab pos="2128520" algn="l"/>
              </a:tabLst>
            </a:pPr>
            <a:r>
              <a:rPr sz="1250" i="1" spc="40" dirty="0">
                <a:solidFill>
                  <a:srgbClr val="312E81"/>
                </a:solidFill>
                <a:latin typeface="Cambria" panose="02040503050406030204"/>
                <a:cs typeface="Cambria" panose="02040503050406030204"/>
              </a:rPr>
              <a:t>i</a:t>
            </a:r>
            <a:r>
              <a:rPr sz="1250" i="1" dirty="0">
                <a:solidFill>
                  <a:srgbClr val="312E81"/>
                </a:solidFill>
                <a:latin typeface="Cambria" panose="02040503050406030204"/>
                <a:cs typeface="Cambria" panose="02040503050406030204"/>
              </a:rPr>
              <a:t>	</a:t>
            </a:r>
            <a:r>
              <a:rPr sz="1250" i="1" spc="30" dirty="0">
                <a:solidFill>
                  <a:srgbClr val="312E81"/>
                </a:solidFill>
                <a:latin typeface="Cambria" panose="02040503050406030204"/>
                <a:cs typeface="Cambria" panose="02040503050406030204"/>
              </a:rPr>
              <a:t>i</a:t>
            </a:r>
            <a:endParaRPr sz="1250">
              <a:latin typeface="Cambria" panose="02040503050406030204"/>
              <a:cs typeface="Cambria" panose="02040503050406030204"/>
            </a:endParaRPr>
          </a:p>
        </p:txBody>
      </p:sp>
      <p:sp>
        <p:nvSpPr>
          <p:cNvPr id="44" name="object 44"/>
          <p:cNvSpPr txBox="1"/>
          <p:nvPr/>
        </p:nvSpPr>
        <p:spPr>
          <a:xfrm>
            <a:off x="10978256" y="5075649"/>
            <a:ext cx="80645" cy="217804"/>
          </a:xfrm>
          <a:prstGeom prst="rect">
            <a:avLst/>
          </a:prstGeom>
        </p:spPr>
        <p:txBody>
          <a:bodyPr vert="horz" wrap="square" lIns="0" tIns="13970" rIns="0" bIns="0" rtlCol="0">
            <a:spAutoFit/>
          </a:bodyPr>
          <a:lstStyle/>
          <a:p>
            <a:pPr marL="12700">
              <a:lnSpc>
                <a:spcPct val="100000"/>
              </a:lnSpc>
              <a:spcBef>
                <a:spcPts val="110"/>
              </a:spcBef>
            </a:pPr>
            <a:r>
              <a:rPr sz="1250" i="1" spc="40" dirty="0">
                <a:solidFill>
                  <a:srgbClr val="312E81"/>
                </a:solidFill>
                <a:latin typeface="Cambria" panose="02040503050406030204"/>
                <a:cs typeface="Cambria" panose="02040503050406030204"/>
              </a:rPr>
              <a:t>i</a:t>
            </a:r>
            <a:endParaRPr sz="1250">
              <a:latin typeface="Cambria" panose="02040503050406030204"/>
              <a:cs typeface="Cambria" panose="02040503050406030204"/>
            </a:endParaRPr>
          </a:p>
        </p:txBody>
      </p:sp>
      <p:sp>
        <p:nvSpPr>
          <p:cNvPr id="45" name="object 45"/>
          <p:cNvSpPr txBox="1"/>
          <p:nvPr/>
        </p:nvSpPr>
        <p:spPr>
          <a:xfrm>
            <a:off x="10003928" y="4949825"/>
            <a:ext cx="1553845" cy="299720"/>
          </a:xfrm>
          <a:prstGeom prst="rect">
            <a:avLst/>
          </a:prstGeom>
        </p:spPr>
        <p:txBody>
          <a:bodyPr vert="horz" wrap="square" lIns="0" tIns="12700" rIns="0" bIns="0" rtlCol="0">
            <a:spAutoFit/>
          </a:bodyPr>
          <a:lstStyle/>
          <a:p>
            <a:pPr marL="38100">
              <a:lnSpc>
                <a:spcPct val="100000"/>
              </a:lnSpc>
              <a:spcBef>
                <a:spcPts val="100"/>
              </a:spcBef>
            </a:pPr>
            <a:r>
              <a:rPr sz="1800" dirty="0">
                <a:solidFill>
                  <a:srgbClr val="312E81"/>
                </a:solidFill>
                <a:latin typeface="Lucida Sans Unicode" panose="020B0602030504020204"/>
                <a:cs typeface="Lucida Sans Unicode" panose="020B0602030504020204"/>
              </a:rPr>
              <a:t>∃</a:t>
            </a:r>
            <a:r>
              <a:rPr sz="1800" i="1" dirty="0">
                <a:solidFill>
                  <a:srgbClr val="312E81"/>
                </a:solidFill>
                <a:latin typeface="Cambria" panose="02040503050406030204"/>
                <a:cs typeface="Cambria" panose="02040503050406030204"/>
              </a:rPr>
              <a:t>i</a:t>
            </a:r>
            <a:r>
              <a:rPr sz="1800" i="1" spc="-70" dirty="0">
                <a:solidFill>
                  <a:srgbClr val="312E81"/>
                </a:solidFill>
                <a:latin typeface="Cambria" panose="02040503050406030204"/>
                <a:cs typeface="Cambria" panose="02040503050406030204"/>
              </a:rPr>
              <a:t> </a:t>
            </a:r>
            <a:r>
              <a:rPr sz="1800" dirty="0">
                <a:solidFill>
                  <a:srgbClr val="312E81"/>
                </a:solidFill>
                <a:latin typeface="Lucida Sans Unicode" panose="020B0602030504020204"/>
                <a:cs typeface="Lucida Sans Unicode" panose="020B0602030504020204"/>
              </a:rPr>
              <a:t>≤</a:t>
            </a:r>
            <a:r>
              <a:rPr sz="1800" spc="-100" dirty="0">
                <a:solidFill>
                  <a:srgbClr val="312E81"/>
                </a:solidFill>
                <a:latin typeface="Lucida Sans Unicode" panose="020B0602030504020204"/>
                <a:cs typeface="Lucida Sans Unicode" panose="020B0602030504020204"/>
              </a:rPr>
              <a:t> </a:t>
            </a:r>
            <a:r>
              <a:rPr sz="1800" i="1" dirty="0">
                <a:solidFill>
                  <a:srgbClr val="312E81"/>
                </a:solidFill>
                <a:latin typeface="Cambria" panose="02040503050406030204"/>
                <a:cs typeface="Cambria" panose="02040503050406030204"/>
              </a:rPr>
              <a:t>p</a:t>
            </a:r>
            <a:r>
              <a:rPr sz="1800" i="1" spc="50" dirty="0">
                <a:solidFill>
                  <a:srgbClr val="312E81"/>
                </a:solidFill>
                <a:latin typeface="Cambria" panose="02040503050406030204"/>
                <a:cs typeface="Cambria" panose="02040503050406030204"/>
              </a:rPr>
              <a:t> </a:t>
            </a:r>
            <a:r>
              <a:rPr sz="1800" spc="-185" dirty="0">
                <a:solidFill>
                  <a:srgbClr val="312E81"/>
                </a:solidFill>
                <a:latin typeface="Lucida Sans Unicode" panose="020B0602030504020204"/>
                <a:cs typeface="Lucida Sans Unicode" panose="020B0602030504020204"/>
              </a:rPr>
              <a:t>∣</a:t>
            </a:r>
            <a:r>
              <a:rPr sz="1800" spc="-50" dirty="0">
                <a:solidFill>
                  <a:srgbClr val="312E81"/>
                </a:solidFill>
                <a:latin typeface="Lucida Sans Unicode" panose="020B0602030504020204"/>
                <a:cs typeface="Lucida Sans Unicode" panose="020B0602030504020204"/>
              </a:rPr>
              <a:t> </a:t>
            </a:r>
            <a:r>
              <a:rPr sz="1800" i="1" dirty="0">
                <a:solidFill>
                  <a:srgbClr val="312E81"/>
                </a:solidFill>
                <a:latin typeface="Cambria" panose="02040503050406030204"/>
                <a:cs typeface="Cambria" panose="02040503050406030204"/>
              </a:rPr>
              <a:t>x</a:t>
            </a:r>
            <a:r>
              <a:rPr sz="1875" baseline="33000" dirty="0">
                <a:solidFill>
                  <a:srgbClr val="312E81"/>
                </a:solidFill>
                <a:latin typeface="Lucida Sans Unicode" panose="020B0602030504020204"/>
                <a:cs typeface="Lucida Sans Unicode" panose="020B0602030504020204"/>
              </a:rPr>
              <a:t>⋆</a:t>
            </a:r>
            <a:r>
              <a:rPr sz="1875" spc="270" baseline="33000" dirty="0">
                <a:solidFill>
                  <a:srgbClr val="312E81"/>
                </a:solidFill>
                <a:latin typeface="Lucida Sans Unicode" panose="020B0602030504020204"/>
                <a:cs typeface="Lucida Sans Unicode" panose="020B0602030504020204"/>
              </a:rPr>
              <a:t> </a:t>
            </a:r>
            <a:r>
              <a:rPr sz="1800" spc="-1245" dirty="0">
                <a:solidFill>
                  <a:srgbClr val="312E81"/>
                </a:solidFill>
                <a:latin typeface="Lucida Sans Unicode" panose="020B0602030504020204"/>
                <a:cs typeface="Lucida Sans Unicode" panose="020B0602030504020204"/>
              </a:rPr>
              <a:t>∈</a:t>
            </a:r>
            <a:r>
              <a:rPr sz="1800" spc="-45" dirty="0">
                <a:solidFill>
                  <a:srgbClr val="312E81"/>
                </a:solidFill>
                <a:latin typeface="Lucida Sans Unicode" panose="020B0602030504020204"/>
                <a:cs typeface="Lucida Sans Unicode" panose="020B0602030504020204"/>
              </a:rPr>
              <a:t>/</a:t>
            </a:r>
            <a:r>
              <a:rPr sz="1800" spc="25" dirty="0">
                <a:solidFill>
                  <a:srgbClr val="312E81"/>
                </a:solidFill>
                <a:latin typeface="Lucida Sans Unicode" panose="020B0602030504020204"/>
                <a:cs typeface="Lucida Sans Unicode" panose="020B0602030504020204"/>
              </a:rPr>
              <a:t> </a:t>
            </a:r>
            <a:r>
              <a:rPr sz="1800" spc="-50" dirty="0">
                <a:solidFill>
                  <a:srgbClr val="312E81"/>
                </a:solidFill>
                <a:latin typeface="Palatino Linotype" panose="02040502050505030304"/>
                <a:cs typeface="Palatino Linotype" panose="02040502050505030304"/>
              </a:rPr>
              <a:t>Z</a:t>
            </a:r>
            <a:endParaRPr sz="1800">
              <a:latin typeface="Palatino Linotype" panose="02040502050505030304"/>
              <a:cs typeface="Palatino Linotype" panose="02040502050505030304"/>
            </a:endParaRPr>
          </a:p>
        </p:txBody>
      </p:sp>
      <p:grpSp>
        <p:nvGrpSpPr>
          <p:cNvPr id="46" name="object 46"/>
          <p:cNvGrpSpPr/>
          <p:nvPr/>
        </p:nvGrpSpPr>
        <p:grpSpPr>
          <a:xfrm>
            <a:off x="0" y="6324599"/>
            <a:ext cx="12192000" cy="533400"/>
            <a:chOff x="0" y="6324599"/>
            <a:chExt cx="12192000" cy="533400"/>
          </a:xfrm>
        </p:grpSpPr>
        <p:pic>
          <p:nvPicPr>
            <p:cNvPr id="47" name="object 47"/>
            <p:cNvPicPr/>
            <p:nvPr/>
          </p:nvPicPr>
          <p:blipFill>
            <a:blip r:embed="rId2" cstate="print"/>
            <a:stretch>
              <a:fillRect/>
            </a:stretch>
          </p:blipFill>
          <p:spPr>
            <a:xfrm>
              <a:off x="457199" y="6467474"/>
              <a:ext cx="11277599" cy="9524"/>
            </a:xfrm>
            <a:prstGeom prst="rect">
              <a:avLst/>
            </a:prstGeom>
          </p:spPr>
        </p:pic>
        <p:sp>
          <p:nvSpPr>
            <p:cNvPr id="48" name="object 48"/>
            <p:cNvSpPr/>
            <p:nvPr/>
          </p:nvSpPr>
          <p:spPr>
            <a:xfrm>
              <a:off x="0" y="6638924"/>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49" name="object 49"/>
            <p:cNvSpPr/>
            <p:nvPr/>
          </p:nvSpPr>
          <p:spPr>
            <a:xfrm>
              <a:off x="11791937" y="6724649"/>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50" name="object 50"/>
            <p:cNvSpPr/>
            <p:nvPr/>
          </p:nvSpPr>
          <p:spPr>
            <a:xfrm>
              <a:off x="11982447" y="6724649"/>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51" name="object 51"/>
            <p:cNvPicPr/>
            <p:nvPr/>
          </p:nvPicPr>
          <p:blipFill>
            <a:blip r:embed="rId3" cstate="print"/>
            <a:stretch>
              <a:fillRect/>
            </a:stretch>
          </p:blipFill>
          <p:spPr>
            <a:xfrm>
              <a:off x="9896474" y="6324599"/>
              <a:ext cx="342899" cy="342899"/>
            </a:xfrm>
            <a:prstGeom prst="rect">
              <a:avLst/>
            </a:prstGeom>
          </p:spPr>
        </p:pic>
      </p:grpSp>
      <p:sp>
        <p:nvSpPr>
          <p:cNvPr id="52" name="object 52"/>
          <p:cNvSpPr txBox="1">
            <a:spLocks noGrp="1"/>
          </p:cNvSpPr>
          <p:nvPr>
            <p:ph type="dt" sz="half" idx="6"/>
          </p:nvPr>
        </p:nvSpPr>
        <p:spPr>
          <a:prstGeom prst="rect">
            <a:avLst/>
          </a:prstGeom>
        </p:spPr>
        <p:txBody>
          <a:bodyPr vert="horz" wrap="square" lIns="0" tIns="0" rIns="0" bIns="0" rtlCol="0">
            <a:spAutoFit/>
          </a:bodyPr>
          <a:lstStyle/>
          <a:p>
            <a:pPr marL="12700">
              <a:lnSpc>
                <a:spcPts val="1425"/>
              </a:lnSpc>
            </a:pPr>
            <a:r>
              <a:rPr dirty="0"/>
              <a:t>Powered</a:t>
            </a:r>
            <a:r>
              <a:rPr spc="100" dirty="0"/>
              <a:t> </a:t>
            </a:r>
            <a:r>
              <a:rPr dirty="0"/>
              <a:t>By</a:t>
            </a:r>
            <a:r>
              <a:rPr spc="105" dirty="0"/>
              <a:t> </a:t>
            </a:r>
            <a:r>
              <a:rPr spc="-10" dirty="0"/>
              <a:t>Tosea.ai</a:t>
            </a:r>
            <a:endParaRPr spc="-10" dirty="0"/>
          </a:p>
        </p:txBody>
      </p:sp>
      <p:sp>
        <p:nvSpPr>
          <p:cNvPr id="53" name="object 53"/>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spc="-10" dirty="0"/>
              <a:t>Author</a:t>
            </a:r>
            <a:endParaRPr spc="-10" dirty="0"/>
          </a:p>
        </p:txBody>
      </p:sp>
      <p:sp>
        <p:nvSpPr>
          <p:cNvPr id="54" name="object 54"/>
          <p:cNvSpPr txBox="1"/>
          <p:nvPr/>
        </p:nvSpPr>
        <p:spPr>
          <a:xfrm>
            <a:off x="562074" y="6674696"/>
            <a:ext cx="311150" cy="131445"/>
          </a:xfrm>
          <a:prstGeom prst="rect">
            <a:avLst/>
          </a:prstGeom>
        </p:spPr>
        <p:txBody>
          <a:bodyPr vert="horz" wrap="square" lIns="0" tIns="1905" rIns="0" bIns="0" rtlCol="0">
            <a:spAutoFit/>
          </a:bodyPr>
          <a:lstStyle/>
          <a:p>
            <a:pPr marL="12700">
              <a:lnSpc>
                <a:spcPct val="100000"/>
              </a:lnSpc>
              <a:spcBef>
                <a:spcPts val="15"/>
              </a:spcBef>
            </a:pPr>
            <a:r>
              <a:rPr sz="750" spc="-10" dirty="0">
                <a:solidFill>
                  <a:srgbClr val="FFFFFF"/>
                </a:solidFill>
                <a:latin typeface="Times New Roman" panose="02020603050405020304"/>
                <a:cs typeface="Times New Roman" panose="02020603050405020304"/>
              </a:rPr>
              <a:t>Section</a:t>
            </a:r>
            <a:endParaRPr sz="750">
              <a:latin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247522"/>
            <a:ext cx="2930525" cy="490855"/>
          </a:xfrm>
          <a:prstGeom prst="rect">
            <a:avLst/>
          </a:prstGeom>
        </p:spPr>
        <p:txBody>
          <a:bodyPr vert="horz" wrap="square" lIns="0" tIns="12700" rIns="0" bIns="0" rtlCol="0">
            <a:spAutoFit/>
          </a:bodyPr>
          <a:lstStyle/>
          <a:p>
            <a:pPr marL="12700">
              <a:lnSpc>
                <a:spcPct val="100000"/>
              </a:lnSpc>
              <a:spcBef>
                <a:spcPts val="100"/>
              </a:spcBef>
            </a:pPr>
            <a:r>
              <a:rPr sz="3050" spc="-370" dirty="0">
                <a:latin typeface="微软雅黑" panose="020B0503020204020204" charset="-122"/>
                <a:cs typeface="微软雅黑" panose="020B0503020204020204" charset="-122"/>
              </a:rPr>
              <a:t>方法</a:t>
            </a:r>
            <a:r>
              <a:rPr spc="-240" dirty="0"/>
              <a:t>: </a:t>
            </a:r>
            <a:r>
              <a:rPr sz="3050" spc="-380" dirty="0">
                <a:latin typeface="微软雅黑" panose="020B0503020204020204" charset="-122"/>
                <a:cs typeface="微软雅黑" panose="020B0503020204020204" charset="-122"/>
              </a:rPr>
              <a:t>整体算法思路</a:t>
            </a:r>
            <a:endParaRPr sz="3050">
              <a:latin typeface="微软雅黑" panose="020B0503020204020204" charset="-122"/>
              <a:cs typeface="微软雅黑" panose="020B0503020204020204" charset="-122"/>
            </a:endParaRPr>
          </a:p>
        </p:txBody>
      </p:sp>
      <p:grpSp>
        <p:nvGrpSpPr>
          <p:cNvPr id="3" name="object 3"/>
          <p:cNvGrpSpPr/>
          <p:nvPr/>
        </p:nvGrpSpPr>
        <p:grpSpPr>
          <a:xfrm>
            <a:off x="457199" y="3057524"/>
            <a:ext cx="11277600" cy="3409950"/>
            <a:chOff x="457199" y="3057524"/>
            <a:chExt cx="11277600" cy="3409950"/>
          </a:xfrm>
        </p:grpSpPr>
        <p:sp>
          <p:nvSpPr>
            <p:cNvPr id="4" name="object 4"/>
            <p:cNvSpPr/>
            <p:nvPr/>
          </p:nvSpPr>
          <p:spPr>
            <a:xfrm>
              <a:off x="457199" y="6457949"/>
              <a:ext cx="11277600" cy="9525"/>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1F5F9"/>
            </a:solidFill>
          </p:spPr>
          <p:txBody>
            <a:bodyPr wrap="square" lIns="0" tIns="0" rIns="0" bIns="0" rtlCol="0"/>
            <a:lstStyle/>
            <a:p/>
          </p:txBody>
        </p:sp>
        <p:sp>
          <p:nvSpPr>
            <p:cNvPr id="5" name="object 5"/>
            <p:cNvSpPr/>
            <p:nvPr/>
          </p:nvSpPr>
          <p:spPr>
            <a:xfrm>
              <a:off x="457199" y="3057524"/>
              <a:ext cx="4324350" cy="3400425"/>
            </a:xfrm>
            <a:custGeom>
              <a:avLst/>
              <a:gdLst/>
              <a:ahLst/>
              <a:cxnLst/>
              <a:rect l="l" t="t" r="r" b="b"/>
              <a:pathLst>
                <a:path w="4324350" h="3400425">
                  <a:moveTo>
                    <a:pt x="4217554" y="3400424"/>
                  </a:moveTo>
                  <a:lnTo>
                    <a:pt x="106794" y="3400424"/>
                  </a:lnTo>
                  <a:lnTo>
                    <a:pt x="99362" y="3399692"/>
                  </a:lnTo>
                  <a:lnTo>
                    <a:pt x="57038" y="3385330"/>
                  </a:lnTo>
                  <a:lnTo>
                    <a:pt x="23432" y="3355866"/>
                  </a:lnTo>
                  <a:lnTo>
                    <a:pt x="3660" y="3315784"/>
                  </a:lnTo>
                  <a:lnTo>
                    <a:pt x="0" y="3293629"/>
                  </a:lnTo>
                  <a:lnTo>
                    <a:pt x="0" y="3286124"/>
                  </a:lnTo>
                  <a:lnTo>
                    <a:pt x="0" y="106794"/>
                  </a:lnTo>
                  <a:lnTo>
                    <a:pt x="11572" y="63625"/>
                  </a:lnTo>
                  <a:lnTo>
                    <a:pt x="38784" y="28170"/>
                  </a:lnTo>
                  <a:lnTo>
                    <a:pt x="77493" y="5828"/>
                  </a:lnTo>
                  <a:lnTo>
                    <a:pt x="106794" y="0"/>
                  </a:lnTo>
                  <a:lnTo>
                    <a:pt x="4217554" y="0"/>
                  </a:lnTo>
                  <a:lnTo>
                    <a:pt x="4260723" y="11572"/>
                  </a:lnTo>
                  <a:lnTo>
                    <a:pt x="4296178" y="38784"/>
                  </a:lnTo>
                  <a:lnTo>
                    <a:pt x="4318520" y="77492"/>
                  </a:lnTo>
                  <a:lnTo>
                    <a:pt x="4324349" y="106794"/>
                  </a:lnTo>
                  <a:lnTo>
                    <a:pt x="4324349" y="3293629"/>
                  </a:lnTo>
                  <a:lnTo>
                    <a:pt x="4312776" y="3336798"/>
                  </a:lnTo>
                  <a:lnTo>
                    <a:pt x="4285564" y="3372254"/>
                  </a:lnTo>
                  <a:lnTo>
                    <a:pt x="4246856" y="3394596"/>
                  </a:lnTo>
                  <a:lnTo>
                    <a:pt x="4224987" y="3399692"/>
                  </a:lnTo>
                  <a:lnTo>
                    <a:pt x="4217554" y="3400424"/>
                  </a:lnTo>
                  <a:close/>
                </a:path>
              </a:pathLst>
            </a:custGeom>
            <a:solidFill>
              <a:srgbClr val="312E81"/>
            </a:solidFill>
          </p:spPr>
          <p:txBody>
            <a:bodyPr wrap="square" lIns="0" tIns="0" rIns="0" bIns="0" rtlCol="0"/>
            <a:lstStyle/>
            <a:p/>
          </p:txBody>
        </p:sp>
        <p:pic>
          <p:nvPicPr>
            <p:cNvPr id="6" name="object 6"/>
            <p:cNvPicPr/>
            <p:nvPr/>
          </p:nvPicPr>
          <p:blipFill>
            <a:blip r:embed="rId1" cstate="print"/>
            <a:stretch>
              <a:fillRect/>
            </a:stretch>
          </p:blipFill>
          <p:spPr>
            <a:xfrm>
              <a:off x="685799" y="5467349"/>
              <a:ext cx="228599" cy="228599"/>
            </a:xfrm>
            <a:prstGeom prst="rect">
              <a:avLst/>
            </a:prstGeom>
          </p:spPr>
        </p:pic>
      </p:grpSp>
      <p:grpSp>
        <p:nvGrpSpPr>
          <p:cNvPr id="7" name="object 7"/>
          <p:cNvGrpSpPr/>
          <p:nvPr/>
        </p:nvGrpSpPr>
        <p:grpSpPr>
          <a:xfrm>
            <a:off x="457200" y="1228724"/>
            <a:ext cx="4324350" cy="1600200"/>
            <a:chOff x="457200" y="1228724"/>
            <a:chExt cx="4324350" cy="1600200"/>
          </a:xfrm>
        </p:grpSpPr>
        <p:sp>
          <p:nvSpPr>
            <p:cNvPr id="8" name="object 8"/>
            <p:cNvSpPr/>
            <p:nvPr/>
          </p:nvSpPr>
          <p:spPr>
            <a:xfrm>
              <a:off x="476249" y="1228724"/>
              <a:ext cx="4305300" cy="1600200"/>
            </a:xfrm>
            <a:custGeom>
              <a:avLst/>
              <a:gdLst/>
              <a:ahLst/>
              <a:cxnLst/>
              <a:rect l="l" t="t" r="r" b="b"/>
              <a:pathLst>
                <a:path w="4305300" h="1600200">
                  <a:moveTo>
                    <a:pt x="4198504" y="1600199"/>
                  </a:moveTo>
                  <a:lnTo>
                    <a:pt x="0" y="1600199"/>
                  </a:lnTo>
                  <a:lnTo>
                    <a:pt x="0" y="0"/>
                  </a:lnTo>
                  <a:lnTo>
                    <a:pt x="4198504" y="0"/>
                  </a:lnTo>
                  <a:lnTo>
                    <a:pt x="4205937" y="732"/>
                  </a:lnTo>
                  <a:lnTo>
                    <a:pt x="4248260" y="15093"/>
                  </a:lnTo>
                  <a:lnTo>
                    <a:pt x="4281866" y="44558"/>
                  </a:lnTo>
                  <a:lnTo>
                    <a:pt x="4301638" y="84640"/>
                  </a:lnTo>
                  <a:lnTo>
                    <a:pt x="4305299" y="106794"/>
                  </a:lnTo>
                  <a:lnTo>
                    <a:pt x="4305299" y="1493404"/>
                  </a:lnTo>
                  <a:lnTo>
                    <a:pt x="4293726" y="1536574"/>
                  </a:lnTo>
                  <a:lnTo>
                    <a:pt x="4266514" y="1572028"/>
                  </a:lnTo>
                  <a:lnTo>
                    <a:pt x="4227806" y="1594371"/>
                  </a:lnTo>
                  <a:lnTo>
                    <a:pt x="4198504" y="1600199"/>
                  </a:lnTo>
                  <a:close/>
                </a:path>
              </a:pathLst>
            </a:custGeom>
            <a:solidFill>
              <a:srgbClr val="F7FAFB"/>
            </a:solidFill>
          </p:spPr>
          <p:txBody>
            <a:bodyPr wrap="square" lIns="0" tIns="0" rIns="0" bIns="0" rtlCol="0"/>
            <a:lstStyle/>
            <a:p/>
          </p:txBody>
        </p:sp>
        <p:sp>
          <p:nvSpPr>
            <p:cNvPr id="9" name="object 9"/>
            <p:cNvSpPr/>
            <p:nvPr/>
          </p:nvSpPr>
          <p:spPr>
            <a:xfrm>
              <a:off x="457200" y="1228724"/>
              <a:ext cx="38100" cy="1600200"/>
            </a:xfrm>
            <a:custGeom>
              <a:avLst/>
              <a:gdLst/>
              <a:ahLst/>
              <a:cxnLst/>
              <a:rect l="l" t="t" r="r" b="b"/>
              <a:pathLst>
                <a:path w="38100" h="1600200">
                  <a:moveTo>
                    <a:pt x="38099" y="1600199"/>
                  </a:moveTo>
                  <a:lnTo>
                    <a:pt x="0" y="1600199"/>
                  </a:lnTo>
                  <a:lnTo>
                    <a:pt x="0" y="0"/>
                  </a:lnTo>
                  <a:lnTo>
                    <a:pt x="38099" y="0"/>
                  </a:lnTo>
                  <a:lnTo>
                    <a:pt x="38099" y="1600199"/>
                  </a:lnTo>
                  <a:close/>
                </a:path>
              </a:pathLst>
            </a:custGeom>
            <a:solidFill>
              <a:srgbClr val="4237CA"/>
            </a:solidFill>
          </p:spPr>
          <p:txBody>
            <a:bodyPr wrap="square" lIns="0" tIns="0" rIns="0" bIns="0" rtlCol="0"/>
            <a:lstStyle/>
            <a:p/>
          </p:txBody>
        </p:sp>
        <p:pic>
          <p:nvPicPr>
            <p:cNvPr id="10" name="object 10"/>
            <p:cNvPicPr/>
            <p:nvPr/>
          </p:nvPicPr>
          <p:blipFill>
            <a:blip r:embed="rId2" cstate="print"/>
            <a:stretch>
              <a:fillRect/>
            </a:stretch>
          </p:blipFill>
          <p:spPr>
            <a:xfrm>
              <a:off x="709612" y="1481137"/>
              <a:ext cx="142874" cy="150812"/>
            </a:xfrm>
            <a:prstGeom prst="rect">
              <a:avLst/>
            </a:prstGeom>
          </p:spPr>
        </p:pic>
      </p:grpSp>
      <p:sp>
        <p:nvSpPr>
          <p:cNvPr id="11" name="object 11"/>
          <p:cNvSpPr txBox="1"/>
          <p:nvPr/>
        </p:nvSpPr>
        <p:spPr>
          <a:xfrm>
            <a:off x="673099" y="1391285"/>
            <a:ext cx="3286125" cy="1223010"/>
          </a:xfrm>
          <a:prstGeom prst="rect">
            <a:avLst/>
          </a:prstGeom>
        </p:spPr>
        <p:txBody>
          <a:bodyPr vert="horz" wrap="square" lIns="0" tIns="12065" rIns="0" bIns="0" rtlCol="0">
            <a:spAutoFit/>
          </a:bodyPr>
          <a:lstStyle/>
          <a:p>
            <a:pPr marL="279400">
              <a:lnSpc>
                <a:spcPct val="100000"/>
              </a:lnSpc>
              <a:spcBef>
                <a:spcPts val="95"/>
              </a:spcBef>
            </a:pPr>
            <a:r>
              <a:rPr sz="1700" b="1" spc="-175" dirty="0">
                <a:solidFill>
                  <a:srgbClr val="372FA2"/>
                </a:solidFill>
                <a:latin typeface="微软雅黑" panose="020B0503020204020204" charset="-122"/>
                <a:cs typeface="微软雅黑" panose="020B0503020204020204" charset="-122"/>
              </a:rPr>
              <a:t>核心思想</a:t>
            </a:r>
            <a:endParaRPr sz="1700">
              <a:latin typeface="微软雅黑" panose="020B0503020204020204" charset="-122"/>
              <a:cs typeface="微软雅黑" panose="020B0503020204020204" charset="-122"/>
            </a:endParaRPr>
          </a:p>
          <a:p>
            <a:pPr marL="12700" marR="5080">
              <a:lnSpc>
                <a:spcPct val="123000"/>
              </a:lnSpc>
              <a:spcBef>
                <a:spcPts val="745"/>
              </a:spcBef>
            </a:pPr>
            <a:r>
              <a:rPr sz="1500" spc="-180" dirty="0">
                <a:solidFill>
                  <a:srgbClr val="334054"/>
                </a:solidFill>
                <a:latin typeface="宋体" panose="02010600030101010101" pitchFamily="2" charset="-122"/>
                <a:cs typeface="宋体" panose="02010600030101010101" pitchFamily="2" charset="-122"/>
              </a:rPr>
              <a:t>将分支变量选择建模为 </a:t>
            </a:r>
            <a:r>
              <a:rPr sz="1500" b="1" spc="-150" dirty="0">
                <a:solidFill>
                  <a:srgbClr val="4237CA"/>
                </a:solidFill>
                <a:latin typeface="微软雅黑" panose="020B0503020204020204" charset="-122"/>
                <a:cs typeface="微软雅黑" panose="020B0503020204020204" charset="-122"/>
              </a:rPr>
              <a:t>模仿学习 </a:t>
            </a:r>
            <a:r>
              <a:rPr sz="1350" b="1" spc="40" dirty="0">
                <a:solidFill>
                  <a:srgbClr val="4237CA"/>
                </a:solidFill>
                <a:latin typeface="Calibri" panose="020F0502020204030204"/>
                <a:cs typeface="Calibri" panose="020F0502020204030204"/>
              </a:rPr>
              <a:t>(Imitation </a:t>
            </a:r>
            <a:r>
              <a:rPr sz="1350" b="1" spc="55" dirty="0">
                <a:solidFill>
                  <a:srgbClr val="4237CA"/>
                </a:solidFill>
                <a:latin typeface="Calibri" panose="020F0502020204030204"/>
                <a:cs typeface="Calibri" panose="020F0502020204030204"/>
              </a:rPr>
              <a:t>Learning) </a:t>
            </a:r>
            <a:r>
              <a:rPr sz="1500" spc="-175" dirty="0">
                <a:solidFill>
                  <a:srgbClr val="334054"/>
                </a:solidFill>
                <a:latin typeface="宋体" panose="02010600030101010101" pitchFamily="2" charset="-122"/>
                <a:cs typeface="宋体" panose="02010600030101010101" pitchFamily="2" charset="-122"/>
              </a:rPr>
              <a:t>任务，通过行为克隆学习 </a:t>
            </a:r>
            <a:r>
              <a:rPr sz="1400" i="1" spc="-10" dirty="0">
                <a:solidFill>
                  <a:srgbClr val="465469"/>
                </a:solidFill>
                <a:latin typeface="Calibri" panose="020F0502020204030204"/>
                <a:cs typeface="Calibri" panose="020F0502020204030204"/>
              </a:rPr>
              <a:t>Strong </a:t>
            </a:r>
            <a:r>
              <a:rPr sz="1400" i="1" dirty="0">
                <a:solidFill>
                  <a:srgbClr val="465469"/>
                </a:solidFill>
                <a:latin typeface="Calibri" panose="020F0502020204030204"/>
                <a:cs typeface="Calibri" panose="020F0502020204030204"/>
              </a:rPr>
              <a:t>Branching</a:t>
            </a:r>
            <a:r>
              <a:rPr sz="1400" i="1" spc="-75" dirty="0">
                <a:solidFill>
                  <a:srgbClr val="465469"/>
                </a:solidFill>
                <a:latin typeface="Calibri" panose="020F0502020204030204"/>
                <a:cs typeface="Calibri" panose="020F0502020204030204"/>
              </a:rPr>
              <a:t> </a:t>
            </a:r>
            <a:r>
              <a:rPr sz="1500" spc="-140" dirty="0">
                <a:solidFill>
                  <a:srgbClr val="334054"/>
                </a:solidFill>
                <a:latin typeface="宋体" panose="02010600030101010101" pitchFamily="2" charset="-122"/>
                <a:cs typeface="宋体" panose="02010600030101010101" pitchFamily="2" charset="-122"/>
              </a:rPr>
              <a:t>专家的启发式决策。</a:t>
            </a:r>
            <a:endParaRPr sz="1500">
              <a:latin typeface="宋体" panose="02010600030101010101" pitchFamily="2" charset="-122"/>
              <a:cs typeface="宋体" panose="02010600030101010101" pitchFamily="2" charset="-122"/>
            </a:endParaRPr>
          </a:p>
        </p:txBody>
      </p:sp>
      <p:sp>
        <p:nvSpPr>
          <p:cNvPr id="12" name="object 12"/>
          <p:cNvSpPr txBox="1"/>
          <p:nvPr/>
        </p:nvSpPr>
        <p:spPr>
          <a:xfrm>
            <a:off x="754062" y="5490628"/>
            <a:ext cx="93980" cy="165100"/>
          </a:xfrm>
          <a:prstGeom prst="rect">
            <a:avLst/>
          </a:prstGeom>
        </p:spPr>
        <p:txBody>
          <a:bodyPr vert="horz" wrap="square" lIns="0" tIns="14604" rIns="0" bIns="0" rtlCol="0">
            <a:spAutoFit/>
          </a:bodyPr>
          <a:lstStyle/>
          <a:p>
            <a:pPr marL="12700">
              <a:lnSpc>
                <a:spcPct val="100000"/>
              </a:lnSpc>
              <a:spcBef>
                <a:spcPts val="115"/>
              </a:spcBef>
            </a:pPr>
            <a:r>
              <a:rPr sz="900" spc="-50" dirty="0">
                <a:solidFill>
                  <a:srgbClr val="C7D1FE"/>
                </a:solidFill>
                <a:latin typeface="Courier New" panose="02070309020205020404"/>
                <a:cs typeface="Courier New" panose="02070309020205020404"/>
              </a:rPr>
              <a:t>G</a:t>
            </a:r>
            <a:endParaRPr sz="900">
              <a:latin typeface="Courier New" panose="02070309020205020404"/>
              <a:cs typeface="Courier New" panose="02070309020205020404"/>
            </a:endParaRPr>
          </a:p>
        </p:txBody>
      </p:sp>
      <p:sp>
        <p:nvSpPr>
          <p:cNvPr id="13" name="object 13"/>
          <p:cNvSpPr txBox="1"/>
          <p:nvPr/>
        </p:nvSpPr>
        <p:spPr>
          <a:xfrm>
            <a:off x="977900" y="5465889"/>
            <a:ext cx="425450" cy="206375"/>
          </a:xfrm>
          <a:prstGeom prst="rect">
            <a:avLst/>
          </a:prstGeom>
        </p:spPr>
        <p:txBody>
          <a:bodyPr vert="horz" wrap="square" lIns="0" tIns="17145" rIns="0" bIns="0" rtlCol="0">
            <a:spAutoFit/>
          </a:bodyPr>
          <a:lstStyle/>
          <a:p>
            <a:pPr marL="12700">
              <a:lnSpc>
                <a:spcPct val="100000"/>
              </a:lnSpc>
              <a:spcBef>
                <a:spcPts val="135"/>
              </a:spcBef>
            </a:pPr>
            <a:r>
              <a:rPr sz="1150" spc="-90" dirty="0">
                <a:solidFill>
                  <a:srgbClr val="C7D1FE"/>
                </a:solidFill>
                <a:latin typeface="宋体" panose="02010600030101010101" pitchFamily="2" charset="-122"/>
                <a:cs typeface="宋体" panose="02010600030101010101" pitchFamily="2" charset="-122"/>
              </a:rPr>
              <a:t>图结构</a:t>
            </a:r>
            <a:endParaRPr sz="1150">
              <a:latin typeface="宋体" panose="02010600030101010101" pitchFamily="2" charset="-122"/>
              <a:cs typeface="宋体" panose="02010600030101010101" pitchFamily="2" charset="-122"/>
            </a:endParaRPr>
          </a:p>
        </p:txBody>
      </p:sp>
      <p:pic>
        <p:nvPicPr>
          <p:cNvPr id="14" name="object 14"/>
          <p:cNvPicPr/>
          <p:nvPr/>
        </p:nvPicPr>
        <p:blipFill>
          <a:blip r:embed="rId1" cstate="print"/>
          <a:stretch>
            <a:fillRect/>
          </a:stretch>
        </p:blipFill>
        <p:spPr>
          <a:xfrm>
            <a:off x="2695574" y="5467349"/>
            <a:ext cx="228599" cy="228599"/>
          </a:xfrm>
          <a:prstGeom prst="rect">
            <a:avLst/>
          </a:prstGeom>
        </p:spPr>
      </p:pic>
      <p:sp>
        <p:nvSpPr>
          <p:cNvPr id="15" name="object 15"/>
          <p:cNvSpPr txBox="1"/>
          <p:nvPr/>
        </p:nvSpPr>
        <p:spPr>
          <a:xfrm>
            <a:off x="2765623" y="5490628"/>
            <a:ext cx="93980" cy="165100"/>
          </a:xfrm>
          <a:prstGeom prst="rect">
            <a:avLst/>
          </a:prstGeom>
        </p:spPr>
        <p:txBody>
          <a:bodyPr vert="horz" wrap="square" lIns="0" tIns="14604" rIns="0" bIns="0" rtlCol="0">
            <a:spAutoFit/>
          </a:bodyPr>
          <a:lstStyle/>
          <a:p>
            <a:pPr marL="12700">
              <a:lnSpc>
                <a:spcPct val="100000"/>
              </a:lnSpc>
              <a:spcBef>
                <a:spcPts val="115"/>
              </a:spcBef>
            </a:pPr>
            <a:r>
              <a:rPr sz="900" spc="-50" dirty="0">
                <a:solidFill>
                  <a:srgbClr val="C7D1FE"/>
                </a:solidFill>
                <a:latin typeface="Courier New" panose="02070309020205020404"/>
                <a:cs typeface="Courier New" panose="02070309020205020404"/>
              </a:rPr>
              <a:t>C</a:t>
            </a:r>
            <a:endParaRPr sz="900">
              <a:latin typeface="Courier New" panose="02070309020205020404"/>
              <a:cs typeface="Courier New" panose="02070309020205020404"/>
            </a:endParaRPr>
          </a:p>
        </p:txBody>
      </p:sp>
      <p:sp>
        <p:nvSpPr>
          <p:cNvPr id="16" name="object 16"/>
          <p:cNvSpPr txBox="1"/>
          <p:nvPr/>
        </p:nvSpPr>
        <p:spPr>
          <a:xfrm>
            <a:off x="2989460" y="5465889"/>
            <a:ext cx="558800" cy="206375"/>
          </a:xfrm>
          <a:prstGeom prst="rect">
            <a:avLst/>
          </a:prstGeom>
        </p:spPr>
        <p:txBody>
          <a:bodyPr vert="horz" wrap="square" lIns="0" tIns="17145" rIns="0" bIns="0" rtlCol="0">
            <a:spAutoFit/>
          </a:bodyPr>
          <a:lstStyle/>
          <a:p>
            <a:pPr marL="12700">
              <a:lnSpc>
                <a:spcPct val="100000"/>
              </a:lnSpc>
              <a:spcBef>
                <a:spcPts val="135"/>
              </a:spcBef>
            </a:pPr>
            <a:r>
              <a:rPr sz="1150" spc="-100" dirty="0">
                <a:solidFill>
                  <a:srgbClr val="C7D1FE"/>
                </a:solidFill>
                <a:latin typeface="宋体" panose="02010600030101010101" pitchFamily="2" charset="-122"/>
                <a:cs typeface="宋体" panose="02010600030101010101" pitchFamily="2" charset="-122"/>
              </a:rPr>
              <a:t>约束特征</a:t>
            </a:r>
            <a:endParaRPr sz="1150">
              <a:latin typeface="宋体" panose="02010600030101010101" pitchFamily="2" charset="-122"/>
              <a:cs typeface="宋体" panose="02010600030101010101" pitchFamily="2" charset="-122"/>
            </a:endParaRPr>
          </a:p>
        </p:txBody>
      </p:sp>
      <p:grpSp>
        <p:nvGrpSpPr>
          <p:cNvPr id="17" name="object 17"/>
          <p:cNvGrpSpPr/>
          <p:nvPr/>
        </p:nvGrpSpPr>
        <p:grpSpPr>
          <a:xfrm>
            <a:off x="685799" y="5848349"/>
            <a:ext cx="2238375" cy="228600"/>
            <a:chOff x="685799" y="5848349"/>
            <a:chExt cx="2238375" cy="228600"/>
          </a:xfrm>
        </p:grpSpPr>
        <p:pic>
          <p:nvPicPr>
            <p:cNvPr id="18" name="object 18"/>
            <p:cNvPicPr/>
            <p:nvPr/>
          </p:nvPicPr>
          <p:blipFill>
            <a:blip r:embed="rId1" cstate="print"/>
            <a:stretch>
              <a:fillRect/>
            </a:stretch>
          </p:blipFill>
          <p:spPr>
            <a:xfrm>
              <a:off x="685799" y="5848349"/>
              <a:ext cx="228599" cy="228599"/>
            </a:xfrm>
            <a:prstGeom prst="rect">
              <a:avLst/>
            </a:prstGeom>
          </p:spPr>
        </p:pic>
        <p:pic>
          <p:nvPicPr>
            <p:cNvPr id="19" name="object 19"/>
            <p:cNvPicPr/>
            <p:nvPr/>
          </p:nvPicPr>
          <p:blipFill>
            <a:blip r:embed="rId1" cstate="print"/>
            <a:stretch>
              <a:fillRect/>
            </a:stretch>
          </p:blipFill>
          <p:spPr>
            <a:xfrm>
              <a:off x="2695574" y="5848349"/>
              <a:ext cx="228599" cy="228599"/>
            </a:xfrm>
            <a:prstGeom prst="rect">
              <a:avLst/>
            </a:prstGeom>
          </p:spPr>
        </p:pic>
      </p:grpSp>
      <p:sp>
        <p:nvSpPr>
          <p:cNvPr id="20" name="object 20"/>
          <p:cNvSpPr txBox="1"/>
          <p:nvPr/>
        </p:nvSpPr>
        <p:spPr>
          <a:xfrm>
            <a:off x="754062" y="5871628"/>
            <a:ext cx="93980" cy="165100"/>
          </a:xfrm>
          <a:prstGeom prst="rect">
            <a:avLst/>
          </a:prstGeom>
        </p:spPr>
        <p:txBody>
          <a:bodyPr vert="horz" wrap="square" lIns="0" tIns="14604" rIns="0" bIns="0" rtlCol="0">
            <a:spAutoFit/>
          </a:bodyPr>
          <a:lstStyle/>
          <a:p>
            <a:pPr marL="12700">
              <a:lnSpc>
                <a:spcPct val="100000"/>
              </a:lnSpc>
              <a:spcBef>
                <a:spcPts val="115"/>
              </a:spcBef>
            </a:pPr>
            <a:r>
              <a:rPr sz="900" spc="-50" dirty="0">
                <a:solidFill>
                  <a:srgbClr val="C7D1FE"/>
                </a:solidFill>
                <a:latin typeface="Courier New" panose="02070309020205020404"/>
                <a:cs typeface="Courier New" panose="02070309020205020404"/>
              </a:rPr>
              <a:t>V</a:t>
            </a:r>
            <a:endParaRPr sz="900">
              <a:latin typeface="Courier New" panose="02070309020205020404"/>
              <a:cs typeface="Courier New" panose="02070309020205020404"/>
            </a:endParaRPr>
          </a:p>
        </p:txBody>
      </p:sp>
      <p:sp>
        <p:nvSpPr>
          <p:cNvPr id="21" name="object 21"/>
          <p:cNvSpPr txBox="1"/>
          <p:nvPr/>
        </p:nvSpPr>
        <p:spPr>
          <a:xfrm>
            <a:off x="977900" y="5846889"/>
            <a:ext cx="558800" cy="206375"/>
          </a:xfrm>
          <a:prstGeom prst="rect">
            <a:avLst/>
          </a:prstGeom>
        </p:spPr>
        <p:txBody>
          <a:bodyPr vert="horz" wrap="square" lIns="0" tIns="17145" rIns="0" bIns="0" rtlCol="0">
            <a:spAutoFit/>
          </a:bodyPr>
          <a:lstStyle/>
          <a:p>
            <a:pPr marL="12700">
              <a:lnSpc>
                <a:spcPct val="100000"/>
              </a:lnSpc>
              <a:spcBef>
                <a:spcPts val="135"/>
              </a:spcBef>
            </a:pPr>
            <a:r>
              <a:rPr sz="1150" spc="-100" dirty="0">
                <a:solidFill>
                  <a:srgbClr val="C7D1FE"/>
                </a:solidFill>
                <a:latin typeface="宋体" panose="02010600030101010101" pitchFamily="2" charset="-122"/>
                <a:cs typeface="宋体" panose="02010600030101010101" pitchFamily="2" charset="-122"/>
              </a:rPr>
              <a:t>变量特征</a:t>
            </a:r>
            <a:endParaRPr sz="1150">
              <a:latin typeface="宋体" panose="02010600030101010101" pitchFamily="2" charset="-122"/>
              <a:cs typeface="宋体" panose="02010600030101010101" pitchFamily="2" charset="-122"/>
            </a:endParaRPr>
          </a:p>
        </p:txBody>
      </p:sp>
      <p:sp>
        <p:nvSpPr>
          <p:cNvPr id="22" name="object 22"/>
          <p:cNvSpPr txBox="1"/>
          <p:nvPr/>
        </p:nvSpPr>
        <p:spPr>
          <a:xfrm>
            <a:off x="2765623" y="5871628"/>
            <a:ext cx="93980" cy="165100"/>
          </a:xfrm>
          <a:prstGeom prst="rect">
            <a:avLst/>
          </a:prstGeom>
        </p:spPr>
        <p:txBody>
          <a:bodyPr vert="horz" wrap="square" lIns="0" tIns="14604" rIns="0" bIns="0" rtlCol="0">
            <a:spAutoFit/>
          </a:bodyPr>
          <a:lstStyle/>
          <a:p>
            <a:pPr marL="12700">
              <a:lnSpc>
                <a:spcPct val="100000"/>
              </a:lnSpc>
              <a:spcBef>
                <a:spcPts val="115"/>
              </a:spcBef>
            </a:pPr>
            <a:r>
              <a:rPr sz="900" spc="-50" dirty="0">
                <a:solidFill>
                  <a:srgbClr val="C7D1FE"/>
                </a:solidFill>
                <a:latin typeface="Courier New" panose="02070309020205020404"/>
                <a:cs typeface="Courier New" panose="02070309020205020404"/>
              </a:rPr>
              <a:t>E</a:t>
            </a:r>
            <a:endParaRPr sz="900">
              <a:latin typeface="Courier New" panose="02070309020205020404"/>
              <a:cs typeface="Courier New" panose="02070309020205020404"/>
            </a:endParaRPr>
          </a:p>
        </p:txBody>
      </p:sp>
      <p:sp>
        <p:nvSpPr>
          <p:cNvPr id="23" name="object 23"/>
          <p:cNvSpPr txBox="1"/>
          <p:nvPr/>
        </p:nvSpPr>
        <p:spPr>
          <a:xfrm>
            <a:off x="2989460" y="5846889"/>
            <a:ext cx="425450" cy="206375"/>
          </a:xfrm>
          <a:prstGeom prst="rect">
            <a:avLst/>
          </a:prstGeom>
        </p:spPr>
        <p:txBody>
          <a:bodyPr vert="horz" wrap="square" lIns="0" tIns="17145" rIns="0" bIns="0" rtlCol="0">
            <a:spAutoFit/>
          </a:bodyPr>
          <a:lstStyle/>
          <a:p>
            <a:pPr marL="12700">
              <a:lnSpc>
                <a:spcPct val="100000"/>
              </a:lnSpc>
              <a:spcBef>
                <a:spcPts val="135"/>
              </a:spcBef>
            </a:pPr>
            <a:r>
              <a:rPr sz="1150" spc="-90" dirty="0">
                <a:solidFill>
                  <a:srgbClr val="C7D1FE"/>
                </a:solidFill>
                <a:latin typeface="宋体" panose="02010600030101010101" pitchFamily="2" charset="-122"/>
                <a:cs typeface="宋体" panose="02010600030101010101" pitchFamily="2" charset="-122"/>
              </a:rPr>
              <a:t>边特征</a:t>
            </a:r>
            <a:endParaRPr sz="1150">
              <a:latin typeface="宋体" panose="02010600030101010101" pitchFamily="2" charset="-122"/>
              <a:cs typeface="宋体" panose="02010600030101010101" pitchFamily="2" charset="-122"/>
            </a:endParaRPr>
          </a:p>
        </p:txBody>
      </p:sp>
      <p:sp>
        <p:nvSpPr>
          <p:cNvPr id="24" name="object 24"/>
          <p:cNvSpPr txBox="1"/>
          <p:nvPr/>
        </p:nvSpPr>
        <p:spPr>
          <a:xfrm>
            <a:off x="634999" y="3133503"/>
            <a:ext cx="3884929" cy="1066800"/>
          </a:xfrm>
          <a:prstGeom prst="rect">
            <a:avLst/>
          </a:prstGeom>
        </p:spPr>
        <p:txBody>
          <a:bodyPr vert="horz" wrap="square" lIns="0" tIns="152400" rIns="0" bIns="0" rtlCol="0">
            <a:spAutoFit/>
          </a:bodyPr>
          <a:lstStyle/>
          <a:p>
            <a:pPr marL="50800">
              <a:lnSpc>
                <a:spcPct val="100000"/>
              </a:lnSpc>
              <a:spcBef>
                <a:spcPts val="1200"/>
              </a:spcBef>
            </a:pPr>
            <a:r>
              <a:rPr sz="1500" b="1" spc="-85" dirty="0">
                <a:solidFill>
                  <a:srgbClr val="C7D1FE"/>
                </a:solidFill>
                <a:latin typeface="Yu Gothic UI Semibold" panose="020B0700000000000000" charset="-128"/>
                <a:cs typeface="Yu Gothic UI Semibold" panose="020B0700000000000000" charset="-128"/>
              </a:rPr>
              <a:t>状</a:t>
            </a:r>
            <a:r>
              <a:rPr sz="1500" b="1" spc="-85" dirty="0">
                <a:solidFill>
                  <a:srgbClr val="C7D1FE"/>
                </a:solidFill>
                <a:latin typeface="微软雅黑" panose="020B0503020204020204" charset="-122"/>
                <a:cs typeface="微软雅黑" panose="020B0503020204020204" charset="-122"/>
              </a:rPr>
              <a:t>态</a:t>
            </a:r>
            <a:r>
              <a:rPr sz="1500" b="1" spc="-85" dirty="0">
                <a:solidFill>
                  <a:srgbClr val="C7D1FE"/>
                </a:solidFill>
                <a:latin typeface="Yu Gothic UI Semibold" panose="020B0700000000000000" charset="-128"/>
                <a:cs typeface="Yu Gothic UI Semibold" panose="020B0700000000000000" charset="-128"/>
              </a:rPr>
              <a:t>表</a:t>
            </a:r>
            <a:r>
              <a:rPr sz="1500" b="1" spc="-80" dirty="0">
                <a:solidFill>
                  <a:srgbClr val="C7D1FE"/>
                </a:solidFill>
                <a:latin typeface="微软雅黑" panose="020B0503020204020204" charset="-122"/>
                <a:cs typeface="微软雅黑" panose="020B0503020204020204" charset="-122"/>
              </a:rPr>
              <a:t>示 </a:t>
            </a:r>
            <a:r>
              <a:rPr sz="1350" b="1" spc="-250" dirty="0">
                <a:solidFill>
                  <a:srgbClr val="C7D1FE"/>
                </a:solidFill>
                <a:latin typeface="Verdana" panose="020B0604030504040204"/>
                <a:cs typeface="Verdana" panose="020B0604030504040204"/>
              </a:rPr>
              <a:t>/ </a:t>
            </a:r>
            <a:r>
              <a:rPr sz="1350" b="1" spc="-175" dirty="0">
                <a:solidFill>
                  <a:srgbClr val="C7D1FE"/>
                </a:solidFill>
                <a:latin typeface="Verdana" panose="020B0604030504040204"/>
                <a:cs typeface="Verdana" panose="020B0604030504040204"/>
              </a:rPr>
              <a:t>STATE</a:t>
            </a:r>
            <a:r>
              <a:rPr sz="1350" b="1" spc="-60" dirty="0">
                <a:solidFill>
                  <a:srgbClr val="C7D1FE"/>
                </a:solidFill>
                <a:latin typeface="Verdana" panose="020B0604030504040204"/>
                <a:cs typeface="Verdana" panose="020B0604030504040204"/>
              </a:rPr>
              <a:t> </a:t>
            </a:r>
            <a:r>
              <a:rPr sz="1350" b="1" spc="-130" dirty="0">
                <a:solidFill>
                  <a:srgbClr val="C7D1FE"/>
                </a:solidFill>
                <a:latin typeface="Verdana" panose="020B0604030504040204"/>
                <a:cs typeface="Verdana" panose="020B0604030504040204"/>
              </a:rPr>
              <a:t>REPRESENTATION</a:t>
            </a:r>
            <a:endParaRPr sz="1350">
              <a:latin typeface="Verdana" panose="020B0604030504040204"/>
              <a:cs typeface="Verdana" panose="020B0604030504040204"/>
            </a:endParaRPr>
          </a:p>
          <a:p>
            <a:pPr marL="50800" marR="43180">
              <a:lnSpc>
                <a:spcPct val="111000"/>
              </a:lnSpc>
              <a:spcBef>
                <a:spcPts val="1035"/>
              </a:spcBef>
            </a:pPr>
            <a:r>
              <a:rPr sz="1350" spc="-125" dirty="0">
                <a:solidFill>
                  <a:srgbClr val="DFE7FF"/>
                </a:solidFill>
                <a:latin typeface="宋体" panose="02010600030101010101" pitchFamily="2" charset="-122"/>
                <a:cs typeface="宋体" panose="02010600030101010101" pitchFamily="2" charset="-122"/>
              </a:rPr>
              <a:t>当前节点状态 </a:t>
            </a:r>
            <a:r>
              <a:rPr sz="1800" i="1" spc="70" dirty="0">
                <a:solidFill>
                  <a:srgbClr val="DFE7FF"/>
                </a:solidFill>
                <a:latin typeface="Cambria" panose="02040503050406030204"/>
                <a:cs typeface="Cambria" panose="02040503050406030204"/>
              </a:rPr>
              <a:t>s</a:t>
            </a:r>
            <a:r>
              <a:rPr sz="1875" i="1" spc="104" baseline="-11000" dirty="0">
                <a:solidFill>
                  <a:srgbClr val="DFE7FF"/>
                </a:solidFill>
                <a:latin typeface="Cambria" panose="02040503050406030204"/>
                <a:cs typeface="Cambria" panose="02040503050406030204"/>
              </a:rPr>
              <a:t>t</a:t>
            </a:r>
            <a:r>
              <a:rPr sz="1875" i="1" spc="742" baseline="-11000" dirty="0">
                <a:solidFill>
                  <a:srgbClr val="DFE7FF"/>
                </a:solidFill>
                <a:latin typeface="Cambria" panose="02040503050406030204"/>
                <a:cs typeface="Cambria" panose="02040503050406030204"/>
              </a:rPr>
              <a:t> </a:t>
            </a:r>
            <a:r>
              <a:rPr sz="1350" spc="-190" dirty="0">
                <a:solidFill>
                  <a:srgbClr val="DFE7FF"/>
                </a:solidFill>
                <a:latin typeface="宋体" panose="02010600030101010101" pitchFamily="2" charset="-122"/>
                <a:cs typeface="宋体" panose="02010600030101010101" pitchFamily="2" charset="-122"/>
              </a:rPr>
              <a:t>被形式化为一个四元组，捕获 </a:t>
            </a:r>
            <a:r>
              <a:rPr sz="1200" dirty="0">
                <a:solidFill>
                  <a:srgbClr val="DFE7FF"/>
                </a:solidFill>
                <a:latin typeface="Calibri" panose="020F0502020204030204"/>
                <a:cs typeface="Calibri" panose="020F0502020204030204"/>
              </a:rPr>
              <a:t>MILP </a:t>
            </a:r>
            <a:r>
              <a:rPr sz="1350" spc="-50" dirty="0">
                <a:solidFill>
                  <a:srgbClr val="DFE7FF"/>
                </a:solidFill>
                <a:latin typeface="宋体" panose="02010600030101010101" pitchFamily="2" charset="-122"/>
                <a:cs typeface="宋体" panose="02010600030101010101" pitchFamily="2" charset="-122"/>
              </a:rPr>
              <a:t>的</a:t>
            </a:r>
            <a:r>
              <a:rPr sz="1350" spc="-150" dirty="0">
                <a:solidFill>
                  <a:srgbClr val="DFE7FF"/>
                </a:solidFill>
                <a:latin typeface="宋体" panose="02010600030101010101" pitchFamily="2" charset="-122"/>
                <a:cs typeface="宋体" panose="02010600030101010101" pitchFamily="2" charset="-122"/>
              </a:rPr>
              <a:t>结构特征：</a:t>
            </a:r>
            <a:endParaRPr sz="1350">
              <a:latin typeface="宋体" panose="02010600030101010101" pitchFamily="2" charset="-122"/>
              <a:cs typeface="宋体" panose="02010600030101010101" pitchFamily="2" charset="-122"/>
            </a:endParaRPr>
          </a:p>
        </p:txBody>
      </p:sp>
      <p:sp>
        <p:nvSpPr>
          <p:cNvPr id="25" name="object 25"/>
          <p:cNvSpPr txBox="1"/>
          <p:nvPr/>
        </p:nvSpPr>
        <p:spPr>
          <a:xfrm>
            <a:off x="1865957" y="4713699"/>
            <a:ext cx="83185" cy="217804"/>
          </a:xfrm>
          <a:prstGeom prst="rect">
            <a:avLst/>
          </a:prstGeom>
        </p:spPr>
        <p:txBody>
          <a:bodyPr vert="horz" wrap="square" lIns="0" tIns="13970" rIns="0" bIns="0" rtlCol="0">
            <a:spAutoFit/>
          </a:bodyPr>
          <a:lstStyle/>
          <a:p>
            <a:pPr marL="12700">
              <a:lnSpc>
                <a:spcPct val="100000"/>
              </a:lnSpc>
              <a:spcBef>
                <a:spcPts val="110"/>
              </a:spcBef>
            </a:pPr>
            <a:r>
              <a:rPr sz="1250" i="1" spc="-50" dirty="0">
                <a:solidFill>
                  <a:srgbClr val="FFFFFF"/>
                </a:solidFill>
                <a:latin typeface="Cambria" panose="02040503050406030204"/>
                <a:cs typeface="Cambria" panose="02040503050406030204"/>
              </a:rPr>
              <a:t>t</a:t>
            </a:r>
            <a:endParaRPr sz="1250">
              <a:latin typeface="Cambria" panose="02040503050406030204"/>
              <a:cs typeface="Cambria" panose="02040503050406030204"/>
            </a:endParaRPr>
          </a:p>
        </p:txBody>
      </p:sp>
      <p:sp>
        <p:nvSpPr>
          <p:cNvPr id="26" name="object 26"/>
          <p:cNvSpPr txBox="1"/>
          <p:nvPr/>
        </p:nvSpPr>
        <p:spPr>
          <a:xfrm>
            <a:off x="1761182" y="4616450"/>
            <a:ext cx="1723389" cy="299720"/>
          </a:xfrm>
          <a:prstGeom prst="rect">
            <a:avLst/>
          </a:prstGeom>
        </p:spPr>
        <p:txBody>
          <a:bodyPr vert="horz" wrap="square" lIns="0" tIns="12700" rIns="0" bIns="0" rtlCol="0">
            <a:spAutoFit/>
          </a:bodyPr>
          <a:lstStyle/>
          <a:p>
            <a:pPr marL="12700">
              <a:lnSpc>
                <a:spcPct val="100000"/>
              </a:lnSpc>
              <a:spcBef>
                <a:spcPts val="100"/>
              </a:spcBef>
              <a:tabLst>
                <a:tab pos="248920" algn="l"/>
              </a:tabLst>
            </a:pPr>
            <a:r>
              <a:rPr sz="1800" i="1" spc="100" dirty="0">
                <a:solidFill>
                  <a:srgbClr val="FFFFFF"/>
                </a:solidFill>
                <a:latin typeface="Cambria" panose="02040503050406030204"/>
                <a:cs typeface="Cambria" panose="02040503050406030204"/>
              </a:rPr>
              <a:t>s</a:t>
            </a:r>
            <a:r>
              <a:rPr sz="1800" i="1" dirty="0">
                <a:solidFill>
                  <a:srgbClr val="FFFFFF"/>
                </a:solidFill>
                <a:latin typeface="Cambria" panose="02040503050406030204"/>
                <a:cs typeface="Cambria" panose="02040503050406030204"/>
              </a:rPr>
              <a:t>	</a:t>
            </a:r>
            <a:r>
              <a:rPr sz="1800" dirty="0">
                <a:solidFill>
                  <a:srgbClr val="FFFFFF"/>
                </a:solidFill>
                <a:latin typeface="Lucida Sans Unicode" panose="020B0602030504020204"/>
                <a:cs typeface="Lucida Sans Unicode" panose="020B0602030504020204"/>
              </a:rPr>
              <a:t>=</a:t>
            </a:r>
            <a:r>
              <a:rPr sz="1800" spc="-50" dirty="0">
                <a:solidFill>
                  <a:srgbClr val="FFFFFF"/>
                </a:solidFill>
                <a:latin typeface="Lucida Sans Unicode" panose="020B0602030504020204"/>
                <a:cs typeface="Lucida Sans Unicode" panose="020B0602030504020204"/>
              </a:rPr>
              <a:t> </a:t>
            </a:r>
            <a:r>
              <a:rPr sz="1800" spc="120" dirty="0">
                <a:solidFill>
                  <a:srgbClr val="FFFFFF"/>
                </a:solidFill>
                <a:latin typeface="Lucida Sans Unicode" panose="020B0602030504020204"/>
                <a:cs typeface="Lucida Sans Unicode" panose="020B0602030504020204"/>
              </a:rPr>
              <a:t>(</a:t>
            </a:r>
            <a:r>
              <a:rPr sz="1800" i="1" spc="120" dirty="0">
                <a:solidFill>
                  <a:srgbClr val="FFFFFF"/>
                </a:solidFill>
                <a:latin typeface="Cambria" panose="02040503050406030204"/>
                <a:cs typeface="Cambria" panose="02040503050406030204"/>
              </a:rPr>
              <a:t>G</a:t>
            </a:r>
            <a:r>
              <a:rPr sz="1800" spc="120" dirty="0">
                <a:solidFill>
                  <a:srgbClr val="FFFFFF"/>
                </a:solidFill>
                <a:latin typeface="Lucida Sans Unicode" panose="020B0602030504020204"/>
                <a:cs typeface="Lucida Sans Unicode" panose="020B0602030504020204"/>
              </a:rPr>
              <a:t>,</a:t>
            </a:r>
            <a:r>
              <a:rPr sz="1800" spc="-245" dirty="0">
                <a:solidFill>
                  <a:srgbClr val="FFFFFF"/>
                </a:solidFill>
                <a:latin typeface="Lucida Sans Unicode" panose="020B0602030504020204"/>
                <a:cs typeface="Lucida Sans Unicode" panose="020B0602030504020204"/>
              </a:rPr>
              <a:t> </a:t>
            </a:r>
            <a:r>
              <a:rPr sz="1800" i="1" spc="175" dirty="0">
                <a:solidFill>
                  <a:srgbClr val="FFFFFF"/>
                </a:solidFill>
                <a:latin typeface="Cambria" panose="02040503050406030204"/>
                <a:cs typeface="Cambria" panose="02040503050406030204"/>
              </a:rPr>
              <a:t>C</a:t>
            </a:r>
            <a:r>
              <a:rPr sz="1800" spc="175" dirty="0">
                <a:solidFill>
                  <a:srgbClr val="FFFFFF"/>
                </a:solidFill>
                <a:latin typeface="Lucida Sans Unicode" panose="020B0602030504020204"/>
                <a:cs typeface="Lucida Sans Unicode" panose="020B0602030504020204"/>
              </a:rPr>
              <a:t>,</a:t>
            </a:r>
            <a:r>
              <a:rPr sz="1800" spc="-245" dirty="0">
                <a:solidFill>
                  <a:srgbClr val="FFFFFF"/>
                </a:solidFill>
                <a:latin typeface="Lucida Sans Unicode" panose="020B0602030504020204"/>
                <a:cs typeface="Lucida Sans Unicode" panose="020B0602030504020204"/>
              </a:rPr>
              <a:t> </a:t>
            </a:r>
            <a:r>
              <a:rPr sz="1800" i="1" spc="170" dirty="0">
                <a:solidFill>
                  <a:srgbClr val="FFFFFF"/>
                </a:solidFill>
                <a:latin typeface="Cambria" panose="02040503050406030204"/>
                <a:cs typeface="Cambria" panose="02040503050406030204"/>
              </a:rPr>
              <a:t>E</a:t>
            </a:r>
            <a:r>
              <a:rPr sz="1800" spc="170" dirty="0">
                <a:solidFill>
                  <a:srgbClr val="FFFFFF"/>
                </a:solidFill>
                <a:latin typeface="Lucida Sans Unicode" panose="020B0602030504020204"/>
                <a:cs typeface="Lucida Sans Unicode" panose="020B0602030504020204"/>
              </a:rPr>
              <a:t>,</a:t>
            </a:r>
            <a:r>
              <a:rPr sz="1800" spc="-245" dirty="0">
                <a:solidFill>
                  <a:srgbClr val="FFFFFF"/>
                </a:solidFill>
                <a:latin typeface="Lucida Sans Unicode" panose="020B0602030504020204"/>
                <a:cs typeface="Lucida Sans Unicode" panose="020B0602030504020204"/>
              </a:rPr>
              <a:t> </a:t>
            </a:r>
            <a:r>
              <a:rPr sz="1800" i="1" dirty="0">
                <a:solidFill>
                  <a:srgbClr val="FFFFFF"/>
                </a:solidFill>
                <a:latin typeface="Cambria" panose="02040503050406030204"/>
                <a:cs typeface="Cambria" panose="02040503050406030204"/>
              </a:rPr>
              <a:t>V </a:t>
            </a:r>
            <a:r>
              <a:rPr sz="1800" spc="60" dirty="0">
                <a:solidFill>
                  <a:srgbClr val="FFFFFF"/>
                </a:solidFill>
                <a:latin typeface="Lucida Sans Unicode" panose="020B0602030504020204"/>
                <a:cs typeface="Lucida Sans Unicode" panose="020B0602030504020204"/>
              </a:rPr>
              <a:t>)</a:t>
            </a:r>
            <a:endParaRPr sz="1800">
              <a:latin typeface="Lucida Sans Unicode" panose="020B0602030504020204"/>
              <a:cs typeface="Lucida Sans Unicode" panose="020B0602030504020204"/>
            </a:endParaRPr>
          </a:p>
        </p:txBody>
      </p:sp>
      <p:sp>
        <p:nvSpPr>
          <p:cNvPr id="27" name="object 27"/>
          <p:cNvSpPr/>
          <p:nvPr/>
        </p:nvSpPr>
        <p:spPr>
          <a:xfrm>
            <a:off x="5086349" y="1609724"/>
            <a:ext cx="6648450" cy="9525"/>
          </a:xfrm>
          <a:custGeom>
            <a:avLst/>
            <a:gdLst/>
            <a:ahLst/>
            <a:cxnLst/>
            <a:rect l="l" t="t" r="r" b="b"/>
            <a:pathLst>
              <a:path w="6648450" h="9525">
                <a:moveTo>
                  <a:pt x="6648449" y="9524"/>
                </a:moveTo>
                <a:lnTo>
                  <a:pt x="0" y="9524"/>
                </a:lnTo>
                <a:lnTo>
                  <a:pt x="0" y="0"/>
                </a:lnTo>
                <a:lnTo>
                  <a:pt x="6648449" y="0"/>
                </a:lnTo>
                <a:lnTo>
                  <a:pt x="6648449" y="9524"/>
                </a:lnTo>
                <a:close/>
              </a:path>
            </a:pathLst>
          </a:custGeom>
          <a:solidFill>
            <a:srgbClr val="E2E7F0"/>
          </a:solidFill>
        </p:spPr>
        <p:txBody>
          <a:bodyPr wrap="square" lIns="0" tIns="0" rIns="0" bIns="0" rtlCol="0"/>
          <a:lstStyle/>
          <a:p/>
        </p:txBody>
      </p:sp>
      <p:sp>
        <p:nvSpPr>
          <p:cNvPr id="28" name="object 28"/>
          <p:cNvSpPr/>
          <p:nvPr/>
        </p:nvSpPr>
        <p:spPr>
          <a:xfrm>
            <a:off x="5429237" y="2705099"/>
            <a:ext cx="19050" cy="228600"/>
          </a:xfrm>
          <a:custGeom>
            <a:avLst/>
            <a:gdLst/>
            <a:ahLst/>
            <a:cxnLst/>
            <a:rect l="l" t="t" r="r" b="b"/>
            <a:pathLst>
              <a:path w="19050" h="228600">
                <a:moveTo>
                  <a:pt x="19050" y="171450"/>
                </a:moveTo>
                <a:lnTo>
                  <a:pt x="0" y="171450"/>
                </a:lnTo>
                <a:lnTo>
                  <a:pt x="0" y="228600"/>
                </a:lnTo>
                <a:lnTo>
                  <a:pt x="19050" y="228600"/>
                </a:lnTo>
                <a:lnTo>
                  <a:pt x="19050" y="171450"/>
                </a:lnTo>
                <a:close/>
              </a:path>
              <a:path w="19050" h="228600">
                <a:moveTo>
                  <a:pt x="19050" y="85725"/>
                </a:moveTo>
                <a:lnTo>
                  <a:pt x="0" y="85725"/>
                </a:lnTo>
                <a:lnTo>
                  <a:pt x="0" y="142875"/>
                </a:lnTo>
                <a:lnTo>
                  <a:pt x="19050" y="142875"/>
                </a:lnTo>
                <a:lnTo>
                  <a:pt x="19050" y="85725"/>
                </a:lnTo>
                <a:close/>
              </a:path>
              <a:path w="19050" h="228600">
                <a:moveTo>
                  <a:pt x="19050" y="0"/>
                </a:moveTo>
                <a:lnTo>
                  <a:pt x="0" y="0"/>
                </a:lnTo>
                <a:lnTo>
                  <a:pt x="0" y="57150"/>
                </a:lnTo>
                <a:lnTo>
                  <a:pt x="19050" y="57150"/>
                </a:lnTo>
                <a:lnTo>
                  <a:pt x="19050" y="0"/>
                </a:lnTo>
                <a:close/>
              </a:path>
            </a:pathLst>
          </a:custGeom>
          <a:solidFill>
            <a:srgbClr val="C7D1FE"/>
          </a:solidFill>
        </p:spPr>
        <p:txBody>
          <a:bodyPr wrap="square" lIns="0" tIns="0" rIns="0" bIns="0" rtlCol="0"/>
          <a:lstStyle/>
          <a:p/>
        </p:txBody>
      </p:sp>
      <p:grpSp>
        <p:nvGrpSpPr>
          <p:cNvPr id="29" name="object 29"/>
          <p:cNvGrpSpPr/>
          <p:nvPr/>
        </p:nvGrpSpPr>
        <p:grpSpPr>
          <a:xfrm>
            <a:off x="5086349" y="4000500"/>
            <a:ext cx="6648450" cy="2457450"/>
            <a:chOff x="5086349" y="4000500"/>
            <a:chExt cx="6648450" cy="2457450"/>
          </a:xfrm>
        </p:grpSpPr>
        <p:sp>
          <p:nvSpPr>
            <p:cNvPr id="30" name="object 30"/>
            <p:cNvSpPr/>
            <p:nvPr/>
          </p:nvSpPr>
          <p:spPr>
            <a:xfrm>
              <a:off x="5429237" y="4000500"/>
              <a:ext cx="19050" cy="1504950"/>
            </a:xfrm>
            <a:custGeom>
              <a:avLst/>
              <a:gdLst/>
              <a:ahLst/>
              <a:cxnLst/>
              <a:rect l="l" t="t" r="r" b="b"/>
              <a:pathLst>
                <a:path w="19050" h="1504950">
                  <a:moveTo>
                    <a:pt x="19050" y="1447800"/>
                  </a:moveTo>
                  <a:lnTo>
                    <a:pt x="0" y="1447800"/>
                  </a:lnTo>
                  <a:lnTo>
                    <a:pt x="0" y="1504950"/>
                  </a:lnTo>
                  <a:lnTo>
                    <a:pt x="19050" y="1504950"/>
                  </a:lnTo>
                  <a:lnTo>
                    <a:pt x="19050" y="1447800"/>
                  </a:lnTo>
                  <a:close/>
                </a:path>
                <a:path w="19050" h="1504950">
                  <a:moveTo>
                    <a:pt x="19050" y="1362075"/>
                  </a:moveTo>
                  <a:lnTo>
                    <a:pt x="0" y="1362075"/>
                  </a:lnTo>
                  <a:lnTo>
                    <a:pt x="0" y="1419225"/>
                  </a:lnTo>
                  <a:lnTo>
                    <a:pt x="19050" y="1419225"/>
                  </a:lnTo>
                  <a:lnTo>
                    <a:pt x="19050" y="1362075"/>
                  </a:lnTo>
                  <a:close/>
                </a:path>
                <a:path w="19050" h="1504950">
                  <a:moveTo>
                    <a:pt x="19050" y="1276350"/>
                  </a:moveTo>
                  <a:lnTo>
                    <a:pt x="0" y="1276350"/>
                  </a:lnTo>
                  <a:lnTo>
                    <a:pt x="0" y="1333500"/>
                  </a:lnTo>
                  <a:lnTo>
                    <a:pt x="19050" y="1333500"/>
                  </a:lnTo>
                  <a:lnTo>
                    <a:pt x="19050" y="1276350"/>
                  </a:lnTo>
                  <a:close/>
                </a:path>
                <a:path w="19050" h="1504950">
                  <a:moveTo>
                    <a:pt x="19050" y="171450"/>
                  </a:moveTo>
                  <a:lnTo>
                    <a:pt x="0" y="171450"/>
                  </a:lnTo>
                  <a:lnTo>
                    <a:pt x="0" y="228600"/>
                  </a:lnTo>
                  <a:lnTo>
                    <a:pt x="19050" y="228600"/>
                  </a:lnTo>
                  <a:lnTo>
                    <a:pt x="19050" y="171450"/>
                  </a:lnTo>
                  <a:close/>
                </a:path>
                <a:path w="19050" h="1504950">
                  <a:moveTo>
                    <a:pt x="19050" y="85725"/>
                  </a:moveTo>
                  <a:lnTo>
                    <a:pt x="0" y="85725"/>
                  </a:lnTo>
                  <a:lnTo>
                    <a:pt x="0" y="142875"/>
                  </a:lnTo>
                  <a:lnTo>
                    <a:pt x="19050" y="142875"/>
                  </a:lnTo>
                  <a:lnTo>
                    <a:pt x="19050" y="85725"/>
                  </a:lnTo>
                  <a:close/>
                </a:path>
                <a:path w="19050" h="1504950">
                  <a:moveTo>
                    <a:pt x="19050" y="0"/>
                  </a:moveTo>
                  <a:lnTo>
                    <a:pt x="0" y="0"/>
                  </a:lnTo>
                  <a:lnTo>
                    <a:pt x="0" y="57150"/>
                  </a:lnTo>
                  <a:lnTo>
                    <a:pt x="19050" y="57150"/>
                  </a:lnTo>
                  <a:lnTo>
                    <a:pt x="19050" y="0"/>
                  </a:lnTo>
                  <a:close/>
                </a:path>
              </a:pathLst>
            </a:custGeom>
            <a:solidFill>
              <a:srgbClr val="C7D1FE"/>
            </a:solidFill>
          </p:spPr>
          <p:txBody>
            <a:bodyPr wrap="square" lIns="0" tIns="0" rIns="0" bIns="0" rtlCol="0"/>
            <a:lstStyle/>
            <a:p/>
          </p:txBody>
        </p:sp>
        <p:sp>
          <p:nvSpPr>
            <p:cNvPr id="31" name="object 31"/>
            <p:cNvSpPr/>
            <p:nvPr/>
          </p:nvSpPr>
          <p:spPr>
            <a:xfrm>
              <a:off x="5095874" y="5629274"/>
              <a:ext cx="6629400" cy="819150"/>
            </a:xfrm>
            <a:custGeom>
              <a:avLst/>
              <a:gdLst/>
              <a:ahLst/>
              <a:cxnLst/>
              <a:rect l="l" t="t" r="r" b="b"/>
              <a:pathLst>
                <a:path w="6629400" h="819150">
                  <a:moveTo>
                    <a:pt x="6531503" y="819149"/>
                  </a:moveTo>
                  <a:lnTo>
                    <a:pt x="97895" y="819149"/>
                  </a:lnTo>
                  <a:lnTo>
                    <a:pt x="91081" y="818478"/>
                  </a:lnTo>
                  <a:lnTo>
                    <a:pt x="52285" y="805313"/>
                  </a:lnTo>
                  <a:lnTo>
                    <a:pt x="21479" y="778304"/>
                  </a:lnTo>
                  <a:lnTo>
                    <a:pt x="3355" y="741562"/>
                  </a:lnTo>
                  <a:lnTo>
                    <a:pt x="0" y="721254"/>
                  </a:lnTo>
                  <a:lnTo>
                    <a:pt x="0" y="714374"/>
                  </a:lnTo>
                  <a:lnTo>
                    <a:pt x="0" y="97895"/>
                  </a:lnTo>
                  <a:lnTo>
                    <a:pt x="10608" y="58322"/>
                  </a:lnTo>
                  <a:lnTo>
                    <a:pt x="35552" y="25823"/>
                  </a:lnTo>
                  <a:lnTo>
                    <a:pt x="71035" y="5342"/>
                  </a:lnTo>
                  <a:lnTo>
                    <a:pt x="97895" y="0"/>
                  </a:lnTo>
                  <a:lnTo>
                    <a:pt x="6531503" y="0"/>
                  </a:lnTo>
                  <a:lnTo>
                    <a:pt x="6571075" y="10608"/>
                  </a:lnTo>
                  <a:lnTo>
                    <a:pt x="6603575" y="35552"/>
                  </a:lnTo>
                  <a:lnTo>
                    <a:pt x="6624055" y="71034"/>
                  </a:lnTo>
                  <a:lnTo>
                    <a:pt x="6629398" y="97895"/>
                  </a:lnTo>
                  <a:lnTo>
                    <a:pt x="6629398" y="721254"/>
                  </a:lnTo>
                  <a:lnTo>
                    <a:pt x="6618789" y="760826"/>
                  </a:lnTo>
                  <a:lnTo>
                    <a:pt x="6593846" y="793325"/>
                  </a:lnTo>
                  <a:lnTo>
                    <a:pt x="6558363" y="813806"/>
                  </a:lnTo>
                  <a:lnTo>
                    <a:pt x="6538316" y="818478"/>
                  </a:lnTo>
                  <a:lnTo>
                    <a:pt x="6531503" y="819149"/>
                  </a:lnTo>
                  <a:close/>
                </a:path>
              </a:pathLst>
            </a:custGeom>
            <a:solidFill>
              <a:srgbClr val="EDF1FF"/>
            </a:solidFill>
          </p:spPr>
          <p:txBody>
            <a:bodyPr wrap="square" lIns="0" tIns="0" rIns="0" bIns="0" rtlCol="0"/>
            <a:lstStyle/>
            <a:p/>
          </p:txBody>
        </p:sp>
        <p:sp>
          <p:nvSpPr>
            <p:cNvPr id="32" name="object 32"/>
            <p:cNvSpPr/>
            <p:nvPr/>
          </p:nvSpPr>
          <p:spPr>
            <a:xfrm>
              <a:off x="5095874" y="5629274"/>
              <a:ext cx="6629400" cy="819150"/>
            </a:xfrm>
            <a:custGeom>
              <a:avLst/>
              <a:gdLst/>
              <a:ahLst/>
              <a:cxnLst/>
              <a:rect l="l" t="t" r="r" b="b"/>
              <a:pathLst>
                <a:path w="6629400" h="819150">
                  <a:moveTo>
                    <a:pt x="0" y="714374"/>
                  </a:moveTo>
                  <a:lnTo>
                    <a:pt x="0" y="104774"/>
                  </a:lnTo>
                  <a:lnTo>
                    <a:pt x="0" y="97895"/>
                  </a:lnTo>
                  <a:lnTo>
                    <a:pt x="671" y="91081"/>
                  </a:lnTo>
                  <a:lnTo>
                    <a:pt x="2013" y="84333"/>
                  </a:lnTo>
                  <a:lnTo>
                    <a:pt x="3355" y="77586"/>
                  </a:lnTo>
                  <a:lnTo>
                    <a:pt x="5342" y="71034"/>
                  </a:lnTo>
                  <a:lnTo>
                    <a:pt x="7975" y="64678"/>
                  </a:lnTo>
                  <a:lnTo>
                    <a:pt x="10608" y="58322"/>
                  </a:lnTo>
                  <a:lnTo>
                    <a:pt x="13835" y="52284"/>
                  </a:lnTo>
                  <a:lnTo>
                    <a:pt x="17657" y="46564"/>
                  </a:lnTo>
                  <a:lnTo>
                    <a:pt x="21479" y="40844"/>
                  </a:lnTo>
                  <a:lnTo>
                    <a:pt x="52285" y="13835"/>
                  </a:lnTo>
                  <a:lnTo>
                    <a:pt x="64679" y="7975"/>
                  </a:lnTo>
                  <a:lnTo>
                    <a:pt x="71035" y="5342"/>
                  </a:lnTo>
                  <a:lnTo>
                    <a:pt x="77586" y="3354"/>
                  </a:lnTo>
                  <a:lnTo>
                    <a:pt x="84334" y="2012"/>
                  </a:lnTo>
                  <a:lnTo>
                    <a:pt x="91081" y="670"/>
                  </a:lnTo>
                  <a:lnTo>
                    <a:pt x="97895" y="0"/>
                  </a:lnTo>
                  <a:lnTo>
                    <a:pt x="104774" y="0"/>
                  </a:lnTo>
                  <a:lnTo>
                    <a:pt x="6524624" y="0"/>
                  </a:lnTo>
                  <a:lnTo>
                    <a:pt x="6531503" y="0"/>
                  </a:lnTo>
                  <a:lnTo>
                    <a:pt x="6538316" y="670"/>
                  </a:lnTo>
                  <a:lnTo>
                    <a:pt x="6577113" y="13835"/>
                  </a:lnTo>
                  <a:lnTo>
                    <a:pt x="6607918" y="40844"/>
                  </a:lnTo>
                  <a:lnTo>
                    <a:pt x="6626042" y="77586"/>
                  </a:lnTo>
                  <a:lnTo>
                    <a:pt x="6629399" y="104774"/>
                  </a:lnTo>
                  <a:lnTo>
                    <a:pt x="6629399" y="714374"/>
                  </a:lnTo>
                  <a:lnTo>
                    <a:pt x="6621422" y="754470"/>
                  </a:lnTo>
                  <a:lnTo>
                    <a:pt x="6598711" y="788461"/>
                  </a:lnTo>
                  <a:lnTo>
                    <a:pt x="6582833" y="801491"/>
                  </a:lnTo>
                  <a:lnTo>
                    <a:pt x="6577113" y="805313"/>
                  </a:lnTo>
                  <a:lnTo>
                    <a:pt x="6538316" y="818478"/>
                  </a:lnTo>
                  <a:lnTo>
                    <a:pt x="6524624" y="819149"/>
                  </a:lnTo>
                  <a:lnTo>
                    <a:pt x="104774" y="819149"/>
                  </a:lnTo>
                  <a:lnTo>
                    <a:pt x="64679" y="811173"/>
                  </a:lnTo>
                  <a:lnTo>
                    <a:pt x="46565" y="801491"/>
                  </a:lnTo>
                  <a:lnTo>
                    <a:pt x="40844" y="797669"/>
                  </a:lnTo>
                  <a:lnTo>
                    <a:pt x="13835" y="766864"/>
                  </a:lnTo>
                  <a:lnTo>
                    <a:pt x="7975" y="754470"/>
                  </a:lnTo>
                  <a:lnTo>
                    <a:pt x="5342" y="748114"/>
                  </a:lnTo>
                  <a:lnTo>
                    <a:pt x="3355" y="741562"/>
                  </a:lnTo>
                  <a:lnTo>
                    <a:pt x="2013" y="734815"/>
                  </a:lnTo>
                  <a:lnTo>
                    <a:pt x="671" y="728067"/>
                  </a:lnTo>
                  <a:lnTo>
                    <a:pt x="0" y="721254"/>
                  </a:lnTo>
                  <a:lnTo>
                    <a:pt x="0" y="714374"/>
                  </a:lnTo>
                  <a:close/>
                </a:path>
              </a:pathLst>
            </a:custGeom>
            <a:ln w="19049">
              <a:solidFill>
                <a:srgbClr val="DFE7FF"/>
              </a:solidFill>
            </a:ln>
          </p:spPr>
          <p:txBody>
            <a:bodyPr wrap="square" lIns="0" tIns="0" rIns="0" bIns="0" rtlCol="0"/>
            <a:lstStyle/>
            <a:p/>
          </p:txBody>
        </p:sp>
        <p:sp>
          <p:nvSpPr>
            <p:cNvPr id="33" name="object 33"/>
            <p:cNvSpPr/>
            <p:nvPr/>
          </p:nvSpPr>
          <p:spPr>
            <a:xfrm>
              <a:off x="5248274" y="4562474"/>
              <a:ext cx="381000" cy="381000"/>
            </a:xfrm>
            <a:custGeom>
              <a:avLst/>
              <a:gdLst/>
              <a:ahLst/>
              <a:cxnLst/>
              <a:rect l="l" t="t" r="r" b="b"/>
              <a:pathLst>
                <a:path w="381000" h="381000">
                  <a:moveTo>
                    <a:pt x="190499" y="380999"/>
                  </a:moveTo>
                  <a:lnTo>
                    <a:pt x="144200" y="375288"/>
                  </a:lnTo>
                  <a:lnTo>
                    <a:pt x="100697" y="358507"/>
                  </a:lnTo>
                  <a:lnTo>
                    <a:pt x="62575" y="331659"/>
                  </a:lnTo>
                  <a:lnTo>
                    <a:pt x="32105" y="296335"/>
                  </a:lnTo>
                  <a:lnTo>
                    <a:pt x="11130" y="254666"/>
                  </a:lnTo>
                  <a:lnTo>
                    <a:pt x="915" y="209172"/>
                  </a:lnTo>
                  <a:lnTo>
                    <a:pt x="0" y="190499"/>
                  </a:lnTo>
                  <a:lnTo>
                    <a:pt x="228" y="181141"/>
                  </a:lnTo>
                  <a:lnTo>
                    <a:pt x="8200" y="135200"/>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199"/>
                  </a:lnTo>
                  <a:lnTo>
                    <a:pt x="380771" y="181141"/>
                  </a:lnTo>
                  <a:lnTo>
                    <a:pt x="380999" y="190499"/>
                  </a:lnTo>
                  <a:lnTo>
                    <a:pt x="380771" y="199858"/>
                  </a:lnTo>
                  <a:lnTo>
                    <a:pt x="372799" y="245799"/>
                  </a:lnTo>
                  <a:lnTo>
                    <a:pt x="353904" y="288426"/>
                  </a:lnTo>
                  <a:lnTo>
                    <a:pt x="325203" y="325203"/>
                  </a:lnTo>
                  <a:lnTo>
                    <a:pt x="288427" y="353903"/>
                  </a:lnTo>
                  <a:lnTo>
                    <a:pt x="245799" y="372798"/>
                  </a:lnTo>
                  <a:lnTo>
                    <a:pt x="199858" y="380771"/>
                  </a:lnTo>
                  <a:lnTo>
                    <a:pt x="190499" y="380999"/>
                  </a:lnTo>
                  <a:close/>
                </a:path>
              </a:pathLst>
            </a:custGeom>
            <a:solidFill>
              <a:srgbClr val="DFE7FF"/>
            </a:solidFill>
          </p:spPr>
          <p:txBody>
            <a:bodyPr wrap="square" lIns="0" tIns="0" rIns="0" bIns="0" rtlCol="0"/>
            <a:lstStyle/>
            <a:p/>
          </p:txBody>
        </p:sp>
      </p:grpSp>
      <p:sp>
        <p:nvSpPr>
          <p:cNvPr id="34" name="object 34"/>
          <p:cNvSpPr/>
          <p:nvPr/>
        </p:nvSpPr>
        <p:spPr>
          <a:xfrm>
            <a:off x="5248274" y="1990724"/>
            <a:ext cx="381000" cy="381000"/>
          </a:xfrm>
          <a:custGeom>
            <a:avLst/>
            <a:gdLst/>
            <a:ahLst/>
            <a:cxnLst/>
            <a:rect l="l" t="t" r="r" b="b"/>
            <a:pathLst>
              <a:path w="381000" h="381000">
                <a:moveTo>
                  <a:pt x="190499" y="380999"/>
                </a:moveTo>
                <a:lnTo>
                  <a:pt x="144200" y="375289"/>
                </a:lnTo>
                <a:lnTo>
                  <a:pt x="100697" y="358507"/>
                </a:lnTo>
                <a:lnTo>
                  <a:pt x="62575" y="331659"/>
                </a:lnTo>
                <a:lnTo>
                  <a:pt x="32105" y="296335"/>
                </a:lnTo>
                <a:lnTo>
                  <a:pt x="11130" y="254667"/>
                </a:lnTo>
                <a:lnTo>
                  <a:pt x="915" y="209172"/>
                </a:lnTo>
                <a:lnTo>
                  <a:pt x="0" y="190499"/>
                </a:lnTo>
                <a:lnTo>
                  <a:pt x="228" y="181141"/>
                </a:lnTo>
                <a:lnTo>
                  <a:pt x="8200" y="135200"/>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200"/>
                </a:lnTo>
                <a:lnTo>
                  <a:pt x="380771" y="181141"/>
                </a:lnTo>
                <a:lnTo>
                  <a:pt x="380999" y="190499"/>
                </a:lnTo>
                <a:lnTo>
                  <a:pt x="380771" y="199858"/>
                </a:lnTo>
                <a:lnTo>
                  <a:pt x="372799" y="245799"/>
                </a:lnTo>
                <a:lnTo>
                  <a:pt x="353904" y="288427"/>
                </a:lnTo>
                <a:lnTo>
                  <a:pt x="325203" y="325203"/>
                </a:lnTo>
                <a:lnTo>
                  <a:pt x="288427" y="353904"/>
                </a:lnTo>
                <a:lnTo>
                  <a:pt x="245799" y="372799"/>
                </a:lnTo>
                <a:lnTo>
                  <a:pt x="199858" y="380771"/>
                </a:lnTo>
                <a:lnTo>
                  <a:pt x="190499" y="380999"/>
                </a:lnTo>
                <a:close/>
              </a:path>
            </a:pathLst>
          </a:custGeom>
          <a:solidFill>
            <a:srgbClr val="DFE7FF"/>
          </a:solidFill>
        </p:spPr>
        <p:txBody>
          <a:bodyPr wrap="square" lIns="0" tIns="0" rIns="0" bIns="0" rtlCol="0"/>
          <a:lstStyle/>
          <a:p/>
        </p:txBody>
      </p:sp>
      <p:sp>
        <p:nvSpPr>
          <p:cNvPr id="35" name="object 35"/>
          <p:cNvSpPr txBox="1"/>
          <p:nvPr/>
        </p:nvSpPr>
        <p:spPr>
          <a:xfrm>
            <a:off x="5382170" y="2035175"/>
            <a:ext cx="120650" cy="254000"/>
          </a:xfrm>
          <a:prstGeom prst="rect">
            <a:avLst/>
          </a:prstGeom>
        </p:spPr>
        <p:txBody>
          <a:bodyPr vert="horz" wrap="square" lIns="0" tIns="12700" rIns="0" bIns="0" rtlCol="0">
            <a:spAutoFit/>
          </a:bodyPr>
          <a:lstStyle/>
          <a:p>
            <a:pPr marL="12700">
              <a:lnSpc>
                <a:spcPct val="100000"/>
              </a:lnSpc>
              <a:spcBef>
                <a:spcPts val="100"/>
              </a:spcBef>
            </a:pPr>
            <a:r>
              <a:rPr sz="1500" b="1" spc="-50" dirty="0">
                <a:solidFill>
                  <a:srgbClr val="4237CA"/>
                </a:solidFill>
                <a:latin typeface="Times New Roman" panose="02020603050405020304"/>
                <a:cs typeface="Times New Roman" panose="02020603050405020304"/>
              </a:rPr>
              <a:t>1</a:t>
            </a:r>
            <a:endParaRPr sz="1500">
              <a:latin typeface="Times New Roman" panose="02020603050405020304"/>
              <a:cs typeface="Times New Roman" panose="02020603050405020304"/>
            </a:endParaRPr>
          </a:p>
        </p:txBody>
      </p:sp>
      <p:sp>
        <p:nvSpPr>
          <p:cNvPr id="36" name="object 36"/>
          <p:cNvSpPr txBox="1"/>
          <p:nvPr/>
        </p:nvSpPr>
        <p:spPr>
          <a:xfrm>
            <a:off x="5153570" y="1187881"/>
            <a:ext cx="5587365" cy="1212215"/>
          </a:xfrm>
          <a:prstGeom prst="rect">
            <a:avLst/>
          </a:prstGeom>
        </p:spPr>
        <p:txBody>
          <a:bodyPr vert="horz" wrap="square" lIns="0" tIns="12065" rIns="0" bIns="0" rtlCol="0">
            <a:spAutoFit/>
          </a:bodyPr>
          <a:lstStyle/>
          <a:p>
            <a:pPr marL="12700">
              <a:lnSpc>
                <a:spcPct val="100000"/>
              </a:lnSpc>
              <a:spcBef>
                <a:spcPts val="95"/>
              </a:spcBef>
            </a:pPr>
            <a:r>
              <a:rPr sz="2100" b="1" spc="-305" dirty="0">
                <a:solidFill>
                  <a:srgbClr val="1D293B"/>
                </a:solidFill>
                <a:latin typeface="微软雅黑" panose="020B0503020204020204" charset="-122"/>
                <a:cs typeface="微软雅黑" panose="020B0503020204020204" charset="-122"/>
              </a:rPr>
              <a:t>训练与推理流程 </a:t>
            </a:r>
            <a:r>
              <a:rPr sz="1850" b="1" i="1" spc="-270" dirty="0">
                <a:solidFill>
                  <a:srgbClr val="1D293B"/>
                </a:solidFill>
                <a:latin typeface="Tahoma" panose="020B0604030504040204"/>
                <a:cs typeface="Tahoma" panose="020B0604030504040204"/>
              </a:rPr>
              <a:t>/ </a:t>
            </a:r>
            <a:r>
              <a:rPr sz="1850" b="1" i="1" spc="-114" dirty="0">
                <a:solidFill>
                  <a:srgbClr val="1D293B"/>
                </a:solidFill>
                <a:latin typeface="Tahoma" panose="020B0604030504040204"/>
                <a:cs typeface="Tahoma" panose="020B0604030504040204"/>
              </a:rPr>
              <a:t>Algorithmic</a:t>
            </a:r>
            <a:r>
              <a:rPr sz="1850" b="1" i="1" spc="-180" dirty="0">
                <a:solidFill>
                  <a:srgbClr val="1D293B"/>
                </a:solidFill>
                <a:latin typeface="Tahoma" panose="020B0604030504040204"/>
                <a:cs typeface="Tahoma" panose="020B0604030504040204"/>
              </a:rPr>
              <a:t> </a:t>
            </a:r>
            <a:r>
              <a:rPr sz="1850" b="1" i="1" spc="-10" dirty="0">
                <a:solidFill>
                  <a:srgbClr val="1D293B"/>
                </a:solidFill>
                <a:latin typeface="Tahoma" panose="020B0604030504040204"/>
                <a:cs typeface="Tahoma" panose="020B0604030504040204"/>
              </a:rPr>
              <a:t>Pipeline</a:t>
            </a:r>
            <a:endParaRPr sz="1850">
              <a:latin typeface="Tahoma" panose="020B0604030504040204"/>
              <a:cs typeface="Tahoma" panose="020B0604030504040204"/>
            </a:endParaRPr>
          </a:p>
          <a:p>
            <a:pPr>
              <a:lnSpc>
                <a:spcPct val="100000"/>
              </a:lnSpc>
              <a:spcBef>
                <a:spcPts val="1020"/>
              </a:spcBef>
            </a:pPr>
            <a:endParaRPr sz="1850">
              <a:latin typeface="Tahoma" panose="020B0604030504040204"/>
              <a:cs typeface="Tahoma" panose="020B0604030504040204"/>
            </a:endParaRPr>
          </a:p>
          <a:p>
            <a:pPr marL="631825">
              <a:lnSpc>
                <a:spcPct val="100000"/>
              </a:lnSpc>
            </a:pPr>
            <a:r>
              <a:rPr sz="1500" b="1" spc="-130" dirty="0">
                <a:solidFill>
                  <a:srgbClr val="312E81"/>
                </a:solidFill>
                <a:latin typeface="微软雅黑" panose="020B0503020204020204" charset="-122"/>
                <a:cs typeface="微软雅黑" panose="020B0503020204020204" charset="-122"/>
              </a:rPr>
              <a:t>二部图转换</a:t>
            </a:r>
            <a:endParaRPr sz="1500">
              <a:latin typeface="微软雅黑" panose="020B0503020204020204" charset="-122"/>
              <a:cs typeface="微软雅黑" panose="020B0503020204020204" charset="-122"/>
            </a:endParaRPr>
          </a:p>
          <a:p>
            <a:pPr marL="631825">
              <a:lnSpc>
                <a:spcPct val="100000"/>
              </a:lnSpc>
              <a:spcBef>
                <a:spcPts val="150"/>
              </a:spcBef>
            </a:pPr>
            <a:r>
              <a:rPr sz="1350" spc="-265" dirty="0">
                <a:solidFill>
                  <a:srgbClr val="465469"/>
                </a:solidFill>
                <a:latin typeface="宋体" panose="02010600030101010101" pitchFamily="2" charset="-122"/>
                <a:cs typeface="宋体" panose="02010600030101010101" pitchFamily="2" charset="-122"/>
              </a:rPr>
              <a:t>将 </a:t>
            </a:r>
            <a:r>
              <a:rPr sz="1200" dirty="0">
                <a:solidFill>
                  <a:srgbClr val="465469"/>
                </a:solidFill>
                <a:latin typeface="Times New Roman" panose="02020603050405020304"/>
                <a:cs typeface="Times New Roman" panose="02020603050405020304"/>
              </a:rPr>
              <a:t>MILP</a:t>
            </a:r>
            <a:r>
              <a:rPr sz="1200" spc="-25" dirty="0">
                <a:solidFill>
                  <a:srgbClr val="465469"/>
                </a:solidFill>
                <a:latin typeface="Times New Roman" panose="02020603050405020304"/>
                <a:cs typeface="Times New Roman" panose="02020603050405020304"/>
              </a:rPr>
              <a:t> </a:t>
            </a:r>
            <a:r>
              <a:rPr sz="1350" spc="-170" dirty="0">
                <a:solidFill>
                  <a:srgbClr val="465469"/>
                </a:solidFill>
                <a:latin typeface="宋体" panose="02010600030101010101" pitchFamily="2" charset="-122"/>
                <a:cs typeface="宋体" panose="02010600030101010101" pitchFamily="2" charset="-122"/>
              </a:rPr>
              <a:t>状态转换成变量</a:t>
            </a:r>
            <a:r>
              <a:rPr sz="1200" spc="-10" dirty="0">
                <a:solidFill>
                  <a:srgbClr val="465469"/>
                </a:solidFill>
                <a:latin typeface="Times New Roman" panose="02020603050405020304"/>
                <a:cs typeface="Times New Roman" panose="02020603050405020304"/>
              </a:rPr>
              <a:t>-</a:t>
            </a:r>
            <a:r>
              <a:rPr sz="1350" spc="-200" dirty="0">
                <a:solidFill>
                  <a:srgbClr val="465469"/>
                </a:solidFill>
                <a:latin typeface="宋体" panose="02010600030101010101" pitchFamily="2" charset="-122"/>
                <a:cs typeface="宋体" panose="02010600030101010101" pitchFamily="2" charset="-122"/>
              </a:rPr>
              <a:t>约束二部图 </a:t>
            </a:r>
            <a:r>
              <a:rPr sz="1200" spc="-25" dirty="0">
                <a:solidFill>
                  <a:srgbClr val="465469"/>
                </a:solidFill>
                <a:latin typeface="Times New Roman" panose="02020603050405020304"/>
                <a:cs typeface="Times New Roman" panose="02020603050405020304"/>
              </a:rPr>
              <a:t>(Variable-</a:t>
            </a:r>
            <a:r>
              <a:rPr sz="1200" dirty="0">
                <a:solidFill>
                  <a:srgbClr val="465469"/>
                </a:solidFill>
                <a:latin typeface="Times New Roman" panose="02020603050405020304"/>
                <a:cs typeface="Times New Roman" panose="02020603050405020304"/>
              </a:rPr>
              <a:t>Constraint</a:t>
            </a:r>
            <a:r>
              <a:rPr sz="1200" spc="25" dirty="0">
                <a:solidFill>
                  <a:srgbClr val="465469"/>
                </a:solidFill>
                <a:latin typeface="Times New Roman" panose="02020603050405020304"/>
                <a:cs typeface="Times New Roman" panose="02020603050405020304"/>
              </a:rPr>
              <a:t> </a:t>
            </a:r>
            <a:r>
              <a:rPr sz="1200" dirty="0">
                <a:solidFill>
                  <a:srgbClr val="465469"/>
                </a:solidFill>
                <a:latin typeface="Times New Roman" panose="02020603050405020304"/>
                <a:cs typeface="Times New Roman" panose="02020603050405020304"/>
              </a:rPr>
              <a:t>Bipartite</a:t>
            </a:r>
            <a:r>
              <a:rPr sz="1200" spc="25" dirty="0">
                <a:solidFill>
                  <a:srgbClr val="465469"/>
                </a:solidFill>
                <a:latin typeface="Times New Roman" panose="02020603050405020304"/>
                <a:cs typeface="Times New Roman" panose="02020603050405020304"/>
              </a:rPr>
              <a:t> </a:t>
            </a:r>
            <a:r>
              <a:rPr sz="1200" spc="-10" dirty="0">
                <a:solidFill>
                  <a:srgbClr val="465469"/>
                </a:solidFill>
                <a:latin typeface="Times New Roman" panose="02020603050405020304"/>
                <a:cs typeface="Times New Roman" panose="02020603050405020304"/>
              </a:rPr>
              <a:t>Graph)</a:t>
            </a:r>
            <a:r>
              <a:rPr sz="1350" spc="-50" dirty="0">
                <a:solidFill>
                  <a:srgbClr val="465469"/>
                </a:solidFill>
                <a:latin typeface="宋体" panose="02010600030101010101" pitchFamily="2" charset="-122"/>
                <a:cs typeface="宋体" panose="02010600030101010101" pitchFamily="2" charset="-122"/>
              </a:rPr>
              <a:t>。</a:t>
            </a:r>
            <a:endParaRPr sz="1350">
              <a:latin typeface="宋体" panose="02010600030101010101" pitchFamily="2" charset="-122"/>
              <a:cs typeface="宋体" panose="02010600030101010101" pitchFamily="2" charset="-122"/>
            </a:endParaRPr>
          </a:p>
        </p:txBody>
      </p:sp>
      <p:sp>
        <p:nvSpPr>
          <p:cNvPr id="37" name="object 37"/>
          <p:cNvSpPr txBox="1"/>
          <p:nvPr/>
        </p:nvSpPr>
        <p:spPr>
          <a:xfrm>
            <a:off x="5382170" y="4606925"/>
            <a:ext cx="120650" cy="254000"/>
          </a:xfrm>
          <a:prstGeom prst="rect">
            <a:avLst/>
          </a:prstGeom>
        </p:spPr>
        <p:txBody>
          <a:bodyPr vert="horz" wrap="square" lIns="0" tIns="12700" rIns="0" bIns="0" rtlCol="0">
            <a:spAutoFit/>
          </a:bodyPr>
          <a:lstStyle/>
          <a:p>
            <a:pPr marL="12700">
              <a:lnSpc>
                <a:spcPct val="100000"/>
              </a:lnSpc>
              <a:spcBef>
                <a:spcPts val="100"/>
              </a:spcBef>
            </a:pPr>
            <a:r>
              <a:rPr sz="1500" b="1" spc="-50" dirty="0">
                <a:solidFill>
                  <a:srgbClr val="4237CA"/>
                </a:solidFill>
                <a:latin typeface="Times New Roman" panose="02020603050405020304"/>
                <a:cs typeface="Times New Roman" panose="02020603050405020304"/>
              </a:rPr>
              <a:t>3</a:t>
            </a:r>
            <a:endParaRPr sz="1500">
              <a:latin typeface="Times New Roman" panose="02020603050405020304"/>
              <a:cs typeface="Times New Roman" panose="02020603050405020304"/>
            </a:endParaRPr>
          </a:p>
        </p:txBody>
      </p:sp>
      <p:sp>
        <p:nvSpPr>
          <p:cNvPr id="38" name="object 38"/>
          <p:cNvSpPr txBox="1"/>
          <p:nvPr/>
        </p:nvSpPr>
        <p:spPr>
          <a:xfrm>
            <a:off x="5772695" y="4469541"/>
            <a:ext cx="3073400" cy="502284"/>
          </a:xfrm>
          <a:prstGeom prst="rect">
            <a:avLst/>
          </a:prstGeom>
        </p:spPr>
        <p:txBody>
          <a:bodyPr vert="horz" wrap="square" lIns="0" tIns="35560" rIns="0" bIns="0" rtlCol="0">
            <a:spAutoFit/>
          </a:bodyPr>
          <a:lstStyle/>
          <a:p>
            <a:pPr marL="12700">
              <a:lnSpc>
                <a:spcPct val="100000"/>
              </a:lnSpc>
              <a:spcBef>
                <a:spcPts val="280"/>
              </a:spcBef>
            </a:pPr>
            <a:r>
              <a:rPr sz="1500" b="1" spc="-125" dirty="0">
                <a:solidFill>
                  <a:srgbClr val="312E81"/>
                </a:solidFill>
                <a:latin typeface="微软雅黑" panose="020B0503020204020204" charset="-122"/>
                <a:cs typeface="微软雅黑" panose="020B0503020204020204" charset="-122"/>
              </a:rPr>
              <a:t>变量评分</a:t>
            </a:r>
            <a:endParaRPr sz="1500">
              <a:latin typeface="微软雅黑" panose="020B0503020204020204" charset="-122"/>
              <a:cs typeface="微软雅黑" panose="020B0503020204020204" charset="-122"/>
            </a:endParaRPr>
          </a:p>
          <a:p>
            <a:pPr marL="12700">
              <a:lnSpc>
                <a:spcPct val="100000"/>
              </a:lnSpc>
              <a:spcBef>
                <a:spcPts val="150"/>
              </a:spcBef>
            </a:pPr>
            <a:r>
              <a:rPr sz="1350" spc="-165" dirty="0">
                <a:solidFill>
                  <a:srgbClr val="465469"/>
                </a:solidFill>
                <a:latin typeface="宋体" panose="02010600030101010101" pitchFamily="2" charset="-122"/>
                <a:cs typeface="宋体" panose="02010600030101010101" pitchFamily="2" charset="-122"/>
              </a:rPr>
              <a:t>模型为所有候选分支变量输出一个标量分数。</a:t>
            </a:r>
            <a:endParaRPr sz="1350">
              <a:latin typeface="宋体" panose="02010600030101010101" pitchFamily="2" charset="-122"/>
              <a:cs typeface="宋体" panose="02010600030101010101" pitchFamily="2" charset="-122"/>
            </a:endParaRPr>
          </a:p>
        </p:txBody>
      </p:sp>
      <p:sp>
        <p:nvSpPr>
          <p:cNvPr id="39" name="object 39"/>
          <p:cNvSpPr/>
          <p:nvPr/>
        </p:nvSpPr>
        <p:spPr>
          <a:xfrm>
            <a:off x="5257799" y="5848349"/>
            <a:ext cx="381000" cy="381000"/>
          </a:xfrm>
          <a:custGeom>
            <a:avLst/>
            <a:gdLst/>
            <a:ahLst/>
            <a:cxnLst/>
            <a:rect l="l" t="t" r="r" b="b"/>
            <a:pathLst>
              <a:path w="381000" h="381000">
                <a:moveTo>
                  <a:pt x="190499" y="380999"/>
                </a:moveTo>
                <a:lnTo>
                  <a:pt x="144200" y="375289"/>
                </a:lnTo>
                <a:lnTo>
                  <a:pt x="100697" y="358507"/>
                </a:lnTo>
                <a:lnTo>
                  <a:pt x="62575" y="331659"/>
                </a:lnTo>
                <a:lnTo>
                  <a:pt x="32105" y="296335"/>
                </a:lnTo>
                <a:lnTo>
                  <a:pt x="11130" y="254666"/>
                </a:lnTo>
                <a:lnTo>
                  <a:pt x="915" y="209172"/>
                </a:lnTo>
                <a:lnTo>
                  <a:pt x="0" y="190499"/>
                </a:lnTo>
                <a:lnTo>
                  <a:pt x="228" y="181141"/>
                </a:lnTo>
                <a:lnTo>
                  <a:pt x="8200" y="135199"/>
                </a:lnTo>
                <a:lnTo>
                  <a:pt x="27095" y="92571"/>
                </a:lnTo>
                <a:lnTo>
                  <a:pt x="55796" y="55795"/>
                </a:lnTo>
                <a:lnTo>
                  <a:pt x="92572" y="27095"/>
                </a:lnTo>
                <a:lnTo>
                  <a:pt x="135200" y="8200"/>
                </a:lnTo>
                <a:lnTo>
                  <a:pt x="181141" y="228"/>
                </a:lnTo>
                <a:lnTo>
                  <a:pt x="190499" y="0"/>
                </a:lnTo>
                <a:lnTo>
                  <a:pt x="199858" y="228"/>
                </a:lnTo>
                <a:lnTo>
                  <a:pt x="245799" y="8200"/>
                </a:lnTo>
                <a:lnTo>
                  <a:pt x="288427" y="27095"/>
                </a:lnTo>
                <a:lnTo>
                  <a:pt x="325203" y="55795"/>
                </a:lnTo>
                <a:lnTo>
                  <a:pt x="353904" y="92571"/>
                </a:lnTo>
                <a:lnTo>
                  <a:pt x="372799" y="135199"/>
                </a:lnTo>
                <a:lnTo>
                  <a:pt x="380771" y="181141"/>
                </a:lnTo>
                <a:lnTo>
                  <a:pt x="380999" y="190499"/>
                </a:lnTo>
                <a:lnTo>
                  <a:pt x="380771" y="199858"/>
                </a:lnTo>
                <a:lnTo>
                  <a:pt x="372799" y="245799"/>
                </a:lnTo>
                <a:lnTo>
                  <a:pt x="353904" y="288426"/>
                </a:lnTo>
                <a:lnTo>
                  <a:pt x="325203" y="325203"/>
                </a:lnTo>
                <a:lnTo>
                  <a:pt x="288427" y="353903"/>
                </a:lnTo>
                <a:lnTo>
                  <a:pt x="245799" y="372798"/>
                </a:lnTo>
                <a:lnTo>
                  <a:pt x="199858" y="380770"/>
                </a:lnTo>
                <a:lnTo>
                  <a:pt x="190499" y="380999"/>
                </a:lnTo>
                <a:close/>
              </a:path>
            </a:pathLst>
          </a:custGeom>
          <a:solidFill>
            <a:srgbClr val="4237CA"/>
          </a:solidFill>
        </p:spPr>
        <p:txBody>
          <a:bodyPr wrap="square" lIns="0" tIns="0" rIns="0" bIns="0" rtlCol="0"/>
          <a:lstStyle/>
          <a:p/>
        </p:txBody>
      </p:sp>
      <p:sp>
        <p:nvSpPr>
          <p:cNvPr id="40" name="object 40"/>
          <p:cNvSpPr txBox="1"/>
          <p:nvPr/>
        </p:nvSpPr>
        <p:spPr>
          <a:xfrm>
            <a:off x="5391695" y="5892799"/>
            <a:ext cx="120650" cy="254000"/>
          </a:xfrm>
          <a:prstGeom prst="rect">
            <a:avLst/>
          </a:prstGeom>
        </p:spPr>
        <p:txBody>
          <a:bodyPr vert="horz" wrap="square" lIns="0" tIns="12700" rIns="0" bIns="0" rtlCol="0">
            <a:spAutoFit/>
          </a:bodyPr>
          <a:lstStyle/>
          <a:p>
            <a:pPr marL="12700">
              <a:lnSpc>
                <a:spcPct val="100000"/>
              </a:lnSpc>
              <a:spcBef>
                <a:spcPts val="100"/>
              </a:spcBef>
            </a:pPr>
            <a:r>
              <a:rPr sz="1500" b="1" spc="-50" dirty="0">
                <a:solidFill>
                  <a:srgbClr val="FFFFFF"/>
                </a:solidFill>
                <a:latin typeface="Times New Roman" panose="02020603050405020304"/>
                <a:cs typeface="Times New Roman" panose="02020603050405020304"/>
              </a:rPr>
              <a:t>4</a:t>
            </a:r>
            <a:endParaRPr sz="1500">
              <a:latin typeface="Times New Roman" panose="02020603050405020304"/>
              <a:cs typeface="Times New Roman" panose="02020603050405020304"/>
            </a:endParaRPr>
          </a:p>
        </p:txBody>
      </p:sp>
      <p:sp>
        <p:nvSpPr>
          <p:cNvPr id="41" name="object 41"/>
          <p:cNvSpPr txBox="1"/>
          <p:nvPr/>
        </p:nvSpPr>
        <p:spPr>
          <a:xfrm>
            <a:off x="5782220" y="5755415"/>
            <a:ext cx="4344035" cy="502284"/>
          </a:xfrm>
          <a:prstGeom prst="rect">
            <a:avLst/>
          </a:prstGeom>
        </p:spPr>
        <p:txBody>
          <a:bodyPr vert="horz" wrap="square" lIns="0" tIns="35560" rIns="0" bIns="0" rtlCol="0">
            <a:spAutoFit/>
          </a:bodyPr>
          <a:lstStyle/>
          <a:p>
            <a:pPr marL="12700">
              <a:lnSpc>
                <a:spcPct val="100000"/>
              </a:lnSpc>
              <a:spcBef>
                <a:spcPts val="280"/>
              </a:spcBef>
            </a:pPr>
            <a:r>
              <a:rPr sz="1500" b="1" spc="-125" dirty="0">
                <a:solidFill>
                  <a:srgbClr val="312E81"/>
                </a:solidFill>
                <a:latin typeface="微软雅黑" panose="020B0503020204020204" charset="-122"/>
                <a:cs typeface="微软雅黑" panose="020B0503020204020204" charset="-122"/>
              </a:rPr>
              <a:t>分支执行</a:t>
            </a:r>
            <a:endParaRPr sz="1500">
              <a:latin typeface="微软雅黑" panose="020B0503020204020204" charset="-122"/>
              <a:cs typeface="微软雅黑" panose="020B0503020204020204" charset="-122"/>
            </a:endParaRPr>
          </a:p>
          <a:p>
            <a:pPr marL="12700">
              <a:lnSpc>
                <a:spcPct val="100000"/>
              </a:lnSpc>
              <a:spcBef>
                <a:spcPts val="150"/>
              </a:spcBef>
            </a:pPr>
            <a:r>
              <a:rPr sz="1350" spc="-200" dirty="0">
                <a:solidFill>
                  <a:srgbClr val="465469"/>
                </a:solidFill>
                <a:latin typeface="宋体" panose="02010600030101010101" pitchFamily="2" charset="-122"/>
                <a:cs typeface="宋体" panose="02010600030101010101" pitchFamily="2" charset="-122"/>
              </a:rPr>
              <a:t>替代求解器 </a:t>
            </a:r>
            <a:r>
              <a:rPr sz="1200" dirty="0">
                <a:solidFill>
                  <a:srgbClr val="465469"/>
                </a:solidFill>
                <a:latin typeface="Times New Roman" panose="02020603050405020304"/>
                <a:cs typeface="Times New Roman" panose="02020603050405020304"/>
              </a:rPr>
              <a:t>(SCIP/CPLEX)</a:t>
            </a:r>
            <a:r>
              <a:rPr sz="1200" spc="30" dirty="0">
                <a:solidFill>
                  <a:srgbClr val="465469"/>
                </a:solidFill>
                <a:latin typeface="Times New Roman" panose="02020603050405020304"/>
                <a:cs typeface="Times New Roman" panose="02020603050405020304"/>
              </a:rPr>
              <a:t> </a:t>
            </a:r>
            <a:r>
              <a:rPr sz="1350" spc="-185" dirty="0">
                <a:solidFill>
                  <a:srgbClr val="465469"/>
                </a:solidFill>
                <a:latin typeface="宋体" panose="02010600030101010101" pitchFamily="2" charset="-122"/>
                <a:cs typeface="宋体" panose="02010600030101010101" pitchFamily="2" charset="-122"/>
              </a:rPr>
              <a:t>默认规则，执行动作并递归 </a:t>
            </a:r>
            <a:r>
              <a:rPr sz="1200" dirty="0">
                <a:solidFill>
                  <a:srgbClr val="465469"/>
                </a:solidFill>
                <a:latin typeface="Times New Roman" panose="02020603050405020304"/>
                <a:cs typeface="Times New Roman" panose="02020603050405020304"/>
              </a:rPr>
              <a:t>B&amp;B</a:t>
            </a:r>
            <a:r>
              <a:rPr sz="1200" spc="30" dirty="0">
                <a:solidFill>
                  <a:srgbClr val="465469"/>
                </a:solidFill>
                <a:latin typeface="Times New Roman" panose="02020603050405020304"/>
                <a:cs typeface="Times New Roman" panose="02020603050405020304"/>
              </a:rPr>
              <a:t> </a:t>
            </a:r>
            <a:r>
              <a:rPr sz="1350" spc="-110" dirty="0">
                <a:solidFill>
                  <a:srgbClr val="465469"/>
                </a:solidFill>
                <a:latin typeface="宋体" panose="02010600030101010101" pitchFamily="2" charset="-122"/>
                <a:cs typeface="宋体" panose="02010600030101010101" pitchFamily="2" charset="-122"/>
              </a:rPr>
              <a:t>树。</a:t>
            </a:r>
            <a:endParaRPr sz="1350">
              <a:latin typeface="宋体" panose="02010600030101010101" pitchFamily="2" charset="-122"/>
              <a:cs typeface="宋体" panose="02010600030101010101" pitchFamily="2" charset="-122"/>
            </a:endParaRPr>
          </a:p>
        </p:txBody>
      </p:sp>
      <p:grpSp>
        <p:nvGrpSpPr>
          <p:cNvPr id="42" name="object 42"/>
          <p:cNvGrpSpPr/>
          <p:nvPr/>
        </p:nvGrpSpPr>
        <p:grpSpPr>
          <a:xfrm>
            <a:off x="5086349" y="3047999"/>
            <a:ext cx="6648450" cy="838200"/>
            <a:chOff x="5086349" y="3047999"/>
            <a:chExt cx="6648450" cy="838200"/>
          </a:xfrm>
        </p:grpSpPr>
        <p:sp>
          <p:nvSpPr>
            <p:cNvPr id="43" name="object 43"/>
            <p:cNvSpPr/>
            <p:nvPr/>
          </p:nvSpPr>
          <p:spPr>
            <a:xfrm>
              <a:off x="5091112" y="3052762"/>
              <a:ext cx="6638925" cy="828675"/>
            </a:xfrm>
            <a:custGeom>
              <a:avLst/>
              <a:gdLst/>
              <a:ahLst/>
              <a:cxnLst/>
              <a:rect l="l" t="t" r="r" b="b"/>
              <a:pathLst>
                <a:path w="6638925" h="828675">
                  <a:moveTo>
                    <a:pt x="0" y="757237"/>
                  </a:moveTo>
                  <a:lnTo>
                    <a:pt x="0" y="71437"/>
                  </a:lnTo>
                  <a:lnTo>
                    <a:pt x="0" y="66746"/>
                  </a:lnTo>
                  <a:lnTo>
                    <a:pt x="457" y="62101"/>
                  </a:lnTo>
                  <a:lnTo>
                    <a:pt x="17606" y="24240"/>
                  </a:lnTo>
                  <a:lnTo>
                    <a:pt x="20923" y="20923"/>
                  </a:lnTo>
                  <a:lnTo>
                    <a:pt x="24240" y="17606"/>
                  </a:lnTo>
                  <a:lnTo>
                    <a:pt x="27848" y="14645"/>
                  </a:lnTo>
                  <a:lnTo>
                    <a:pt x="31748" y="12039"/>
                  </a:lnTo>
                  <a:lnTo>
                    <a:pt x="35649" y="9433"/>
                  </a:lnTo>
                  <a:lnTo>
                    <a:pt x="66746" y="0"/>
                  </a:lnTo>
                  <a:lnTo>
                    <a:pt x="71437" y="0"/>
                  </a:lnTo>
                  <a:lnTo>
                    <a:pt x="6567486" y="0"/>
                  </a:lnTo>
                  <a:lnTo>
                    <a:pt x="6572177" y="0"/>
                  </a:lnTo>
                  <a:lnTo>
                    <a:pt x="6576823" y="457"/>
                  </a:lnTo>
                  <a:lnTo>
                    <a:pt x="6607174" y="12039"/>
                  </a:lnTo>
                  <a:lnTo>
                    <a:pt x="6611074" y="14645"/>
                  </a:lnTo>
                  <a:lnTo>
                    <a:pt x="6614684" y="17606"/>
                  </a:lnTo>
                  <a:lnTo>
                    <a:pt x="6618000" y="20923"/>
                  </a:lnTo>
                  <a:lnTo>
                    <a:pt x="6621317" y="24240"/>
                  </a:lnTo>
                  <a:lnTo>
                    <a:pt x="6624278" y="27848"/>
                  </a:lnTo>
                  <a:lnTo>
                    <a:pt x="6626883" y="31748"/>
                  </a:lnTo>
                  <a:lnTo>
                    <a:pt x="6629490" y="35649"/>
                  </a:lnTo>
                  <a:lnTo>
                    <a:pt x="6637551" y="57500"/>
                  </a:lnTo>
                  <a:lnTo>
                    <a:pt x="6638466" y="62101"/>
                  </a:lnTo>
                  <a:lnTo>
                    <a:pt x="6638923" y="66746"/>
                  </a:lnTo>
                  <a:lnTo>
                    <a:pt x="6638924" y="71437"/>
                  </a:lnTo>
                  <a:lnTo>
                    <a:pt x="6638924" y="757237"/>
                  </a:lnTo>
                  <a:lnTo>
                    <a:pt x="6638923" y="761928"/>
                  </a:lnTo>
                  <a:lnTo>
                    <a:pt x="6638466" y="766573"/>
                  </a:lnTo>
                  <a:lnTo>
                    <a:pt x="6637550" y="771174"/>
                  </a:lnTo>
                  <a:lnTo>
                    <a:pt x="6636636" y="775774"/>
                  </a:lnTo>
                  <a:lnTo>
                    <a:pt x="6626883" y="796925"/>
                  </a:lnTo>
                  <a:lnTo>
                    <a:pt x="6624278" y="800825"/>
                  </a:lnTo>
                  <a:lnTo>
                    <a:pt x="6621317" y="804434"/>
                  </a:lnTo>
                  <a:lnTo>
                    <a:pt x="6618000" y="807751"/>
                  </a:lnTo>
                  <a:lnTo>
                    <a:pt x="6614684" y="811068"/>
                  </a:lnTo>
                  <a:lnTo>
                    <a:pt x="6581423" y="827302"/>
                  </a:lnTo>
                  <a:lnTo>
                    <a:pt x="6576823" y="828217"/>
                  </a:lnTo>
                  <a:lnTo>
                    <a:pt x="6572177" y="828674"/>
                  </a:lnTo>
                  <a:lnTo>
                    <a:pt x="6567486" y="828674"/>
                  </a:lnTo>
                  <a:lnTo>
                    <a:pt x="71437" y="828674"/>
                  </a:lnTo>
                  <a:lnTo>
                    <a:pt x="66746" y="828674"/>
                  </a:lnTo>
                  <a:lnTo>
                    <a:pt x="62101" y="828217"/>
                  </a:lnTo>
                  <a:lnTo>
                    <a:pt x="57500" y="827302"/>
                  </a:lnTo>
                  <a:lnTo>
                    <a:pt x="52900" y="826387"/>
                  </a:lnTo>
                  <a:lnTo>
                    <a:pt x="31748" y="816635"/>
                  </a:lnTo>
                  <a:lnTo>
                    <a:pt x="27848" y="814029"/>
                  </a:lnTo>
                  <a:lnTo>
                    <a:pt x="24240" y="811068"/>
                  </a:lnTo>
                  <a:lnTo>
                    <a:pt x="20923" y="807751"/>
                  </a:lnTo>
                  <a:lnTo>
                    <a:pt x="17606" y="804434"/>
                  </a:lnTo>
                  <a:lnTo>
                    <a:pt x="14645" y="800825"/>
                  </a:lnTo>
                  <a:lnTo>
                    <a:pt x="12039" y="796925"/>
                  </a:lnTo>
                  <a:lnTo>
                    <a:pt x="9433" y="793025"/>
                  </a:lnTo>
                  <a:lnTo>
                    <a:pt x="7232" y="788908"/>
                  </a:lnTo>
                  <a:lnTo>
                    <a:pt x="5437" y="784574"/>
                  </a:lnTo>
                  <a:lnTo>
                    <a:pt x="3642" y="780241"/>
                  </a:lnTo>
                  <a:lnTo>
                    <a:pt x="2287" y="775774"/>
                  </a:lnTo>
                  <a:lnTo>
                    <a:pt x="1372" y="771174"/>
                  </a:lnTo>
                  <a:lnTo>
                    <a:pt x="457" y="766573"/>
                  </a:lnTo>
                  <a:lnTo>
                    <a:pt x="0" y="761928"/>
                  </a:lnTo>
                  <a:lnTo>
                    <a:pt x="0" y="757237"/>
                  </a:lnTo>
                  <a:close/>
                </a:path>
              </a:pathLst>
            </a:custGeom>
            <a:ln w="9524">
              <a:solidFill>
                <a:srgbClr val="F1F5F9"/>
              </a:solidFill>
            </a:ln>
          </p:spPr>
          <p:txBody>
            <a:bodyPr wrap="square" lIns="0" tIns="0" rIns="0" bIns="0" rtlCol="0"/>
            <a:lstStyle/>
            <a:p/>
          </p:txBody>
        </p:sp>
        <p:sp>
          <p:nvSpPr>
            <p:cNvPr id="44" name="object 44"/>
            <p:cNvSpPr/>
            <p:nvPr/>
          </p:nvSpPr>
          <p:spPr>
            <a:xfrm>
              <a:off x="5248275" y="3276599"/>
              <a:ext cx="381000" cy="381000"/>
            </a:xfrm>
            <a:custGeom>
              <a:avLst/>
              <a:gdLst/>
              <a:ahLst/>
              <a:cxnLst/>
              <a:rect l="l" t="t" r="r" b="b"/>
              <a:pathLst>
                <a:path w="381000" h="381000">
                  <a:moveTo>
                    <a:pt x="190499" y="380999"/>
                  </a:moveTo>
                  <a:lnTo>
                    <a:pt x="144200" y="375289"/>
                  </a:lnTo>
                  <a:lnTo>
                    <a:pt x="100697" y="358507"/>
                  </a:lnTo>
                  <a:lnTo>
                    <a:pt x="62575" y="331659"/>
                  </a:lnTo>
                  <a:lnTo>
                    <a:pt x="32105" y="296335"/>
                  </a:lnTo>
                  <a:lnTo>
                    <a:pt x="11130" y="254666"/>
                  </a:lnTo>
                  <a:lnTo>
                    <a:pt x="915" y="209172"/>
                  </a:lnTo>
                  <a:lnTo>
                    <a:pt x="0" y="190499"/>
                  </a:lnTo>
                  <a:lnTo>
                    <a:pt x="228" y="181141"/>
                  </a:lnTo>
                  <a:lnTo>
                    <a:pt x="8200" y="135199"/>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199"/>
                  </a:lnTo>
                  <a:lnTo>
                    <a:pt x="380771" y="181141"/>
                  </a:lnTo>
                  <a:lnTo>
                    <a:pt x="380999" y="190499"/>
                  </a:lnTo>
                  <a:lnTo>
                    <a:pt x="380771" y="199858"/>
                  </a:lnTo>
                  <a:lnTo>
                    <a:pt x="372799" y="245799"/>
                  </a:lnTo>
                  <a:lnTo>
                    <a:pt x="353904" y="288427"/>
                  </a:lnTo>
                  <a:lnTo>
                    <a:pt x="325203" y="325203"/>
                  </a:lnTo>
                  <a:lnTo>
                    <a:pt x="288427" y="353903"/>
                  </a:lnTo>
                  <a:lnTo>
                    <a:pt x="245799" y="372799"/>
                  </a:lnTo>
                  <a:lnTo>
                    <a:pt x="199858" y="380771"/>
                  </a:lnTo>
                  <a:lnTo>
                    <a:pt x="190499" y="380999"/>
                  </a:lnTo>
                  <a:close/>
                </a:path>
              </a:pathLst>
            </a:custGeom>
            <a:solidFill>
              <a:srgbClr val="DAE9FE"/>
            </a:solidFill>
          </p:spPr>
          <p:txBody>
            <a:bodyPr wrap="square" lIns="0" tIns="0" rIns="0" bIns="0" rtlCol="0"/>
            <a:lstStyle/>
            <a:p/>
          </p:txBody>
        </p:sp>
      </p:grpSp>
      <p:sp>
        <p:nvSpPr>
          <p:cNvPr id="45" name="object 45"/>
          <p:cNvSpPr txBox="1"/>
          <p:nvPr/>
        </p:nvSpPr>
        <p:spPr>
          <a:xfrm>
            <a:off x="5228728" y="3321050"/>
            <a:ext cx="427990" cy="254000"/>
          </a:xfrm>
          <a:prstGeom prst="rect">
            <a:avLst/>
          </a:prstGeom>
        </p:spPr>
        <p:txBody>
          <a:bodyPr vert="horz" wrap="square" lIns="0" tIns="12700" rIns="0" bIns="0" rtlCol="0">
            <a:spAutoFit/>
          </a:bodyPr>
          <a:lstStyle/>
          <a:p>
            <a:pPr marL="12700">
              <a:lnSpc>
                <a:spcPct val="100000"/>
              </a:lnSpc>
              <a:spcBef>
                <a:spcPts val="100"/>
              </a:spcBef>
            </a:pPr>
            <a:r>
              <a:rPr sz="1500" b="1" i="1" spc="-25" dirty="0">
                <a:solidFill>
                  <a:srgbClr val="1C4ED8"/>
                </a:solidFill>
                <a:latin typeface="Times New Roman" panose="02020603050405020304"/>
                <a:cs typeface="Times New Roman" panose="02020603050405020304"/>
              </a:rPr>
              <a:t>GCN</a:t>
            </a:r>
            <a:endParaRPr sz="1500">
              <a:latin typeface="Times New Roman" panose="02020603050405020304"/>
              <a:cs typeface="Times New Roman" panose="02020603050405020304"/>
            </a:endParaRPr>
          </a:p>
        </p:txBody>
      </p:sp>
      <p:sp>
        <p:nvSpPr>
          <p:cNvPr id="46" name="object 46"/>
          <p:cNvSpPr txBox="1"/>
          <p:nvPr/>
        </p:nvSpPr>
        <p:spPr>
          <a:xfrm>
            <a:off x="5772695" y="3152709"/>
            <a:ext cx="3835400" cy="542925"/>
          </a:xfrm>
          <a:prstGeom prst="rect">
            <a:avLst/>
          </a:prstGeom>
        </p:spPr>
        <p:txBody>
          <a:bodyPr vert="horz" wrap="square" lIns="0" tIns="57150" rIns="0" bIns="0" rtlCol="0">
            <a:spAutoFit/>
          </a:bodyPr>
          <a:lstStyle/>
          <a:p>
            <a:pPr marL="12700">
              <a:lnSpc>
                <a:spcPct val="100000"/>
              </a:lnSpc>
              <a:spcBef>
                <a:spcPts val="450"/>
              </a:spcBef>
            </a:pPr>
            <a:r>
              <a:rPr sz="1500" b="1" spc="-130" dirty="0">
                <a:solidFill>
                  <a:srgbClr val="312E81"/>
                </a:solidFill>
                <a:latin typeface="微软雅黑" panose="020B0503020204020204" charset="-122"/>
                <a:cs typeface="微软雅黑" panose="020B0503020204020204" charset="-122"/>
              </a:rPr>
              <a:t>图卷积编码</a:t>
            </a:r>
            <a:endParaRPr sz="1500">
              <a:latin typeface="微软雅黑" panose="020B0503020204020204" charset="-122"/>
              <a:cs typeface="微软雅黑" panose="020B0503020204020204" charset="-122"/>
            </a:endParaRPr>
          </a:p>
          <a:p>
            <a:pPr marL="12700">
              <a:lnSpc>
                <a:spcPct val="100000"/>
              </a:lnSpc>
              <a:spcBef>
                <a:spcPts val="300"/>
              </a:spcBef>
            </a:pPr>
            <a:r>
              <a:rPr sz="1350" spc="-204" dirty="0">
                <a:solidFill>
                  <a:srgbClr val="465469"/>
                </a:solidFill>
                <a:latin typeface="宋体" panose="02010600030101010101" pitchFamily="2" charset="-122"/>
                <a:cs typeface="宋体" panose="02010600030101010101" pitchFamily="2" charset="-122"/>
              </a:rPr>
              <a:t>利用 </a:t>
            </a:r>
            <a:r>
              <a:rPr sz="1200" dirty="0">
                <a:solidFill>
                  <a:srgbClr val="2562EB"/>
                </a:solidFill>
                <a:latin typeface="Courier New" panose="02070309020205020404"/>
                <a:cs typeface="Courier New" panose="02070309020205020404"/>
              </a:rPr>
              <a:t>GCNN</a:t>
            </a:r>
            <a:r>
              <a:rPr sz="1200" spc="-275" dirty="0">
                <a:solidFill>
                  <a:srgbClr val="2562EB"/>
                </a:solidFill>
                <a:latin typeface="Courier New" panose="02070309020205020404"/>
                <a:cs typeface="Courier New" panose="02070309020205020404"/>
              </a:rPr>
              <a:t> </a:t>
            </a:r>
            <a:r>
              <a:rPr sz="1350" spc="-165" dirty="0">
                <a:solidFill>
                  <a:srgbClr val="465469"/>
                </a:solidFill>
                <a:latin typeface="宋体" panose="02010600030101010101" pitchFamily="2" charset="-122"/>
                <a:cs typeface="宋体" panose="02010600030101010101" pitchFamily="2" charset="-122"/>
              </a:rPr>
              <a:t>对二部图进行消息传递，提取高维拓扑特征。</a:t>
            </a:r>
            <a:endParaRPr sz="1350">
              <a:latin typeface="宋体" panose="02010600030101010101" pitchFamily="2" charset="-122"/>
              <a:cs typeface="宋体" panose="02010600030101010101" pitchFamily="2" charset="-122"/>
            </a:endParaRPr>
          </a:p>
        </p:txBody>
      </p:sp>
      <p:sp>
        <p:nvSpPr>
          <p:cNvPr id="47" name="object 47"/>
          <p:cNvSpPr/>
          <p:nvPr/>
        </p:nvSpPr>
        <p:spPr>
          <a:xfrm>
            <a:off x="5095875" y="3064043"/>
            <a:ext cx="38100" cy="806450"/>
          </a:xfrm>
          <a:custGeom>
            <a:avLst/>
            <a:gdLst/>
            <a:ahLst/>
            <a:cxnLst/>
            <a:rect l="l" t="t" r="r" b="b"/>
            <a:pathLst>
              <a:path w="38100" h="806450">
                <a:moveTo>
                  <a:pt x="38099" y="806112"/>
                </a:moveTo>
                <a:lnTo>
                  <a:pt x="7881" y="777418"/>
                </a:lnTo>
                <a:lnTo>
                  <a:pt x="0" y="745956"/>
                </a:lnTo>
                <a:lnTo>
                  <a:pt x="0" y="60156"/>
                </a:lnTo>
                <a:lnTo>
                  <a:pt x="11225" y="23106"/>
                </a:lnTo>
                <a:lnTo>
                  <a:pt x="38099" y="0"/>
                </a:lnTo>
                <a:lnTo>
                  <a:pt x="38099" y="806112"/>
                </a:lnTo>
                <a:close/>
              </a:path>
            </a:pathLst>
          </a:custGeom>
          <a:solidFill>
            <a:srgbClr val="3B81F5"/>
          </a:solidFill>
        </p:spPr>
        <p:txBody>
          <a:bodyPr wrap="square" lIns="0" tIns="0" rIns="0" bIns="0" rtlCol="0"/>
          <a:lstStyle/>
          <a:p/>
        </p:txBody>
      </p:sp>
      <p:grpSp>
        <p:nvGrpSpPr>
          <p:cNvPr id="48" name="object 48"/>
          <p:cNvGrpSpPr/>
          <p:nvPr/>
        </p:nvGrpSpPr>
        <p:grpSpPr>
          <a:xfrm>
            <a:off x="0" y="6705600"/>
            <a:ext cx="12192000" cy="523875"/>
            <a:chOff x="0" y="6705600"/>
            <a:chExt cx="12192000" cy="523875"/>
          </a:xfrm>
        </p:grpSpPr>
        <p:sp>
          <p:nvSpPr>
            <p:cNvPr id="49" name="object 49"/>
            <p:cNvSpPr/>
            <p:nvPr/>
          </p:nvSpPr>
          <p:spPr>
            <a:xfrm>
              <a:off x="0" y="7010399"/>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50" name="object 50"/>
            <p:cNvSpPr/>
            <p:nvPr/>
          </p:nvSpPr>
          <p:spPr>
            <a:xfrm>
              <a:off x="11791937" y="7096125"/>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51" name="object 51"/>
            <p:cNvSpPr/>
            <p:nvPr/>
          </p:nvSpPr>
          <p:spPr>
            <a:xfrm>
              <a:off x="11982447" y="7096124"/>
              <a:ext cx="57150" cy="57150"/>
            </a:xfrm>
            <a:custGeom>
              <a:avLst/>
              <a:gdLst/>
              <a:ahLst/>
              <a:cxnLst/>
              <a:rect l="l" t="t" r="r" b="b"/>
              <a:pathLst>
                <a:path w="57150" h="57150">
                  <a:moveTo>
                    <a:pt x="32365" y="57149"/>
                  </a:moveTo>
                  <a:lnTo>
                    <a:pt x="24784" y="57149"/>
                  </a:lnTo>
                  <a:lnTo>
                    <a:pt x="21139" y="56423"/>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52" name="object 52"/>
            <p:cNvPicPr/>
            <p:nvPr/>
          </p:nvPicPr>
          <p:blipFill>
            <a:blip r:embed="rId3" cstate="print"/>
            <a:stretch>
              <a:fillRect/>
            </a:stretch>
          </p:blipFill>
          <p:spPr>
            <a:xfrm>
              <a:off x="9896474" y="6705600"/>
              <a:ext cx="342899" cy="342899"/>
            </a:xfrm>
            <a:prstGeom prst="rect">
              <a:avLst/>
            </a:prstGeom>
          </p:spPr>
        </p:pic>
      </p:grpSp>
      <p:sp>
        <p:nvSpPr>
          <p:cNvPr id="53" name="object 53"/>
          <p:cNvSpPr txBox="1"/>
          <p:nvPr/>
        </p:nvSpPr>
        <p:spPr>
          <a:xfrm>
            <a:off x="9934574" y="6727507"/>
            <a:ext cx="268605" cy="108585"/>
          </a:xfrm>
          <a:prstGeom prst="rect">
            <a:avLst/>
          </a:prstGeom>
        </p:spPr>
        <p:txBody>
          <a:bodyPr vert="horz" wrap="square" lIns="0" tIns="0" rIns="0" bIns="0" rtlCol="0">
            <a:spAutoFit/>
          </a:bodyPr>
          <a:lstStyle/>
          <a:p>
            <a:pPr>
              <a:lnSpc>
                <a:spcPts val="840"/>
              </a:lnSpc>
            </a:pPr>
            <a:r>
              <a:rPr sz="950" spc="-65" dirty="0">
                <a:solidFill>
                  <a:srgbClr val="94A2B8"/>
                </a:solidFill>
                <a:latin typeface="Lucida Console" panose="020B0609040504020204"/>
                <a:cs typeface="Lucida Console" panose="020B0609040504020204"/>
              </a:rPr>
              <a:t>arni</a:t>
            </a:r>
            <a:endParaRPr sz="950">
              <a:latin typeface="Lucida Console" panose="020B0609040504020204"/>
              <a:cs typeface="Lucida Console" panose="020B0609040504020204"/>
            </a:endParaRPr>
          </a:p>
        </p:txBody>
      </p:sp>
      <p:sp>
        <p:nvSpPr>
          <p:cNvPr id="54" name="object 54"/>
          <p:cNvSpPr txBox="1"/>
          <p:nvPr/>
        </p:nvSpPr>
        <p:spPr>
          <a:xfrm>
            <a:off x="444500" y="6714807"/>
            <a:ext cx="2294255" cy="133985"/>
          </a:xfrm>
          <a:prstGeom prst="rect">
            <a:avLst/>
          </a:prstGeom>
        </p:spPr>
        <p:txBody>
          <a:bodyPr vert="horz" wrap="square" lIns="0" tIns="0" rIns="0" bIns="0" rtlCol="0">
            <a:spAutoFit/>
          </a:bodyPr>
          <a:lstStyle/>
          <a:p>
            <a:pPr marL="12700">
              <a:lnSpc>
                <a:spcPts val="940"/>
              </a:lnSpc>
            </a:pPr>
            <a:r>
              <a:rPr sz="950" spc="-35" dirty="0">
                <a:solidFill>
                  <a:srgbClr val="94A2B8"/>
                </a:solidFill>
                <a:latin typeface="Lucida Console" panose="020B0609040504020204"/>
                <a:cs typeface="Lucida Console" panose="020B0609040504020204"/>
              </a:rPr>
              <a:t>Slide</a:t>
            </a:r>
            <a:r>
              <a:rPr sz="950" spc="-85" dirty="0">
                <a:solidFill>
                  <a:srgbClr val="94A2B8"/>
                </a:solidFill>
                <a:latin typeface="Lucida Console" panose="020B0609040504020204"/>
                <a:cs typeface="Lucida Console" panose="020B0609040504020204"/>
              </a:rPr>
              <a:t> </a:t>
            </a:r>
            <a:r>
              <a:rPr sz="950" spc="-20" dirty="0">
                <a:solidFill>
                  <a:srgbClr val="94A2B8"/>
                </a:solidFill>
                <a:latin typeface="Lucida Console" panose="020B0609040504020204"/>
                <a:cs typeface="Lucida Console" panose="020B0609040504020204"/>
              </a:rPr>
              <a:t>05:</a:t>
            </a:r>
            <a:r>
              <a:rPr sz="950" spc="-80" dirty="0">
                <a:solidFill>
                  <a:srgbClr val="94A2B8"/>
                </a:solidFill>
                <a:latin typeface="Lucida Console" panose="020B0609040504020204"/>
                <a:cs typeface="Lucida Console" panose="020B0609040504020204"/>
              </a:rPr>
              <a:t> </a:t>
            </a:r>
            <a:r>
              <a:rPr sz="950" spc="-45" dirty="0">
                <a:solidFill>
                  <a:srgbClr val="94A2B8"/>
                </a:solidFill>
                <a:latin typeface="Lucida Console" panose="020B0609040504020204"/>
                <a:cs typeface="Lucida Console" panose="020B0609040504020204"/>
              </a:rPr>
              <a:t>Methodological</a:t>
            </a:r>
            <a:r>
              <a:rPr sz="950" spc="-85" dirty="0">
                <a:solidFill>
                  <a:srgbClr val="94A2B8"/>
                </a:solidFill>
                <a:latin typeface="Lucida Console" panose="020B0609040504020204"/>
                <a:cs typeface="Lucida Console" panose="020B0609040504020204"/>
              </a:rPr>
              <a:t> </a:t>
            </a:r>
            <a:r>
              <a:rPr sz="950" spc="-65" dirty="0">
                <a:solidFill>
                  <a:srgbClr val="94A2B8"/>
                </a:solidFill>
                <a:latin typeface="Lucida Console" panose="020B0609040504020204"/>
                <a:cs typeface="Lucida Console" panose="020B0609040504020204"/>
              </a:rPr>
              <a:t>Framework</a:t>
            </a:r>
            <a:endParaRPr sz="950">
              <a:latin typeface="Lucida Console" panose="020B0609040504020204"/>
              <a:cs typeface="Lucida Console" panose="020B0609040504020204"/>
            </a:endParaRPr>
          </a:p>
        </p:txBody>
      </p:sp>
      <p:sp>
        <p:nvSpPr>
          <p:cNvPr id="55" name="object 55"/>
          <p:cNvSpPr txBox="1"/>
          <p:nvPr/>
        </p:nvSpPr>
        <p:spPr>
          <a:xfrm>
            <a:off x="9121775" y="6714807"/>
            <a:ext cx="827405" cy="133985"/>
          </a:xfrm>
          <a:prstGeom prst="rect">
            <a:avLst/>
          </a:prstGeom>
        </p:spPr>
        <p:txBody>
          <a:bodyPr vert="horz" wrap="square" lIns="0" tIns="0" rIns="0" bIns="0" rtlCol="0">
            <a:spAutoFit/>
          </a:bodyPr>
          <a:lstStyle/>
          <a:p>
            <a:pPr marL="12700">
              <a:lnSpc>
                <a:spcPts val="940"/>
              </a:lnSpc>
            </a:pPr>
            <a:r>
              <a:rPr sz="950" spc="-40" dirty="0">
                <a:solidFill>
                  <a:srgbClr val="94A2B8"/>
                </a:solidFill>
                <a:latin typeface="Lucida Console" panose="020B0609040504020204"/>
                <a:cs typeface="Lucida Console" panose="020B0609040504020204"/>
              </a:rPr>
              <a:t>Imitation</a:t>
            </a:r>
            <a:r>
              <a:rPr sz="950" spc="-85" dirty="0">
                <a:solidFill>
                  <a:srgbClr val="94A2B8"/>
                </a:solidFill>
                <a:latin typeface="Lucida Console" panose="020B0609040504020204"/>
                <a:cs typeface="Lucida Console" panose="020B0609040504020204"/>
              </a:rPr>
              <a:t> </a:t>
            </a:r>
            <a:r>
              <a:rPr sz="950" spc="-55" dirty="0">
                <a:solidFill>
                  <a:srgbClr val="94A2B8"/>
                </a:solidFill>
                <a:latin typeface="Lucida Console" panose="020B0609040504020204"/>
                <a:cs typeface="Lucida Console" panose="020B0609040504020204"/>
              </a:rPr>
              <a:t>Le</a:t>
            </a:r>
            <a:endParaRPr sz="950">
              <a:latin typeface="Lucida Console" panose="020B0609040504020204"/>
              <a:cs typeface="Lucida Console" panose="020B0609040504020204"/>
            </a:endParaRPr>
          </a:p>
        </p:txBody>
      </p:sp>
      <p:sp>
        <p:nvSpPr>
          <p:cNvPr id="56" name="object 56"/>
          <p:cNvSpPr txBox="1"/>
          <p:nvPr/>
        </p:nvSpPr>
        <p:spPr>
          <a:xfrm>
            <a:off x="10188574" y="6714807"/>
            <a:ext cx="1727835" cy="245745"/>
          </a:xfrm>
          <a:prstGeom prst="rect">
            <a:avLst/>
          </a:prstGeom>
        </p:spPr>
        <p:txBody>
          <a:bodyPr vert="horz" wrap="square" lIns="0" tIns="0" rIns="0" bIns="0" rtlCol="0">
            <a:spAutoFit/>
          </a:bodyPr>
          <a:lstStyle/>
          <a:p>
            <a:pPr marL="12700">
              <a:lnSpc>
                <a:spcPts val="990"/>
              </a:lnSpc>
            </a:pPr>
            <a:r>
              <a:rPr sz="950" spc="-30" dirty="0">
                <a:solidFill>
                  <a:srgbClr val="94A2B8"/>
                </a:solidFill>
                <a:latin typeface="Lucida Console" panose="020B0609040504020204"/>
                <a:cs typeface="Lucida Console" panose="020B0609040504020204"/>
              </a:rPr>
              <a:t>n</a:t>
            </a:r>
            <a:r>
              <a:rPr sz="950" spc="5" dirty="0">
                <a:solidFill>
                  <a:srgbClr val="94A2B8"/>
                </a:solidFill>
                <a:latin typeface="Lucida Console" panose="020B0609040504020204"/>
                <a:cs typeface="Lucida Console" panose="020B0609040504020204"/>
              </a:rPr>
              <a:t>g</a:t>
            </a:r>
            <a:r>
              <a:rPr sz="1800" b="1" spc="-480" baseline="-39000" dirty="0">
                <a:latin typeface="Arial" panose="020B0604020202020204"/>
                <a:cs typeface="Arial" panose="020B0604020202020204"/>
              </a:rPr>
              <a:t>P</a:t>
            </a:r>
            <a:r>
              <a:rPr sz="950" spc="-240" dirty="0">
                <a:solidFill>
                  <a:srgbClr val="94A2B8"/>
                </a:solidFill>
                <a:latin typeface="Lucida Console" panose="020B0609040504020204"/>
                <a:cs typeface="Lucida Console" panose="020B0609040504020204"/>
              </a:rPr>
              <a:t>f</a:t>
            </a:r>
            <a:r>
              <a:rPr sz="1800" b="1" spc="-839" baseline="-39000" dirty="0">
                <a:latin typeface="Arial" panose="020B0604020202020204"/>
                <a:cs typeface="Arial" panose="020B0604020202020204"/>
              </a:rPr>
              <a:t>o</a:t>
            </a:r>
            <a:r>
              <a:rPr sz="950" spc="-30" dirty="0">
                <a:solidFill>
                  <a:srgbClr val="94A2B8"/>
                </a:solidFill>
                <a:latin typeface="Lucida Console" panose="020B0609040504020204"/>
                <a:cs typeface="Lucida Console" panose="020B0609040504020204"/>
              </a:rPr>
              <a:t>o</a:t>
            </a:r>
            <a:r>
              <a:rPr sz="950" spc="-545" dirty="0">
                <a:solidFill>
                  <a:srgbClr val="94A2B8"/>
                </a:solidFill>
                <a:latin typeface="Lucida Console" panose="020B0609040504020204"/>
                <a:cs typeface="Lucida Console" panose="020B0609040504020204"/>
              </a:rPr>
              <a:t>r</a:t>
            </a:r>
            <a:r>
              <a:rPr sz="1800" b="1" spc="15" baseline="-39000" dirty="0">
                <a:latin typeface="Arial" panose="020B0604020202020204"/>
                <a:cs typeface="Arial" panose="020B0604020202020204"/>
              </a:rPr>
              <a:t>w</a:t>
            </a:r>
            <a:r>
              <a:rPr sz="1800" b="1" spc="-930" baseline="-39000" dirty="0">
                <a:latin typeface="Arial" panose="020B0604020202020204"/>
                <a:cs typeface="Arial" panose="020B0604020202020204"/>
              </a:rPr>
              <a:t>e</a:t>
            </a:r>
            <a:r>
              <a:rPr sz="950" spc="-30" dirty="0">
                <a:solidFill>
                  <a:srgbClr val="94A2B8"/>
                </a:solidFill>
                <a:latin typeface="Lucida Console" panose="020B0609040504020204"/>
                <a:cs typeface="Lucida Console" panose="020B0609040504020204"/>
              </a:rPr>
              <a:t>B</a:t>
            </a:r>
            <a:r>
              <a:rPr sz="950" spc="-470" dirty="0">
                <a:solidFill>
                  <a:srgbClr val="94A2B8"/>
                </a:solidFill>
                <a:latin typeface="Lucida Console" panose="020B0609040504020204"/>
                <a:cs typeface="Lucida Console" panose="020B0609040504020204"/>
              </a:rPr>
              <a:t>r</a:t>
            </a:r>
            <a:r>
              <a:rPr sz="1800" b="1" spc="-89" baseline="-39000" dirty="0">
                <a:latin typeface="Arial" panose="020B0604020202020204"/>
                <a:cs typeface="Arial" panose="020B0604020202020204"/>
              </a:rPr>
              <a:t>r</a:t>
            </a:r>
            <a:r>
              <a:rPr sz="950" spc="-505" dirty="0">
                <a:solidFill>
                  <a:srgbClr val="94A2B8"/>
                </a:solidFill>
                <a:latin typeface="Lucida Console" panose="020B0609040504020204"/>
                <a:cs typeface="Lucida Console" panose="020B0609040504020204"/>
              </a:rPr>
              <a:t>a</a:t>
            </a:r>
            <a:r>
              <a:rPr sz="1800" b="1" spc="-337" baseline="-39000" dirty="0">
                <a:latin typeface="Arial" panose="020B0604020202020204"/>
                <a:cs typeface="Arial" panose="020B0604020202020204"/>
              </a:rPr>
              <a:t>e</a:t>
            </a:r>
            <a:r>
              <a:rPr sz="950" spc="-335" dirty="0">
                <a:solidFill>
                  <a:srgbClr val="94A2B8"/>
                </a:solidFill>
                <a:latin typeface="Lucida Console" panose="020B0609040504020204"/>
                <a:cs typeface="Lucida Console" panose="020B0609040504020204"/>
              </a:rPr>
              <a:t>n</a:t>
            </a:r>
            <a:r>
              <a:rPr sz="1800" b="1" spc="-690" baseline="-39000" dirty="0">
                <a:latin typeface="Arial" panose="020B0604020202020204"/>
                <a:cs typeface="Arial" panose="020B0604020202020204"/>
              </a:rPr>
              <a:t>d</a:t>
            </a:r>
            <a:r>
              <a:rPr sz="950" spc="-30" dirty="0">
                <a:solidFill>
                  <a:srgbClr val="94A2B8"/>
                </a:solidFill>
                <a:latin typeface="Lucida Console" panose="020B0609040504020204"/>
                <a:cs typeface="Lucida Console" panose="020B0609040504020204"/>
              </a:rPr>
              <a:t>c</a:t>
            </a:r>
            <a:r>
              <a:rPr sz="950" spc="-270" dirty="0">
                <a:solidFill>
                  <a:srgbClr val="94A2B8"/>
                </a:solidFill>
                <a:latin typeface="Lucida Console" panose="020B0609040504020204"/>
                <a:cs typeface="Lucida Console" panose="020B0609040504020204"/>
              </a:rPr>
              <a:t>h</a:t>
            </a:r>
            <a:r>
              <a:rPr sz="1800" b="1" spc="-975" baseline="-39000" dirty="0">
                <a:latin typeface="Arial" panose="020B0604020202020204"/>
                <a:cs typeface="Arial" panose="020B0604020202020204"/>
              </a:rPr>
              <a:t>B</a:t>
            </a:r>
            <a:r>
              <a:rPr sz="950" spc="-30" dirty="0">
                <a:solidFill>
                  <a:srgbClr val="94A2B8"/>
                </a:solidFill>
                <a:latin typeface="Lucida Console" panose="020B0609040504020204"/>
                <a:cs typeface="Lucida Console" panose="020B0609040504020204"/>
              </a:rPr>
              <a:t>-</a:t>
            </a:r>
            <a:r>
              <a:rPr sz="950" spc="-310" dirty="0">
                <a:solidFill>
                  <a:srgbClr val="94A2B8"/>
                </a:solidFill>
                <a:latin typeface="Lucida Console" panose="020B0609040504020204"/>
                <a:cs typeface="Lucida Console" panose="020B0609040504020204"/>
              </a:rPr>
              <a:t>a</a:t>
            </a:r>
            <a:r>
              <a:rPr sz="1800" b="1" spc="-465" baseline="-39000" dirty="0">
                <a:latin typeface="Arial" panose="020B0604020202020204"/>
                <a:cs typeface="Arial" panose="020B0604020202020204"/>
              </a:rPr>
              <a:t>y</a:t>
            </a:r>
            <a:r>
              <a:rPr sz="950" spc="-310" dirty="0">
                <a:solidFill>
                  <a:srgbClr val="94A2B8"/>
                </a:solidFill>
                <a:latin typeface="Lucida Console" panose="020B0609040504020204"/>
                <a:cs typeface="Lucida Console" panose="020B0609040504020204"/>
              </a:rPr>
              <a:t>nd</a:t>
            </a:r>
            <a:r>
              <a:rPr sz="1800" b="1" spc="-465" baseline="-39000" dirty="0">
                <a:latin typeface="Arial" panose="020B0604020202020204"/>
                <a:cs typeface="Arial" panose="020B0604020202020204"/>
              </a:rPr>
              <a:t>T</a:t>
            </a:r>
            <a:r>
              <a:rPr sz="950" spc="-310" dirty="0">
                <a:solidFill>
                  <a:srgbClr val="94A2B8"/>
                </a:solidFill>
                <a:latin typeface="Lucida Console" panose="020B0609040504020204"/>
                <a:cs typeface="Lucida Console" panose="020B0609040504020204"/>
              </a:rPr>
              <a:t>-</a:t>
            </a:r>
            <a:r>
              <a:rPr sz="1800" b="1" spc="-750" baseline="-39000" dirty="0">
                <a:latin typeface="Arial" panose="020B0604020202020204"/>
                <a:cs typeface="Arial" panose="020B0604020202020204"/>
              </a:rPr>
              <a:t>o</a:t>
            </a:r>
            <a:r>
              <a:rPr sz="950" spc="-55" dirty="0">
                <a:solidFill>
                  <a:srgbClr val="94A2B8"/>
                </a:solidFill>
                <a:latin typeface="Lucida Console" panose="020B0609040504020204"/>
                <a:cs typeface="Lucida Console" panose="020B0609040504020204"/>
              </a:rPr>
              <a:t>B</a:t>
            </a:r>
            <a:r>
              <a:rPr sz="1800" b="1" spc="-989" baseline="-39000" dirty="0">
                <a:latin typeface="Arial" panose="020B0604020202020204"/>
                <a:cs typeface="Arial" panose="020B0604020202020204"/>
              </a:rPr>
              <a:t>s</a:t>
            </a:r>
            <a:r>
              <a:rPr sz="950" spc="-30" dirty="0">
                <a:solidFill>
                  <a:srgbClr val="94A2B8"/>
                </a:solidFill>
                <a:latin typeface="Lucida Console" panose="020B0609040504020204"/>
                <a:cs typeface="Lucida Console" panose="020B0609040504020204"/>
              </a:rPr>
              <a:t>o</a:t>
            </a:r>
            <a:r>
              <a:rPr sz="950" spc="-434" dirty="0">
                <a:solidFill>
                  <a:srgbClr val="94A2B8"/>
                </a:solidFill>
                <a:latin typeface="Lucida Console" panose="020B0609040504020204"/>
                <a:cs typeface="Lucida Console" panose="020B0609040504020204"/>
              </a:rPr>
              <a:t>u</a:t>
            </a:r>
            <a:r>
              <a:rPr sz="1800" b="1" spc="-450" baseline="-39000" dirty="0">
                <a:latin typeface="Arial" panose="020B0604020202020204"/>
                <a:cs typeface="Arial" panose="020B0604020202020204"/>
              </a:rPr>
              <a:t>e</a:t>
            </a:r>
            <a:r>
              <a:rPr sz="950" spc="-260" dirty="0">
                <a:solidFill>
                  <a:srgbClr val="94A2B8"/>
                </a:solidFill>
                <a:latin typeface="Lucida Console" panose="020B0609040504020204"/>
                <a:cs typeface="Lucida Console" panose="020B0609040504020204"/>
              </a:rPr>
              <a:t>n</a:t>
            </a:r>
            <a:r>
              <a:rPr sz="1800" b="1" spc="-697" baseline="-39000" dirty="0">
                <a:latin typeface="Arial" panose="020B0604020202020204"/>
                <a:cs typeface="Arial" panose="020B0604020202020204"/>
              </a:rPr>
              <a:t>a</a:t>
            </a:r>
            <a:r>
              <a:rPr sz="950" spc="-85" dirty="0">
                <a:solidFill>
                  <a:srgbClr val="94A2B8"/>
                </a:solidFill>
                <a:latin typeface="Lucida Console" panose="020B0609040504020204"/>
                <a:cs typeface="Lucida Console" panose="020B0609040504020204"/>
              </a:rPr>
              <a:t>d</a:t>
            </a:r>
            <a:r>
              <a:rPr sz="1800" b="1" spc="15" baseline="-39000" dirty="0">
                <a:latin typeface="Arial" panose="020B0604020202020204"/>
                <a:cs typeface="Arial" panose="020B0604020202020204"/>
              </a:rPr>
              <a:t>.a</a:t>
            </a:r>
            <a:r>
              <a:rPr sz="1800" b="1" spc="-15" baseline="-39000" dirty="0">
                <a:latin typeface="Arial" panose="020B0604020202020204"/>
                <a:cs typeface="Arial" panose="020B0604020202020204"/>
              </a:rPr>
              <a:t>i</a:t>
            </a:r>
            <a:endParaRPr sz="1800" baseline="-39000">
              <a:latin typeface="Arial" panose="020B0604020202020204"/>
              <a:cs typeface="Arial" panose="020B0604020202020204"/>
            </a:endParaRPr>
          </a:p>
        </p:txBody>
      </p:sp>
      <p:sp>
        <p:nvSpPr>
          <p:cNvPr id="57" name="object 57"/>
          <p:cNvSpPr txBox="1"/>
          <p:nvPr/>
        </p:nvSpPr>
        <p:spPr>
          <a:xfrm>
            <a:off x="139699" y="7046171"/>
            <a:ext cx="295275" cy="131445"/>
          </a:xfrm>
          <a:prstGeom prst="rect">
            <a:avLst/>
          </a:prstGeom>
        </p:spPr>
        <p:txBody>
          <a:bodyPr vert="horz" wrap="square" lIns="0" tIns="1905" rIns="0" bIns="0" rtlCol="0">
            <a:spAutoFit/>
          </a:bodyPr>
          <a:lstStyle/>
          <a:p>
            <a:pPr marL="12700">
              <a:lnSpc>
                <a:spcPct val="100000"/>
              </a:lnSpc>
              <a:spcBef>
                <a:spcPts val="15"/>
              </a:spcBef>
            </a:pPr>
            <a:r>
              <a:rPr sz="750" spc="-10" dirty="0">
                <a:solidFill>
                  <a:srgbClr val="FFFFFF"/>
                </a:solidFill>
                <a:latin typeface="Times New Roman" panose="02020603050405020304"/>
                <a:cs typeface="Times New Roman" panose="02020603050405020304"/>
              </a:rPr>
              <a:t>Author</a:t>
            </a:r>
            <a:endParaRPr sz="750">
              <a:latin typeface="Times New Roman" panose="02020603050405020304"/>
              <a:cs typeface="Times New Roman" panose="02020603050405020304"/>
            </a:endParaRPr>
          </a:p>
        </p:txBody>
      </p:sp>
      <p:sp>
        <p:nvSpPr>
          <p:cNvPr id="58" name="object 58"/>
          <p:cNvSpPr txBox="1"/>
          <p:nvPr/>
        </p:nvSpPr>
        <p:spPr>
          <a:xfrm>
            <a:off x="562074" y="7046171"/>
            <a:ext cx="311150" cy="131445"/>
          </a:xfrm>
          <a:prstGeom prst="rect">
            <a:avLst/>
          </a:prstGeom>
        </p:spPr>
        <p:txBody>
          <a:bodyPr vert="horz" wrap="square" lIns="0" tIns="1905" rIns="0" bIns="0" rtlCol="0">
            <a:spAutoFit/>
          </a:bodyPr>
          <a:lstStyle/>
          <a:p>
            <a:pPr marL="12700">
              <a:lnSpc>
                <a:spcPct val="100000"/>
              </a:lnSpc>
              <a:spcBef>
                <a:spcPts val="15"/>
              </a:spcBef>
            </a:pPr>
            <a:r>
              <a:rPr sz="750" spc="-10" dirty="0">
                <a:solidFill>
                  <a:srgbClr val="FFFFFF"/>
                </a:solidFill>
                <a:latin typeface="Times New Roman" panose="02020603050405020304"/>
                <a:cs typeface="Times New Roman" panose="02020603050405020304"/>
              </a:rPr>
              <a:t>Section</a:t>
            </a:r>
            <a:endParaRPr sz="750">
              <a:latin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975" y="194068"/>
            <a:ext cx="3783796" cy="841051"/>
          </a:xfrm>
          <a:prstGeom prst="rect">
            <a:avLst/>
          </a:prstGeom>
        </p:spPr>
        <p:txBody>
          <a:bodyPr vert="horz" wrap="square" lIns="0" tIns="9957" rIns="0" bIns="0" rtlCol="0">
            <a:spAutoFit/>
          </a:bodyPr>
          <a:lstStyle/>
          <a:p>
            <a:pPr marL="10160">
              <a:spcBef>
                <a:spcPts val="80"/>
              </a:spcBef>
            </a:pPr>
            <a:r>
              <a:rPr spc="-290" dirty="0"/>
              <a:t>方法</a:t>
            </a:r>
            <a:r>
              <a:rPr spc="-290" dirty="0">
                <a:latin typeface="Microsoft New Tai Lue" panose="020B0502040204020203"/>
                <a:cs typeface="Microsoft New Tai Lue" panose="020B0502040204020203"/>
              </a:rPr>
              <a:t>：</a:t>
            </a:r>
            <a:r>
              <a:rPr spc="-294" dirty="0"/>
              <a:t>训练数据生成与标签定义</a:t>
            </a:r>
            <a:endParaRPr spc="-294" dirty="0"/>
          </a:p>
        </p:txBody>
      </p:sp>
      <p:sp>
        <p:nvSpPr>
          <p:cNvPr id="34" name="object 34"/>
          <p:cNvSpPr txBox="1">
            <a:spLocks noGrp="1"/>
          </p:cNvSpPr>
          <p:nvPr>
            <p:ph type="ftr" sz="quarter" idx="5"/>
          </p:nvPr>
        </p:nvSpPr>
        <p:spPr>
          <a:xfrm>
            <a:off x="1425998" y="5233256"/>
            <a:ext cx="231509" cy="285128"/>
          </a:xfrm>
          <a:prstGeom prst="rect">
            <a:avLst/>
          </a:prstGeom>
        </p:spPr>
        <p:txBody>
          <a:bodyPr vert="horz" wrap="square" lIns="0" tIns="53770" rIns="0" bIns="0" rtlCol="0">
            <a:spAutoFit/>
          </a:bodyPr>
          <a:lstStyle/>
          <a:p>
            <a:pPr marL="10160">
              <a:spcBef>
                <a:spcPts val="10"/>
              </a:spcBef>
            </a:pPr>
            <a:r>
              <a:rPr spc="-8" dirty="0"/>
              <a:t>Author</a:t>
            </a:r>
            <a:endParaRPr spc="-8" dirty="0"/>
          </a:p>
        </p:txBody>
      </p:sp>
      <p:sp>
        <p:nvSpPr>
          <p:cNvPr id="35" name="object 35"/>
          <p:cNvSpPr txBox="1">
            <a:spLocks noGrp="1"/>
          </p:cNvSpPr>
          <p:nvPr>
            <p:ph type="dt" sz="half" idx="6"/>
          </p:nvPr>
        </p:nvSpPr>
        <p:spPr>
          <a:xfrm>
            <a:off x="9412461" y="5004933"/>
            <a:ext cx="1247159" cy="238961"/>
          </a:xfrm>
          <a:prstGeom prst="rect">
            <a:avLst/>
          </a:prstGeom>
        </p:spPr>
        <p:txBody>
          <a:bodyPr vert="horz" wrap="square" lIns="0" tIns="53770" rIns="0" bIns="0" rtlCol="0">
            <a:spAutoFit/>
          </a:bodyPr>
          <a:lstStyle/>
          <a:p>
            <a:pPr marL="10160">
              <a:spcBef>
                <a:spcPts val="10"/>
              </a:spcBef>
            </a:pPr>
            <a:r>
              <a:rPr spc="-8" dirty="0"/>
              <a:t>Section</a:t>
            </a:r>
            <a:endParaRPr spc="-8" dirty="0"/>
          </a:p>
        </p:txBody>
      </p:sp>
      <p:sp>
        <p:nvSpPr>
          <p:cNvPr id="3" name="object 3"/>
          <p:cNvSpPr txBox="1"/>
          <p:nvPr/>
        </p:nvSpPr>
        <p:spPr>
          <a:xfrm>
            <a:off x="1664975" y="5014633"/>
            <a:ext cx="2514233" cy="101534"/>
          </a:xfrm>
          <a:prstGeom prst="rect">
            <a:avLst/>
          </a:prstGeom>
        </p:spPr>
        <p:txBody>
          <a:bodyPr vert="horz" wrap="square" lIns="0" tIns="10953" rIns="0" bIns="0" rtlCol="0">
            <a:spAutoFit/>
          </a:bodyPr>
          <a:lstStyle/>
          <a:p>
            <a:pPr marL="10160">
              <a:spcBef>
                <a:spcPts val="85"/>
              </a:spcBef>
            </a:pPr>
            <a:r>
              <a:rPr sz="590" dirty="0">
                <a:solidFill>
                  <a:srgbClr val="94A2B8"/>
                </a:solidFill>
                <a:latin typeface="Courier New" panose="02070309020205020404"/>
                <a:cs typeface="Courier New" panose="02070309020205020404"/>
              </a:rPr>
              <a:t>G</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C</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N</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N</a:t>
            </a:r>
            <a:r>
              <a:rPr sz="590" spc="231"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F</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O</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R</a:t>
            </a:r>
            <a:r>
              <a:rPr sz="590" spc="231"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B</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R</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A</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N</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C</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H</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I</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N</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G</a:t>
            </a:r>
            <a:r>
              <a:rPr sz="590" spc="231"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a:t>
            </a:r>
            <a:r>
              <a:rPr sz="590" spc="231"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D</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A</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T</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A</a:t>
            </a:r>
            <a:r>
              <a:rPr sz="590" spc="231"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G</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E</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N</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E</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R</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A</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T</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I</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O</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N</a:t>
            </a:r>
            <a:r>
              <a:rPr sz="590" spc="231"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P</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H</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A</a:t>
            </a:r>
            <a:r>
              <a:rPr sz="590" spc="-239"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S</a:t>
            </a:r>
            <a:r>
              <a:rPr sz="590" spc="-239" dirty="0">
                <a:solidFill>
                  <a:srgbClr val="94A2B8"/>
                </a:solidFill>
                <a:latin typeface="Courier New" panose="02070309020205020404"/>
                <a:cs typeface="Courier New" panose="02070309020205020404"/>
              </a:rPr>
              <a:t> </a:t>
            </a:r>
            <a:r>
              <a:rPr sz="590" spc="-39" dirty="0">
                <a:solidFill>
                  <a:srgbClr val="94A2B8"/>
                </a:solidFill>
                <a:latin typeface="Courier New" panose="02070309020205020404"/>
                <a:cs typeface="Courier New" panose="02070309020205020404"/>
              </a:rPr>
              <a:t>E</a:t>
            </a:r>
            <a:endParaRPr sz="590">
              <a:latin typeface="Courier New" panose="02070309020205020404"/>
              <a:cs typeface="Courier New" panose="02070309020205020404"/>
            </a:endParaRPr>
          </a:p>
        </p:txBody>
      </p:sp>
      <p:grpSp>
        <p:nvGrpSpPr>
          <p:cNvPr id="4" name="object 4"/>
          <p:cNvGrpSpPr/>
          <p:nvPr/>
        </p:nvGrpSpPr>
        <p:grpSpPr>
          <a:xfrm>
            <a:off x="1674932" y="963374"/>
            <a:ext cx="5055849" cy="1553348"/>
            <a:chOff x="457199" y="1228724"/>
            <a:chExt cx="6448425" cy="1981200"/>
          </a:xfrm>
        </p:grpSpPr>
        <p:sp>
          <p:nvSpPr>
            <p:cNvPr id="5" name="object 5"/>
            <p:cNvSpPr/>
            <p:nvPr/>
          </p:nvSpPr>
          <p:spPr>
            <a:xfrm>
              <a:off x="476249" y="1228724"/>
              <a:ext cx="6429375" cy="1981200"/>
            </a:xfrm>
            <a:custGeom>
              <a:avLst/>
              <a:gdLst/>
              <a:ahLst/>
              <a:cxnLst/>
              <a:rect l="l" t="t" r="r" b="b"/>
              <a:pathLst>
                <a:path w="6429375" h="1981200">
                  <a:moveTo>
                    <a:pt x="6322579" y="1981199"/>
                  </a:moveTo>
                  <a:lnTo>
                    <a:pt x="88995" y="1981199"/>
                  </a:lnTo>
                  <a:lnTo>
                    <a:pt x="82801" y="1980467"/>
                  </a:lnTo>
                  <a:lnTo>
                    <a:pt x="37131" y="1957767"/>
                  </a:lnTo>
                  <a:lnTo>
                    <a:pt x="12577" y="1924161"/>
                  </a:lnTo>
                  <a:lnTo>
                    <a:pt x="610" y="1881837"/>
                  </a:lnTo>
                  <a:lnTo>
                    <a:pt x="0" y="1874404"/>
                  </a:lnTo>
                  <a:lnTo>
                    <a:pt x="0" y="1866899"/>
                  </a:lnTo>
                  <a:lnTo>
                    <a:pt x="0" y="106794"/>
                  </a:lnTo>
                  <a:lnTo>
                    <a:pt x="9643" y="63625"/>
                  </a:lnTo>
                  <a:lnTo>
                    <a:pt x="32320" y="28170"/>
                  </a:lnTo>
                  <a:lnTo>
                    <a:pt x="64577" y="5828"/>
                  </a:lnTo>
                  <a:lnTo>
                    <a:pt x="88995" y="0"/>
                  </a:lnTo>
                  <a:lnTo>
                    <a:pt x="6322579" y="0"/>
                  </a:lnTo>
                  <a:lnTo>
                    <a:pt x="6365748" y="11572"/>
                  </a:lnTo>
                  <a:lnTo>
                    <a:pt x="6401203" y="38784"/>
                  </a:lnTo>
                  <a:lnTo>
                    <a:pt x="6423545" y="77493"/>
                  </a:lnTo>
                  <a:lnTo>
                    <a:pt x="6429373" y="106794"/>
                  </a:lnTo>
                  <a:lnTo>
                    <a:pt x="6429373" y="1874404"/>
                  </a:lnTo>
                  <a:lnTo>
                    <a:pt x="6417800" y="1917574"/>
                  </a:lnTo>
                  <a:lnTo>
                    <a:pt x="6390589" y="1953028"/>
                  </a:lnTo>
                  <a:lnTo>
                    <a:pt x="6351880" y="1975371"/>
                  </a:lnTo>
                  <a:lnTo>
                    <a:pt x="6330011" y="1980467"/>
                  </a:lnTo>
                  <a:lnTo>
                    <a:pt x="6322579" y="1981199"/>
                  </a:lnTo>
                  <a:close/>
                </a:path>
              </a:pathLst>
            </a:custGeom>
            <a:solidFill>
              <a:srgbClr val="EDF1FF">
                <a:alpha val="50199"/>
              </a:srgbClr>
            </a:solidFill>
          </p:spPr>
          <p:txBody>
            <a:bodyPr wrap="square" lIns="0" tIns="0" rIns="0" bIns="0" rtlCol="0"/>
            <a:lstStyle/>
            <a:p/>
          </p:txBody>
        </p:sp>
        <p:sp>
          <p:nvSpPr>
            <p:cNvPr id="6" name="object 6"/>
            <p:cNvSpPr/>
            <p:nvPr/>
          </p:nvSpPr>
          <p:spPr>
            <a:xfrm>
              <a:off x="457199" y="1228724"/>
              <a:ext cx="114300" cy="1981200"/>
            </a:xfrm>
            <a:custGeom>
              <a:avLst/>
              <a:gdLst/>
              <a:ahLst/>
              <a:cxnLst/>
              <a:rect l="l" t="t" r="r" b="b"/>
              <a:pathLst>
                <a:path w="114300" h="1981200">
                  <a:moveTo>
                    <a:pt x="114300" y="1981199"/>
                  </a:moveTo>
                  <a:lnTo>
                    <a:pt x="70559" y="1972499"/>
                  </a:lnTo>
                  <a:lnTo>
                    <a:pt x="33477" y="1947722"/>
                  </a:lnTo>
                  <a:lnTo>
                    <a:pt x="8700" y="1910640"/>
                  </a:lnTo>
                  <a:lnTo>
                    <a:pt x="0" y="1866899"/>
                  </a:lnTo>
                  <a:lnTo>
                    <a:pt x="0" y="114300"/>
                  </a:lnTo>
                  <a:lnTo>
                    <a:pt x="8700" y="70559"/>
                  </a:lnTo>
                  <a:lnTo>
                    <a:pt x="33477" y="33477"/>
                  </a:lnTo>
                  <a:lnTo>
                    <a:pt x="70559" y="8700"/>
                  </a:lnTo>
                  <a:lnTo>
                    <a:pt x="114300" y="0"/>
                  </a:lnTo>
                  <a:lnTo>
                    <a:pt x="106793" y="543"/>
                  </a:lnTo>
                  <a:lnTo>
                    <a:pt x="99431" y="2175"/>
                  </a:lnTo>
                  <a:lnTo>
                    <a:pt x="65982" y="25900"/>
                  </a:lnTo>
                  <a:lnTo>
                    <a:pt x="47107" y="60364"/>
                  </a:lnTo>
                  <a:lnTo>
                    <a:pt x="38462" y="103040"/>
                  </a:lnTo>
                  <a:lnTo>
                    <a:pt x="38100" y="114300"/>
                  </a:lnTo>
                  <a:lnTo>
                    <a:pt x="38100" y="1866899"/>
                  </a:lnTo>
                  <a:lnTo>
                    <a:pt x="43900" y="1910640"/>
                  </a:lnTo>
                  <a:lnTo>
                    <a:pt x="60418" y="1947722"/>
                  </a:lnTo>
                  <a:lnTo>
                    <a:pt x="92213" y="1976305"/>
                  </a:lnTo>
                  <a:lnTo>
                    <a:pt x="106793" y="1980656"/>
                  </a:lnTo>
                  <a:lnTo>
                    <a:pt x="114300" y="1981199"/>
                  </a:lnTo>
                  <a:close/>
                </a:path>
              </a:pathLst>
            </a:custGeom>
            <a:solidFill>
              <a:srgbClr val="4237CA"/>
            </a:solidFill>
          </p:spPr>
          <p:txBody>
            <a:bodyPr wrap="square" lIns="0" tIns="0" rIns="0" bIns="0" rtlCol="0"/>
            <a:lstStyle/>
            <a:p/>
          </p:txBody>
        </p:sp>
        <p:sp>
          <p:nvSpPr>
            <p:cNvPr id="7" name="object 7"/>
            <p:cNvSpPr/>
            <p:nvPr/>
          </p:nvSpPr>
          <p:spPr>
            <a:xfrm>
              <a:off x="1114424" y="1857374"/>
              <a:ext cx="495300" cy="219075"/>
            </a:xfrm>
            <a:custGeom>
              <a:avLst/>
              <a:gdLst/>
              <a:ahLst/>
              <a:cxnLst/>
              <a:rect l="l" t="t" r="r" b="b"/>
              <a:pathLst>
                <a:path w="495300" h="219075">
                  <a:moveTo>
                    <a:pt x="462252" y="219074"/>
                  </a:moveTo>
                  <a:lnTo>
                    <a:pt x="33047" y="219074"/>
                  </a:lnTo>
                  <a:lnTo>
                    <a:pt x="28187" y="218108"/>
                  </a:lnTo>
                  <a:lnTo>
                    <a:pt x="966" y="190887"/>
                  </a:lnTo>
                  <a:lnTo>
                    <a:pt x="0" y="186027"/>
                  </a:lnTo>
                  <a:lnTo>
                    <a:pt x="0" y="180974"/>
                  </a:lnTo>
                  <a:lnTo>
                    <a:pt x="0" y="33047"/>
                  </a:lnTo>
                  <a:lnTo>
                    <a:pt x="28187" y="966"/>
                  </a:lnTo>
                  <a:lnTo>
                    <a:pt x="33047" y="0"/>
                  </a:lnTo>
                  <a:lnTo>
                    <a:pt x="462252" y="0"/>
                  </a:lnTo>
                  <a:lnTo>
                    <a:pt x="494333" y="28187"/>
                  </a:lnTo>
                  <a:lnTo>
                    <a:pt x="495299" y="33047"/>
                  </a:lnTo>
                  <a:lnTo>
                    <a:pt x="495299" y="186027"/>
                  </a:lnTo>
                  <a:lnTo>
                    <a:pt x="467112" y="218108"/>
                  </a:lnTo>
                  <a:lnTo>
                    <a:pt x="462252" y="219074"/>
                  </a:lnTo>
                  <a:close/>
                </a:path>
              </a:pathLst>
            </a:custGeom>
            <a:solidFill>
              <a:srgbClr val="FFFFFF"/>
            </a:solidFill>
          </p:spPr>
          <p:txBody>
            <a:bodyPr wrap="square" lIns="0" tIns="0" rIns="0" bIns="0" rtlCol="0"/>
            <a:lstStyle/>
            <a:p/>
          </p:txBody>
        </p:sp>
      </p:grpSp>
      <p:sp>
        <p:nvSpPr>
          <p:cNvPr id="8" name="object 8"/>
          <p:cNvSpPr txBox="1"/>
          <p:nvPr/>
        </p:nvSpPr>
        <p:spPr>
          <a:xfrm>
            <a:off x="1844207" y="990817"/>
            <a:ext cx="3098730" cy="975775"/>
          </a:xfrm>
          <a:prstGeom prst="rect">
            <a:avLst/>
          </a:prstGeom>
        </p:spPr>
        <p:txBody>
          <a:bodyPr vert="horz" wrap="square" lIns="0" tIns="134424" rIns="0" bIns="0" rtlCol="0">
            <a:spAutoFit/>
          </a:bodyPr>
          <a:lstStyle/>
          <a:p>
            <a:pPr marL="40005">
              <a:spcBef>
                <a:spcPts val="1060"/>
              </a:spcBef>
            </a:pPr>
            <a:r>
              <a:rPr sz="1370" spc="906" dirty="0">
                <a:solidFill>
                  <a:srgbClr val="312E81"/>
                </a:solidFill>
                <a:latin typeface="Segoe UI Symbol" panose="020B0502040204020203"/>
                <a:cs typeface="Segoe UI Symbol" panose="020B0502040204020203"/>
              </a:rPr>
              <a:t>🧩</a:t>
            </a:r>
            <a:r>
              <a:rPr sz="1370" spc="129" dirty="0">
                <a:solidFill>
                  <a:srgbClr val="312E81"/>
                </a:solidFill>
                <a:latin typeface="Segoe UI Symbol" panose="020B0502040204020203"/>
                <a:cs typeface="Segoe UI Symbol" panose="020B0502040204020203"/>
              </a:rPr>
              <a:t> </a:t>
            </a:r>
            <a:r>
              <a:rPr sz="1335" b="1" spc="-153" dirty="0">
                <a:solidFill>
                  <a:srgbClr val="312E81"/>
                </a:solidFill>
                <a:latin typeface="微软雅黑" panose="020B0503020204020204" charset="-122"/>
                <a:cs typeface="微软雅黑" panose="020B0503020204020204" charset="-122"/>
              </a:rPr>
              <a:t>数据来源与状态特征</a:t>
            </a:r>
            <a:endParaRPr sz="1335">
              <a:latin typeface="微软雅黑" panose="020B0503020204020204" charset="-122"/>
              <a:cs typeface="微软雅黑" panose="020B0503020204020204" charset="-122"/>
            </a:endParaRPr>
          </a:p>
          <a:p>
            <a:pPr marL="183515" indent="-143510">
              <a:spcBef>
                <a:spcPts val="845"/>
              </a:spcBef>
              <a:buClr>
                <a:srgbClr val="4E45E4"/>
              </a:buClr>
              <a:buSzPct val="60000"/>
              <a:buFont typeface="Times New Roman" panose="02020603050405020304"/>
              <a:buChar char="●"/>
              <a:tabLst>
                <a:tab pos="182880" algn="l"/>
              </a:tabLst>
            </a:pPr>
            <a:r>
              <a:rPr sz="1175" spc="-114" dirty="0">
                <a:solidFill>
                  <a:srgbClr val="1D293B"/>
                </a:solidFill>
                <a:latin typeface="宋体" panose="02010600030101010101" pitchFamily="2" charset="-122"/>
                <a:cs typeface="宋体" panose="02010600030101010101" pitchFamily="2" charset="-122"/>
              </a:rPr>
              <a:t>在 </a:t>
            </a:r>
            <a:r>
              <a:rPr sz="1060" dirty="0">
                <a:solidFill>
                  <a:srgbClr val="4237CA"/>
                </a:solidFill>
                <a:latin typeface="Courier New" panose="02070309020205020404"/>
                <a:cs typeface="Courier New" panose="02070309020205020404"/>
              </a:rPr>
              <a:t>SCIP</a:t>
            </a:r>
            <a:r>
              <a:rPr sz="1060" spc="-145" dirty="0">
                <a:solidFill>
                  <a:srgbClr val="4237CA"/>
                </a:solidFill>
                <a:latin typeface="Courier New" panose="02070309020205020404"/>
                <a:cs typeface="Courier New" panose="02070309020205020404"/>
              </a:rPr>
              <a:t> </a:t>
            </a:r>
            <a:r>
              <a:rPr sz="1175" spc="-145" dirty="0">
                <a:solidFill>
                  <a:srgbClr val="1D293B"/>
                </a:solidFill>
                <a:latin typeface="宋体" panose="02010600030101010101" pitchFamily="2" charset="-122"/>
                <a:cs typeface="宋体" panose="02010600030101010101" pitchFamily="2" charset="-122"/>
              </a:rPr>
              <a:t>求解器中动态采样 </a:t>
            </a:r>
            <a:r>
              <a:rPr sz="1060" b="1" spc="59" dirty="0">
                <a:solidFill>
                  <a:srgbClr val="1D293B"/>
                </a:solidFill>
                <a:latin typeface="Calibri" panose="020F0502020204030204"/>
                <a:cs typeface="Calibri" panose="020F0502020204030204"/>
              </a:rPr>
              <a:t>(state</a:t>
            </a:r>
            <a:r>
              <a:rPr sz="1060" b="1" spc="47" dirty="0">
                <a:solidFill>
                  <a:srgbClr val="1D293B"/>
                </a:solidFill>
                <a:latin typeface="Calibri" panose="020F0502020204030204"/>
                <a:cs typeface="Calibri" panose="020F0502020204030204"/>
              </a:rPr>
              <a:t>, action) </a:t>
            </a:r>
            <a:r>
              <a:rPr sz="1175" spc="-78" dirty="0">
                <a:solidFill>
                  <a:srgbClr val="1D293B"/>
                </a:solidFill>
                <a:latin typeface="宋体" panose="02010600030101010101" pitchFamily="2" charset="-122"/>
                <a:cs typeface="宋体" panose="02010600030101010101" pitchFamily="2" charset="-122"/>
              </a:rPr>
              <a:t>对。</a:t>
            </a:r>
            <a:endParaRPr sz="1175">
              <a:latin typeface="宋体" panose="02010600030101010101" pitchFamily="2" charset="-122"/>
              <a:cs typeface="宋体" panose="02010600030101010101" pitchFamily="2" charset="-122"/>
            </a:endParaRPr>
          </a:p>
          <a:p>
            <a:pPr marL="183515" indent="-143510">
              <a:spcBef>
                <a:spcPts val="1000"/>
              </a:spcBef>
              <a:buClr>
                <a:srgbClr val="4E45E4"/>
              </a:buClr>
              <a:buSzPct val="67000"/>
              <a:buFont typeface="Times New Roman" panose="02020603050405020304"/>
              <a:buChar char="●"/>
              <a:tabLst>
                <a:tab pos="182880" algn="l"/>
              </a:tabLst>
            </a:pPr>
            <a:r>
              <a:rPr sz="1060" b="1" spc="59" dirty="0">
                <a:solidFill>
                  <a:srgbClr val="1D293B"/>
                </a:solidFill>
                <a:latin typeface="Calibri" panose="020F0502020204030204"/>
                <a:cs typeface="Calibri" panose="020F0502020204030204"/>
              </a:rPr>
              <a:t>State</a:t>
            </a:r>
            <a:r>
              <a:rPr sz="1060" b="1" spc="27" dirty="0">
                <a:solidFill>
                  <a:srgbClr val="1D293B"/>
                </a:solidFill>
                <a:latin typeface="Calibri" panose="020F0502020204030204"/>
                <a:cs typeface="Calibri" panose="020F0502020204030204"/>
              </a:rPr>
              <a:t>: </a:t>
            </a:r>
            <a:r>
              <a:rPr sz="1060" dirty="0">
                <a:solidFill>
                  <a:srgbClr val="1D293B"/>
                </a:solidFill>
                <a:latin typeface="Calibri" panose="020F0502020204030204"/>
                <a:cs typeface="Calibri" panose="020F0502020204030204"/>
              </a:rPr>
              <a:t>B&amp;B</a:t>
            </a:r>
            <a:r>
              <a:rPr sz="1060" spc="55" dirty="0">
                <a:solidFill>
                  <a:srgbClr val="1D293B"/>
                </a:solidFill>
                <a:latin typeface="Calibri" panose="020F0502020204030204"/>
                <a:cs typeface="Calibri" panose="020F0502020204030204"/>
              </a:rPr>
              <a:t> </a:t>
            </a:r>
            <a:r>
              <a:rPr sz="1175" spc="-149" dirty="0">
                <a:solidFill>
                  <a:srgbClr val="1D293B"/>
                </a:solidFill>
                <a:latin typeface="宋体" panose="02010600030101010101" pitchFamily="2" charset="-122"/>
                <a:cs typeface="宋体" panose="02010600030101010101" pitchFamily="2" charset="-122"/>
              </a:rPr>
              <a:t>节点的图表示 </a:t>
            </a:r>
            <a:r>
              <a:rPr sz="1410" i="1" spc="118" dirty="0">
                <a:solidFill>
                  <a:srgbClr val="1D293B"/>
                </a:solidFill>
                <a:latin typeface="Times New Roman" panose="02020603050405020304"/>
                <a:cs typeface="Times New Roman" panose="02020603050405020304"/>
              </a:rPr>
              <a:t>s</a:t>
            </a:r>
            <a:r>
              <a:rPr sz="1470" i="1" spc="176" baseline="-13000" dirty="0">
                <a:solidFill>
                  <a:srgbClr val="1D293B"/>
                </a:solidFill>
                <a:latin typeface="Times New Roman" panose="02020603050405020304"/>
                <a:cs typeface="Times New Roman" panose="02020603050405020304"/>
              </a:rPr>
              <a:t>i</a:t>
            </a:r>
            <a:r>
              <a:rPr sz="1175" spc="-39" dirty="0">
                <a:solidFill>
                  <a:srgbClr val="1D293B"/>
                </a:solidFill>
                <a:latin typeface="宋体" panose="02010600030101010101" pitchFamily="2" charset="-122"/>
                <a:cs typeface="宋体" panose="02010600030101010101" pitchFamily="2" charset="-122"/>
              </a:rPr>
              <a:t>。</a:t>
            </a:r>
            <a:endParaRPr sz="1175">
              <a:latin typeface="宋体" panose="02010600030101010101" pitchFamily="2" charset="-122"/>
              <a:cs typeface="宋体" panose="02010600030101010101" pitchFamily="2" charset="-122"/>
            </a:endParaRPr>
          </a:p>
        </p:txBody>
      </p:sp>
      <p:sp>
        <p:nvSpPr>
          <p:cNvPr id="9" name="object 9"/>
          <p:cNvSpPr txBox="1"/>
          <p:nvPr/>
        </p:nvSpPr>
        <p:spPr>
          <a:xfrm>
            <a:off x="1844207" y="2081088"/>
            <a:ext cx="3774835" cy="260700"/>
          </a:xfrm>
          <a:prstGeom prst="rect">
            <a:avLst/>
          </a:prstGeom>
        </p:spPr>
        <p:txBody>
          <a:bodyPr vert="horz" wrap="square" lIns="0" tIns="9957" rIns="0" bIns="0" rtlCol="0">
            <a:spAutoFit/>
          </a:bodyPr>
          <a:lstStyle/>
          <a:p>
            <a:pPr marL="183515" indent="-143510">
              <a:lnSpc>
                <a:spcPts val="1240"/>
              </a:lnSpc>
              <a:spcBef>
                <a:spcPts val="80"/>
              </a:spcBef>
              <a:buClr>
                <a:srgbClr val="4E45E4"/>
              </a:buClr>
              <a:buSzPct val="67000"/>
              <a:buFont typeface="Times New Roman" panose="02020603050405020304"/>
              <a:buChar char="●"/>
              <a:tabLst>
                <a:tab pos="182880" algn="l"/>
              </a:tabLst>
            </a:pPr>
            <a:r>
              <a:rPr sz="1060" b="1" dirty="0">
                <a:solidFill>
                  <a:srgbClr val="1D293B"/>
                </a:solidFill>
                <a:latin typeface="Calibri" panose="020F0502020204030204"/>
                <a:cs typeface="Calibri" panose="020F0502020204030204"/>
              </a:rPr>
              <a:t>Action</a:t>
            </a:r>
            <a:r>
              <a:rPr sz="1060" b="1" spc="12" dirty="0">
                <a:solidFill>
                  <a:srgbClr val="1D293B"/>
                </a:solidFill>
                <a:latin typeface="Calibri" panose="020F0502020204030204"/>
                <a:cs typeface="Calibri" panose="020F0502020204030204"/>
              </a:rPr>
              <a:t>: </a:t>
            </a:r>
            <a:r>
              <a:rPr sz="1060" dirty="0">
                <a:solidFill>
                  <a:srgbClr val="1D293B"/>
                </a:solidFill>
                <a:latin typeface="Calibri" panose="020F0502020204030204"/>
                <a:cs typeface="Calibri" panose="020F0502020204030204"/>
              </a:rPr>
              <a:t>Strong</a:t>
            </a:r>
            <a:r>
              <a:rPr sz="1060" spc="129" dirty="0">
                <a:solidFill>
                  <a:srgbClr val="1D293B"/>
                </a:solidFill>
                <a:latin typeface="Calibri" panose="020F0502020204030204"/>
                <a:cs typeface="Calibri" panose="020F0502020204030204"/>
              </a:rPr>
              <a:t> </a:t>
            </a:r>
            <a:r>
              <a:rPr sz="1060" dirty="0">
                <a:solidFill>
                  <a:srgbClr val="1D293B"/>
                </a:solidFill>
                <a:latin typeface="Calibri" panose="020F0502020204030204"/>
                <a:cs typeface="Calibri" panose="020F0502020204030204"/>
              </a:rPr>
              <a:t>Branching</a:t>
            </a:r>
            <a:r>
              <a:rPr sz="1060" spc="129" dirty="0">
                <a:solidFill>
                  <a:srgbClr val="1D293B"/>
                </a:solidFill>
                <a:latin typeface="Calibri" panose="020F0502020204030204"/>
                <a:cs typeface="Calibri" panose="020F0502020204030204"/>
              </a:rPr>
              <a:t> </a:t>
            </a:r>
            <a:r>
              <a:rPr sz="1175" spc="-129" dirty="0">
                <a:solidFill>
                  <a:srgbClr val="1D293B"/>
                </a:solidFill>
                <a:latin typeface="宋体" panose="02010600030101010101" pitchFamily="2" charset="-122"/>
                <a:cs typeface="宋体" panose="02010600030101010101" pitchFamily="2" charset="-122"/>
              </a:rPr>
              <a:t>专家在状态下选择的分支变量 </a:t>
            </a:r>
            <a:r>
              <a:rPr sz="1410" i="1" spc="63" dirty="0">
                <a:solidFill>
                  <a:srgbClr val="1D293B"/>
                </a:solidFill>
                <a:latin typeface="Times New Roman" panose="02020603050405020304"/>
                <a:cs typeface="Times New Roman" panose="02020603050405020304"/>
              </a:rPr>
              <a:t>a</a:t>
            </a:r>
            <a:r>
              <a:rPr sz="1470" spc="94" baseline="29000" dirty="0">
                <a:solidFill>
                  <a:srgbClr val="1D293B"/>
                </a:solidFill>
                <a:latin typeface="Cambria" panose="02040503050406030204"/>
                <a:cs typeface="Cambria" panose="02040503050406030204"/>
              </a:rPr>
              <a:t>⋆</a:t>
            </a:r>
            <a:r>
              <a:rPr sz="1175" spc="-39" dirty="0">
                <a:solidFill>
                  <a:srgbClr val="1D293B"/>
                </a:solidFill>
                <a:latin typeface="宋体" panose="02010600030101010101" pitchFamily="2" charset="-122"/>
                <a:cs typeface="宋体" panose="02010600030101010101" pitchFamily="2" charset="-122"/>
              </a:rPr>
              <a:t>。</a:t>
            </a:r>
            <a:endParaRPr sz="1175">
              <a:latin typeface="宋体" panose="02010600030101010101" pitchFamily="2" charset="-122"/>
              <a:cs typeface="宋体" panose="02010600030101010101" pitchFamily="2" charset="-122"/>
            </a:endParaRPr>
          </a:p>
          <a:p>
            <a:pPr marR="210820" algn="r">
              <a:lnSpc>
                <a:spcPts val="720"/>
              </a:lnSpc>
            </a:pPr>
            <a:r>
              <a:rPr sz="980" i="1" spc="24" dirty="0">
                <a:solidFill>
                  <a:srgbClr val="1D293B"/>
                </a:solidFill>
                <a:latin typeface="Times New Roman" panose="02020603050405020304"/>
                <a:cs typeface="Times New Roman" panose="02020603050405020304"/>
              </a:rPr>
              <a:t>i</a:t>
            </a:r>
            <a:endParaRPr sz="980">
              <a:latin typeface="Times New Roman" panose="02020603050405020304"/>
              <a:cs typeface="Times New Roman" panose="02020603050405020304"/>
            </a:endParaRPr>
          </a:p>
        </p:txBody>
      </p:sp>
      <p:sp>
        <p:nvSpPr>
          <p:cNvPr id="10" name="object 10"/>
          <p:cNvSpPr/>
          <p:nvPr/>
        </p:nvSpPr>
        <p:spPr>
          <a:xfrm>
            <a:off x="1734676" y="3024547"/>
            <a:ext cx="14936" cy="433145"/>
          </a:xfrm>
          <a:custGeom>
            <a:avLst/>
            <a:gdLst/>
            <a:ahLst/>
            <a:cxnLst/>
            <a:rect l="l" t="t" r="r" b="b"/>
            <a:pathLst>
              <a:path w="19050" h="552450">
                <a:moveTo>
                  <a:pt x="19049" y="552449"/>
                </a:moveTo>
                <a:lnTo>
                  <a:pt x="0" y="552449"/>
                </a:lnTo>
                <a:lnTo>
                  <a:pt x="0" y="0"/>
                </a:lnTo>
                <a:lnTo>
                  <a:pt x="19049" y="0"/>
                </a:lnTo>
                <a:lnTo>
                  <a:pt x="19049" y="552449"/>
                </a:lnTo>
                <a:close/>
              </a:path>
            </a:pathLst>
          </a:custGeom>
          <a:solidFill>
            <a:srgbClr val="E2E7F0"/>
          </a:solidFill>
        </p:spPr>
        <p:txBody>
          <a:bodyPr wrap="square" lIns="0" tIns="0" rIns="0" bIns="0" rtlCol="0"/>
          <a:lstStyle/>
          <a:p/>
        </p:txBody>
      </p:sp>
      <p:sp>
        <p:nvSpPr>
          <p:cNvPr id="11" name="object 11"/>
          <p:cNvSpPr txBox="1"/>
          <p:nvPr/>
        </p:nvSpPr>
        <p:spPr>
          <a:xfrm>
            <a:off x="1724719" y="2733792"/>
            <a:ext cx="2013378" cy="214672"/>
          </a:xfrm>
          <a:prstGeom prst="rect">
            <a:avLst/>
          </a:prstGeom>
        </p:spPr>
        <p:txBody>
          <a:bodyPr vert="horz" wrap="square" lIns="0" tIns="9459" rIns="0" bIns="0" rtlCol="0">
            <a:spAutoFit/>
          </a:bodyPr>
          <a:lstStyle/>
          <a:p>
            <a:pPr marL="10160">
              <a:spcBef>
                <a:spcPts val="75"/>
              </a:spcBef>
            </a:pPr>
            <a:r>
              <a:rPr sz="1335" b="1" spc="-165" dirty="0">
                <a:solidFill>
                  <a:srgbClr val="312E81"/>
                </a:solidFill>
                <a:latin typeface="微软雅黑" panose="020B0503020204020204" charset="-122"/>
                <a:cs typeface="微软雅黑" panose="020B0503020204020204" charset="-122"/>
              </a:rPr>
              <a:t>行为克隆 </a:t>
            </a:r>
            <a:r>
              <a:rPr sz="1175" b="1" spc="51" dirty="0">
                <a:solidFill>
                  <a:srgbClr val="312E81"/>
                </a:solidFill>
                <a:latin typeface="Calibri" panose="020F0502020204030204"/>
                <a:cs typeface="Calibri" panose="020F0502020204030204"/>
              </a:rPr>
              <a:t>(Imitation</a:t>
            </a:r>
            <a:r>
              <a:rPr sz="1175" b="1" spc="-43" dirty="0">
                <a:solidFill>
                  <a:srgbClr val="312E81"/>
                </a:solidFill>
                <a:latin typeface="Calibri" panose="020F0502020204030204"/>
                <a:cs typeface="Calibri" panose="020F0502020204030204"/>
              </a:rPr>
              <a:t> </a:t>
            </a:r>
            <a:r>
              <a:rPr sz="1175" b="1" spc="47" dirty="0">
                <a:solidFill>
                  <a:srgbClr val="312E81"/>
                </a:solidFill>
                <a:latin typeface="Calibri" panose="020F0502020204030204"/>
                <a:cs typeface="Calibri" panose="020F0502020204030204"/>
              </a:rPr>
              <a:t>Learning)</a:t>
            </a:r>
            <a:endParaRPr sz="1175">
              <a:latin typeface="Calibri" panose="020F0502020204030204"/>
              <a:cs typeface="Calibri" panose="020F0502020204030204"/>
            </a:endParaRPr>
          </a:p>
        </p:txBody>
      </p:sp>
      <p:sp>
        <p:nvSpPr>
          <p:cNvPr id="12" name="object 12"/>
          <p:cNvSpPr txBox="1"/>
          <p:nvPr/>
        </p:nvSpPr>
        <p:spPr>
          <a:xfrm>
            <a:off x="1859143" y="2986161"/>
            <a:ext cx="4784511" cy="418702"/>
          </a:xfrm>
          <a:prstGeom prst="rect">
            <a:avLst/>
          </a:prstGeom>
        </p:spPr>
        <p:txBody>
          <a:bodyPr vert="horz" wrap="square" lIns="0" tIns="9459" rIns="0" bIns="0" rtlCol="0">
            <a:spAutoFit/>
          </a:bodyPr>
          <a:lstStyle/>
          <a:p>
            <a:pPr marL="10160" marR="3810">
              <a:lnSpc>
                <a:spcPct val="117000"/>
              </a:lnSpc>
              <a:spcBef>
                <a:spcPts val="75"/>
              </a:spcBef>
            </a:pPr>
            <a:r>
              <a:rPr sz="1215" spc="-165" dirty="0">
                <a:solidFill>
                  <a:srgbClr val="465469"/>
                </a:solidFill>
                <a:latin typeface="宋体" panose="02010600030101010101" pitchFamily="2" charset="-122"/>
                <a:cs typeface="宋体" panose="02010600030101010101" pitchFamily="2" charset="-122"/>
              </a:rPr>
              <a:t>目标不是预测</a:t>
            </a:r>
            <a:r>
              <a:rPr sz="1100" i="1" dirty="0">
                <a:solidFill>
                  <a:srgbClr val="465469"/>
                </a:solidFill>
                <a:latin typeface="Calibri" panose="020F0502020204030204"/>
                <a:cs typeface="Calibri" panose="020F0502020204030204"/>
              </a:rPr>
              <a:t>“</a:t>
            </a:r>
            <a:r>
              <a:rPr sz="1215" spc="-165" dirty="0">
                <a:solidFill>
                  <a:srgbClr val="465469"/>
                </a:solidFill>
                <a:latin typeface="宋体" panose="02010600030101010101" pitchFamily="2" charset="-122"/>
                <a:cs typeface="宋体" panose="02010600030101010101" pitchFamily="2" charset="-122"/>
              </a:rPr>
              <a:t>最优解</a:t>
            </a:r>
            <a:r>
              <a:rPr sz="1100" i="1" spc="-82" dirty="0">
                <a:solidFill>
                  <a:srgbClr val="465469"/>
                </a:solidFill>
                <a:latin typeface="Calibri" panose="020F0502020204030204"/>
                <a:cs typeface="Calibri" panose="020F0502020204030204"/>
              </a:rPr>
              <a:t>”</a:t>
            </a:r>
            <a:r>
              <a:rPr sz="1215" spc="-165" dirty="0">
                <a:solidFill>
                  <a:srgbClr val="465469"/>
                </a:solidFill>
                <a:latin typeface="宋体" panose="02010600030101010101" pitchFamily="2" charset="-122"/>
                <a:cs typeface="宋体" panose="02010600030101010101" pitchFamily="2" charset="-122"/>
              </a:rPr>
              <a:t>，而是精确模拟专家在当前节点的决策行为</a:t>
            </a:r>
            <a:r>
              <a:rPr sz="1100" i="1" spc="-176" dirty="0">
                <a:solidFill>
                  <a:srgbClr val="465469"/>
                </a:solidFill>
                <a:latin typeface="Calibri" panose="020F0502020204030204"/>
                <a:cs typeface="Calibri" panose="020F0502020204030204"/>
              </a:rPr>
              <a:t>——</a:t>
            </a:r>
            <a:r>
              <a:rPr sz="1215" spc="-160" dirty="0">
                <a:solidFill>
                  <a:srgbClr val="465469"/>
                </a:solidFill>
                <a:latin typeface="宋体" panose="02010600030101010101" pitchFamily="2" charset="-122"/>
                <a:cs typeface="宋体" panose="02010600030101010101" pitchFamily="2" charset="-122"/>
              </a:rPr>
              <a:t>即：在复杂的搜索空间中寻找最具信息量的分支变量。</a:t>
            </a:r>
            <a:endParaRPr sz="1215">
              <a:latin typeface="宋体" panose="02010600030101010101" pitchFamily="2" charset="-122"/>
              <a:cs typeface="宋体" panose="02010600030101010101" pitchFamily="2" charset="-122"/>
            </a:endParaRPr>
          </a:p>
        </p:txBody>
      </p:sp>
      <p:sp>
        <p:nvSpPr>
          <p:cNvPr id="13" name="object 13"/>
          <p:cNvSpPr/>
          <p:nvPr/>
        </p:nvSpPr>
        <p:spPr>
          <a:xfrm>
            <a:off x="1674933" y="3696669"/>
            <a:ext cx="5055849" cy="955906"/>
          </a:xfrm>
          <a:custGeom>
            <a:avLst/>
            <a:gdLst/>
            <a:ahLst/>
            <a:cxnLst/>
            <a:rect l="l" t="t" r="r" b="b"/>
            <a:pathLst>
              <a:path w="6448425" h="1219200">
                <a:moveTo>
                  <a:pt x="6377227" y="1219199"/>
                </a:moveTo>
                <a:lnTo>
                  <a:pt x="71196" y="1219199"/>
                </a:lnTo>
                <a:lnTo>
                  <a:pt x="66241" y="1218711"/>
                </a:lnTo>
                <a:lnTo>
                  <a:pt x="29705" y="1203577"/>
                </a:lnTo>
                <a:lnTo>
                  <a:pt x="3885" y="1167537"/>
                </a:lnTo>
                <a:lnTo>
                  <a:pt x="0" y="1148002"/>
                </a:lnTo>
                <a:lnTo>
                  <a:pt x="0" y="1142999"/>
                </a:lnTo>
                <a:lnTo>
                  <a:pt x="0" y="71196"/>
                </a:lnTo>
                <a:lnTo>
                  <a:pt x="15621" y="29705"/>
                </a:lnTo>
                <a:lnTo>
                  <a:pt x="51662" y="3885"/>
                </a:lnTo>
                <a:lnTo>
                  <a:pt x="71196" y="0"/>
                </a:lnTo>
                <a:lnTo>
                  <a:pt x="6377227" y="0"/>
                </a:lnTo>
                <a:lnTo>
                  <a:pt x="6418718" y="15621"/>
                </a:lnTo>
                <a:lnTo>
                  <a:pt x="6444538" y="51661"/>
                </a:lnTo>
                <a:lnTo>
                  <a:pt x="6448423" y="71196"/>
                </a:lnTo>
                <a:lnTo>
                  <a:pt x="6448423" y="1148002"/>
                </a:lnTo>
                <a:lnTo>
                  <a:pt x="6432802" y="1189493"/>
                </a:lnTo>
                <a:lnTo>
                  <a:pt x="6396761" y="1215313"/>
                </a:lnTo>
                <a:lnTo>
                  <a:pt x="6382182" y="1218711"/>
                </a:lnTo>
                <a:lnTo>
                  <a:pt x="6377227" y="1219199"/>
                </a:lnTo>
                <a:close/>
              </a:path>
            </a:pathLst>
          </a:custGeom>
          <a:solidFill>
            <a:srgbClr val="1D293B"/>
          </a:solidFill>
        </p:spPr>
        <p:txBody>
          <a:bodyPr wrap="square" lIns="0" tIns="0" rIns="0" bIns="0" rtlCol="0"/>
          <a:lstStyle/>
          <a:p/>
        </p:txBody>
      </p:sp>
      <p:sp>
        <p:nvSpPr>
          <p:cNvPr id="14" name="object 14"/>
          <p:cNvSpPr txBox="1"/>
          <p:nvPr/>
        </p:nvSpPr>
        <p:spPr>
          <a:xfrm>
            <a:off x="1814335" y="3733866"/>
            <a:ext cx="3126611" cy="522008"/>
          </a:xfrm>
          <a:prstGeom prst="rect">
            <a:avLst/>
          </a:prstGeom>
        </p:spPr>
        <p:txBody>
          <a:bodyPr vert="horz" wrap="square" lIns="0" tIns="99574" rIns="0" bIns="0" rtlCol="0">
            <a:spAutoFit/>
          </a:bodyPr>
          <a:lstStyle/>
          <a:p>
            <a:pPr marL="10160">
              <a:spcBef>
                <a:spcPts val="785"/>
              </a:spcBef>
            </a:pPr>
            <a:r>
              <a:rPr sz="1645" spc="358" baseline="2000" dirty="0">
                <a:solidFill>
                  <a:srgbClr val="33D399"/>
                </a:solidFill>
                <a:latin typeface="Segoe UI Symbol" panose="020B0502040204020203"/>
                <a:cs typeface="Segoe UI Symbol" panose="020B0502040204020203"/>
              </a:rPr>
              <a:t>⚙</a:t>
            </a:r>
            <a:r>
              <a:rPr sz="1645" spc="399" baseline="2000" dirty="0">
                <a:solidFill>
                  <a:srgbClr val="33D399"/>
                </a:solidFill>
                <a:latin typeface="Segoe UI Symbol" panose="020B0502040204020203"/>
                <a:cs typeface="Segoe UI Symbol" panose="020B0502040204020203"/>
              </a:rPr>
              <a:t> </a:t>
            </a:r>
            <a:r>
              <a:rPr sz="825" dirty="0">
                <a:solidFill>
                  <a:srgbClr val="94A2B8"/>
                </a:solidFill>
                <a:latin typeface="Courier New" panose="02070309020205020404"/>
                <a:cs typeface="Courier New" panose="02070309020205020404"/>
              </a:rPr>
              <a:t>IMPLEMENTATION</a:t>
            </a:r>
            <a:r>
              <a:rPr sz="825" spc="141" dirty="0">
                <a:solidFill>
                  <a:srgbClr val="94A2B8"/>
                </a:solidFill>
                <a:latin typeface="Courier New" panose="02070309020205020404"/>
                <a:cs typeface="Courier New" panose="02070309020205020404"/>
              </a:rPr>
              <a:t> </a:t>
            </a:r>
            <a:r>
              <a:rPr sz="825" spc="-8" dirty="0">
                <a:solidFill>
                  <a:srgbClr val="94A2B8"/>
                </a:solidFill>
                <a:latin typeface="Courier New" panose="02070309020205020404"/>
                <a:cs typeface="Courier New" panose="02070309020205020404"/>
              </a:rPr>
              <a:t>DETAIL</a:t>
            </a:r>
            <a:endParaRPr sz="825">
              <a:latin typeface="Courier New" panose="02070309020205020404"/>
              <a:cs typeface="Courier New" panose="02070309020205020404"/>
            </a:endParaRPr>
          </a:p>
          <a:p>
            <a:pPr marL="10160">
              <a:spcBef>
                <a:spcPts val="660"/>
              </a:spcBef>
            </a:pPr>
            <a:r>
              <a:rPr sz="1060" spc="-133" dirty="0">
                <a:solidFill>
                  <a:srgbClr val="F1F5F9"/>
                </a:solidFill>
                <a:latin typeface="宋体" panose="02010600030101010101" pitchFamily="2" charset="-122"/>
                <a:cs typeface="宋体" panose="02010600030101010101" pitchFamily="2" charset="-122"/>
              </a:rPr>
              <a:t>为了避免改变求解器状态，实现了无副作用的专家生成器：</a:t>
            </a:r>
            <a:endParaRPr sz="1060">
              <a:latin typeface="宋体" panose="02010600030101010101" pitchFamily="2" charset="-122"/>
              <a:cs typeface="宋体" panose="02010600030101010101" pitchFamily="2" charset="-122"/>
            </a:endParaRPr>
          </a:p>
        </p:txBody>
      </p:sp>
      <p:sp>
        <p:nvSpPr>
          <p:cNvPr id="15" name="object 15"/>
          <p:cNvSpPr txBox="1"/>
          <p:nvPr/>
        </p:nvSpPr>
        <p:spPr>
          <a:xfrm>
            <a:off x="1814335" y="4288257"/>
            <a:ext cx="1414941" cy="185541"/>
          </a:xfrm>
          <a:prstGeom prst="rect">
            <a:avLst/>
          </a:prstGeom>
        </p:spPr>
        <p:txBody>
          <a:bodyPr vert="horz" wrap="square" lIns="0" tIns="10455" rIns="0" bIns="0" rtlCol="0">
            <a:spAutoFit/>
          </a:bodyPr>
          <a:lstStyle/>
          <a:p>
            <a:pPr marL="10160">
              <a:spcBef>
                <a:spcPts val="80"/>
              </a:spcBef>
            </a:pPr>
            <a:r>
              <a:rPr sz="1135" spc="-43" dirty="0">
                <a:solidFill>
                  <a:srgbClr val="6EE7B6"/>
                </a:solidFill>
                <a:latin typeface="Lucida Console" panose="020B0609040504020204"/>
                <a:cs typeface="Lucida Console" panose="020B0609040504020204"/>
              </a:rPr>
              <a:t>vanillafullstrong</a:t>
            </a:r>
            <a:endParaRPr sz="1135">
              <a:latin typeface="Lucida Console" panose="020B0609040504020204"/>
              <a:cs typeface="Lucida Console" panose="020B0609040504020204"/>
            </a:endParaRPr>
          </a:p>
        </p:txBody>
      </p:sp>
      <p:sp>
        <p:nvSpPr>
          <p:cNvPr id="16" name="object 16"/>
          <p:cNvSpPr/>
          <p:nvPr/>
        </p:nvSpPr>
        <p:spPr>
          <a:xfrm>
            <a:off x="6969758" y="963374"/>
            <a:ext cx="1717644" cy="926034"/>
          </a:xfrm>
          <a:custGeom>
            <a:avLst/>
            <a:gdLst/>
            <a:ahLst/>
            <a:cxnLst/>
            <a:rect l="l" t="t" r="r" b="b"/>
            <a:pathLst>
              <a:path w="2190750" h="1181100">
                <a:moveTo>
                  <a:pt x="2083954" y="1181099"/>
                </a:moveTo>
                <a:lnTo>
                  <a:pt x="106794" y="1181099"/>
                </a:lnTo>
                <a:lnTo>
                  <a:pt x="99362" y="1180367"/>
                </a:lnTo>
                <a:lnTo>
                  <a:pt x="57038" y="1166006"/>
                </a:lnTo>
                <a:lnTo>
                  <a:pt x="23432" y="1136541"/>
                </a:lnTo>
                <a:lnTo>
                  <a:pt x="3660" y="1096459"/>
                </a:lnTo>
                <a:lnTo>
                  <a:pt x="0" y="1074304"/>
                </a:lnTo>
                <a:lnTo>
                  <a:pt x="0" y="1066799"/>
                </a:lnTo>
                <a:lnTo>
                  <a:pt x="0" y="106794"/>
                </a:lnTo>
                <a:lnTo>
                  <a:pt x="11572" y="63625"/>
                </a:lnTo>
                <a:lnTo>
                  <a:pt x="38784" y="28170"/>
                </a:lnTo>
                <a:lnTo>
                  <a:pt x="77493" y="5828"/>
                </a:lnTo>
                <a:lnTo>
                  <a:pt x="106794" y="0"/>
                </a:lnTo>
                <a:lnTo>
                  <a:pt x="2083954" y="0"/>
                </a:lnTo>
                <a:lnTo>
                  <a:pt x="2127123" y="11572"/>
                </a:lnTo>
                <a:lnTo>
                  <a:pt x="2162578" y="38784"/>
                </a:lnTo>
                <a:lnTo>
                  <a:pt x="2184921" y="77493"/>
                </a:lnTo>
                <a:lnTo>
                  <a:pt x="2190749" y="106794"/>
                </a:lnTo>
                <a:lnTo>
                  <a:pt x="2190749" y="1074304"/>
                </a:lnTo>
                <a:lnTo>
                  <a:pt x="2179176" y="1117474"/>
                </a:lnTo>
                <a:lnTo>
                  <a:pt x="2151964" y="1152929"/>
                </a:lnTo>
                <a:lnTo>
                  <a:pt x="2113256" y="1175271"/>
                </a:lnTo>
                <a:lnTo>
                  <a:pt x="2091387" y="1180367"/>
                </a:lnTo>
                <a:lnTo>
                  <a:pt x="2083954" y="1181099"/>
                </a:lnTo>
                <a:close/>
              </a:path>
            </a:pathLst>
          </a:custGeom>
          <a:solidFill>
            <a:srgbClr val="4237CA"/>
          </a:solidFill>
        </p:spPr>
        <p:txBody>
          <a:bodyPr wrap="square" lIns="0" tIns="0" rIns="0" bIns="0" rtlCol="0"/>
          <a:lstStyle/>
          <a:p/>
        </p:txBody>
      </p:sp>
      <p:sp>
        <p:nvSpPr>
          <p:cNvPr id="17" name="object 17"/>
          <p:cNvSpPr txBox="1"/>
          <p:nvPr/>
        </p:nvSpPr>
        <p:spPr>
          <a:xfrm>
            <a:off x="7400297" y="1088638"/>
            <a:ext cx="852848" cy="653830"/>
          </a:xfrm>
          <a:prstGeom prst="rect">
            <a:avLst/>
          </a:prstGeom>
        </p:spPr>
        <p:txBody>
          <a:bodyPr vert="horz" wrap="square" lIns="0" tIns="31366" rIns="0" bIns="0" rtlCol="0">
            <a:spAutoFit/>
          </a:bodyPr>
          <a:lstStyle/>
          <a:p>
            <a:pPr marL="10160">
              <a:spcBef>
                <a:spcPts val="245"/>
              </a:spcBef>
            </a:pPr>
            <a:r>
              <a:rPr sz="825" spc="-24" dirty="0">
                <a:solidFill>
                  <a:srgbClr val="FFFFFF"/>
                </a:solidFill>
                <a:latin typeface="Calibri" panose="020F0502020204030204"/>
                <a:cs typeface="Calibri" panose="020F0502020204030204"/>
              </a:rPr>
              <a:t>TRAINING</a:t>
            </a:r>
            <a:r>
              <a:rPr sz="825" spc="-8" dirty="0">
                <a:solidFill>
                  <a:srgbClr val="FFFFFF"/>
                </a:solidFill>
                <a:latin typeface="Calibri" panose="020F0502020204030204"/>
                <a:cs typeface="Calibri" panose="020F0502020204030204"/>
              </a:rPr>
              <a:t> SAMPLES</a:t>
            </a:r>
            <a:endParaRPr sz="825">
              <a:latin typeface="Calibri" panose="020F0502020204030204"/>
              <a:cs typeface="Calibri" panose="020F0502020204030204"/>
            </a:endParaRPr>
          </a:p>
          <a:p>
            <a:pPr marL="20955">
              <a:spcBef>
                <a:spcPts val="365"/>
              </a:spcBef>
            </a:pPr>
            <a:r>
              <a:rPr sz="1765" b="1" spc="-122" dirty="0">
                <a:solidFill>
                  <a:srgbClr val="FFFFFF"/>
                </a:solidFill>
                <a:latin typeface="Tahoma" panose="020B0604030504040204"/>
                <a:cs typeface="Tahoma" panose="020B0604030504040204"/>
              </a:rPr>
              <a:t>100,000</a:t>
            </a:r>
            <a:endParaRPr sz="1765">
              <a:latin typeface="Tahoma" panose="020B0604030504040204"/>
              <a:cs typeface="Tahoma" panose="020B0604030504040204"/>
            </a:endParaRPr>
          </a:p>
          <a:p>
            <a:pPr marL="45085">
              <a:spcBef>
                <a:spcPts val="470"/>
              </a:spcBef>
            </a:pPr>
            <a:r>
              <a:rPr sz="705" dirty="0">
                <a:solidFill>
                  <a:srgbClr val="FFFFFF"/>
                </a:solidFill>
                <a:latin typeface="Times New Roman" panose="02020603050405020304"/>
                <a:cs typeface="Times New Roman" panose="02020603050405020304"/>
              </a:rPr>
              <a:t>per</a:t>
            </a:r>
            <a:r>
              <a:rPr sz="705" spc="-20" dirty="0">
                <a:solidFill>
                  <a:srgbClr val="FFFFFF"/>
                </a:solidFill>
                <a:latin typeface="Times New Roman" panose="02020603050405020304"/>
                <a:cs typeface="Times New Roman" panose="02020603050405020304"/>
              </a:rPr>
              <a:t> </a:t>
            </a:r>
            <a:r>
              <a:rPr sz="705" dirty="0">
                <a:solidFill>
                  <a:srgbClr val="FFFFFF"/>
                </a:solidFill>
                <a:latin typeface="Times New Roman" panose="02020603050405020304"/>
                <a:cs typeface="Times New Roman" panose="02020603050405020304"/>
              </a:rPr>
              <a:t>problem</a:t>
            </a:r>
            <a:r>
              <a:rPr sz="705" spc="-16" dirty="0">
                <a:solidFill>
                  <a:srgbClr val="FFFFFF"/>
                </a:solidFill>
                <a:latin typeface="Times New Roman" panose="02020603050405020304"/>
                <a:cs typeface="Times New Roman" panose="02020603050405020304"/>
              </a:rPr>
              <a:t> </a:t>
            </a:r>
            <a:r>
              <a:rPr sz="705" spc="-8" dirty="0">
                <a:solidFill>
                  <a:srgbClr val="FFFFFF"/>
                </a:solidFill>
                <a:latin typeface="Times New Roman" panose="02020603050405020304"/>
                <a:cs typeface="Times New Roman" panose="02020603050405020304"/>
              </a:rPr>
              <a:t>category</a:t>
            </a:r>
            <a:endParaRPr sz="705">
              <a:latin typeface="Times New Roman" panose="02020603050405020304"/>
              <a:cs typeface="Times New Roman" panose="02020603050405020304"/>
            </a:endParaRPr>
          </a:p>
        </p:txBody>
      </p:sp>
      <p:sp>
        <p:nvSpPr>
          <p:cNvPr id="18" name="object 18"/>
          <p:cNvSpPr/>
          <p:nvPr/>
        </p:nvSpPr>
        <p:spPr>
          <a:xfrm>
            <a:off x="8806891" y="963374"/>
            <a:ext cx="1710176" cy="926034"/>
          </a:xfrm>
          <a:custGeom>
            <a:avLst/>
            <a:gdLst/>
            <a:ahLst/>
            <a:cxnLst/>
            <a:rect l="l" t="t" r="r" b="b"/>
            <a:pathLst>
              <a:path w="2181225" h="1181100">
                <a:moveTo>
                  <a:pt x="2074430" y="1181099"/>
                </a:moveTo>
                <a:lnTo>
                  <a:pt x="106795" y="1181099"/>
                </a:lnTo>
                <a:lnTo>
                  <a:pt x="99362" y="1180367"/>
                </a:lnTo>
                <a:lnTo>
                  <a:pt x="57038" y="1166006"/>
                </a:lnTo>
                <a:lnTo>
                  <a:pt x="23432" y="1136541"/>
                </a:lnTo>
                <a:lnTo>
                  <a:pt x="3660" y="1096459"/>
                </a:lnTo>
                <a:lnTo>
                  <a:pt x="0" y="1074304"/>
                </a:lnTo>
                <a:lnTo>
                  <a:pt x="0" y="1066799"/>
                </a:lnTo>
                <a:lnTo>
                  <a:pt x="0" y="106794"/>
                </a:lnTo>
                <a:lnTo>
                  <a:pt x="11572" y="63625"/>
                </a:lnTo>
                <a:lnTo>
                  <a:pt x="38784" y="28170"/>
                </a:lnTo>
                <a:lnTo>
                  <a:pt x="77493" y="5828"/>
                </a:lnTo>
                <a:lnTo>
                  <a:pt x="106795" y="0"/>
                </a:lnTo>
                <a:lnTo>
                  <a:pt x="2074430" y="0"/>
                </a:lnTo>
                <a:lnTo>
                  <a:pt x="2117598" y="11572"/>
                </a:lnTo>
                <a:lnTo>
                  <a:pt x="2153053" y="38784"/>
                </a:lnTo>
                <a:lnTo>
                  <a:pt x="2175396" y="77493"/>
                </a:lnTo>
                <a:lnTo>
                  <a:pt x="2181224" y="106794"/>
                </a:lnTo>
                <a:lnTo>
                  <a:pt x="2181224" y="1074304"/>
                </a:lnTo>
                <a:lnTo>
                  <a:pt x="2169651" y="1117474"/>
                </a:lnTo>
                <a:lnTo>
                  <a:pt x="2142440" y="1152929"/>
                </a:lnTo>
                <a:lnTo>
                  <a:pt x="2103731" y="1175271"/>
                </a:lnTo>
                <a:lnTo>
                  <a:pt x="2081862" y="1180367"/>
                </a:lnTo>
                <a:lnTo>
                  <a:pt x="2074430" y="1181099"/>
                </a:lnTo>
                <a:close/>
              </a:path>
            </a:pathLst>
          </a:custGeom>
          <a:solidFill>
            <a:srgbClr val="2562EB"/>
          </a:solidFill>
        </p:spPr>
        <p:txBody>
          <a:bodyPr wrap="square" lIns="0" tIns="0" rIns="0" bIns="0" rtlCol="0"/>
          <a:lstStyle/>
          <a:p/>
        </p:txBody>
      </p:sp>
      <p:sp>
        <p:nvSpPr>
          <p:cNvPr id="19" name="object 19"/>
          <p:cNvSpPr txBox="1"/>
          <p:nvPr/>
        </p:nvSpPr>
        <p:spPr>
          <a:xfrm>
            <a:off x="9304759" y="1088638"/>
            <a:ext cx="712449" cy="653830"/>
          </a:xfrm>
          <a:prstGeom prst="rect">
            <a:avLst/>
          </a:prstGeom>
        </p:spPr>
        <p:txBody>
          <a:bodyPr vert="horz" wrap="square" lIns="0" tIns="31366" rIns="0" bIns="0" rtlCol="0">
            <a:spAutoFit/>
          </a:bodyPr>
          <a:lstStyle/>
          <a:p>
            <a:pPr marL="6985" algn="ctr">
              <a:spcBef>
                <a:spcPts val="245"/>
              </a:spcBef>
            </a:pPr>
            <a:r>
              <a:rPr sz="825" spc="-8" dirty="0">
                <a:solidFill>
                  <a:srgbClr val="FFFFFF"/>
                </a:solidFill>
                <a:latin typeface="Calibri" panose="020F0502020204030204"/>
                <a:cs typeface="Calibri" panose="020F0502020204030204"/>
              </a:rPr>
              <a:t>VALIDATION</a:t>
            </a:r>
            <a:endParaRPr sz="825">
              <a:latin typeface="Calibri" panose="020F0502020204030204"/>
              <a:cs typeface="Calibri" panose="020F0502020204030204"/>
            </a:endParaRPr>
          </a:p>
          <a:p>
            <a:pPr marL="1905" algn="ctr">
              <a:spcBef>
                <a:spcPts val="365"/>
              </a:spcBef>
            </a:pPr>
            <a:r>
              <a:rPr sz="1765" b="1" spc="-110" dirty="0">
                <a:solidFill>
                  <a:srgbClr val="FFFFFF"/>
                </a:solidFill>
                <a:latin typeface="Tahoma" panose="020B0604030504040204"/>
                <a:cs typeface="Tahoma" panose="020B0604030504040204"/>
              </a:rPr>
              <a:t>20,000</a:t>
            </a:r>
            <a:endParaRPr sz="1765">
              <a:latin typeface="Tahoma" panose="020B0604030504040204"/>
              <a:cs typeface="Tahoma" panose="020B0604030504040204"/>
            </a:endParaRPr>
          </a:p>
          <a:p>
            <a:pPr algn="ctr">
              <a:spcBef>
                <a:spcPts val="470"/>
              </a:spcBef>
            </a:pPr>
            <a:r>
              <a:rPr sz="705" dirty="0">
                <a:solidFill>
                  <a:srgbClr val="FFFFFF"/>
                </a:solidFill>
                <a:latin typeface="Times New Roman" panose="02020603050405020304"/>
                <a:cs typeface="Times New Roman" panose="02020603050405020304"/>
              </a:rPr>
              <a:t>for</a:t>
            </a:r>
            <a:r>
              <a:rPr sz="705" spc="-16" dirty="0">
                <a:solidFill>
                  <a:srgbClr val="FFFFFF"/>
                </a:solidFill>
                <a:latin typeface="Times New Roman" panose="02020603050405020304"/>
                <a:cs typeface="Times New Roman" panose="02020603050405020304"/>
              </a:rPr>
              <a:t> </a:t>
            </a:r>
            <a:r>
              <a:rPr sz="705" dirty="0">
                <a:solidFill>
                  <a:srgbClr val="FFFFFF"/>
                </a:solidFill>
                <a:latin typeface="Times New Roman" panose="02020603050405020304"/>
                <a:cs typeface="Times New Roman" panose="02020603050405020304"/>
              </a:rPr>
              <a:t>model</a:t>
            </a:r>
            <a:r>
              <a:rPr sz="705" spc="-12" dirty="0">
                <a:solidFill>
                  <a:srgbClr val="FFFFFF"/>
                </a:solidFill>
                <a:latin typeface="Times New Roman" panose="02020603050405020304"/>
                <a:cs typeface="Times New Roman" panose="02020603050405020304"/>
              </a:rPr>
              <a:t> </a:t>
            </a:r>
            <a:r>
              <a:rPr sz="705" spc="-8" dirty="0">
                <a:solidFill>
                  <a:srgbClr val="FFFFFF"/>
                </a:solidFill>
                <a:latin typeface="Times New Roman" panose="02020603050405020304"/>
                <a:cs typeface="Times New Roman" panose="02020603050405020304"/>
              </a:rPr>
              <a:t>selection</a:t>
            </a:r>
            <a:endParaRPr sz="705">
              <a:latin typeface="Times New Roman" panose="02020603050405020304"/>
              <a:cs typeface="Times New Roman" panose="02020603050405020304"/>
            </a:endParaRPr>
          </a:p>
        </p:txBody>
      </p:sp>
      <p:pic>
        <p:nvPicPr>
          <p:cNvPr id="20" name="object 20"/>
          <p:cNvPicPr/>
          <p:nvPr/>
        </p:nvPicPr>
        <p:blipFill>
          <a:blip r:embed="rId1" cstate="print"/>
          <a:stretch>
            <a:fillRect/>
          </a:stretch>
        </p:blipFill>
        <p:spPr>
          <a:xfrm>
            <a:off x="6969758" y="2068641"/>
            <a:ext cx="3547308" cy="1000714"/>
          </a:xfrm>
          <a:prstGeom prst="rect">
            <a:avLst/>
          </a:prstGeom>
        </p:spPr>
      </p:pic>
      <p:sp>
        <p:nvSpPr>
          <p:cNvPr id="21" name="object 21"/>
          <p:cNvSpPr txBox="1"/>
          <p:nvPr/>
        </p:nvSpPr>
        <p:spPr>
          <a:xfrm>
            <a:off x="7089207" y="2178173"/>
            <a:ext cx="2284218" cy="667991"/>
          </a:xfrm>
          <a:prstGeom prst="rect">
            <a:avLst/>
          </a:prstGeom>
        </p:spPr>
        <p:txBody>
          <a:bodyPr vert="horz" wrap="square" lIns="0" tIns="9957" rIns="0" bIns="0" rtlCol="0">
            <a:spAutoFit/>
          </a:bodyPr>
          <a:lstStyle/>
          <a:p>
            <a:pPr marL="10160">
              <a:spcBef>
                <a:spcPts val="80"/>
              </a:spcBef>
            </a:pPr>
            <a:r>
              <a:rPr sz="825" b="1" spc="55" dirty="0">
                <a:solidFill>
                  <a:srgbClr val="64738B"/>
                </a:solidFill>
                <a:latin typeface="Times New Roman" panose="02020603050405020304"/>
                <a:cs typeface="Times New Roman" panose="02020603050405020304"/>
              </a:rPr>
              <a:t>TARGET</a:t>
            </a:r>
            <a:r>
              <a:rPr sz="825" b="1" spc="157" dirty="0">
                <a:solidFill>
                  <a:srgbClr val="64738B"/>
                </a:solidFill>
                <a:latin typeface="Times New Roman" panose="02020603050405020304"/>
                <a:cs typeface="Times New Roman" panose="02020603050405020304"/>
              </a:rPr>
              <a:t> </a:t>
            </a:r>
            <a:r>
              <a:rPr sz="825" b="1" spc="67" dirty="0">
                <a:solidFill>
                  <a:srgbClr val="64738B"/>
                </a:solidFill>
                <a:latin typeface="Times New Roman" panose="02020603050405020304"/>
                <a:cs typeface="Times New Roman" panose="02020603050405020304"/>
              </a:rPr>
              <a:t>PROBLEM</a:t>
            </a:r>
            <a:r>
              <a:rPr sz="825" b="1" spc="176" dirty="0">
                <a:solidFill>
                  <a:srgbClr val="64738B"/>
                </a:solidFill>
                <a:latin typeface="Times New Roman" panose="02020603050405020304"/>
                <a:cs typeface="Times New Roman" panose="02020603050405020304"/>
              </a:rPr>
              <a:t> </a:t>
            </a:r>
            <a:r>
              <a:rPr sz="825" b="1" spc="43" dirty="0">
                <a:solidFill>
                  <a:srgbClr val="64738B"/>
                </a:solidFill>
                <a:latin typeface="Times New Roman" panose="02020603050405020304"/>
                <a:cs typeface="Times New Roman" panose="02020603050405020304"/>
              </a:rPr>
              <a:t>SETS</a:t>
            </a:r>
            <a:endParaRPr sz="825">
              <a:latin typeface="Times New Roman" panose="02020603050405020304"/>
              <a:cs typeface="Times New Roman" panose="02020603050405020304"/>
            </a:endParaRPr>
          </a:p>
          <a:p>
            <a:pPr marL="106680" marR="3810">
              <a:lnSpc>
                <a:spcPts val="2235"/>
              </a:lnSpc>
              <a:spcBef>
                <a:spcPts val="65"/>
              </a:spcBef>
              <a:tabLst>
                <a:tab pos="909320" algn="l"/>
                <a:tab pos="1597025" algn="l"/>
              </a:tabLst>
            </a:pPr>
            <a:r>
              <a:rPr sz="825" dirty="0">
                <a:solidFill>
                  <a:srgbClr val="372FA2"/>
                </a:solidFill>
                <a:latin typeface="Times New Roman" panose="02020603050405020304"/>
                <a:cs typeface="Times New Roman" panose="02020603050405020304"/>
              </a:rPr>
              <a:t>Set </a:t>
            </a:r>
            <a:r>
              <a:rPr sz="825" spc="-8" dirty="0">
                <a:solidFill>
                  <a:srgbClr val="372FA2"/>
                </a:solidFill>
                <a:latin typeface="Times New Roman" panose="02020603050405020304"/>
                <a:cs typeface="Times New Roman" panose="02020603050405020304"/>
              </a:rPr>
              <a:t>Covering</a:t>
            </a:r>
            <a:r>
              <a:rPr sz="825" dirty="0">
                <a:solidFill>
                  <a:srgbClr val="372FA2"/>
                </a:solidFill>
                <a:latin typeface="Times New Roman" panose="02020603050405020304"/>
                <a:cs typeface="Times New Roman" panose="02020603050405020304"/>
              </a:rPr>
              <a:t>	Combinatorial</a:t>
            </a:r>
            <a:r>
              <a:rPr sz="825" spc="-47" dirty="0">
                <a:solidFill>
                  <a:srgbClr val="372FA2"/>
                </a:solidFill>
                <a:latin typeface="Times New Roman" panose="02020603050405020304"/>
                <a:cs typeface="Times New Roman" panose="02020603050405020304"/>
              </a:rPr>
              <a:t> </a:t>
            </a:r>
            <a:r>
              <a:rPr sz="825" spc="-8" dirty="0">
                <a:solidFill>
                  <a:srgbClr val="372FA2"/>
                </a:solidFill>
                <a:latin typeface="Times New Roman" panose="02020603050405020304"/>
                <a:cs typeface="Times New Roman" panose="02020603050405020304"/>
              </a:rPr>
              <a:t>Auction </a:t>
            </a:r>
            <a:r>
              <a:rPr sz="825" dirty="0">
                <a:solidFill>
                  <a:srgbClr val="372FA2"/>
                </a:solidFill>
                <a:latin typeface="Times New Roman" panose="02020603050405020304"/>
                <a:cs typeface="Times New Roman" panose="02020603050405020304"/>
              </a:rPr>
              <a:t>Capacitated Facility </a:t>
            </a:r>
            <a:r>
              <a:rPr sz="825" spc="-8" dirty="0">
                <a:solidFill>
                  <a:srgbClr val="372FA2"/>
                </a:solidFill>
                <a:latin typeface="Times New Roman" panose="02020603050405020304"/>
                <a:cs typeface="Times New Roman" panose="02020603050405020304"/>
              </a:rPr>
              <a:t>Location</a:t>
            </a:r>
            <a:r>
              <a:rPr sz="825" dirty="0">
                <a:solidFill>
                  <a:srgbClr val="372FA2"/>
                </a:solidFill>
                <a:latin typeface="Times New Roman" panose="02020603050405020304"/>
                <a:cs typeface="Times New Roman" panose="02020603050405020304"/>
              </a:rPr>
              <a:t>	Independent </a:t>
            </a:r>
            <a:r>
              <a:rPr sz="825" spc="-20" dirty="0">
                <a:solidFill>
                  <a:srgbClr val="372FA2"/>
                </a:solidFill>
                <a:latin typeface="Times New Roman" panose="02020603050405020304"/>
                <a:cs typeface="Times New Roman" panose="02020603050405020304"/>
              </a:rPr>
              <a:t>Set</a:t>
            </a:r>
            <a:endParaRPr sz="825">
              <a:latin typeface="Times New Roman" panose="02020603050405020304"/>
              <a:cs typeface="Times New Roman" panose="02020603050405020304"/>
            </a:endParaRPr>
          </a:p>
        </p:txBody>
      </p:sp>
      <p:sp>
        <p:nvSpPr>
          <p:cNvPr id="22" name="object 22"/>
          <p:cNvSpPr/>
          <p:nvPr/>
        </p:nvSpPr>
        <p:spPr>
          <a:xfrm>
            <a:off x="6969759" y="3248588"/>
            <a:ext cx="3547309" cy="328593"/>
          </a:xfrm>
          <a:custGeom>
            <a:avLst/>
            <a:gdLst/>
            <a:ahLst/>
            <a:cxnLst/>
            <a:rect l="l" t="t" r="r" b="b"/>
            <a:pathLst>
              <a:path w="4524375" h="419100">
                <a:moveTo>
                  <a:pt x="4524374" y="419099"/>
                </a:moveTo>
                <a:lnTo>
                  <a:pt x="0" y="419099"/>
                </a:lnTo>
                <a:lnTo>
                  <a:pt x="0" y="106794"/>
                </a:lnTo>
                <a:lnTo>
                  <a:pt x="11572" y="63625"/>
                </a:lnTo>
                <a:lnTo>
                  <a:pt x="38784" y="28170"/>
                </a:lnTo>
                <a:lnTo>
                  <a:pt x="77493" y="5828"/>
                </a:lnTo>
                <a:lnTo>
                  <a:pt x="106794" y="0"/>
                </a:lnTo>
                <a:lnTo>
                  <a:pt x="4417579" y="0"/>
                </a:lnTo>
                <a:lnTo>
                  <a:pt x="4460748" y="11572"/>
                </a:lnTo>
                <a:lnTo>
                  <a:pt x="4496203" y="38784"/>
                </a:lnTo>
                <a:lnTo>
                  <a:pt x="4518545" y="77492"/>
                </a:lnTo>
                <a:lnTo>
                  <a:pt x="4524374" y="419099"/>
                </a:lnTo>
                <a:close/>
              </a:path>
            </a:pathLst>
          </a:custGeom>
          <a:solidFill>
            <a:srgbClr val="312E81"/>
          </a:solidFill>
        </p:spPr>
        <p:txBody>
          <a:bodyPr wrap="square" lIns="0" tIns="0" rIns="0" bIns="0" rtlCol="0"/>
          <a:lstStyle/>
          <a:p/>
        </p:txBody>
      </p:sp>
      <p:sp>
        <p:nvSpPr>
          <p:cNvPr id="23" name="object 23"/>
          <p:cNvSpPr txBox="1"/>
          <p:nvPr/>
        </p:nvSpPr>
        <p:spPr>
          <a:xfrm>
            <a:off x="7111611" y="3288106"/>
            <a:ext cx="1244670" cy="203056"/>
          </a:xfrm>
          <a:prstGeom prst="rect">
            <a:avLst/>
          </a:prstGeom>
        </p:spPr>
        <p:txBody>
          <a:bodyPr vert="horz" wrap="square" lIns="0" tIns="9957" rIns="0" bIns="0" rtlCol="0">
            <a:spAutoFit/>
          </a:bodyPr>
          <a:lstStyle/>
          <a:p>
            <a:pPr marL="10160">
              <a:spcBef>
                <a:spcPts val="80"/>
              </a:spcBef>
            </a:pPr>
            <a:r>
              <a:rPr sz="1255" spc="63" dirty="0">
                <a:solidFill>
                  <a:srgbClr val="FFFFFF"/>
                </a:solidFill>
                <a:latin typeface="Segoe UI Symbol" panose="020B0502040204020203"/>
                <a:cs typeface="Segoe UI Symbol" panose="020B0502040204020203"/>
              </a:rPr>
              <a:t>📝</a:t>
            </a:r>
            <a:r>
              <a:rPr sz="1255" spc="102" dirty="0">
                <a:solidFill>
                  <a:srgbClr val="FFFFFF"/>
                </a:solidFill>
                <a:latin typeface="Segoe UI Symbol" panose="020B0502040204020203"/>
                <a:cs typeface="Segoe UI Symbol" panose="020B0502040204020203"/>
              </a:rPr>
              <a:t> </a:t>
            </a:r>
            <a:r>
              <a:rPr sz="1175" b="1" spc="-118" dirty="0">
                <a:solidFill>
                  <a:srgbClr val="FFFFFF"/>
                </a:solidFill>
                <a:latin typeface="Yu Gothic UI Semibold" panose="020B0700000000000000" charset="-128"/>
                <a:cs typeface="Yu Gothic UI Semibold" panose="020B0700000000000000" charset="-128"/>
              </a:rPr>
              <a:t>定</a:t>
            </a:r>
            <a:r>
              <a:rPr sz="1175" b="1" spc="-118" dirty="0">
                <a:solidFill>
                  <a:srgbClr val="FFFFFF"/>
                </a:solidFill>
                <a:latin typeface="微软雅黑" panose="020B0503020204020204" charset="-122"/>
                <a:cs typeface="微软雅黑" panose="020B0503020204020204" charset="-122"/>
              </a:rPr>
              <a:t>义</a:t>
            </a:r>
            <a:r>
              <a:rPr sz="1060" b="1" spc="-160" dirty="0">
                <a:solidFill>
                  <a:srgbClr val="FFFFFF"/>
                </a:solidFill>
                <a:latin typeface="Verdana" panose="020B0604030504040204"/>
                <a:cs typeface="Verdana" panose="020B0604030504040204"/>
              </a:rPr>
              <a:t>: </a:t>
            </a:r>
            <a:r>
              <a:rPr sz="1175" b="1" spc="-118" dirty="0">
                <a:solidFill>
                  <a:srgbClr val="FFFFFF"/>
                </a:solidFill>
                <a:latin typeface="微软雅黑" panose="020B0503020204020204" charset="-122"/>
                <a:cs typeface="微软雅黑" panose="020B0503020204020204" charset="-122"/>
              </a:rPr>
              <a:t>训练</a:t>
            </a:r>
            <a:r>
              <a:rPr sz="1175" b="1" spc="-106" dirty="0">
                <a:solidFill>
                  <a:srgbClr val="FFFFFF"/>
                </a:solidFill>
                <a:latin typeface="Yu Gothic UI Semibold" panose="020B0700000000000000" charset="-128"/>
                <a:cs typeface="Yu Gothic UI Semibold" panose="020B0700000000000000" charset="-128"/>
              </a:rPr>
              <a:t>数据集</a:t>
            </a:r>
            <a:endParaRPr sz="1175">
              <a:latin typeface="Yu Gothic UI Semibold" panose="020B0700000000000000" charset="-128"/>
              <a:cs typeface="Yu Gothic UI Semibold" panose="020B0700000000000000" charset="-128"/>
            </a:endParaRPr>
          </a:p>
        </p:txBody>
      </p:sp>
      <p:sp>
        <p:nvSpPr>
          <p:cNvPr id="24" name="object 24"/>
          <p:cNvSpPr/>
          <p:nvPr/>
        </p:nvSpPr>
        <p:spPr>
          <a:xfrm>
            <a:off x="6977227" y="3584649"/>
            <a:ext cx="3532373" cy="1306903"/>
          </a:xfrm>
          <a:custGeom>
            <a:avLst/>
            <a:gdLst/>
            <a:ahLst/>
            <a:cxnLst/>
            <a:rect l="l" t="t" r="r" b="b"/>
            <a:pathLst>
              <a:path w="4505325" h="1666875">
                <a:moveTo>
                  <a:pt x="0" y="1562099"/>
                </a:moveTo>
                <a:lnTo>
                  <a:pt x="0" y="0"/>
                </a:lnTo>
                <a:lnTo>
                  <a:pt x="4505324" y="0"/>
                </a:lnTo>
                <a:lnTo>
                  <a:pt x="4505324" y="1562099"/>
                </a:lnTo>
                <a:lnTo>
                  <a:pt x="4505324" y="1568979"/>
                </a:lnTo>
                <a:lnTo>
                  <a:pt x="4494715" y="1608550"/>
                </a:lnTo>
                <a:lnTo>
                  <a:pt x="4469771" y="1641050"/>
                </a:lnTo>
                <a:lnTo>
                  <a:pt x="4458758" y="1649216"/>
                </a:lnTo>
                <a:lnTo>
                  <a:pt x="4453038" y="1653038"/>
                </a:lnTo>
                <a:lnTo>
                  <a:pt x="4420989" y="1664861"/>
                </a:lnTo>
                <a:lnTo>
                  <a:pt x="4414242" y="1666204"/>
                </a:lnTo>
                <a:lnTo>
                  <a:pt x="4407429" y="1666874"/>
                </a:lnTo>
                <a:lnTo>
                  <a:pt x="4400549" y="1666874"/>
                </a:lnTo>
                <a:lnTo>
                  <a:pt x="104774" y="1666874"/>
                </a:lnTo>
                <a:lnTo>
                  <a:pt x="97895" y="1666874"/>
                </a:lnTo>
                <a:lnTo>
                  <a:pt x="91081" y="1666204"/>
                </a:lnTo>
                <a:lnTo>
                  <a:pt x="52285" y="1653038"/>
                </a:lnTo>
                <a:lnTo>
                  <a:pt x="21479" y="1626029"/>
                </a:lnTo>
                <a:lnTo>
                  <a:pt x="7975" y="1602195"/>
                </a:lnTo>
                <a:lnTo>
                  <a:pt x="5342" y="1595839"/>
                </a:lnTo>
                <a:lnTo>
                  <a:pt x="3355" y="1589287"/>
                </a:lnTo>
                <a:lnTo>
                  <a:pt x="2013" y="1582539"/>
                </a:lnTo>
                <a:lnTo>
                  <a:pt x="671" y="1575792"/>
                </a:lnTo>
                <a:lnTo>
                  <a:pt x="0" y="1568979"/>
                </a:lnTo>
                <a:lnTo>
                  <a:pt x="0" y="1562099"/>
                </a:lnTo>
                <a:close/>
              </a:path>
            </a:pathLst>
          </a:custGeom>
          <a:ln w="19049">
            <a:solidFill>
              <a:srgbClr val="312E81"/>
            </a:solidFill>
          </a:ln>
        </p:spPr>
        <p:txBody>
          <a:bodyPr wrap="square" lIns="0" tIns="0" rIns="0" bIns="0" rtlCol="0"/>
          <a:lstStyle/>
          <a:p/>
        </p:txBody>
      </p:sp>
      <p:sp>
        <p:nvSpPr>
          <p:cNvPr id="25" name="object 25"/>
          <p:cNvSpPr txBox="1"/>
          <p:nvPr/>
        </p:nvSpPr>
        <p:spPr>
          <a:xfrm>
            <a:off x="7156420" y="3738989"/>
            <a:ext cx="2452000" cy="227165"/>
          </a:xfrm>
          <a:prstGeom prst="rect">
            <a:avLst/>
          </a:prstGeom>
        </p:spPr>
        <p:txBody>
          <a:bodyPr vert="horz" wrap="square" lIns="0" tIns="9957" rIns="0" bIns="0" rtlCol="0">
            <a:spAutoFit/>
          </a:bodyPr>
          <a:lstStyle/>
          <a:p>
            <a:pPr marL="10160">
              <a:spcBef>
                <a:spcPts val="80"/>
              </a:spcBef>
            </a:pPr>
            <a:r>
              <a:rPr sz="900" spc="-122" dirty="0">
                <a:solidFill>
                  <a:srgbClr val="465469"/>
                </a:solidFill>
                <a:latin typeface="宋体" panose="02010600030101010101" pitchFamily="2" charset="-122"/>
                <a:cs typeface="宋体" panose="02010600030101010101" pitchFamily="2" charset="-122"/>
              </a:rPr>
              <a:t>训练集由 </a:t>
            </a:r>
            <a:r>
              <a:rPr sz="1410" i="1" spc="188" dirty="0">
                <a:solidFill>
                  <a:srgbClr val="465469"/>
                </a:solidFill>
                <a:latin typeface="Times New Roman" panose="02020603050405020304"/>
                <a:cs typeface="Times New Roman" panose="02020603050405020304"/>
              </a:rPr>
              <a:t>N</a:t>
            </a:r>
            <a:r>
              <a:rPr sz="1410" i="1" spc="27" dirty="0">
                <a:solidFill>
                  <a:srgbClr val="465469"/>
                </a:solidFill>
                <a:latin typeface="Times New Roman" panose="02020603050405020304"/>
                <a:cs typeface="Times New Roman" panose="02020603050405020304"/>
              </a:rPr>
              <a:t> </a:t>
            </a:r>
            <a:r>
              <a:rPr sz="900" spc="-86" dirty="0">
                <a:solidFill>
                  <a:srgbClr val="465469"/>
                </a:solidFill>
                <a:latin typeface="宋体" panose="02010600030101010101" pitchFamily="2" charset="-122"/>
                <a:cs typeface="宋体" panose="02010600030101010101" pitchFamily="2" charset="-122"/>
              </a:rPr>
              <a:t>个状态</a:t>
            </a:r>
            <a:r>
              <a:rPr sz="825" spc="-24" dirty="0">
                <a:solidFill>
                  <a:srgbClr val="465469"/>
                </a:solidFill>
                <a:latin typeface="Calibri" panose="020F0502020204030204"/>
                <a:cs typeface="Calibri" panose="020F0502020204030204"/>
              </a:rPr>
              <a:t>-</a:t>
            </a:r>
            <a:r>
              <a:rPr sz="900" spc="-86" dirty="0">
                <a:solidFill>
                  <a:srgbClr val="465469"/>
                </a:solidFill>
                <a:latin typeface="宋体" panose="02010600030101010101" pitchFamily="2" charset="-122"/>
                <a:cs typeface="宋体" panose="02010600030101010101" pitchFamily="2" charset="-122"/>
              </a:rPr>
              <a:t>专家动作对构成的离线轨迹库：</a:t>
            </a:r>
            <a:endParaRPr sz="900">
              <a:latin typeface="宋体" panose="02010600030101010101" pitchFamily="2" charset="-122"/>
              <a:cs typeface="宋体" panose="02010600030101010101" pitchFamily="2" charset="-122"/>
            </a:endParaRPr>
          </a:p>
        </p:txBody>
      </p:sp>
      <p:sp>
        <p:nvSpPr>
          <p:cNvPr id="26" name="object 26"/>
          <p:cNvSpPr txBox="1"/>
          <p:nvPr/>
        </p:nvSpPr>
        <p:spPr>
          <a:xfrm>
            <a:off x="8939176" y="4367870"/>
            <a:ext cx="457541" cy="161870"/>
          </a:xfrm>
          <a:prstGeom prst="rect">
            <a:avLst/>
          </a:prstGeom>
        </p:spPr>
        <p:txBody>
          <a:bodyPr vert="horz" wrap="square" lIns="0" tIns="10953" rIns="0" bIns="0" rtlCol="0">
            <a:spAutoFit/>
          </a:bodyPr>
          <a:lstStyle/>
          <a:p>
            <a:pPr marL="10160">
              <a:spcBef>
                <a:spcPts val="85"/>
              </a:spcBef>
              <a:tabLst>
                <a:tab pos="241935" algn="l"/>
              </a:tabLst>
            </a:pPr>
            <a:r>
              <a:rPr sz="980" i="1" spc="24" dirty="0">
                <a:solidFill>
                  <a:srgbClr val="312E81"/>
                </a:solidFill>
                <a:latin typeface="Times New Roman" panose="02020603050405020304"/>
                <a:cs typeface="Times New Roman" panose="02020603050405020304"/>
              </a:rPr>
              <a:t>i</a:t>
            </a:r>
            <a:r>
              <a:rPr sz="980" i="1" dirty="0">
                <a:solidFill>
                  <a:srgbClr val="312E81"/>
                </a:solidFill>
                <a:latin typeface="Times New Roman" panose="02020603050405020304"/>
                <a:cs typeface="Times New Roman" panose="02020603050405020304"/>
              </a:rPr>
              <a:t>	</a:t>
            </a:r>
            <a:r>
              <a:rPr sz="980" i="1" spc="63" dirty="0">
                <a:solidFill>
                  <a:srgbClr val="312E81"/>
                </a:solidFill>
                <a:latin typeface="Times New Roman" panose="02020603050405020304"/>
                <a:cs typeface="Times New Roman" panose="02020603050405020304"/>
              </a:rPr>
              <a:t>i</a:t>
            </a:r>
            <a:r>
              <a:rPr sz="980" spc="63" dirty="0">
                <a:solidFill>
                  <a:srgbClr val="312E81"/>
                </a:solidFill>
                <a:latin typeface="Cambria" panose="02040503050406030204"/>
                <a:cs typeface="Cambria" panose="02040503050406030204"/>
              </a:rPr>
              <a:t>=1</a:t>
            </a:r>
            <a:endParaRPr sz="980">
              <a:latin typeface="Cambria" panose="02040503050406030204"/>
              <a:cs typeface="Cambria" panose="02040503050406030204"/>
            </a:endParaRPr>
          </a:p>
        </p:txBody>
      </p:sp>
      <p:sp>
        <p:nvSpPr>
          <p:cNvPr id="27" name="object 27"/>
          <p:cNvSpPr txBox="1"/>
          <p:nvPr/>
        </p:nvSpPr>
        <p:spPr>
          <a:xfrm>
            <a:off x="8059272" y="4269218"/>
            <a:ext cx="1253631" cy="227293"/>
          </a:xfrm>
          <a:prstGeom prst="rect">
            <a:avLst/>
          </a:prstGeom>
        </p:spPr>
        <p:txBody>
          <a:bodyPr vert="horz" wrap="square" lIns="0" tIns="9957" rIns="0" bIns="0" rtlCol="0">
            <a:spAutoFit/>
          </a:bodyPr>
          <a:lstStyle/>
          <a:p>
            <a:pPr marL="29845">
              <a:spcBef>
                <a:spcPts val="80"/>
              </a:spcBef>
            </a:pPr>
            <a:r>
              <a:rPr sz="1410" dirty="0">
                <a:solidFill>
                  <a:srgbClr val="312E81"/>
                </a:solidFill>
                <a:latin typeface="Verdana" panose="020B0604030504040204"/>
                <a:cs typeface="Verdana" panose="020B0604030504040204"/>
              </a:rPr>
              <a:t>D</a:t>
            </a:r>
            <a:r>
              <a:rPr sz="1410" spc="-39" dirty="0">
                <a:solidFill>
                  <a:srgbClr val="312E81"/>
                </a:solidFill>
                <a:latin typeface="Verdana" panose="020B0604030504040204"/>
                <a:cs typeface="Verdana" panose="020B0604030504040204"/>
              </a:rPr>
              <a:t> </a:t>
            </a:r>
            <a:r>
              <a:rPr sz="1410" spc="314" dirty="0">
                <a:solidFill>
                  <a:srgbClr val="312E81"/>
                </a:solidFill>
                <a:latin typeface="Cambria" panose="02040503050406030204"/>
                <a:cs typeface="Cambria" panose="02040503050406030204"/>
              </a:rPr>
              <a:t>=</a:t>
            </a:r>
            <a:r>
              <a:rPr sz="1410" spc="98" dirty="0">
                <a:solidFill>
                  <a:srgbClr val="312E81"/>
                </a:solidFill>
                <a:latin typeface="Cambria" panose="02040503050406030204"/>
                <a:cs typeface="Cambria" panose="02040503050406030204"/>
              </a:rPr>
              <a:t> </a:t>
            </a:r>
            <a:r>
              <a:rPr sz="2115" spc="140" baseline="2000" dirty="0">
                <a:solidFill>
                  <a:srgbClr val="312E81"/>
                </a:solidFill>
                <a:latin typeface="Cambria" panose="02040503050406030204"/>
                <a:cs typeface="Cambria" panose="02040503050406030204"/>
              </a:rPr>
              <a:t>{(</a:t>
            </a:r>
            <a:r>
              <a:rPr sz="1410" i="1" spc="94" dirty="0">
                <a:solidFill>
                  <a:srgbClr val="312E81"/>
                </a:solidFill>
                <a:latin typeface="Times New Roman" panose="02020603050405020304"/>
                <a:cs typeface="Times New Roman" panose="02020603050405020304"/>
              </a:rPr>
              <a:t>s</a:t>
            </a:r>
            <a:r>
              <a:rPr sz="1470" i="1" spc="140" baseline="-11000" dirty="0">
                <a:solidFill>
                  <a:srgbClr val="312E81"/>
                </a:solidFill>
                <a:latin typeface="Times New Roman" panose="02020603050405020304"/>
                <a:cs typeface="Times New Roman" panose="02020603050405020304"/>
              </a:rPr>
              <a:t>i</a:t>
            </a:r>
            <a:r>
              <a:rPr sz="2115" spc="140" baseline="2000" dirty="0">
                <a:solidFill>
                  <a:srgbClr val="312E81"/>
                </a:solidFill>
                <a:latin typeface="Cambria" panose="02040503050406030204"/>
                <a:cs typeface="Cambria" panose="02040503050406030204"/>
              </a:rPr>
              <a:t>,</a:t>
            </a:r>
            <a:r>
              <a:rPr sz="2115" spc="-82" baseline="2000" dirty="0">
                <a:solidFill>
                  <a:srgbClr val="312E81"/>
                </a:solidFill>
                <a:latin typeface="Cambria" panose="02040503050406030204"/>
                <a:cs typeface="Cambria" panose="02040503050406030204"/>
              </a:rPr>
              <a:t> </a:t>
            </a:r>
            <a:r>
              <a:rPr sz="1410" i="1" spc="63" dirty="0">
                <a:solidFill>
                  <a:srgbClr val="312E81"/>
                </a:solidFill>
                <a:latin typeface="Times New Roman" panose="02020603050405020304"/>
                <a:cs typeface="Times New Roman" panose="02020603050405020304"/>
              </a:rPr>
              <a:t>a</a:t>
            </a:r>
            <a:r>
              <a:rPr sz="1470" spc="94" baseline="33000" dirty="0">
                <a:solidFill>
                  <a:srgbClr val="312E81"/>
                </a:solidFill>
                <a:latin typeface="Cambria" panose="02040503050406030204"/>
                <a:cs typeface="Cambria" panose="02040503050406030204"/>
              </a:rPr>
              <a:t>⋆</a:t>
            </a:r>
            <a:r>
              <a:rPr sz="2115" spc="94" baseline="2000" dirty="0">
                <a:solidFill>
                  <a:srgbClr val="312E81"/>
                </a:solidFill>
                <a:latin typeface="Cambria" panose="02040503050406030204"/>
                <a:cs typeface="Cambria" panose="02040503050406030204"/>
              </a:rPr>
              <a:t>)}</a:t>
            </a:r>
            <a:r>
              <a:rPr sz="1470" i="1" spc="94" baseline="33000" dirty="0">
                <a:solidFill>
                  <a:srgbClr val="312E81"/>
                </a:solidFill>
                <a:latin typeface="Times New Roman" panose="02020603050405020304"/>
                <a:cs typeface="Times New Roman" panose="02020603050405020304"/>
              </a:rPr>
              <a:t>N</a:t>
            </a:r>
            <a:endParaRPr sz="1470" baseline="33000">
              <a:latin typeface="Times New Roman" panose="02020603050405020304"/>
              <a:cs typeface="Times New Roman" panose="02020603050405020304"/>
            </a:endParaRPr>
          </a:p>
        </p:txBody>
      </p:sp>
      <p:grpSp>
        <p:nvGrpSpPr>
          <p:cNvPr id="28" name="object 28"/>
          <p:cNvGrpSpPr/>
          <p:nvPr/>
        </p:nvGrpSpPr>
        <p:grpSpPr>
          <a:xfrm>
            <a:off x="1316468" y="5018509"/>
            <a:ext cx="9559065" cy="410741"/>
            <a:chOff x="0" y="6400799"/>
            <a:chExt cx="12192000" cy="523875"/>
          </a:xfrm>
        </p:grpSpPr>
        <p:sp>
          <p:nvSpPr>
            <p:cNvPr id="29" name="object 29"/>
            <p:cNvSpPr/>
            <p:nvPr/>
          </p:nvSpPr>
          <p:spPr>
            <a:xfrm>
              <a:off x="0" y="6705599"/>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30" name="object 30"/>
            <p:cNvSpPr/>
            <p:nvPr/>
          </p:nvSpPr>
          <p:spPr>
            <a:xfrm>
              <a:off x="11791937" y="6781799"/>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31" name="object 31"/>
            <p:cNvSpPr/>
            <p:nvPr/>
          </p:nvSpPr>
          <p:spPr>
            <a:xfrm>
              <a:off x="11982447" y="6781799"/>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32" name="object 32"/>
            <p:cNvPicPr/>
            <p:nvPr/>
          </p:nvPicPr>
          <p:blipFill>
            <a:blip r:embed="rId2" cstate="print"/>
            <a:stretch>
              <a:fillRect/>
            </a:stretch>
          </p:blipFill>
          <p:spPr>
            <a:xfrm>
              <a:off x="9896474" y="6400799"/>
              <a:ext cx="342899" cy="342899"/>
            </a:xfrm>
            <a:prstGeom prst="rect">
              <a:avLst/>
            </a:prstGeom>
          </p:spPr>
        </p:pic>
      </p:grpSp>
      <p:sp>
        <p:nvSpPr>
          <p:cNvPr id="33" name="object 33"/>
          <p:cNvSpPr txBox="1"/>
          <p:nvPr/>
        </p:nvSpPr>
        <p:spPr>
          <a:xfrm>
            <a:off x="9412461" y="5053359"/>
            <a:ext cx="1247159" cy="154837"/>
          </a:xfrm>
          <a:prstGeom prst="rect">
            <a:avLst/>
          </a:prstGeom>
        </p:spPr>
        <p:txBody>
          <a:bodyPr vert="horz" wrap="square" lIns="0" tIns="9957" rIns="0" bIns="0" rtlCol="0">
            <a:spAutoFit/>
          </a:bodyPr>
          <a:lstStyle/>
          <a:p>
            <a:pPr marL="10160">
              <a:spcBef>
                <a:spcPts val="80"/>
              </a:spcBef>
            </a:pPr>
            <a:r>
              <a:rPr sz="940" b="1" dirty="0">
                <a:latin typeface="Arial" panose="020B0604020202020204"/>
                <a:cs typeface="Arial" panose="020B0604020202020204"/>
              </a:rPr>
              <a:t>Powered</a:t>
            </a:r>
            <a:r>
              <a:rPr sz="940" b="1" spc="78" dirty="0">
                <a:latin typeface="Arial" panose="020B0604020202020204"/>
                <a:cs typeface="Arial" panose="020B0604020202020204"/>
              </a:rPr>
              <a:t> </a:t>
            </a:r>
            <a:r>
              <a:rPr sz="940" b="1" dirty="0">
                <a:latin typeface="Arial" panose="020B0604020202020204"/>
                <a:cs typeface="Arial" panose="020B0604020202020204"/>
              </a:rPr>
              <a:t>By</a:t>
            </a:r>
            <a:r>
              <a:rPr sz="940" b="1" spc="82" dirty="0">
                <a:latin typeface="Arial" panose="020B0604020202020204"/>
                <a:cs typeface="Arial" panose="020B0604020202020204"/>
              </a:rPr>
              <a:t> </a:t>
            </a:r>
            <a:r>
              <a:rPr sz="940" b="1" spc="-8" dirty="0">
                <a:latin typeface="Arial" panose="020B0604020202020204"/>
                <a:cs typeface="Arial" panose="020B0604020202020204"/>
              </a:rPr>
              <a:t>Tosea.ai</a:t>
            </a:r>
            <a:endParaRPr sz="940">
              <a:latin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976" y="194068"/>
            <a:ext cx="3373055" cy="841051"/>
          </a:xfrm>
          <a:prstGeom prst="rect">
            <a:avLst/>
          </a:prstGeom>
        </p:spPr>
        <p:txBody>
          <a:bodyPr vert="horz" wrap="square" lIns="0" tIns="9957" rIns="0" bIns="0" rtlCol="0">
            <a:spAutoFit/>
          </a:bodyPr>
          <a:lstStyle/>
          <a:p>
            <a:pPr marL="10160">
              <a:spcBef>
                <a:spcPts val="80"/>
              </a:spcBef>
            </a:pPr>
            <a:r>
              <a:rPr spc="-290" dirty="0"/>
              <a:t>方法</a:t>
            </a:r>
            <a:r>
              <a:rPr sz="2115" spc="-180" dirty="0"/>
              <a:t>: </a:t>
            </a:r>
            <a:r>
              <a:rPr spc="-294" dirty="0"/>
              <a:t>基于二部图的状态表示</a:t>
            </a:r>
            <a:endParaRPr sz="2115"/>
          </a:p>
        </p:txBody>
      </p:sp>
      <p:sp>
        <p:nvSpPr>
          <p:cNvPr id="3" name="object 3"/>
          <p:cNvSpPr txBox="1"/>
          <p:nvPr/>
        </p:nvSpPr>
        <p:spPr>
          <a:xfrm>
            <a:off x="1664976" y="5367262"/>
            <a:ext cx="3105699" cy="126712"/>
          </a:xfrm>
          <a:prstGeom prst="rect">
            <a:avLst/>
          </a:prstGeom>
        </p:spPr>
        <p:txBody>
          <a:bodyPr vert="horz" wrap="square" lIns="0" tIns="11949" rIns="0" bIns="0" rtlCol="0">
            <a:spAutoFit/>
          </a:bodyPr>
          <a:lstStyle/>
          <a:p>
            <a:pPr marL="10160">
              <a:spcBef>
                <a:spcPts val="95"/>
              </a:spcBef>
            </a:pPr>
            <a:r>
              <a:rPr sz="745" spc="-35" dirty="0">
                <a:solidFill>
                  <a:srgbClr val="94A2B8"/>
                </a:solidFill>
                <a:latin typeface="Lucida Console" panose="020B0609040504020204"/>
                <a:cs typeface="Lucida Console" panose="020B0609040504020204"/>
              </a:rPr>
              <a:t>International</a:t>
            </a:r>
            <a:r>
              <a:rPr sz="745" spc="-59" dirty="0">
                <a:solidFill>
                  <a:srgbClr val="94A2B8"/>
                </a:solidFill>
                <a:latin typeface="Lucida Console" panose="020B0609040504020204"/>
                <a:cs typeface="Lucida Console" panose="020B0609040504020204"/>
              </a:rPr>
              <a:t> </a:t>
            </a:r>
            <a:r>
              <a:rPr sz="745" spc="-31" dirty="0">
                <a:solidFill>
                  <a:srgbClr val="94A2B8"/>
                </a:solidFill>
                <a:latin typeface="Lucida Console" panose="020B0609040504020204"/>
                <a:cs typeface="Lucida Console" panose="020B0609040504020204"/>
              </a:rPr>
              <a:t>Conference</a:t>
            </a:r>
            <a:r>
              <a:rPr sz="745" spc="-59" dirty="0">
                <a:solidFill>
                  <a:srgbClr val="94A2B8"/>
                </a:solidFill>
                <a:latin typeface="Lucida Console" panose="020B0609040504020204"/>
                <a:cs typeface="Lucida Console" panose="020B0609040504020204"/>
              </a:rPr>
              <a:t> </a:t>
            </a:r>
            <a:r>
              <a:rPr sz="745" dirty="0">
                <a:solidFill>
                  <a:srgbClr val="94A2B8"/>
                </a:solidFill>
                <a:latin typeface="Lucida Console" panose="020B0609040504020204"/>
                <a:cs typeface="Lucida Console" panose="020B0609040504020204"/>
              </a:rPr>
              <a:t>on</a:t>
            </a:r>
            <a:r>
              <a:rPr sz="745" spc="-59" dirty="0">
                <a:solidFill>
                  <a:srgbClr val="94A2B8"/>
                </a:solidFill>
                <a:latin typeface="Lucida Console" panose="020B0609040504020204"/>
                <a:cs typeface="Lucida Console" panose="020B0609040504020204"/>
              </a:rPr>
              <a:t> </a:t>
            </a:r>
            <a:r>
              <a:rPr sz="745" spc="-31" dirty="0">
                <a:solidFill>
                  <a:srgbClr val="94A2B8"/>
                </a:solidFill>
                <a:latin typeface="Lucida Console" panose="020B0609040504020204"/>
                <a:cs typeface="Lucida Console" panose="020B0609040504020204"/>
              </a:rPr>
              <a:t>Learning</a:t>
            </a:r>
            <a:r>
              <a:rPr sz="745" spc="-59" dirty="0">
                <a:solidFill>
                  <a:srgbClr val="94A2B8"/>
                </a:solidFill>
                <a:latin typeface="Lucida Console" panose="020B0609040504020204"/>
                <a:cs typeface="Lucida Console" panose="020B0609040504020204"/>
              </a:rPr>
              <a:t> </a:t>
            </a:r>
            <a:r>
              <a:rPr sz="745" spc="-35" dirty="0">
                <a:solidFill>
                  <a:srgbClr val="94A2B8"/>
                </a:solidFill>
                <a:latin typeface="Lucida Console" panose="020B0609040504020204"/>
                <a:cs typeface="Lucida Console" panose="020B0609040504020204"/>
              </a:rPr>
              <a:t>Representations</a:t>
            </a:r>
            <a:r>
              <a:rPr sz="745" spc="-55" dirty="0">
                <a:solidFill>
                  <a:srgbClr val="94A2B8"/>
                </a:solidFill>
                <a:latin typeface="Lucida Console" panose="020B0609040504020204"/>
                <a:cs typeface="Lucida Console" panose="020B0609040504020204"/>
              </a:rPr>
              <a:t> </a:t>
            </a:r>
            <a:r>
              <a:rPr sz="745" spc="-74" dirty="0">
                <a:solidFill>
                  <a:srgbClr val="94A2B8"/>
                </a:solidFill>
                <a:latin typeface="Lucida Console" panose="020B0609040504020204"/>
                <a:cs typeface="Lucida Console" panose="020B0609040504020204"/>
              </a:rPr>
              <a:t>(ICLR)</a:t>
            </a:r>
            <a:endParaRPr sz="745">
              <a:latin typeface="Lucida Console" panose="020B0609040504020204"/>
              <a:cs typeface="Lucida Console" panose="020B0609040504020204"/>
            </a:endParaRPr>
          </a:p>
        </p:txBody>
      </p:sp>
      <p:grpSp>
        <p:nvGrpSpPr>
          <p:cNvPr id="4" name="object 4"/>
          <p:cNvGrpSpPr/>
          <p:nvPr/>
        </p:nvGrpSpPr>
        <p:grpSpPr>
          <a:xfrm>
            <a:off x="1674932" y="903630"/>
            <a:ext cx="298721" cy="298721"/>
            <a:chOff x="457200" y="1152525"/>
            <a:chExt cx="381000" cy="381000"/>
          </a:xfrm>
        </p:grpSpPr>
        <p:sp>
          <p:nvSpPr>
            <p:cNvPr id="5" name="object 5"/>
            <p:cNvSpPr/>
            <p:nvPr/>
          </p:nvSpPr>
          <p:spPr>
            <a:xfrm>
              <a:off x="457200" y="1152525"/>
              <a:ext cx="381000" cy="381000"/>
            </a:xfrm>
            <a:custGeom>
              <a:avLst/>
              <a:gdLst/>
              <a:ahLst/>
              <a:cxnLst/>
              <a:rect l="l" t="t" r="r" b="b"/>
              <a:pathLst>
                <a:path w="381000" h="381000">
                  <a:moveTo>
                    <a:pt x="309803" y="380999"/>
                  </a:moveTo>
                  <a:lnTo>
                    <a:pt x="71196" y="380999"/>
                  </a:lnTo>
                  <a:lnTo>
                    <a:pt x="66241" y="380511"/>
                  </a:lnTo>
                  <a:lnTo>
                    <a:pt x="29705" y="365378"/>
                  </a:lnTo>
                  <a:lnTo>
                    <a:pt x="3885" y="329337"/>
                  </a:lnTo>
                  <a:lnTo>
                    <a:pt x="0" y="309803"/>
                  </a:lnTo>
                  <a:lnTo>
                    <a:pt x="0" y="304799"/>
                  </a:lnTo>
                  <a:lnTo>
                    <a:pt x="0" y="71196"/>
                  </a:lnTo>
                  <a:lnTo>
                    <a:pt x="15621" y="29705"/>
                  </a:lnTo>
                  <a:lnTo>
                    <a:pt x="51662" y="3885"/>
                  </a:lnTo>
                  <a:lnTo>
                    <a:pt x="71196" y="0"/>
                  </a:lnTo>
                  <a:lnTo>
                    <a:pt x="309803" y="0"/>
                  </a:lnTo>
                  <a:lnTo>
                    <a:pt x="351294" y="15621"/>
                  </a:lnTo>
                  <a:lnTo>
                    <a:pt x="377114" y="51662"/>
                  </a:lnTo>
                  <a:lnTo>
                    <a:pt x="380999" y="71196"/>
                  </a:lnTo>
                  <a:lnTo>
                    <a:pt x="380999" y="309803"/>
                  </a:lnTo>
                  <a:lnTo>
                    <a:pt x="365378" y="351294"/>
                  </a:lnTo>
                  <a:lnTo>
                    <a:pt x="329337" y="377114"/>
                  </a:lnTo>
                  <a:lnTo>
                    <a:pt x="314758" y="380511"/>
                  </a:lnTo>
                  <a:lnTo>
                    <a:pt x="309803" y="380999"/>
                  </a:lnTo>
                  <a:close/>
                </a:path>
              </a:pathLst>
            </a:custGeom>
            <a:solidFill>
              <a:srgbClr val="DFE7FF"/>
            </a:solidFill>
          </p:spPr>
          <p:txBody>
            <a:bodyPr wrap="square" lIns="0" tIns="0" rIns="0" bIns="0" rtlCol="0"/>
            <a:lstStyle/>
            <a:p/>
          </p:txBody>
        </p:sp>
        <p:pic>
          <p:nvPicPr>
            <p:cNvPr id="6" name="object 6"/>
            <p:cNvPicPr/>
            <p:nvPr/>
          </p:nvPicPr>
          <p:blipFill>
            <a:blip r:embed="rId1" cstate="print"/>
            <a:stretch>
              <a:fillRect/>
            </a:stretch>
          </p:blipFill>
          <p:spPr>
            <a:xfrm>
              <a:off x="552449" y="1247774"/>
              <a:ext cx="190499" cy="190499"/>
            </a:xfrm>
            <a:prstGeom prst="rect">
              <a:avLst/>
            </a:prstGeom>
          </p:spPr>
        </p:pic>
      </p:grpSp>
      <p:sp>
        <p:nvSpPr>
          <p:cNvPr id="7" name="object 7"/>
          <p:cNvSpPr txBox="1"/>
          <p:nvPr/>
        </p:nvSpPr>
        <p:spPr>
          <a:xfrm>
            <a:off x="2053312" y="900245"/>
            <a:ext cx="916077" cy="254356"/>
          </a:xfrm>
          <a:prstGeom prst="rect">
            <a:avLst/>
          </a:prstGeom>
        </p:spPr>
        <p:txBody>
          <a:bodyPr vert="horz" wrap="square" lIns="0" tIns="12945" rIns="0" bIns="0" rtlCol="0">
            <a:spAutoFit/>
          </a:bodyPr>
          <a:lstStyle/>
          <a:p>
            <a:pPr marL="10160">
              <a:spcBef>
                <a:spcPts val="100"/>
              </a:spcBef>
            </a:pPr>
            <a:r>
              <a:rPr sz="1570" b="1" spc="-149" dirty="0">
                <a:solidFill>
                  <a:srgbClr val="1D293B"/>
                </a:solidFill>
                <a:latin typeface="微软雅黑" panose="020B0503020204020204" charset="-122"/>
                <a:cs typeface="微软雅黑" panose="020B0503020204020204" charset="-122"/>
              </a:rPr>
              <a:t>图结构定义</a:t>
            </a:r>
            <a:endParaRPr sz="1570">
              <a:latin typeface="微软雅黑" panose="020B0503020204020204" charset="-122"/>
              <a:cs typeface="微软雅黑" panose="020B0503020204020204" charset="-122"/>
            </a:endParaRPr>
          </a:p>
        </p:txBody>
      </p:sp>
      <p:sp>
        <p:nvSpPr>
          <p:cNvPr id="8" name="object 8"/>
          <p:cNvSpPr/>
          <p:nvPr/>
        </p:nvSpPr>
        <p:spPr>
          <a:xfrm>
            <a:off x="1674933" y="1381583"/>
            <a:ext cx="29872" cy="224041"/>
          </a:xfrm>
          <a:custGeom>
            <a:avLst/>
            <a:gdLst/>
            <a:ahLst/>
            <a:cxnLst/>
            <a:rect l="l" t="t" r="r" b="b"/>
            <a:pathLst>
              <a:path w="38100" h="285750">
                <a:moveTo>
                  <a:pt x="38099" y="285749"/>
                </a:moveTo>
                <a:lnTo>
                  <a:pt x="0" y="285749"/>
                </a:lnTo>
                <a:lnTo>
                  <a:pt x="0" y="0"/>
                </a:lnTo>
                <a:lnTo>
                  <a:pt x="38099" y="0"/>
                </a:lnTo>
                <a:lnTo>
                  <a:pt x="38099" y="285749"/>
                </a:lnTo>
                <a:close/>
              </a:path>
            </a:pathLst>
          </a:custGeom>
          <a:solidFill>
            <a:srgbClr val="C7D1FE"/>
          </a:solidFill>
        </p:spPr>
        <p:txBody>
          <a:bodyPr wrap="square" lIns="0" tIns="0" rIns="0" bIns="0" rtlCol="0"/>
          <a:lstStyle/>
          <a:p/>
        </p:txBody>
      </p:sp>
      <p:sp>
        <p:nvSpPr>
          <p:cNvPr id="9" name="object 9"/>
          <p:cNvSpPr txBox="1"/>
          <p:nvPr/>
        </p:nvSpPr>
        <p:spPr>
          <a:xfrm>
            <a:off x="1814335" y="1349223"/>
            <a:ext cx="3597096" cy="227165"/>
          </a:xfrm>
          <a:prstGeom prst="rect">
            <a:avLst/>
          </a:prstGeom>
        </p:spPr>
        <p:txBody>
          <a:bodyPr vert="horz" wrap="square" lIns="0" tIns="9957" rIns="0" bIns="0" rtlCol="0">
            <a:spAutoFit/>
          </a:bodyPr>
          <a:lstStyle/>
          <a:p>
            <a:pPr marL="10160">
              <a:spcBef>
                <a:spcPts val="80"/>
              </a:spcBef>
            </a:pPr>
            <a:r>
              <a:rPr sz="1215" spc="-259" dirty="0">
                <a:solidFill>
                  <a:srgbClr val="465469"/>
                </a:solidFill>
                <a:latin typeface="宋体" panose="02010600030101010101" pitchFamily="2" charset="-122"/>
                <a:cs typeface="宋体" panose="02010600030101010101" pitchFamily="2" charset="-122"/>
              </a:rPr>
              <a:t>将 </a:t>
            </a:r>
            <a:r>
              <a:rPr sz="1100" i="1" spc="-16" dirty="0">
                <a:solidFill>
                  <a:srgbClr val="465469"/>
                </a:solidFill>
                <a:latin typeface="Calibri" panose="020F0502020204030204"/>
                <a:cs typeface="Calibri" panose="020F0502020204030204"/>
              </a:rPr>
              <a:t>MILP</a:t>
            </a:r>
            <a:r>
              <a:rPr sz="1100" i="1" spc="-8" dirty="0">
                <a:solidFill>
                  <a:srgbClr val="465469"/>
                </a:solidFill>
                <a:latin typeface="Calibri" panose="020F0502020204030204"/>
                <a:cs typeface="Calibri" panose="020F0502020204030204"/>
              </a:rPr>
              <a:t> </a:t>
            </a:r>
            <a:r>
              <a:rPr sz="1215" spc="-133" dirty="0">
                <a:solidFill>
                  <a:srgbClr val="465469"/>
                </a:solidFill>
                <a:latin typeface="宋体" panose="02010600030101010101" pitchFamily="2" charset="-122"/>
                <a:cs typeface="宋体" panose="02010600030101010101" pitchFamily="2" charset="-122"/>
              </a:rPr>
              <a:t>的约束矩阵 </a:t>
            </a:r>
            <a:r>
              <a:rPr sz="1410" i="1" spc="67" dirty="0">
                <a:solidFill>
                  <a:srgbClr val="465469"/>
                </a:solidFill>
                <a:latin typeface="Times New Roman" panose="02020603050405020304"/>
                <a:cs typeface="Times New Roman" panose="02020603050405020304"/>
              </a:rPr>
              <a:t>A</a:t>
            </a:r>
            <a:r>
              <a:rPr sz="1100" i="1" spc="27" dirty="0">
                <a:solidFill>
                  <a:srgbClr val="465469"/>
                </a:solidFill>
                <a:latin typeface="Calibri" panose="020F0502020204030204"/>
                <a:cs typeface="Calibri" panose="020F0502020204030204"/>
              </a:rPr>
              <a:t>\ </a:t>
            </a:r>
            <a:r>
              <a:rPr sz="1215" spc="-160" dirty="0">
                <a:solidFill>
                  <a:srgbClr val="465469"/>
                </a:solidFill>
                <a:latin typeface="宋体" panose="02010600030101010101" pitchFamily="2" charset="-122"/>
                <a:cs typeface="宋体" panose="02010600030101010101" pitchFamily="2" charset="-122"/>
              </a:rPr>
              <a:t>天然地看作一个二部图的邻接矩阵。</a:t>
            </a:r>
            <a:endParaRPr sz="1215">
              <a:latin typeface="宋体" panose="02010600030101010101" pitchFamily="2" charset="-122"/>
              <a:cs typeface="宋体" panose="02010600030101010101" pitchFamily="2" charset="-122"/>
            </a:endParaRPr>
          </a:p>
        </p:txBody>
      </p:sp>
      <p:pic>
        <p:nvPicPr>
          <p:cNvPr id="10" name="object 10"/>
          <p:cNvPicPr/>
          <p:nvPr/>
        </p:nvPicPr>
        <p:blipFill>
          <a:blip r:embed="rId2" cstate="print"/>
          <a:stretch>
            <a:fillRect/>
          </a:stretch>
        </p:blipFill>
        <p:spPr>
          <a:xfrm>
            <a:off x="1674933" y="1754984"/>
            <a:ext cx="179232" cy="179232"/>
          </a:xfrm>
          <a:prstGeom prst="rect">
            <a:avLst/>
          </a:prstGeom>
        </p:spPr>
      </p:pic>
      <p:sp>
        <p:nvSpPr>
          <p:cNvPr id="11" name="object 11"/>
          <p:cNvSpPr txBox="1"/>
          <p:nvPr/>
        </p:nvSpPr>
        <p:spPr>
          <a:xfrm>
            <a:off x="1732187" y="1774899"/>
            <a:ext cx="64723" cy="118674"/>
          </a:xfrm>
          <a:prstGeom prst="rect">
            <a:avLst/>
          </a:prstGeom>
        </p:spPr>
        <p:txBody>
          <a:bodyPr vert="horz" wrap="square" lIns="0" tIns="9957" rIns="0" bIns="0" rtlCol="0">
            <a:spAutoFit/>
          </a:bodyPr>
          <a:lstStyle/>
          <a:p>
            <a:pPr marL="10160">
              <a:spcBef>
                <a:spcPts val="80"/>
              </a:spcBef>
            </a:pPr>
            <a:r>
              <a:rPr sz="705" b="1" spc="-39" dirty="0">
                <a:solidFill>
                  <a:srgbClr val="FFFFFF"/>
                </a:solidFill>
                <a:latin typeface="Times New Roman" panose="02020603050405020304"/>
                <a:cs typeface="Times New Roman" panose="02020603050405020304"/>
              </a:rPr>
              <a:t>1</a:t>
            </a:r>
            <a:endParaRPr sz="705">
              <a:latin typeface="Times New Roman" panose="02020603050405020304"/>
              <a:cs typeface="Times New Roman" panose="02020603050405020304"/>
            </a:endParaRPr>
          </a:p>
        </p:txBody>
      </p:sp>
      <p:sp>
        <p:nvSpPr>
          <p:cNvPr id="12" name="object 12"/>
          <p:cNvSpPr txBox="1"/>
          <p:nvPr/>
        </p:nvSpPr>
        <p:spPr>
          <a:xfrm>
            <a:off x="1903951" y="1682416"/>
            <a:ext cx="3318788" cy="899877"/>
          </a:xfrm>
          <a:prstGeom prst="rect">
            <a:avLst/>
          </a:prstGeom>
        </p:spPr>
        <p:txBody>
          <a:bodyPr vert="horz" wrap="square" lIns="0" tIns="27383" rIns="0" bIns="0" rtlCol="0">
            <a:spAutoFit/>
          </a:bodyPr>
          <a:lstStyle/>
          <a:p>
            <a:pPr marL="40005">
              <a:spcBef>
                <a:spcPts val="215"/>
              </a:spcBef>
            </a:pPr>
            <a:r>
              <a:rPr sz="1060" b="1" spc="-133" dirty="0">
                <a:solidFill>
                  <a:srgbClr val="1D293B"/>
                </a:solidFill>
                <a:latin typeface="微软雅黑" panose="020B0503020204020204" charset="-122"/>
                <a:cs typeface="微软雅黑" panose="020B0503020204020204" charset="-122"/>
              </a:rPr>
              <a:t>节点类型</a:t>
            </a:r>
            <a:r>
              <a:rPr sz="940" b="1" spc="-39" dirty="0">
                <a:solidFill>
                  <a:srgbClr val="1D293B"/>
                </a:solidFill>
                <a:latin typeface="Times New Roman" panose="02020603050405020304"/>
                <a:cs typeface="Times New Roman" panose="02020603050405020304"/>
              </a:rPr>
              <a:t>:</a:t>
            </a:r>
            <a:endParaRPr sz="940">
              <a:latin typeface="Times New Roman" panose="02020603050405020304"/>
              <a:cs typeface="Times New Roman" panose="02020603050405020304"/>
            </a:endParaRPr>
          </a:p>
          <a:p>
            <a:pPr marL="40005">
              <a:spcBef>
                <a:spcPts val="140"/>
              </a:spcBef>
            </a:pPr>
            <a:r>
              <a:rPr sz="1060" spc="-157" dirty="0">
                <a:solidFill>
                  <a:srgbClr val="465469"/>
                </a:solidFill>
                <a:latin typeface="宋体" panose="02010600030101010101" pitchFamily="2" charset="-122"/>
                <a:cs typeface="宋体" panose="02010600030101010101" pitchFamily="2" charset="-122"/>
              </a:rPr>
              <a:t>分为约束节点 </a:t>
            </a:r>
            <a:r>
              <a:rPr sz="940" dirty="0">
                <a:solidFill>
                  <a:srgbClr val="4237CA"/>
                </a:solidFill>
                <a:latin typeface="Times New Roman" panose="02020603050405020304"/>
                <a:cs typeface="Times New Roman" panose="02020603050405020304"/>
              </a:rPr>
              <a:t>(Constraint</a:t>
            </a:r>
            <a:r>
              <a:rPr sz="940" spc="8" dirty="0">
                <a:solidFill>
                  <a:srgbClr val="4237CA"/>
                </a:solidFill>
                <a:latin typeface="Times New Roman" panose="02020603050405020304"/>
                <a:cs typeface="Times New Roman" panose="02020603050405020304"/>
              </a:rPr>
              <a:t> </a:t>
            </a:r>
            <a:r>
              <a:rPr sz="940" dirty="0">
                <a:solidFill>
                  <a:srgbClr val="4237CA"/>
                </a:solidFill>
                <a:latin typeface="Times New Roman" panose="02020603050405020304"/>
                <a:cs typeface="Times New Roman" panose="02020603050405020304"/>
              </a:rPr>
              <a:t>Nodes)</a:t>
            </a:r>
            <a:r>
              <a:rPr sz="940" spc="8" dirty="0">
                <a:solidFill>
                  <a:srgbClr val="4237CA"/>
                </a:solidFill>
                <a:latin typeface="Times New Roman" panose="02020603050405020304"/>
                <a:cs typeface="Times New Roman" panose="02020603050405020304"/>
              </a:rPr>
              <a:t> </a:t>
            </a:r>
            <a:r>
              <a:rPr sz="1060" spc="-160" dirty="0">
                <a:solidFill>
                  <a:srgbClr val="465469"/>
                </a:solidFill>
                <a:latin typeface="宋体" panose="02010600030101010101" pitchFamily="2" charset="-122"/>
                <a:cs typeface="宋体" panose="02010600030101010101" pitchFamily="2" charset="-122"/>
              </a:rPr>
              <a:t>与变量节点 </a:t>
            </a:r>
            <a:r>
              <a:rPr sz="940" spc="-16" dirty="0">
                <a:solidFill>
                  <a:srgbClr val="2562EB"/>
                </a:solidFill>
                <a:latin typeface="Times New Roman" panose="02020603050405020304"/>
                <a:cs typeface="Times New Roman" panose="02020603050405020304"/>
              </a:rPr>
              <a:t>(Variable</a:t>
            </a:r>
            <a:r>
              <a:rPr sz="940" spc="8" dirty="0">
                <a:solidFill>
                  <a:srgbClr val="2562EB"/>
                </a:solidFill>
                <a:latin typeface="Times New Roman" panose="02020603050405020304"/>
                <a:cs typeface="Times New Roman" panose="02020603050405020304"/>
              </a:rPr>
              <a:t> </a:t>
            </a:r>
            <a:r>
              <a:rPr sz="940" dirty="0">
                <a:solidFill>
                  <a:srgbClr val="2562EB"/>
                </a:solidFill>
                <a:latin typeface="Times New Roman" panose="02020603050405020304"/>
                <a:cs typeface="Times New Roman" panose="02020603050405020304"/>
              </a:rPr>
              <a:t>Nodes)</a:t>
            </a:r>
            <a:r>
              <a:rPr sz="1060" spc="-39" dirty="0">
                <a:solidFill>
                  <a:srgbClr val="465469"/>
                </a:solidFill>
                <a:latin typeface="宋体" panose="02010600030101010101" pitchFamily="2" charset="-122"/>
                <a:cs typeface="宋体" panose="02010600030101010101" pitchFamily="2" charset="-122"/>
              </a:rPr>
              <a:t>。</a:t>
            </a:r>
            <a:endParaRPr sz="1060">
              <a:latin typeface="宋体" panose="02010600030101010101" pitchFamily="2" charset="-122"/>
              <a:cs typeface="宋体" panose="02010600030101010101" pitchFamily="2" charset="-122"/>
            </a:endParaRPr>
          </a:p>
          <a:p>
            <a:pPr marL="40005">
              <a:spcBef>
                <a:spcPts val="1080"/>
              </a:spcBef>
            </a:pPr>
            <a:r>
              <a:rPr sz="1060" b="1" spc="-133" dirty="0">
                <a:solidFill>
                  <a:srgbClr val="1D293B"/>
                </a:solidFill>
                <a:latin typeface="微软雅黑" panose="020B0503020204020204" charset="-122"/>
                <a:cs typeface="微软雅黑" panose="020B0503020204020204" charset="-122"/>
              </a:rPr>
              <a:t>连边逻辑</a:t>
            </a:r>
            <a:r>
              <a:rPr sz="940" b="1" spc="-39" dirty="0">
                <a:solidFill>
                  <a:srgbClr val="1D293B"/>
                </a:solidFill>
                <a:latin typeface="Times New Roman" panose="02020603050405020304"/>
                <a:cs typeface="Times New Roman" panose="02020603050405020304"/>
              </a:rPr>
              <a:t>:</a:t>
            </a:r>
            <a:endParaRPr sz="940">
              <a:latin typeface="Times New Roman" panose="02020603050405020304"/>
              <a:cs typeface="Times New Roman" panose="02020603050405020304"/>
            </a:endParaRPr>
          </a:p>
          <a:p>
            <a:pPr marL="40005">
              <a:spcBef>
                <a:spcPts val="80"/>
              </a:spcBef>
            </a:pPr>
            <a:r>
              <a:rPr sz="1060" spc="-71" dirty="0">
                <a:solidFill>
                  <a:srgbClr val="465469"/>
                </a:solidFill>
                <a:latin typeface="宋体" panose="02010600030101010101" pitchFamily="2" charset="-122"/>
                <a:cs typeface="宋体" panose="02010600030101010101" pitchFamily="2" charset="-122"/>
              </a:rPr>
              <a:t>若变量 </a:t>
            </a:r>
            <a:r>
              <a:rPr sz="1410" i="1" spc="133" dirty="0">
                <a:solidFill>
                  <a:srgbClr val="465469"/>
                </a:solidFill>
                <a:latin typeface="Times New Roman" panose="02020603050405020304"/>
                <a:cs typeface="Times New Roman" panose="02020603050405020304"/>
              </a:rPr>
              <a:t>j</a:t>
            </a:r>
            <a:r>
              <a:rPr sz="940" spc="59" dirty="0">
                <a:solidFill>
                  <a:srgbClr val="465469"/>
                </a:solidFill>
                <a:latin typeface="Times New Roman" panose="02020603050405020304"/>
                <a:cs typeface="Times New Roman" panose="02020603050405020304"/>
              </a:rPr>
              <a:t>\ </a:t>
            </a:r>
            <a:r>
              <a:rPr sz="1060" spc="-63" dirty="0">
                <a:solidFill>
                  <a:srgbClr val="465469"/>
                </a:solidFill>
                <a:latin typeface="宋体" panose="02010600030101010101" pitchFamily="2" charset="-122"/>
                <a:cs typeface="宋体" panose="02010600030101010101" pitchFamily="2" charset="-122"/>
              </a:rPr>
              <a:t>在约束 </a:t>
            </a:r>
            <a:r>
              <a:rPr sz="1410" i="1" dirty="0">
                <a:solidFill>
                  <a:srgbClr val="465469"/>
                </a:solidFill>
                <a:latin typeface="Times New Roman" panose="02020603050405020304"/>
                <a:cs typeface="Times New Roman" panose="02020603050405020304"/>
              </a:rPr>
              <a:t>i</a:t>
            </a:r>
            <a:r>
              <a:rPr sz="940" spc="-8" dirty="0">
                <a:solidFill>
                  <a:srgbClr val="465469"/>
                </a:solidFill>
                <a:latin typeface="Times New Roman" panose="02020603050405020304"/>
                <a:cs typeface="Times New Roman" panose="02020603050405020304"/>
              </a:rPr>
              <a:t>\ </a:t>
            </a:r>
            <a:r>
              <a:rPr sz="1060" spc="-63" dirty="0">
                <a:solidFill>
                  <a:srgbClr val="465469"/>
                </a:solidFill>
                <a:latin typeface="宋体" panose="02010600030101010101" pitchFamily="2" charset="-122"/>
                <a:cs typeface="宋体" panose="02010600030101010101" pitchFamily="2" charset="-122"/>
              </a:rPr>
              <a:t>中系数 </a:t>
            </a:r>
            <a:r>
              <a:rPr sz="1410" i="1" spc="129" dirty="0">
                <a:solidFill>
                  <a:srgbClr val="465469"/>
                </a:solidFill>
                <a:latin typeface="Times New Roman" panose="02020603050405020304"/>
                <a:cs typeface="Times New Roman" panose="02020603050405020304"/>
              </a:rPr>
              <a:t>A</a:t>
            </a:r>
            <a:r>
              <a:rPr sz="1470" i="1" spc="194" baseline="-11000" dirty="0">
                <a:solidFill>
                  <a:srgbClr val="465469"/>
                </a:solidFill>
                <a:latin typeface="Times New Roman" panose="02020603050405020304"/>
                <a:cs typeface="Times New Roman" panose="02020603050405020304"/>
              </a:rPr>
              <a:t>ij</a:t>
            </a:r>
            <a:r>
              <a:rPr sz="1470" i="1" spc="358" baseline="-11000" dirty="0">
                <a:solidFill>
                  <a:srgbClr val="465469"/>
                </a:solidFill>
                <a:latin typeface="Times New Roman" panose="02020603050405020304"/>
                <a:cs typeface="Times New Roman" panose="02020603050405020304"/>
              </a:rPr>
              <a:t> </a:t>
            </a:r>
            <a:r>
              <a:rPr sz="1410" spc="-274" dirty="0">
                <a:solidFill>
                  <a:srgbClr val="465469"/>
                </a:solidFill>
                <a:latin typeface="Cambria" panose="02040503050406030204"/>
                <a:cs typeface="Cambria" panose="02040503050406030204"/>
              </a:rPr>
              <a:t></a:t>
            </a:r>
            <a:r>
              <a:rPr sz="1410" spc="-89" dirty="0">
                <a:solidFill>
                  <a:srgbClr val="465469"/>
                </a:solidFill>
                <a:latin typeface="Cambria" panose="02040503050406030204"/>
                <a:cs typeface="Cambria" panose="02040503050406030204"/>
              </a:rPr>
              <a:t>= </a:t>
            </a:r>
            <a:r>
              <a:rPr sz="1410" spc="-74" dirty="0">
                <a:solidFill>
                  <a:srgbClr val="465469"/>
                </a:solidFill>
                <a:latin typeface="Cambria" panose="02040503050406030204"/>
                <a:cs typeface="Cambria" panose="02040503050406030204"/>
              </a:rPr>
              <a:t>0</a:t>
            </a:r>
            <a:r>
              <a:rPr sz="940" spc="-74" dirty="0">
                <a:solidFill>
                  <a:srgbClr val="465469"/>
                </a:solidFill>
                <a:latin typeface="Times New Roman" panose="02020603050405020304"/>
                <a:cs typeface="Times New Roman" panose="02020603050405020304"/>
              </a:rPr>
              <a:t>\</a:t>
            </a:r>
            <a:r>
              <a:rPr sz="1060" spc="-122" dirty="0">
                <a:solidFill>
                  <a:srgbClr val="465469"/>
                </a:solidFill>
                <a:latin typeface="宋体" panose="02010600030101010101" pitchFamily="2" charset="-122"/>
                <a:cs typeface="宋体" panose="02010600030101010101" pitchFamily="2" charset="-122"/>
              </a:rPr>
              <a:t>，则连接两节点。</a:t>
            </a:r>
            <a:endParaRPr sz="1060">
              <a:latin typeface="宋体" panose="02010600030101010101" pitchFamily="2" charset="-122"/>
              <a:cs typeface="宋体" panose="02010600030101010101" pitchFamily="2" charset="-122"/>
            </a:endParaRPr>
          </a:p>
        </p:txBody>
      </p:sp>
      <p:pic>
        <p:nvPicPr>
          <p:cNvPr id="13" name="object 13"/>
          <p:cNvPicPr/>
          <p:nvPr/>
        </p:nvPicPr>
        <p:blipFill>
          <a:blip r:embed="rId3" cstate="print"/>
          <a:stretch>
            <a:fillRect/>
          </a:stretch>
        </p:blipFill>
        <p:spPr>
          <a:xfrm>
            <a:off x="1674933" y="2232937"/>
            <a:ext cx="179232" cy="179232"/>
          </a:xfrm>
          <a:prstGeom prst="rect">
            <a:avLst/>
          </a:prstGeom>
        </p:spPr>
      </p:pic>
      <p:sp>
        <p:nvSpPr>
          <p:cNvPr id="14" name="object 14"/>
          <p:cNvSpPr txBox="1"/>
          <p:nvPr/>
        </p:nvSpPr>
        <p:spPr>
          <a:xfrm>
            <a:off x="1732187" y="2252853"/>
            <a:ext cx="64723" cy="118674"/>
          </a:xfrm>
          <a:prstGeom prst="rect">
            <a:avLst/>
          </a:prstGeom>
        </p:spPr>
        <p:txBody>
          <a:bodyPr vert="horz" wrap="square" lIns="0" tIns="9957" rIns="0" bIns="0" rtlCol="0">
            <a:spAutoFit/>
          </a:bodyPr>
          <a:lstStyle/>
          <a:p>
            <a:pPr marL="10160">
              <a:spcBef>
                <a:spcPts val="80"/>
              </a:spcBef>
            </a:pPr>
            <a:r>
              <a:rPr sz="705" b="1" spc="-39" dirty="0">
                <a:solidFill>
                  <a:srgbClr val="FFFFFF"/>
                </a:solidFill>
                <a:latin typeface="Times New Roman" panose="02020603050405020304"/>
                <a:cs typeface="Times New Roman" panose="02020603050405020304"/>
              </a:rPr>
              <a:t>2</a:t>
            </a:r>
            <a:endParaRPr sz="705">
              <a:latin typeface="Times New Roman" panose="02020603050405020304"/>
              <a:cs typeface="Times New Roman" panose="02020603050405020304"/>
            </a:endParaRPr>
          </a:p>
        </p:txBody>
      </p:sp>
      <p:grpSp>
        <p:nvGrpSpPr>
          <p:cNvPr id="15" name="object 15"/>
          <p:cNvGrpSpPr/>
          <p:nvPr/>
        </p:nvGrpSpPr>
        <p:grpSpPr>
          <a:xfrm>
            <a:off x="6215487" y="903630"/>
            <a:ext cx="298721" cy="298721"/>
            <a:chOff x="6248399" y="1152525"/>
            <a:chExt cx="381000" cy="381000"/>
          </a:xfrm>
        </p:grpSpPr>
        <p:sp>
          <p:nvSpPr>
            <p:cNvPr id="16" name="object 16"/>
            <p:cNvSpPr/>
            <p:nvPr/>
          </p:nvSpPr>
          <p:spPr>
            <a:xfrm>
              <a:off x="6248399" y="1152525"/>
              <a:ext cx="381000" cy="381000"/>
            </a:xfrm>
            <a:custGeom>
              <a:avLst/>
              <a:gdLst/>
              <a:ahLst/>
              <a:cxnLst/>
              <a:rect l="l" t="t" r="r" b="b"/>
              <a:pathLst>
                <a:path w="381000" h="381000">
                  <a:moveTo>
                    <a:pt x="309803" y="380999"/>
                  </a:moveTo>
                  <a:lnTo>
                    <a:pt x="71196" y="380999"/>
                  </a:lnTo>
                  <a:lnTo>
                    <a:pt x="66241" y="380511"/>
                  </a:lnTo>
                  <a:lnTo>
                    <a:pt x="29705" y="365378"/>
                  </a:lnTo>
                  <a:lnTo>
                    <a:pt x="3885" y="329337"/>
                  </a:lnTo>
                  <a:lnTo>
                    <a:pt x="0" y="309803"/>
                  </a:lnTo>
                  <a:lnTo>
                    <a:pt x="0" y="304799"/>
                  </a:lnTo>
                  <a:lnTo>
                    <a:pt x="0" y="71196"/>
                  </a:lnTo>
                  <a:lnTo>
                    <a:pt x="15621" y="29705"/>
                  </a:lnTo>
                  <a:lnTo>
                    <a:pt x="51662" y="3885"/>
                  </a:lnTo>
                  <a:lnTo>
                    <a:pt x="71196" y="0"/>
                  </a:lnTo>
                  <a:lnTo>
                    <a:pt x="309803" y="0"/>
                  </a:lnTo>
                  <a:lnTo>
                    <a:pt x="351294" y="15621"/>
                  </a:lnTo>
                  <a:lnTo>
                    <a:pt x="377114" y="51662"/>
                  </a:lnTo>
                  <a:lnTo>
                    <a:pt x="380999" y="71196"/>
                  </a:lnTo>
                  <a:lnTo>
                    <a:pt x="380999" y="309803"/>
                  </a:lnTo>
                  <a:lnTo>
                    <a:pt x="365378" y="351294"/>
                  </a:lnTo>
                  <a:lnTo>
                    <a:pt x="329337" y="377114"/>
                  </a:lnTo>
                  <a:lnTo>
                    <a:pt x="314758" y="380511"/>
                  </a:lnTo>
                  <a:lnTo>
                    <a:pt x="309803" y="380999"/>
                  </a:lnTo>
                  <a:close/>
                </a:path>
              </a:pathLst>
            </a:custGeom>
            <a:solidFill>
              <a:srgbClr val="DAE9FE"/>
            </a:solidFill>
          </p:spPr>
          <p:txBody>
            <a:bodyPr wrap="square" lIns="0" tIns="0" rIns="0" bIns="0" rtlCol="0"/>
            <a:lstStyle/>
            <a:p/>
          </p:txBody>
        </p:sp>
        <p:pic>
          <p:nvPicPr>
            <p:cNvPr id="17" name="object 17"/>
            <p:cNvPicPr/>
            <p:nvPr/>
          </p:nvPicPr>
          <p:blipFill>
            <a:blip r:embed="rId4" cstate="print"/>
            <a:stretch>
              <a:fillRect/>
            </a:stretch>
          </p:blipFill>
          <p:spPr>
            <a:xfrm>
              <a:off x="6362699" y="1247774"/>
              <a:ext cx="152399" cy="190499"/>
            </a:xfrm>
            <a:prstGeom prst="rect">
              <a:avLst/>
            </a:prstGeom>
          </p:spPr>
        </p:pic>
      </p:grpSp>
      <p:sp>
        <p:nvSpPr>
          <p:cNvPr id="18" name="object 18"/>
          <p:cNvSpPr txBox="1"/>
          <p:nvPr/>
        </p:nvSpPr>
        <p:spPr>
          <a:xfrm>
            <a:off x="6593868" y="900245"/>
            <a:ext cx="1095309" cy="254356"/>
          </a:xfrm>
          <a:prstGeom prst="rect">
            <a:avLst/>
          </a:prstGeom>
        </p:spPr>
        <p:txBody>
          <a:bodyPr vert="horz" wrap="square" lIns="0" tIns="12945" rIns="0" bIns="0" rtlCol="0">
            <a:spAutoFit/>
          </a:bodyPr>
          <a:lstStyle/>
          <a:p>
            <a:pPr marL="10160">
              <a:spcBef>
                <a:spcPts val="100"/>
              </a:spcBef>
            </a:pPr>
            <a:r>
              <a:rPr sz="1570" b="1" spc="-153" dirty="0">
                <a:solidFill>
                  <a:srgbClr val="1D293B"/>
                </a:solidFill>
                <a:latin typeface="微软雅黑" panose="020B0503020204020204" charset="-122"/>
                <a:cs typeface="微软雅黑" panose="020B0503020204020204" charset="-122"/>
              </a:rPr>
              <a:t>节点与边特征</a:t>
            </a:r>
            <a:endParaRPr sz="1570">
              <a:latin typeface="微软雅黑" panose="020B0503020204020204" charset="-122"/>
              <a:cs typeface="微软雅黑" panose="020B0503020204020204" charset="-122"/>
            </a:endParaRPr>
          </a:p>
        </p:txBody>
      </p:sp>
      <p:grpSp>
        <p:nvGrpSpPr>
          <p:cNvPr id="19" name="object 19"/>
          <p:cNvGrpSpPr/>
          <p:nvPr/>
        </p:nvGrpSpPr>
        <p:grpSpPr>
          <a:xfrm>
            <a:off x="6215488" y="1381584"/>
            <a:ext cx="4301579" cy="522761"/>
            <a:chOff x="6248399" y="1762125"/>
            <a:chExt cx="5486400" cy="666750"/>
          </a:xfrm>
        </p:grpSpPr>
        <p:sp>
          <p:nvSpPr>
            <p:cNvPr id="20" name="object 20"/>
            <p:cNvSpPr/>
            <p:nvPr/>
          </p:nvSpPr>
          <p:spPr>
            <a:xfrm>
              <a:off x="6253162" y="1766887"/>
              <a:ext cx="5476875" cy="657225"/>
            </a:xfrm>
            <a:custGeom>
              <a:avLst/>
              <a:gdLst/>
              <a:ahLst/>
              <a:cxnLst/>
              <a:rect l="l" t="t" r="r" b="b"/>
              <a:pathLst>
                <a:path w="5476875" h="657225">
                  <a:moveTo>
                    <a:pt x="5410126" y="657224"/>
                  </a:moveTo>
                  <a:lnTo>
                    <a:pt x="66746" y="657224"/>
                  </a:lnTo>
                  <a:lnTo>
                    <a:pt x="62101" y="656767"/>
                  </a:lnTo>
                  <a:lnTo>
                    <a:pt x="24240" y="639618"/>
                  </a:lnTo>
                  <a:lnTo>
                    <a:pt x="2287" y="604324"/>
                  </a:lnTo>
                  <a:lnTo>
                    <a:pt x="0" y="590478"/>
                  </a:lnTo>
                  <a:lnTo>
                    <a:pt x="0" y="585787"/>
                  </a:lnTo>
                  <a:lnTo>
                    <a:pt x="0" y="66746"/>
                  </a:lnTo>
                  <a:lnTo>
                    <a:pt x="14645" y="27848"/>
                  </a:lnTo>
                  <a:lnTo>
                    <a:pt x="48433" y="3642"/>
                  </a:lnTo>
                  <a:lnTo>
                    <a:pt x="66746" y="0"/>
                  </a:lnTo>
                  <a:lnTo>
                    <a:pt x="5410126" y="0"/>
                  </a:lnTo>
                  <a:lnTo>
                    <a:pt x="5449025" y="14645"/>
                  </a:lnTo>
                  <a:lnTo>
                    <a:pt x="5473230" y="48433"/>
                  </a:lnTo>
                  <a:lnTo>
                    <a:pt x="5476874" y="66746"/>
                  </a:lnTo>
                  <a:lnTo>
                    <a:pt x="5476874" y="590478"/>
                  </a:lnTo>
                  <a:lnTo>
                    <a:pt x="5462228" y="629375"/>
                  </a:lnTo>
                  <a:lnTo>
                    <a:pt x="5428440" y="653581"/>
                  </a:lnTo>
                  <a:lnTo>
                    <a:pt x="5414772" y="656767"/>
                  </a:lnTo>
                  <a:lnTo>
                    <a:pt x="5410126" y="657224"/>
                  </a:lnTo>
                  <a:close/>
                </a:path>
              </a:pathLst>
            </a:custGeom>
            <a:solidFill>
              <a:srgbClr val="F7FAFB"/>
            </a:solidFill>
          </p:spPr>
          <p:txBody>
            <a:bodyPr wrap="square" lIns="0" tIns="0" rIns="0" bIns="0" rtlCol="0"/>
            <a:lstStyle/>
            <a:p/>
          </p:txBody>
        </p:sp>
        <p:sp>
          <p:nvSpPr>
            <p:cNvPr id="21" name="object 21"/>
            <p:cNvSpPr/>
            <p:nvPr/>
          </p:nvSpPr>
          <p:spPr>
            <a:xfrm>
              <a:off x="6253162" y="1766887"/>
              <a:ext cx="5476875" cy="657225"/>
            </a:xfrm>
            <a:custGeom>
              <a:avLst/>
              <a:gdLst/>
              <a:ahLst/>
              <a:cxnLst/>
              <a:rect l="l" t="t" r="r" b="b"/>
              <a:pathLst>
                <a:path w="5476875" h="657225">
                  <a:moveTo>
                    <a:pt x="0" y="585787"/>
                  </a:moveTo>
                  <a:lnTo>
                    <a:pt x="0" y="71437"/>
                  </a:lnTo>
                  <a:lnTo>
                    <a:pt x="0" y="66746"/>
                  </a:lnTo>
                  <a:lnTo>
                    <a:pt x="457" y="62101"/>
                  </a:lnTo>
                  <a:lnTo>
                    <a:pt x="1372" y="57500"/>
                  </a:lnTo>
                  <a:lnTo>
                    <a:pt x="2287" y="52900"/>
                  </a:lnTo>
                  <a:lnTo>
                    <a:pt x="3642" y="48433"/>
                  </a:lnTo>
                  <a:lnTo>
                    <a:pt x="5437" y="44099"/>
                  </a:lnTo>
                  <a:lnTo>
                    <a:pt x="7232" y="39765"/>
                  </a:lnTo>
                  <a:lnTo>
                    <a:pt x="31748" y="12039"/>
                  </a:lnTo>
                  <a:lnTo>
                    <a:pt x="35649" y="9433"/>
                  </a:lnTo>
                  <a:lnTo>
                    <a:pt x="66746" y="0"/>
                  </a:lnTo>
                  <a:lnTo>
                    <a:pt x="71437" y="0"/>
                  </a:lnTo>
                  <a:lnTo>
                    <a:pt x="5405437" y="0"/>
                  </a:lnTo>
                  <a:lnTo>
                    <a:pt x="5410126" y="0"/>
                  </a:lnTo>
                  <a:lnTo>
                    <a:pt x="5414772" y="457"/>
                  </a:lnTo>
                  <a:lnTo>
                    <a:pt x="5445125" y="12039"/>
                  </a:lnTo>
                  <a:lnTo>
                    <a:pt x="5449025" y="14645"/>
                  </a:lnTo>
                  <a:lnTo>
                    <a:pt x="5452634" y="17606"/>
                  </a:lnTo>
                  <a:lnTo>
                    <a:pt x="5455950" y="20923"/>
                  </a:lnTo>
                  <a:lnTo>
                    <a:pt x="5459267" y="24240"/>
                  </a:lnTo>
                  <a:lnTo>
                    <a:pt x="5475501" y="57500"/>
                  </a:lnTo>
                  <a:lnTo>
                    <a:pt x="5476417" y="62101"/>
                  </a:lnTo>
                  <a:lnTo>
                    <a:pt x="5476874" y="66746"/>
                  </a:lnTo>
                  <a:lnTo>
                    <a:pt x="5476874" y="71437"/>
                  </a:lnTo>
                  <a:lnTo>
                    <a:pt x="5476874" y="585787"/>
                  </a:lnTo>
                  <a:lnTo>
                    <a:pt x="5476874" y="590478"/>
                  </a:lnTo>
                  <a:lnTo>
                    <a:pt x="5476417" y="595123"/>
                  </a:lnTo>
                  <a:lnTo>
                    <a:pt x="5475501" y="599724"/>
                  </a:lnTo>
                  <a:lnTo>
                    <a:pt x="5474585" y="604324"/>
                  </a:lnTo>
                  <a:lnTo>
                    <a:pt x="5455950" y="636301"/>
                  </a:lnTo>
                  <a:lnTo>
                    <a:pt x="5452634" y="639618"/>
                  </a:lnTo>
                  <a:lnTo>
                    <a:pt x="5449025" y="642579"/>
                  </a:lnTo>
                  <a:lnTo>
                    <a:pt x="5445125" y="645185"/>
                  </a:lnTo>
                  <a:lnTo>
                    <a:pt x="5441224" y="647791"/>
                  </a:lnTo>
                  <a:lnTo>
                    <a:pt x="5419372" y="655852"/>
                  </a:lnTo>
                  <a:lnTo>
                    <a:pt x="5414772" y="656767"/>
                  </a:lnTo>
                  <a:lnTo>
                    <a:pt x="5410126" y="657224"/>
                  </a:lnTo>
                  <a:lnTo>
                    <a:pt x="5405437" y="657224"/>
                  </a:lnTo>
                  <a:lnTo>
                    <a:pt x="71437" y="657224"/>
                  </a:lnTo>
                  <a:lnTo>
                    <a:pt x="66746" y="657224"/>
                  </a:lnTo>
                  <a:lnTo>
                    <a:pt x="62101" y="656767"/>
                  </a:lnTo>
                  <a:lnTo>
                    <a:pt x="57500" y="655852"/>
                  </a:lnTo>
                  <a:lnTo>
                    <a:pt x="52900" y="654937"/>
                  </a:lnTo>
                  <a:lnTo>
                    <a:pt x="48433" y="653581"/>
                  </a:lnTo>
                  <a:lnTo>
                    <a:pt x="44099" y="651786"/>
                  </a:lnTo>
                  <a:lnTo>
                    <a:pt x="39765" y="649991"/>
                  </a:lnTo>
                  <a:lnTo>
                    <a:pt x="35649" y="647791"/>
                  </a:lnTo>
                  <a:lnTo>
                    <a:pt x="31748" y="645185"/>
                  </a:lnTo>
                  <a:lnTo>
                    <a:pt x="27848" y="642579"/>
                  </a:lnTo>
                  <a:lnTo>
                    <a:pt x="3642" y="608791"/>
                  </a:lnTo>
                  <a:lnTo>
                    <a:pt x="0" y="590478"/>
                  </a:lnTo>
                  <a:lnTo>
                    <a:pt x="0" y="585787"/>
                  </a:lnTo>
                  <a:close/>
                </a:path>
              </a:pathLst>
            </a:custGeom>
            <a:ln w="9524">
              <a:solidFill>
                <a:srgbClr val="E2E7F0"/>
              </a:solidFill>
            </a:ln>
          </p:spPr>
          <p:txBody>
            <a:bodyPr wrap="square" lIns="0" tIns="0" rIns="0" bIns="0" rtlCol="0"/>
            <a:lstStyle/>
            <a:p/>
          </p:txBody>
        </p:sp>
      </p:grpSp>
      <p:grpSp>
        <p:nvGrpSpPr>
          <p:cNvPr id="22" name="object 22"/>
          <p:cNvGrpSpPr/>
          <p:nvPr/>
        </p:nvGrpSpPr>
        <p:grpSpPr>
          <a:xfrm>
            <a:off x="6215488" y="1993961"/>
            <a:ext cx="4301579" cy="522761"/>
            <a:chOff x="6248399" y="2543174"/>
            <a:chExt cx="5486400" cy="666750"/>
          </a:xfrm>
        </p:grpSpPr>
        <p:sp>
          <p:nvSpPr>
            <p:cNvPr id="23" name="object 23"/>
            <p:cNvSpPr/>
            <p:nvPr/>
          </p:nvSpPr>
          <p:spPr>
            <a:xfrm>
              <a:off x="6253162" y="2547937"/>
              <a:ext cx="5476875" cy="657225"/>
            </a:xfrm>
            <a:custGeom>
              <a:avLst/>
              <a:gdLst/>
              <a:ahLst/>
              <a:cxnLst/>
              <a:rect l="l" t="t" r="r" b="b"/>
              <a:pathLst>
                <a:path w="5476875" h="657225">
                  <a:moveTo>
                    <a:pt x="5410126" y="657224"/>
                  </a:moveTo>
                  <a:lnTo>
                    <a:pt x="66746" y="657224"/>
                  </a:lnTo>
                  <a:lnTo>
                    <a:pt x="62101" y="656767"/>
                  </a:lnTo>
                  <a:lnTo>
                    <a:pt x="24240" y="639618"/>
                  </a:lnTo>
                  <a:lnTo>
                    <a:pt x="2287" y="604324"/>
                  </a:lnTo>
                  <a:lnTo>
                    <a:pt x="0" y="590478"/>
                  </a:lnTo>
                  <a:lnTo>
                    <a:pt x="0" y="585787"/>
                  </a:lnTo>
                  <a:lnTo>
                    <a:pt x="0" y="66746"/>
                  </a:lnTo>
                  <a:lnTo>
                    <a:pt x="14645" y="27848"/>
                  </a:lnTo>
                  <a:lnTo>
                    <a:pt x="48433" y="3642"/>
                  </a:lnTo>
                  <a:lnTo>
                    <a:pt x="66746" y="0"/>
                  </a:lnTo>
                  <a:lnTo>
                    <a:pt x="5410126" y="0"/>
                  </a:lnTo>
                  <a:lnTo>
                    <a:pt x="5449025" y="14645"/>
                  </a:lnTo>
                  <a:lnTo>
                    <a:pt x="5473230" y="48432"/>
                  </a:lnTo>
                  <a:lnTo>
                    <a:pt x="5476874" y="66746"/>
                  </a:lnTo>
                  <a:lnTo>
                    <a:pt x="5476874" y="590478"/>
                  </a:lnTo>
                  <a:lnTo>
                    <a:pt x="5462228" y="629376"/>
                  </a:lnTo>
                  <a:lnTo>
                    <a:pt x="5428440" y="653582"/>
                  </a:lnTo>
                  <a:lnTo>
                    <a:pt x="5414772" y="656767"/>
                  </a:lnTo>
                  <a:lnTo>
                    <a:pt x="5410126" y="657224"/>
                  </a:lnTo>
                  <a:close/>
                </a:path>
              </a:pathLst>
            </a:custGeom>
            <a:solidFill>
              <a:srgbClr val="F7FAFB"/>
            </a:solidFill>
          </p:spPr>
          <p:txBody>
            <a:bodyPr wrap="square" lIns="0" tIns="0" rIns="0" bIns="0" rtlCol="0"/>
            <a:lstStyle/>
            <a:p/>
          </p:txBody>
        </p:sp>
        <p:sp>
          <p:nvSpPr>
            <p:cNvPr id="24" name="object 24"/>
            <p:cNvSpPr/>
            <p:nvPr/>
          </p:nvSpPr>
          <p:spPr>
            <a:xfrm>
              <a:off x="6253162" y="2547937"/>
              <a:ext cx="5476875" cy="657225"/>
            </a:xfrm>
            <a:custGeom>
              <a:avLst/>
              <a:gdLst/>
              <a:ahLst/>
              <a:cxnLst/>
              <a:rect l="l" t="t" r="r" b="b"/>
              <a:pathLst>
                <a:path w="5476875" h="657225">
                  <a:moveTo>
                    <a:pt x="0" y="585787"/>
                  </a:moveTo>
                  <a:lnTo>
                    <a:pt x="0" y="71437"/>
                  </a:lnTo>
                  <a:lnTo>
                    <a:pt x="0" y="66746"/>
                  </a:lnTo>
                  <a:lnTo>
                    <a:pt x="457" y="62101"/>
                  </a:lnTo>
                  <a:lnTo>
                    <a:pt x="17606" y="24240"/>
                  </a:lnTo>
                  <a:lnTo>
                    <a:pt x="52900" y="2287"/>
                  </a:lnTo>
                  <a:lnTo>
                    <a:pt x="66746" y="0"/>
                  </a:lnTo>
                  <a:lnTo>
                    <a:pt x="71437" y="0"/>
                  </a:lnTo>
                  <a:lnTo>
                    <a:pt x="5405437" y="0"/>
                  </a:lnTo>
                  <a:lnTo>
                    <a:pt x="5410126" y="0"/>
                  </a:lnTo>
                  <a:lnTo>
                    <a:pt x="5414772" y="457"/>
                  </a:lnTo>
                  <a:lnTo>
                    <a:pt x="5419372" y="1372"/>
                  </a:lnTo>
                  <a:lnTo>
                    <a:pt x="5423973" y="2287"/>
                  </a:lnTo>
                  <a:lnTo>
                    <a:pt x="5455950" y="20923"/>
                  </a:lnTo>
                  <a:lnTo>
                    <a:pt x="5459267" y="24240"/>
                  </a:lnTo>
                  <a:lnTo>
                    <a:pt x="5475501" y="57500"/>
                  </a:lnTo>
                  <a:lnTo>
                    <a:pt x="5476417" y="62101"/>
                  </a:lnTo>
                  <a:lnTo>
                    <a:pt x="5476874" y="66746"/>
                  </a:lnTo>
                  <a:lnTo>
                    <a:pt x="5476874" y="71437"/>
                  </a:lnTo>
                  <a:lnTo>
                    <a:pt x="5476874" y="585787"/>
                  </a:lnTo>
                  <a:lnTo>
                    <a:pt x="5476874" y="590478"/>
                  </a:lnTo>
                  <a:lnTo>
                    <a:pt x="5476417" y="595123"/>
                  </a:lnTo>
                  <a:lnTo>
                    <a:pt x="5475501" y="599724"/>
                  </a:lnTo>
                  <a:lnTo>
                    <a:pt x="5474585" y="604324"/>
                  </a:lnTo>
                  <a:lnTo>
                    <a:pt x="5455950" y="636301"/>
                  </a:lnTo>
                  <a:lnTo>
                    <a:pt x="5452634" y="639618"/>
                  </a:lnTo>
                  <a:lnTo>
                    <a:pt x="5419372" y="655852"/>
                  </a:lnTo>
                  <a:lnTo>
                    <a:pt x="5414772" y="656767"/>
                  </a:lnTo>
                  <a:lnTo>
                    <a:pt x="5410126" y="657224"/>
                  </a:lnTo>
                  <a:lnTo>
                    <a:pt x="5405437" y="657224"/>
                  </a:lnTo>
                  <a:lnTo>
                    <a:pt x="71437" y="657224"/>
                  </a:lnTo>
                  <a:lnTo>
                    <a:pt x="66746" y="657224"/>
                  </a:lnTo>
                  <a:lnTo>
                    <a:pt x="62101" y="656767"/>
                  </a:lnTo>
                  <a:lnTo>
                    <a:pt x="57500" y="655852"/>
                  </a:lnTo>
                  <a:lnTo>
                    <a:pt x="52900" y="654937"/>
                  </a:lnTo>
                  <a:lnTo>
                    <a:pt x="48433" y="653582"/>
                  </a:lnTo>
                  <a:lnTo>
                    <a:pt x="44099" y="651786"/>
                  </a:lnTo>
                  <a:lnTo>
                    <a:pt x="39765" y="649991"/>
                  </a:lnTo>
                  <a:lnTo>
                    <a:pt x="20923" y="636301"/>
                  </a:lnTo>
                  <a:lnTo>
                    <a:pt x="17606" y="632984"/>
                  </a:lnTo>
                  <a:lnTo>
                    <a:pt x="457" y="595123"/>
                  </a:lnTo>
                  <a:lnTo>
                    <a:pt x="0" y="590478"/>
                  </a:lnTo>
                  <a:lnTo>
                    <a:pt x="0" y="585787"/>
                  </a:lnTo>
                  <a:close/>
                </a:path>
              </a:pathLst>
            </a:custGeom>
            <a:ln w="9524">
              <a:solidFill>
                <a:srgbClr val="E2E7F0"/>
              </a:solidFill>
            </a:ln>
          </p:spPr>
          <p:txBody>
            <a:bodyPr wrap="square" lIns="0" tIns="0" rIns="0" bIns="0" rtlCol="0"/>
            <a:lstStyle/>
            <a:p/>
          </p:txBody>
        </p:sp>
      </p:grpSp>
      <p:grpSp>
        <p:nvGrpSpPr>
          <p:cNvPr id="25" name="object 25"/>
          <p:cNvGrpSpPr/>
          <p:nvPr/>
        </p:nvGrpSpPr>
        <p:grpSpPr>
          <a:xfrm>
            <a:off x="6215488" y="2606338"/>
            <a:ext cx="4301579" cy="597442"/>
            <a:chOff x="6248399" y="3324224"/>
            <a:chExt cx="5486400" cy="762000"/>
          </a:xfrm>
        </p:grpSpPr>
        <p:sp>
          <p:nvSpPr>
            <p:cNvPr id="26" name="object 26"/>
            <p:cNvSpPr/>
            <p:nvPr/>
          </p:nvSpPr>
          <p:spPr>
            <a:xfrm>
              <a:off x="6253162" y="3328987"/>
              <a:ext cx="5476875" cy="752475"/>
            </a:xfrm>
            <a:custGeom>
              <a:avLst/>
              <a:gdLst/>
              <a:ahLst/>
              <a:cxnLst/>
              <a:rect l="l" t="t" r="r" b="b"/>
              <a:pathLst>
                <a:path w="5476875" h="752475">
                  <a:moveTo>
                    <a:pt x="5410126" y="752474"/>
                  </a:moveTo>
                  <a:lnTo>
                    <a:pt x="66746" y="752474"/>
                  </a:lnTo>
                  <a:lnTo>
                    <a:pt x="62101" y="752017"/>
                  </a:lnTo>
                  <a:lnTo>
                    <a:pt x="24240" y="734867"/>
                  </a:lnTo>
                  <a:lnTo>
                    <a:pt x="2287" y="699574"/>
                  </a:lnTo>
                  <a:lnTo>
                    <a:pt x="0" y="685728"/>
                  </a:lnTo>
                  <a:lnTo>
                    <a:pt x="0" y="681037"/>
                  </a:lnTo>
                  <a:lnTo>
                    <a:pt x="0" y="66746"/>
                  </a:lnTo>
                  <a:lnTo>
                    <a:pt x="14645" y="27848"/>
                  </a:lnTo>
                  <a:lnTo>
                    <a:pt x="48433" y="3642"/>
                  </a:lnTo>
                  <a:lnTo>
                    <a:pt x="66746" y="0"/>
                  </a:lnTo>
                  <a:lnTo>
                    <a:pt x="5410126" y="0"/>
                  </a:lnTo>
                  <a:lnTo>
                    <a:pt x="5449025" y="14645"/>
                  </a:lnTo>
                  <a:lnTo>
                    <a:pt x="5473230" y="48432"/>
                  </a:lnTo>
                  <a:lnTo>
                    <a:pt x="5476874" y="66746"/>
                  </a:lnTo>
                  <a:lnTo>
                    <a:pt x="5476874" y="685728"/>
                  </a:lnTo>
                  <a:lnTo>
                    <a:pt x="5462228" y="724625"/>
                  </a:lnTo>
                  <a:lnTo>
                    <a:pt x="5428440" y="748831"/>
                  </a:lnTo>
                  <a:lnTo>
                    <a:pt x="5414772" y="752017"/>
                  </a:lnTo>
                  <a:lnTo>
                    <a:pt x="5410126" y="752474"/>
                  </a:lnTo>
                  <a:close/>
                </a:path>
              </a:pathLst>
            </a:custGeom>
            <a:solidFill>
              <a:srgbClr val="F7FAFB"/>
            </a:solidFill>
          </p:spPr>
          <p:txBody>
            <a:bodyPr wrap="square" lIns="0" tIns="0" rIns="0" bIns="0" rtlCol="0"/>
            <a:lstStyle/>
            <a:p/>
          </p:txBody>
        </p:sp>
        <p:sp>
          <p:nvSpPr>
            <p:cNvPr id="27" name="object 27"/>
            <p:cNvSpPr/>
            <p:nvPr/>
          </p:nvSpPr>
          <p:spPr>
            <a:xfrm>
              <a:off x="6253162" y="3328987"/>
              <a:ext cx="5476875" cy="752475"/>
            </a:xfrm>
            <a:custGeom>
              <a:avLst/>
              <a:gdLst/>
              <a:ahLst/>
              <a:cxnLst/>
              <a:rect l="l" t="t" r="r" b="b"/>
              <a:pathLst>
                <a:path w="5476875" h="752475">
                  <a:moveTo>
                    <a:pt x="0" y="681037"/>
                  </a:moveTo>
                  <a:lnTo>
                    <a:pt x="0" y="71437"/>
                  </a:lnTo>
                  <a:lnTo>
                    <a:pt x="0" y="66746"/>
                  </a:lnTo>
                  <a:lnTo>
                    <a:pt x="457" y="62101"/>
                  </a:lnTo>
                  <a:lnTo>
                    <a:pt x="1372" y="57500"/>
                  </a:lnTo>
                  <a:lnTo>
                    <a:pt x="2287" y="52899"/>
                  </a:lnTo>
                  <a:lnTo>
                    <a:pt x="3642" y="48432"/>
                  </a:lnTo>
                  <a:lnTo>
                    <a:pt x="5437" y="44099"/>
                  </a:lnTo>
                  <a:lnTo>
                    <a:pt x="7232" y="39765"/>
                  </a:lnTo>
                  <a:lnTo>
                    <a:pt x="9433" y="35648"/>
                  </a:lnTo>
                  <a:lnTo>
                    <a:pt x="12039" y="31748"/>
                  </a:lnTo>
                  <a:lnTo>
                    <a:pt x="14645" y="27848"/>
                  </a:lnTo>
                  <a:lnTo>
                    <a:pt x="17606" y="24240"/>
                  </a:lnTo>
                  <a:lnTo>
                    <a:pt x="20923" y="20923"/>
                  </a:lnTo>
                  <a:lnTo>
                    <a:pt x="24240" y="17606"/>
                  </a:lnTo>
                  <a:lnTo>
                    <a:pt x="27848" y="14645"/>
                  </a:lnTo>
                  <a:lnTo>
                    <a:pt x="31748" y="12039"/>
                  </a:lnTo>
                  <a:lnTo>
                    <a:pt x="35649" y="9433"/>
                  </a:lnTo>
                  <a:lnTo>
                    <a:pt x="39765" y="7232"/>
                  </a:lnTo>
                  <a:lnTo>
                    <a:pt x="44099" y="5437"/>
                  </a:lnTo>
                  <a:lnTo>
                    <a:pt x="48433" y="3642"/>
                  </a:lnTo>
                  <a:lnTo>
                    <a:pt x="52900" y="2287"/>
                  </a:lnTo>
                  <a:lnTo>
                    <a:pt x="57500" y="1372"/>
                  </a:lnTo>
                  <a:lnTo>
                    <a:pt x="62101" y="457"/>
                  </a:lnTo>
                  <a:lnTo>
                    <a:pt x="66746" y="0"/>
                  </a:lnTo>
                  <a:lnTo>
                    <a:pt x="71437" y="0"/>
                  </a:lnTo>
                  <a:lnTo>
                    <a:pt x="5405437" y="0"/>
                  </a:lnTo>
                  <a:lnTo>
                    <a:pt x="5410126" y="0"/>
                  </a:lnTo>
                  <a:lnTo>
                    <a:pt x="5414772" y="457"/>
                  </a:lnTo>
                  <a:lnTo>
                    <a:pt x="5419372" y="1372"/>
                  </a:lnTo>
                  <a:lnTo>
                    <a:pt x="5423973" y="2287"/>
                  </a:lnTo>
                  <a:lnTo>
                    <a:pt x="5445125" y="12039"/>
                  </a:lnTo>
                  <a:lnTo>
                    <a:pt x="5449025" y="14645"/>
                  </a:lnTo>
                  <a:lnTo>
                    <a:pt x="5452634" y="17606"/>
                  </a:lnTo>
                  <a:lnTo>
                    <a:pt x="5455950" y="20923"/>
                  </a:lnTo>
                  <a:lnTo>
                    <a:pt x="5459267" y="24240"/>
                  </a:lnTo>
                  <a:lnTo>
                    <a:pt x="5475501" y="57500"/>
                  </a:lnTo>
                  <a:lnTo>
                    <a:pt x="5476417" y="62101"/>
                  </a:lnTo>
                  <a:lnTo>
                    <a:pt x="5476874" y="66746"/>
                  </a:lnTo>
                  <a:lnTo>
                    <a:pt x="5476874" y="71437"/>
                  </a:lnTo>
                  <a:lnTo>
                    <a:pt x="5476874" y="681037"/>
                  </a:lnTo>
                  <a:lnTo>
                    <a:pt x="5476874" y="685728"/>
                  </a:lnTo>
                  <a:lnTo>
                    <a:pt x="5476417" y="690373"/>
                  </a:lnTo>
                  <a:lnTo>
                    <a:pt x="5475501" y="694974"/>
                  </a:lnTo>
                  <a:lnTo>
                    <a:pt x="5474585" y="699574"/>
                  </a:lnTo>
                  <a:lnTo>
                    <a:pt x="5452634" y="734867"/>
                  </a:lnTo>
                  <a:lnTo>
                    <a:pt x="5414772" y="752017"/>
                  </a:lnTo>
                  <a:lnTo>
                    <a:pt x="5405437" y="752474"/>
                  </a:lnTo>
                  <a:lnTo>
                    <a:pt x="71437" y="752474"/>
                  </a:lnTo>
                  <a:lnTo>
                    <a:pt x="31748" y="740434"/>
                  </a:lnTo>
                  <a:lnTo>
                    <a:pt x="27848" y="737829"/>
                  </a:lnTo>
                  <a:lnTo>
                    <a:pt x="3642" y="704041"/>
                  </a:lnTo>
                  <a:lnTo>
                    <a:pt x="0" y="685728"/>
                  </a:lnTo>
                  <a:lnTo>
                    <a:pt x="0" y="681037"/>
                  </a:lnTo>
                  <a:close/>
                </a:path>
              </a:pathLst>
            </a:custGeom>
            <a:ln w="9524">
              <a:solidFill>
                <a:srgbClr val="E2E7F0"/>
              </a:solidFill>
            </a:ln>
          </p:spPr>
          <p:txBody>
            <a:bodyPr wrap="square" lIns="0" tIns="0" rIns="0" bIns="0" rtlCol="0"/>
            <a:lstStyle/>
            <a:p/>
          </p:txBody>
        </p:sp>
      </p:grpSp>
      <p:sp>
        <p:nvSpPr>
          <p:cNvPr id="28" name="object 28"/>
          <p:cNvSpPr txBox="1"/>
          <p:nvPr/>
        </p:nvSpPr>
        <p:spPr>
          <a:xfrm>
            <a:off x="6302614" y="1444263"/>
            <a:ext cx="1692751" cy="341427"/>
          </a:xfrm>
          <a:prstGeom prst="rect">
            <a:avLst/>
          </a:prstGeom>
        </p:spPr>
        <p:txBody>
          <a:bodyPr vert="horz" wrap="square" lIns="0" tIns="31864" rIns="0" bIns="0" rtlCol="0">
            <a:spAutoFit/>
          </a:bodyPr>
          <a:lstStyle/>
          <a:p>
            <a:pPr marL="10160">
              <a:spcBef>
                <a:spcPts val="250"/>
              </a:spcBef>
            </a:pPr>
            <a:r>
              <a:rPr sz="900" b="1" spc="-24" dirty="0">
                <a:solidFill>
                  <a:srgbClr val="4237CA"/>
                </a:solidFill>
                <a:latin typeface="微软雅黑" panose="020B0503020204020204" charset="-122"/>
                <a:cs typeface="微软雅黑" panose="020B0503020204020204" charset="-122"/>
              </a:rPr>
              <a:t>特征向量 </a:t>
            </a:r>
            <a:r>
              <a:rPr sz="825" b="1" dirty="0">
                <a:solidFill>
                  <a:srgbClr val="4237CA"/>
                </a:solidFill>
                <a:latin typeface="Courier New" panose="02070309020205020404"/>
                <a:cs typeface="Courier New" panose="02070309020205020404"/>
              </a:rPr>
              <a:t>C</a:t>
            </a:r>
            <a:r>
              <a:rPr sz="825" b="1" spc="-51" dirty="0">
                <a:solidFill>
                  <a:srgbClr val="4237CA"/>
                </a:solidFill>
                <a:latin typeface="Courier New" panose="02070309020205020404"/>
                <a:cs typeface="Courier New" panose="02070309020205020404"/>
              </a:rPr>
              <a:t> (</a:t>
            </a:r>
            <a:r>
              <a:rPr sz="900" b="1" spc="-86" dirty="0">
                <a:solidFill>
                  <a:srgbClr val="4237CA"/>
                </a:solidFill>
                <a:latin typeface="微软雅黑" panose="020B0503020204020204" charset="-122"/>
                <a:cs typeface="微软雅黑" panose="020B0503020204020204" charset="-122"/>
              </a:rPr>
              <a:t>约束</a:t>
            </a:r>
            <a:r>
              <a:rPr sz="825" b="1" spc="-39" dirty="0">
                <a:solidFill>
                  <a:srgbClr val="4237CA"/>
                </a:solidFill>
                <a:latin typeface="Courier New" panose="02070309020205020404"/>
                <a:cs typeface="Courier New" panose="02070309020205020404"/>
              </a:rPr>
              <a:t>)</a:t>
            </a:r>
            <a:endParaRPr sz="825">
              <a:latin typeface="Courier New" panose="02070309020205020404"/>
              <a:cs typeface="Courier New" panose="02070309020205020404"/>
            </a:endParaRPr>
          </a:p>
          <a:p>
            <a:pPr marL="10160">
              <a:spcBef>
                <a:spcPts val="170"/>
              </a:spcBef>
            </a:pPr>
            <a:r>
              <a:rPr sz="940" spc="-125" dirty="0">
                <a:solidFill>
                  <a:srgbClr val="465469"/>
                </a:solidFill>
                <a:latin typeface="宋体" panose="02010600030101010101" pitchFamily="2" charset="-122"/>
                <a:cs typeface="宋体" panose="02010600030101010101" pitchFamily="2" charset="-122"/>
              </a:rPr>
              <a:t>约束范数、等式类型、右手项系数等</a:t>
            </a:r>
            <a:endParaRPr sz="940">
              <a:latin typeface="宋体" panose="02010600030101010101" pitchFamily="2" charset="-122"/>
              <a:cs typeface="宋体" panose="02010600030101010101" pitchFamily="2" charset="-122"/>
            </a:endParaRPr>
          </a:p>
        </p:txBody>
      </p:sp>
      <p:sp>
        <p:nvSpPr>
          <p:cNvPr id="29" name="object 29"/>
          <p:cNvSpPr txBox="1"/>
          <p:nvPr/>
        </p:nvSpPr>
        <p:spPr>
          <a:xfrm>
            <a:off x="6302615" y="2056640"/>
            <a:ext cx="1791827" cy="341427"/>
          </a:xfrm>
          <a:prstGeom prst="rect">
            <a:avLst/>
          </a:prstGeom>
        </p:spPr>
        <p:txBody>
          <a:bodyPr vert="horz" wrap="square" lIns="0" tIns="31864" rIns="0" bIns="0" rtlCol="0">
            <a:spAutoFit/>
          </a:bodyPr>
          <a:lstStyle/>
          <a:p>
            <a:pPr marL="10160">
              <a:spcBef>
                <a:spcPts val="250"/>
              </a:spcBef>
            </a:pPr>
            <a:r>
              <a:rPr sz="900" b="1" spc="-24" dirty="0">
                <a:solidFill>
                  <a:srgbClr val="4237CA"/>
                </a:solidFill>
                <a:latin typeface="微软雅黑" panose="020B0503020204020204" charset="-122"/>
                <a:cs typeface="微软雅黑" panose="020B0503020204020204" charset="-122"/>
              </a:rPr>
              <a:t>特征向量 </a:t>
            </a:r>
            <a:r>
              <a:rPr sz="825" b="1" dirty="0">
                <a:solidFill>
                  <a:srgbClr val="4237CA"/>
                </a:solidFill>
                <a:latin typeface="Courier New" panose="02070309020205020404"/>
                <a:cs typeface="Courier New" panose="02070309020205020404"/>
              </a:rPr>
              <a:t>V</a:t>
            </a:r>
            <a:r>
              <a:rPr sz="825" b="1" spc="-51" dirty="0">
                <a:solidFill>
                  <a:srgbClr val="4237CA"/>
                </a:solidFill>
                <a:latin typeface="Courier New" panose="02070309020205020404"/>
                <a:cs typeface="Courier New" panose="02070309020205020404"/>
              </a:rPr>
              <a:t> (</a:t>
            </a:r>
            <a:r>
              <a:rPr sz="900" b="1" spc="-86" dirty="0">
                <a:solidFill>
                  <a:srgbClr val="4237CA"/>
                </a:solidFill>
                <a:latin typeface="微软雅黑" panose="020B0503020204020204" charset="-122"/>
                <a:cs typeface="微软雅黑" panose="020B0503020204020204" charset="-122"/>
              </a:rPr>
              <a:t>变量</a:t>
            </a:r>
            <a:r>
              <a:rPr sz="825" b="1" spc="-39" dirty="0">
                <a:solidFill>
                  <a:srgbClr val="4237CA"/>
                </a:solidFill>
                <a:latin typeface="Courier New" panose="02070309020205020404"/>
                <a:cs typeface="Courier New" panose="02070309020205020404"/>
              </a:rPr>
              <a:t>)</a:t>
            </a:r>
            <a:endParaRPr sz="825">
              <a:latin typeface="Courier New" panose="02070309020205020404"/>
              <a:cs typeface="Courier New" panose="02070309020205020404"/>
            </a:endParaRPr>
          </a:p>
          <a:p>
            <a:pPr marL="10160">
              <a:spcBef>
                <a:spcPts val="170"/>
              </a:spcBef>
            </a:pPr>
            <a:r>
              <a:rPr sz="940" spc="-129" dirty="0">
                <a:solidFill>
                  <a:srgbClr val="465469"/>
                </a:solidFill>
                <a:latin typeface="宋体" panose="02010600030101010101" pitchFamily="2" charset="-122"/>
                <a:cs typeface="宋体" panose="02010600030101010101" pitchFamily="2" charset="-122"/>
              </a:rPr>
              <a:t>变量类型</a:t>
            </a:r>
            <a:r>
              <a:rPr sz="825" i="1" spc="-8" dirty="0">
                <a:solidFill>
                  <a:srgbClr val="465469"/>
                </a:solidFill>
                <a:latin typeface="Times New Roman" panose="02020603050405020304"/>
                <a:cs typeface="Times New Roman" panose="02020603050405020304"/>
              </a:rPr>
              <a:t>(</a:t>
            </a:r>
            <a:r>
              <a:rPr sz="940" spc="-129" dirty="0">
                <a:solidFill>
                  <a:srgbClr val="465469"/>
                </a:solidFill>
                <a:latin typeface="宋体" panose="02010600030101010101" pitchFamily="2" charset="-122"/>
                <a:cs typeface="宋体" panose="02010600030101010101" pitchFamily="2" charset="-122"/>
              </a:rPr>
              <a:t>整</a:t>
            </a:r>
            <a:r>
              <a:rPr sz="825" i="1" dirty="0">
                <a:solidFill>
                  <a:srgbClr val="465469"/>
                </a:solidFill>
                <a:latin typeface="Times New Roman" panose="02020603050405020304"/>
                <a:cs typeface="Times New Roman" panose="02020603050405020304"/>
              </a:rPr>
              <a:t>/</a:t>
            </a:r>
            <a:r>
              <a:rPr sz="940" spc="-129" dirty="0">
                <a:solidFill>
                  <a:srgbClr val="465469"/>
                </a:solidFill>
                <a:latin typeface="宋体" panose="02010600030101010101" pitchFamily="2" charset="-122"/>
                <a:cs typeface="宋体" panose="02010600030101010101" pitchFamily="2" charset="-122"/>
              </a:rPr>
              <a:t>连</a:t>
            </a:r>
            <a:r>
              <a:rPr sz="825" i="1" spc="-8" dirty="0">
                <a:solidFill>
                  <a:srgbClr val="465469"/>
                </a:solidFill>
                <a:latin typeface="Times New Roman" panose="02020603050405020304"/>
                <a:cs typeface="Times New Roman" panose="02020603050405020304"/>
              </a:rPr>
              <a:t>)</a:t>
            </a:r>
            <a:r>
              <a:rPr sz="940" spc="-122" dirty="0">
                <a:solidFill>
                  <a:srgbClr val="465469"/>
                </a:solidFill>
                <a:latin typeface="宋体" panose="02010600030101010101" pitchFamily="2" charset="-122"/>
                <a:cs typeface="宋体" panose="02010600030101010101" pitchFamily="2" charset="-122"/>
              </a:rPr>
              <a:t>、松弛解值、分支状态</a:t>
            </a:r>
            <a:endParaRPr sz="940">
              <a:latin typeface="宋体" panose="02010600030101010101" pitchFamily="2" charset="-122"/>
              <a:cs typeface="宋体" panose="02010600030101010101" pitchFamily="2" charset="-122"/>
            </a:endParaRPr>
          </a:p>
        </p:txBody>
      </p:sp>
      <p:sp>
        <p:nvSpPr>
          <p:cNvPr id="30" name="object 30"/>
          <p:cNvSpPr txBox="1"/>
          <p:nvPr/>
        </p:nvSpPr>
        <p:spPr>
          <a:xfrm>
            <a:off x="6302614" y="2687342"/>
            <a:ext cx="844384" cy="152394"/>
          </a:xfrm>
          <a:prstGeom prst="rect">
            <a:avLst/>
          </a:prstGeom>
        </p:spPr>
        <p:txBody>
          <a:bodyPr vert="horz" wrap="square" lIns="0" tIns="13442" rIns="0" bIns="0" rtlCol="0">
            <a:spAutoFit/>
          </a:bodyPr>
          <a:lstStyle/>
          <a:p>
            <a:pPr marL="10160">
              <a:spcBef>
                <a:spcPts val="105"/>
              </a:spcBef>
            </a:pPr>
            <a:r>
              <a:rPr sz="900" b="1" spc="-24" dirty="0">
                <a:solidFill>
                  <a:srgbClr val="4237CA"/>
                </a:solidFill>
                <a:latin typeface="微软雅黑" panose="020B0503020204020204" charset="-122"/>
                <a:cs typeface="微软雅黑" panose="020B0503020204020204" charset="-122"/>
              </a:rPr>
              <a:t>特征向量 </a:t>
            </a:r>
            <a:r>
              <a:rPr sz="825" b="1" dirty="0">
                <a:solidFill>
                  <a:srgbClr val="4237CA"/>
                </a:solidFill>
                <a:latin typeface="Courier New" panose="02070309020205020404"/>
                <a:cs typeface="Courier New" panose="02070309020205020404"/>
              </a:rPr>
              <a:t>E</a:t>
            </a:r>
            <a:r>
              <a:rPr sz="825" b="1" spc="-55" dirty="0">
                <a:solidFill>
                  <a:srgbClr val="4237CA"/>
                </a:solidFill>
                <a:latin typeface="Courier New" panose="02070309020205020404"/>
                <a:cs typeface="Courier New" panose="02070309020205020404"/>
              </a:rPr>
              <a:t> (</a:t>
            </a:r>
            <a:r>
              <a:rPr sz="900" b="1" spc="-86" dirty="0">
                <a:solidFill>
                  <a:srgbClr val="4237CA"/>
                </a:solidFill>
                <a:latin typeface="微软雅黑" panose="020B0503020204020204" charset="-122"/>
                <a:cs typeface="微软雅黑" panose="020B0503020204020204" charset="-122"/>
              </a:rPr>
              <a:t>边</a:t>
            </a:r>
            <a:r>
              <a:rPr sz="825" b="1" spc="-39" dirty="0">
                <a:solidFill>
                  <a:srgbClr val="4237CA"/>
                </a:solidFill>
                <a:latin typeface="Courier New" panose="02070309020205020404"/>
                <a:cs typeface="Courier New" panose="02070309020205020404"/>
              </a:rPr>
              <a:t>)</a:t>
            </a:r>
            <a:endParaRPr sz="825">
              <a:latin typeface="Courier New" panose="02070309020205020404"/>
              <a:cs typeface="Courier New" panose="02070309020205020404"/>
            </a:endParaRPr>
          </a:p>
        </p:txBody>
      </p:sp>
      <p:sp>
        <p:nvSpPr>
          <p:cNvPr id="31" name="object 31"/>
          <p:cNvSpPr txBox="1"/>
          <p:nvPr/>
        </p:nvSpPr>
        <p:spPr>
          <a:xfrm>
            <a:off x="6302614" y="2907746"/>
            <a:ext cx="856333" cy="156849"/>
          </a:xfrm>
          <a:prstGeom prst="rect">
            <a:avLst/>
          </a:prstGeom>
        </p:spPr>
        <p:txBody>
          <a:bodyPr vert="horz" wrap="square" lIns="0" tIns="11949" rIns="0" bIns="0" rtlCol="0">
            <a:spAutoFit/>
          </a:bodyPr>
          <a:lstStyle/>
          <a:p>
            <a:pPr marL="10160">
              <a:spcBef>
                <a:spcPts val="95"/>
              </a:spcBef>
            </a:pPr>
            <a:r>
              <a:rPr sz="940" spc="-122" dirty="0">
                <a:solidFill>
                  <a:srgbClr val="465469"/>
                </a:solidFill>
                <a:latin typeface="宋体" panose="02010600030101010101" pitchFamily="2" charset="-122"/>
                <a:cs typeface="宋体" panose="02010600030101010101" pitchFamily="2" charset="-122"/>
              </a:rPr>
              <a:t>约束矩阵中的系数</a:t>
            </a:r>
            <a:endParaRPr sz="940">
              <a:latin typeface="宋体" panose="02010600030101010101" pitchFamily="2" charset="-122"/>
              <a:cs typeface="宋体" panose="02010600030101010101" pitchFamily="2" charset="-122"/>
            </a:endParaRPr>
          </a:p>
        </p:txBody>
      </p:sp>
      <p:sp>
        <p:nvSpPr>
          <p:cNvPr id="32" name="object 32"/>
          <p:cNvSpPr txBox="1"/>
          <p:nvPr/>
        </p:nvSpPr>
        <p:spPr>
          <a:xfrm>
            <a:off x="7190064" y="2880166"/>
            <a:ext cx="290755" cy="227293"/>
          </a:xfrm>
          <a:prstGeom prst="rect">
            <a:avLst/>
          </a:prstGeom>
        </p:spPr>
        <p:txBody>
          <a:bodyPr vert="horz" wrap="square" lIns="0" tIns="9957" rIns="0" bIns="0" rtlCol="0">
            <a:spAutoFit/>
          </a:bodyPr>
          <a:lstStyle/>
          <a:p>
            <a:pPr marL="29845">
              <a:spcBef>
                <a:spcPts val="80"/>
              </a:spcBef>
            </a:pPr>
            <a:r>
              <a:rPr sz="2115" i="1" spc="164" baseline="9000" dirty="0">
                <a:solidFill>
                  <a:srgbClr val="465469"/>
                </a:solidFill>
                <a:latin typeface="Times New Roman" panose="02020603050405020304"/>
                <a:cs typeface="Times New Roman" panose="02020603050405020304"/>
              </a:rPr>
              <a:t>A</a:t>
            </a:r>
            <a:r>
              <a:rPr sz="980" i="1" spc="110" dirty="0">
                <a:solidFill>
                  <a:srgbClr val="465469"/>
                </a:solidFill>
                <a:latin typeface="Times New Roman" panose="02020603050405020304"/>
                <a:cs typeface="Times New Roman" panose="02020603050405020304"/>
              </a:rPr>
              <a:t>ij</a:t>
            </a:r>
            <a:endParaRPr sz="980">
              <a:latin typeface="Times New Roman" panose="02020603050405020304"/>
              <a:cs typeface="Times New Roman" panose="02020603050405020304"/>
            </a:endParaRPr>
          </a:p>
        </p:txBody>
      </p:sp>
      <p:sp>
        <p:nvSpPr>
          <p:cNvPr id="33" name="object 33"/>
          <p:cNvSpPr/>
          <p:nvPr/>
        </p:nvSpPr>
        <p:spPr>
          <a:xfrm>
            <a:off x="1674933" y="3383013"/>
            <a:ext cx="8842135" cy="1881941"/>
          </a:xfrm>
          <a:custGeom>
            <a:avLst/>
            <a:gdLst/>
            <a:ahLst/>
            <a:cxnLst/>
            <a:rect l="l" t="t" r="r" b="b"/>
            <a:pathLst>
              <a:path w="11277600" h="2400300">
                <a:moveTo>
                  <a:pt x="11170803" y="2400299"/>
                </a:moveTo>
                <a:lnTo>
                  <a:pt x="106794" y="2400299"/>
                </a:lnTo>
                <a:lnTo>
                  <a:pt x="99362" y="2399567"/>
                </a:lnTo>
                <a:lnTo>
                  <a:pt x="57038" y="2385206"/>
                </a:lnTo>
                <a:lnTo>
                  <a:pt x="23432" y="2355741"/>
                </a:lnTo>
                <a:lnTo>
                  <a:pt x="3660" y="2315659"/>
                </a:lnTo>
                <a:lnTo>
                  <a:pt x="0" y="2293504"/>
                </a:lnTo>
                <a:lnTo>
                  <a:pt x="0" y="2285999"/>
                </a:lnTo>
                <a:lnTo>
                  <a:pt x="0" y="106794"/>
                </a:lnTo>
                <a:lnTo>
                  <a:pt x="11572" y="63625"/>
                </a:lnTo>
                <a:lnTo>
                  <a:pt x="38784" y="28170"/>
                </a:lnTo>
                <a:lnTo>
                  <a:pt x="77493" y="5828"/>
                </a:lnTo>
                <a:lnTo>
                  <a:pt x="106794" y="0"/>
                </a:lnTo>
                <a:lnTo>
                  <a:pt x="11170803" y="0"/>
                </a:lnTo>
                <a:lnTo>
                  <a:pt x="11213971" y="11572"/>
                </a:lnTo>
                <a:lnTo>
                  <a:pt x="11249426" y="38784"/>
                </a:lnTo>
                <a:lnTo>
                  <a:pt x="11271768" y="77493"/>
                </a:lnTo>
                <a:lnTo>
                  <a:pt x="11277597" y="106794"/>
                </a:lnTo>
                <a:lnTo>
                  <a:pt x="11277597" y="2293504"/>
                </a:lnTo>
                <a:lnTo>
                  <a:pt x="11266023" y="2336674"/>
                </a:lnTo>
                <a:lnTo>
                  <a:pt x="11238811" y="2372128"/>
                </a:lnTo>
                <a:lnTo>
                  <a:pt x="11200105" y="2394471"/>
                </a:lnTo>
                <a:lnTo>
                  <a:pt x="11178236" y="2399567"/>
                </a:lnTo>
                <a:lnTo>
                  <a:pt x="11170803" y="2400299"/>
                </a:lnTo>
                <a:close/>
              </a:path>
            </a:pathLst>
          </a:custGeom>
          <a:solidFill>
            <a:srgbClr val="312E81"/>
          </a:solidFill>
        </p:spPr>
        <p:txBody>
          <a:bodyPr wrap="square" lIns="0" tIns="0" rIns="0" bIns="0" rtlCol="0"/>
          <a:lstStyle/>
          <a:p/>
        </p:txBody>
      </p:sp>
      <p:sp>
        <p:nvSpPr>
          <p:cNvPr id="34" name="object 34"/>
          <p:cNvSpPr txBox="1"/>
          <p:nvPr/>
        </p:nvSpPr>
        <p:spPr>
          <a:xfrm>
            <a:off x="5762701" y="3540637"/>
            <a:ext cx="657684" cy="132236"/>
          </a:xfrm>
          <a:prstGeom prst="rect">
            <a:avLst/>
          </a:prstGeom>
        </p:spPr>
        <p:txBody>
          <a:bodyPr vert="horz" wrap="square" lIns="0" tIns="11450" rIns="0" bIns="0" rtlCol="0">
            <a:spAutoFit/>
          </a:bodyPr>
          <a:lstStyle/>
          <a:p>
            <a:pPr marL="10160">
              <a:spcBef>
                <a:spcPts val="90"/>
              </a:spcBef>
            </a:pPr>
            <a:r>
              <a:rPr sz="785" b="1" spc="-8" dirty="0">
                <a:solidFill>
                  <a:srgbClr val="C7D1FE"/>
                </a:solidFill>
                <a:latin typeface="微软雅黑" panose="020B0503020204020204" charset="-122"/>
                <a:cs typeface="微软雅黑" panose="020B0503020204020204" charset="-122"/>
              </a:rPr>
              <a:t>定义</a:t>
            </a:r>
            <a:r>
              <a:rPr sz="705" b="1" spc="-16" dirty="0">
                <a:solidFill>
                  <a:srgbClr val="C7D1FE"/>
                </a:solidFill>
                <a:latin typeface="Tahoma" panose="020B0604030504040204"/>
                <a:cs typeface="Tahoma" panose="020B0604030504040204"/>
              </a:rPr>
              <a:t>: </a:t>
            </a:r>
            <a:r>
              <a:rPr sz="785" b="1" spc="-16" dirty="0">
                <a:solidFill>
                  <a:srgbClr val="C7D1FE"/>
                </a:solidFill>
                <a:latin typeface="微软雅黑" panose="020B0503020204020204" charset="-122"/>
                <a:cs typeface="微软雅黑" panose="020B0503020204020204" charset="-122"/>
              </a:rPr>
              <a:t>图的构建</a:t>
            </a:r>
            <a:endParaRPr sz="785">
              <a:latin typeface="微软雅黑" panose="020B0503020204020204" charset="-122"/>
              <a:cs typeface="微软雅黑" panose="020B0503020204020204" charset="-122"/>
            </a:endParaRPr>
          </a:p>
        </p:txBody>
      </p:sp>
      <p:grpSp>
        <p:nvGrpSpPr>
          <p:cNvPr id="35" name="object 35"/>
          <p:cNvGrpSpPr/>
          <p:nvPr/>
        </p:nvGrpSpPr>
        <p:grpSpPr>
          <a:xfrm>
            <a:off x="1854164" y="3383013"/>
            <a:ext cx="8662902" cy="477953"/>
            <a:chOff x="685799" y="4314825"/>
            <a:chExt cx="11049000" cy="609600"/>
          </a:xfrm>
        </p:grpSpPr>
        <p:sp>
          <p:nvSpPr>
            <p:cNvPr id="36" name="object 36"/>
            <p:cNvSpPr/>
            <p:nvPr/>
          </p:nvSpPr>
          <p:spPr>
            <a:xfrm>
              <a:off x="11125199" y="4314825"/>
              <a:ext cx="609600" cy="609600"/>
            </a:xfrm>
            <a:custGeom>
              <a:avLst/>
              <a:gdLst/>
              <a:ahLst/>
              <a:cxnLst/>
              <a:rect l="l" t="t" r="r" b="b"/>
              <a:pathLst>
                <a:path w="609600" h="609600">
                  <a:moveTo>
                    <a:pt x="609600" y="609599"/>
                  </a:moveTo>
                  <a:lnTo>
                    <a:pt x="564759" y="607948"/>
                  </a:lnTo>
                  <a:lnTo>
                    <a:pt x="520152" y="603002"/>
                  </a:lnTo>
                  <a:lnTo>
                    <a:pt x="476030" y="594787"/>
                  </a:lnTo>
                  <a:lnTo>
                    <a:pt x="432641" y="583350"/>
                  </a:lnTo>
                  <a:lnTo>
                    <a:pt x="390210" y="568754"/>
                  </a:lnTo>
                  <a:lnTo>
                    <a:pt x="348961" y="551072"/>
                  </a:lnTo>
                  <a:lnTo>
                    <a:pt x="309124" y="530402"/>
                  </a:lnTo>
                  <a:lnTo>
                    <a:pt x="270922" y="506863"/>
                  </a:lnTo>
                  <a:lnTo>
                    <a:pt x="234557" y="480578"/>
                  </a:lnTo>
                  <a:lnTo>
                    <a:pt x="200216" y="451684"/>
                  </a:lnTo>
                  <a:lnTo>
                    <a:pt x="168095" y="420340"/>
                  </a:lnTo>
                  <a:lnTo>
                    <a:pt x="138371" y="386726"/>
                  </a:lnTo>
                  <a:lnTo>
                    <a:pt x="111201" y="351016"/>
                  </a:lnTo>
                  <a:lnTo>
                    <a:pt x="86728" y="313397"/>
                  </a:lnTo>
                  <a:lnTo>
                    <a:pt x="65087" y="274079"/>
                  </a:lnTo>
                  <a:lnTo>
                    <a:pt x="46401" y="233283"/>
                  </a:lnTo>
                  <a:lnTo>
                    <a:pt x="30767" y="191224"/>
                  </a:lnTo>
                  <a:lnTo>
                    <a:pt x="18267" y="148120"/>
                  </a:lnTo>
                  <a:lnTo>
                    <a:pt x="8972" y="104213"/>
                  </a:lnTo>
                  <a:lnTo>
                    <a:pt x="3003" y="60364"/>
                  </a:lnTo>
                  <a:lnTo>
                    <a:pt x="2935" y="59751"/>
                  </a:lnTo>
                  <a:lnTo>
                    <a:pt x="183" y="14964"/>
                  </a:lnTo>
                  <a:lnTo>
                    <a:pt x="0" y="0"/>
                  </a:lnTo>
                  <a:lnTo>
                    <a:pt x="495298" y="0"/>
                  </a:lnTo>
                  <a:lnTo>
                    <a:pt x="539039" y="8700"/>
                  </a:lnTo>
                  <a:lnTo>
                    <a:pt x="576122" y="33477"/>
                  </a:lnTo>
                  <a:lnTo>
                    <a:pt x="600898" y="70558"/>
                  </a:lnTo>
                  <a:lnTo>
                    <a:pt x="609600" y="114300"/>
                  </a:lnTo>
                  <a:lnTo>
                    <a:pt x="609600" y="609599"/>
                  </a:lnTo>
                  <a:close/>
                </a:path>
              </a:pathLst>
            </a:custGeom>
            <a:solidFill>
              <a:srgbClr val="FFFFFF">
                <a:alpha val="4998"/>
              </a:srgbClr>
            </a:solidFill>
          </p:spPr>
          <p:txBody>
            <a:bodyPr wrap="square" lIns="0" tIns="0" rIns="0" bIns="0" rtlCol="0"/>
            <a:lstStyle/>
            <a:p/>
          </p:txBody>
        </p:sp>
        <p:sp>
          <p:nvSpPr>
            <p:cNvPr id="37" name="object 37"/>
            <p:cNvSpPr/>
            <p:nvPr/>
          </p:nvSpPr>
          <p:spPr>
            <a:xfrm>
              <a:off x="685787" y="4610112"/>
              <a:ext cx="10820400" cy="9525"/>
            </a:xfrm>
            <a:custGeom>
              <a:avLst/>
              <a:gdLst/>
              <a:ahLst/>
              <a:cxnLst/>
              <a:rect l="l" t="t" r="r" b="b"/>
              <a:pathLst>
                <a:path w="10820400" h="9525">
                  <a:moveTo>
                    <a:pt x="4848225" y="0"/>
                  </a:moveTo>
                  <a:lnTo>
                    <a:pt x="0" y="0"/>
                  </a:lnTo>
                  <a:lnTo>
                    <a:pt x="0" y="9525"/>
                  </a:lnTo>
                  <a:lnTo>
                    <a:pt x="4848225" y="9525"/>
                  </a:lnTo>
                  <a:lnTo>
                    <a:pt x="4848225" y="0"/>
                  </a:lnTo>
                  <a:close/>
                </a:path>
                <a:path w="10820400" h="9525">
                  <a:moveTo>
                    <a:pt x="10820400" y="0"/>
                  </a:moveTo>
                  <a:lnTo>
                    <a:pt x="5972175" y="0"/>
                  </a:lnTo>
                  <a:lnTo>
                    <a:pt x="5972175" y="9525"/>
                  </a:lnTo>
                  <a:lnTo>
                    <a:pt x="10820400" y="9525"/>
                  </a:lnTo>
                  <a:lnTo>
                    <a:pt x="10820400" y="0"/>
                  </a:lnTo>
                  <a:close/>
                </a:path>
              </a:pathLst>
            </a:custGeom>
            <a:solidFill>
              <a:srgbClr val="818BF7">
                <a:alpha val="50000"/>
              </a:srgbClr>
            </a:solidFill>
          </p:spPr>
          <p:txBody>
            <a:bodyPr wrap="square" lIns="0" tIns="0" rIns="0" bIns="0" rtlCol="0"/>
            <a:lstStyle/>
            <a:p/>
          </p:txBody>
        </p:sp>
      </p:grpSp>
      <p:sp>
        <p:nvSpPr>
          <p:cNvPr id="38" name="object 38"/>
          <p:cNvSpPr txBox="1"/>
          <p:nvPr/>
        </p:nvSpPr>
        <p:spPr>
          <a:xfrm>
            <a:off x="4587810" y="3948093"/>
            <a:ext cx="865792" cy="227165"/>
          </a:xfrm>
          <a:prstGeom prst="rect">
            <a:avLst/>
          </a:prstGeom>
        </p:spPr>
        <p:txBody>
          <a:bodyPr vert="horz" wrap="square" lIns="0" tIns="9957" rIns="0" bIns="0" rtlCol="0">
            <a:spAutoFit/>
          </a:bodyPr>
          <a:lstStyle/>
          <a:p>
            <a:pPr marL="29845">
              <a:spcBef>
                <a:spcPts val="80"/>
              </a:spcBef>
            </a:pPr>
            <a:r>
              <a:rPr sz="1410" i="1" spc="63" dirty="0">
                <a:solidFill>
                  <a:srgbClr val="FFFFFF"/>
                </a:solidFill>
                <a:latin typeface="Times New Roman" panose="02020603050405020304"/>
                <a:cs typeface="Times New Roman" panose="02020603050405020304"/>
              </a:rPr>
              <a:t>C</a:t>
            </a:r>
            <a:r>
              <a:rPr sz="1410" i="1" spc="129" dirty="0">
                <a:solidFill>
                  <a:srgbClr val="FFFFFF"/>
                </a:solidFill>
                <a:latin typeface="Times New Roman" panose="02020603050405020304"/>
                <a:cs typeface="Times New Roman" panose="02020603050405020304"/>
              </a:rPr>
              <a:t> </a:t>
            </a:r>
            <a:r>
              <a:rPr sz="1410" spc="51" dirty="0">
                <a:solidFill>
                  <a:srgbClr val="FFFFFF"/>
                </a:solidFill>
                <a:latin typeface="Cambria" panose="02040503050406030204"/>
                <a:cs typeface="Cambria" panose="02040503050406030204"/>
              </a:rPr>
              <a:t>∈</a:t>
            </a:r>
            <a:r>
              <a:rPr sz="1410" spc="82" dirty="0">
                <a:solidFill>
                  <a:srgbClr val="FFFFFF"/>
                </a:solidFill>
                <a:latin typeface="Cambria" panose="02040503050406030204"/>
                <a:cs typeface="Cambria" panose="02040503050406030204"/>
              </a:rPr>
              <a:t> </a:t>
            </a:r>
            <a:r>
              <a:rPr sz="1410" spc="82" dirty="0">
                <a:solidFill>
                  <a:srgbClr val="FFFFFF"/>
                </a:solidFill>
                <a:latin typeface="Arial" panose="020B0604020202020204"/>
                <a:cs typeface="Arial" panose="020B0604020202020204"/>
              </a:rPr>
              <a:t>R</a:t>
            </a:r>
            <a:r>
              <a:rPr sz="1470" i="1" spc="123" baseline="33000" dirty="0">
                <a:solidFill>
                  <a:srgbClr val="FFFFFF"/>
                </a:solidFill>
                <a:latin typeface="Times New Roman" panose="02020603050405020304"/>
                <a:cs typeface="Times New Roman" panose="02020603050405020304"/>
              </a:rPr>
              <a:t>m</a:t>
            </a:r>
            <a:r>
              <a:rPr sz="1470" spc="123" baseline="33000" dirty="0">
                <a:solidFill>
                  <a:srgbClr val="FFFFFF"/>
                </a:solidFill>
                <a:latin typeface="Cambria" panose="02040503050406030204"/>
                <a:cs typeface="Cambria" panose="02040503050406030204"/>
              </a:rPr>
              <a:t>×</a:t>
            </a:r>
            <a:r>
              <a:rPr sz="1470" i="1" spc="123" baseline="33000" dirty="0">
                <a:solidFill>
                  <a:srgbClr val="FFFFFF"/>
                </a:solidFill>
                <a:latin typeface="Times New Roman" panose="02020603050405020304"/>
                <a:cs typeface="Times New Roman" panose="02020603050405020304"/>
              </a:rPr>
              <a:t>c</a:t>
            </a:r>
            <a:r>
              <a:rPr sz="1410" spc="82" dirty="0">
                <a:solidFill>
                  <a:srgbClr val="FFFFFF"/>
                </a:solidFill>
                <a:latin typeface="Cambria" panose="02040503050406030204"/>
                <a:cs typeface="Cambria" panose="02040503050406030204"/>
              </a:rPr>
              <a:t>,</a:t>
            </a:r>
            <a:endParaRPr sz="1410">
              <a:latin typeface="Cambria" panose="02040503050406030204"/>
              <a:cs typeface="Cambria" panose="02040503050406030204"/>
            </a:endParaRPr>
          </a:p>
        </p:txBody>
      </p:sp>
      <p:sp>
        <p:nvSpPr>
          <p:cNvPr id="39" name="object 39"/>
          <p:cNvSpPr txBox="1"/>
          <p:nvPr/>
        </p:nvSpPr>
        <p:spPr>
          <a:xfrm>
            <a:off x="5604977" y="3952410"/>
            <a:ext cx="847869" cy="227293"/>
          </a:xfrm>
          <a:prstGeom prst="rect">
            <a:avLst/>
          </a:prstGeom>
        </p:spPr>
        <p:txBody>
          <a:bodyPr vert="horz" wrap="square" lIns="0" tIns="9957" rIns="0" bIns="0" rtlCol="0">
            <a:spAutoFit/>
          </a:bodyPr>
          <a:lstStyle/>
          <a:p>
            <a:pPr marL="29845">
              <a:spcBef>
                <a:spcPts val="80"/>
              </a:spcBef>
            </a:pPr>
            <a:r>
              <a:rPr sz="2115" i="1" baseline="2000" dirty="0">
                <a:solidFill>
                  <a:srgbClr val="FFFFFF"/>
                </a:solidFill>
                <a:latin typeface="Times New Roman" panose="02020603050405020304"/>
                <a:cs typeface="Times New Roman" panose="02020603050405020304"/>
              </a:rPr>
              <a:t>V</a:t>
            </a:r>
            <a:r>
              <a:rPr sz="2115" i="1" spc="482" baseline="2000" dirty="0">
                <a:solidFill>
                  <a:srgbClr val="FFFFFF"/>
                </a:solidFill>
                <a:latin typeface="Times New Roman" panose="02020603050405020304"/>
                <a:cs typeface="Times New Roman" panose="02020603050405020304"/>
              </a:rPr>
              <a:t> </a:t>
            </a:r>
            <a:r>
              <a:rPr sz="2115" spc="76" baseline="2000" dirty="0">
                <a:solidFill>
                  <a:srgbClr val="FFFFFF"/>
                </a:solidFill>
                <a:latin typeface="Cambria" panose="02040503050406030204"/>
                <a:cs typeface="Cambria" panose="02040503050406030204"/>
              </a:rPr>
              <a:t>∈</a:t>
            </a:r>
            <a:r>
              <a:rPr sz="2115" spc="94" baseline="2000" dirty="0">
                <a:solidFill>
                  <a:srgbClr val="FFFFFF"/>
                </a:solidFill>
                <a:latin typeface="Cambria" panose="02040503050406030204"/>
                <a:cs typeface="Cambria" panose="02040503050406030204"/>
              </a:rPr>
              <a:t> </a:t>
            </a:r>
            <a:r>
              <a:rPr sz="2115" spc="129" baseline="2000" dirty="0">
                <a:solidFill>
                  <a:srgbClr val="FFFFFF"/>
                </a:solidFill>
                <a:latin typeface="Arial" panose="020B0604020202020204"/>
                <a:cs typeface="Arial" panose="020B0604020202020204"/>
              </a:rPr>
              <a:t>R</a:t>
            </a:r>
            <a:r>
              <a:rPr sz="1470" i="1" spc="129" baseline="36000" dirty="0">
                <a:solidFill>
                  <a:srgbClr val="FFFFFF"/>
                </a:solidFill>
                <a:latin typeface="Times New Roman" panose="02020603050405020304"/>
                <a:cs typeface="Times New Roman" panose="02020603050405020304"/>
              </a:rPr>
              <a:t>n</a:t>
            </a:r>
            <a:r>
              <a:rPr sz="1470" spc="129" baseline="36000" dirty="0">
                <a:solidFill>
                  <a:srgbClr val="FFFFFF"/>
                </a:solidFill>
                <a:latin typeface="Cambria" panose="02040503050406030204"/>
                <a:cs typeface="Cambria" panose="02040503050406030204"/>
              </a:rPr>
              <a:t>×</a:t>
            </a:r>
            <a:r>
              <a:rPr sz="1470" i="1" spc="129" baseline="36000" dirty="0">
                <a:solidFill>
                  <a:srgbClr val="FFFFFF"/>
                </a:solidFill>
                <a:latin typeface="Times New Roman" panose="02020603050405020304"/>
                <a:cs typeface="Times New Roman" panose="02020603050405020304"/>
              </a:rPr>
              <a:t>d</a:t>
            </a:r>
            <a:r>
              <a:rPr sz="1410" spc="86" dirty="0">
                <a:solidFill>
                  <a:srgbClr val="FFFFFF"/>
                </a:solidFill>
                <a:latin typeface="Cambria" panose="02040503050406030204"/>
                <a:cs typeface="Cambria" panose="02040503050406030204"/>
              </a:rPr>
              <a:t>,</a:t>
            </a:r>
            <a:endParaRPr sz="1410">
              <a:latin typeface="Cambria" panose="02040503050406030204"/>
              <a:cs typeface="Cambria" panose="02040503050406030204"/>
            </a:endParaRPr>
          </a:p>
        </p:txBody>
      </p:sp>
      <p:sp>
        <p:nvSpPr>
          <p:cNvPr id="40" name="object 40"/>
          <p:cNvSpPr txBox="1"/>
          <p:nvPr/>
        </p:nvSpPr>
        <p:spPr>
          <a:xfrm>
            <a:off x="6604409" y="3873413"/>
            <a:ext cx="989761" cy="227293"/>
          </a:xfrm>
          <a:prstGeom prst="rect">
            <a:avLst/>
          </a:prstGeom>
        </p:spPr>
        <p:txBody>
          <a:bodyPr vert="horz" wrap="square" lIns="0" tIns="9957" rIns="0" bIns="0" rtlCol="0">
            <a:spAutoFit/>
          </a:bodyPr>
          <a:lstStyle/>
          <a:p>
            <a:pPr marL="29845">
              <a:spcBef>
                <a:spcPts val="80"/>
              </a:spcBef>
            </a:pPr>
            <a:r>
              <a:rPr sz="2115" i="1" spc="259" baseline="-23000" dirty="0">
                <a:solidFill>
                  <a:srgbClr val="FFFFFF"/>
                </a:solidFill>
                <a:latin typeface="Times New Roman" panose="02020603050405020304"/>
                <a:cs typeface="Times New Roman" panose="02020603050405020304"/>
              </a:rPr>
              <a:t>E</a:t>
            </a:r>
            <a:r>
              <a:rPr sz="2115" i="1" spc="199" baseline="-23000" dirty="0">
                <a:solidFill>
                  <a:srgbClr val="FFFFFF"/>
                </a:solidFill>
                <a:latin typeface="Times New Roman" panose="02020603050405020304"/>
                <a:cs typeface="Times New Roman" panose="02020603050405020304"/>
              </a:rPr>
              <a:t> </a:t>
            </a:r>
            <a:r>
              <a:rPr sz="2115" spc="76" baseline="-25000" dirty="0">
                <a:solidFill>
                  <a:srgbClr val="FFFFFF"/>
                </a:solidFill>
                <a:latin typeface="Cambria" panose="02040503050406030204"/>
                <a:cs typeface="Cambria" panose="02040503050406030204"/>
              </a:rPr>
              <a:t>∈</a:t>
            </a:r>
            <a:r>
              <a:rPr sz="2115" spc="118" baseline="-25000" dirty="0">
                <a:solidFill>
                  <a:srgbClr val="FFFFFF"/>
                </a:solidFill>
                <a:latin typeface="Cambria" panose="02040503050406030204"/>
                <a:cs typeface="Cambria" panose="02040503050406030204"/>
              </a:rPr>
              <a:t> </a:t>
            </a:r>
            <a:r>
              <a:rPr sz="2115" spc="158" baseline="-23000" dirty="0">
                <a:solidFill>
                  <a:srgbClr val="FFFFFF"/>
                </a:solidFill>
                <a:latin typeface="Arial" panose="020B0604020202020204"/>
                <a:cs typeface="Arial" panose="020B0604020202020204"/>
              </a:rPr>
              <a:t>R</a:t>
            </a:r>
            <a:r>
              <a:rPr sz="980" i="1" spc="106" dirty="0">
                <a:solidFill>
                  <a:srgbClr val="FFFFFF"/>
                </a:solidFill>
                <a:latin typeface="Times New Roman" panose="02020603050405020304"/>
                <a:cs typeface="Times New Roman" panose="02020603050405020304"/>
              </a:rPr>
              <a:t>m</a:t>
            </a:r>
            <a:r>
              <a:rPr sz="980" spc="106" dirty="0">
                <a:solidFill>
                  <a:srgbClr val="FFFFFF"/>
                </a:solidFill>
                <a:latin typeface="Cambria" panose="02040503050406030204"/>
                <a:cs typeface="Cambria" panose="02040503050406030204"/>
              </a:rPr>
              <a:t>×</a:t>
            </a:r>
            <a:r>
              <a:rPr sz="980" i="1" spc="106" dirty="0">
                <a:solidFill>
                  <a:srgbClr val="FFFFFF"/>
                </a:solidFill>
                <a:latin typeface="Times New Roman" panose="02020603050405020304"/>
                <a:cs typeface="Times New Roman" panose="02020603050405020304"/>
              </a:rPr>
              <a:t>n</a:t>
            </a:r>
            <a:r>
              <a:rPr sz="980" spc="106" dirty="0">
                <a:solidFill>
                  <a:srgbClr val="FFFFFF"/>
                </a:solidFill>
                <a:latin typeface="Cambria" panose="02040503050406030204"/>
                <a:cs typeface="Cambria" panose="02040503050406030204"/>
              </a:rPr>
              <a:t>×</a:t>
            </a:r>
            <a:r>
              <a:rPr sz="980" i="1" spc="106" dirty="0">
                <a:solidFill>
                  <a:srgbClr val="FFFFFF"/>
                </a:solidFill>
                <a:latin typeface="Times New Roman" panose="02020603050405020304"/>
                <a:cs typeface="Times New Roman" panose="02020603050405020304"/>
              </a:rPr>
              <a:t>e</a:t>
            </a:r>
            <a:endParaRPr sz="980">
              <a:latin typeface="Times New Roman" panose="02020603050405020304"/>
              <a:cs typeface="Times New Roman" panose="02020603050405020304"/>
            </a:endParaRPr>
          </a:p>
        </p:txBody>
      </p:sp>
      <p:sp>
        <p:nvSpPr>
          <p:cNvPr id="41" name="object 41"/>
          <p:cNvSpPr txBox="1"/>
          <p:nvPr/>
        </p:nvSpPr>
        <p:spPr>
          <a:xfrm>
            <a:off x="5147094" y="4650086"/>
            <a:ext cx="1897873" cy="227165"/>
          </a:xfrm>
          <a:prstGeom prst="rect">
            <a:avLst/>
          </a:prstGeom>
        </p:spPr>
        <p:txBody>
          <a:bodyPr vert="horz" wrap="square" lIns="0" tIns="9957" rIns="0" bIns="0" rtlCol="0">
            <a:spAutoFit/>
          </a:bodyPr>
          <a:lstStyle/>
          <a:p>
            <a:pPr marL="29845">
              <a:spcBef>
                <a:spcPts val="80"/>
              </a:spcBef>
              <a:tabLst>
                <a:tab pos="853440" algn="l"/>
                <a:tab pos="1288415" algn="l"/>
              </a:tabLst>
            </a:pPr>
            <a:r>
              <a:rPr sz="1410" spc="51" dirty="0">
                <a:solidFill>
                  <a:srgbClr val="FFFFFF"/>
                </a:solidFill>
                <a:latin typeface="Cambria" panose="02040503050406030204"/>
                <a:cs typeface="Cambria" panose="02040503050406030204"/>
              </a:rPr>
              <a:t>(</a:t>
            </a:r>
            <a:r>
              <a:rPr sz="1410" i="1" spc="51" dirty="0">
                <a:solidFill>
                  <a:srgbClr val="FFFFFF"/>
                </a:solidFill>
                <a:latin typeface="Times New Roman" panose="02020603050405020304"/>
                <a:cs typeface="Times New Roman" panose="02020603050405020304"/>
              </a:rPr>
              <a:t>i</a:t>
            </a:r>
            <a:r>
              <a:rPr sz="1410" spc="51" dirty="0">
                <a:solidFill>
                  <a:srgbClr val="FFFFFF"/>
                </a:solidFill>
                <a:latin typeface="Cambria" panose="02040503050406030204"/>
                <a:cs typeface="Cambria" panose="02040503050406030204"/>
              </a:rPr>
              <a:t>,</a:t>
            </a:r>
            <a:r>
              <a:rPr sz="1410" spc="-59" dirty="0">
                <a:solidFill>
                  <a:srgbClr val="FFFFFF"/>
                </a:solidFill>
                <a:latin typeface="Cambria" panose="02040503050406030204"/>
                <a:cs typeface="Cambria" panose="02040503050406030204"/>
              </a:rPr>
              <a:t> </a:t>
            </a:r>
            <a:r>
              <a:rPr sz="1410" i="1" spc="137" dirty="0">
                <a:solidFill>
                  <a:srgbClr val="FFFFFF"/>
                </a:solidFill>
                <a:latin typeface="Times New Roman" panose="02020603050405020304"/>
                <a:cs typeface="Times New Roman" panose="02020603050405020304"/>
              </a:rPr>
              <a:t>j</a:t>
            </a:r>
            <a:r>
              <a:rPr sz="1410" spc="137" dirty="0">
                <a:solidFill>
                  <a:srgbClr val="FFFFFF"/>
                </a:solidFill>
                <a:latin typeface="Cambria" panose="02040503050406030204"/>
                <a:cs typeface="Cambria" panose="02040503050406030204"/>
              </a:rPr>
              <a:t>)</a:t>
            </a:r>
            <a:r>
              <a:rPr sz="1410" spc="63" dirty="0">
                <a:solidFill>
                  <a:srgbClr val="FFFFFF"/>
                </a:solidFill>
                <a:latin typeface="Cambria" panose="02040503050406030204"/>
                <a:cs typeface="Cambria" panose="02040503050406030204"/>
              </a:rPr>
              <a:t> </a:t>
            </a:r>
            <a:r>
              <a:rPr sz="1410" spc="51" dirty="0">
                <a:solidFill>
                  <a:srgbClr val="FFFFFF"/>
                </a:solidFill>
                <a:latin typeface="Cambria" panose="02040503050406030204"/>
                <a:cs typeface="Cambria" panose="02040503050406030204"/>
              </a:rPr>
              <a:t>∈</a:t>
            </a:r>
            <a:r>
              <a:rPr sz="1410" spc="82" dirty="0">
                <a:solidFill>
                  <a:srgbClr val="FFFFFF"/>
                </a:solidFill>
                <a:latin typeface="Cambria" panose="02040503050406030204"/>
                <a:cs typeface="Cambria" panose="02040503050406030204"/>
              </a:rPr>
              <a:t> </a:t>
            </a:r>
            <a:r>
              <a:rPr sz="1410" i="1" spc="133" dirty="0">
                <a:solidFill>
                  <a:srgbClr val="FFFFFF"/>
                </a:solidFill>
                <a:latin typeface="Times New Roman" panose="02020603050405020304"/>
                <a:cs typeface="Times New Roman" panose="02020603050405020304"/>
              </a:rPr>
              <a:t>E</a:t>
            </a:r>
            <a:r>
              <a:rPr sz="1410" i="1" dirty="0">
                <a:solidFill>
                  <a:srgbClr val="FFFFFF"/>
                </a:solidFill>
                <a:latin typeface="Times New Roman" panose="02020603050405020304"/>
                <a:cs typeface="Times New Roman" panose="02020603050405020304"/>
              </a:rPr>
              <a:t>	</a:t>
            </a:r>
            <a:r>
              <a:rPr sz="1410" spc="909" dirty="0">
                <a:solidFill>
                  <a:srgbClr val="FFFFFF"/>
                </a:solidFill>
                <a:latin typeface="Cambria" panose="02040503050406030204"/>
                <a:cs typeface="Cambria" panose="02040503050406030204"/>
              </a:rPr>
              <a:t>⟺</a:t>
            </a:r>
            <a:r>
              <a:rPr sz="1410" dirty="0">
                <a:solidFill>
                  <a:srgbClr val="FFFFFF"/>
                </a:solidFill>
                <a:latin typeface="Cambria" panose="02040503050406030204"/>
                <a:cs typeface="Cambria" panose="02040503050406030204"/>
              </a:rPr>
              <a:t>	</a:t>
            </a:r>
            <a:r>
              <a:rPr sz="1410" i="1" spc="129" dirty="0">
                <a:solidFill>
                  <a:srgbClr val="FFFFFF"/>
                </a:solidFill>
                <a:latin typeface="Times New Roman" panose="02020603050405020304"/>
                <a:cs typeface="Times New Roman" panose="02020603050405020304"/>
              </a:rPr>
              <a:t>A</a:t>
            </a:r>
            <a:r>
              <a:rPr sz="1470" i="1" spc="194" baseline="-13000" dirty="0">
                <a:solidFill>
                  <a:srgbClr val="FFFFFF"/>
                </a:solidFill>
                <a:latin typeface="Times New Roman" panose="02020603050405020304"/>
                <a:cs typeface="Times New Roman" panose="02020603050405020304"/>
              </a:rPr>
              <a:t>ij</a:t>
            </a:r>
            <a:r>
              <a:rPr sz="1470" i="1" spc="405" baseline="-13000" dirty="0">
                <a:solidFill>
                  <a:srgbClr val="FFFFFF"/>
                </a:solidFill>
                <a:latin typeface="Times New Roman" panose="02020603050405020304"/>
                <a:cs typeface="Times New Roman" panose="02020603050405020304"/>
              </a:rPr>
              <a:t> </a:t>
            </a:r>
            <a:r>
              <a:rPr sz="1410" spc="-274" dirty="0">
                <a:solidFill>
                  <a:srgbClr val="FFFFFF"/>
                </a:solidFill>
                <a:latin typeface="Cambria" panose="02040503050406030204"/>
                <a:cs typeface="Cambria" panose="02040503050406030204"/>
              </a:rPr>
              <a:t>=</a:t>
            </a:r>
            <a:r>
              <a:rPr sz="1410" spc="106" dirty="0">
                <a:solidFill>
                  <a:srgbClr val="FFFFFF"/>
                </a:solidFill>
                <a:latin typeface="Cambria" panose="02040503050406030204"/>
                <a:cs typeface="Cambria" panose="02040503050406030204"/>
              </a:rPr>
              <a:t> </a:t>
            </a:r>
            <a:r>
              <a:rPr sz="1410" spc="-482" dirty="0">
                <a:solidFill>
                  <a:srgbClr val="FFFFFF"/>
                </a:solidFill>
                <a:latin typeface="Cambria" panose="02040503050406030204"/>
                <a:cs typeface="Cambria" panose="02040503050406030204"/>
              </a:rPr>
              <a:t>0</a:t>
            </a:r>
            <a:endParaRPr sz="1410">
              <a:latin typeface="Cambria" panose="02040503050406030204"/>
              <a:cs typeface="Cambria" panose="02040503050406030204"/>
            </a:endParaRPr>
          </a:p>
        </p:txBody>
      </p:sp>
      <p:grpSp>
        <p:nvGrpSpPr>
          <p:cNvPr id="42" name="object 42"/>
          <p:cNvGrpSpPr/>
          <p:nvPr/>
        </p:nvGrpSpPr>
        <p:grpSpPr>
          <a:xfrm>
            <a:off x="1316468" y="5384442"/>
            <a:ext cx="9559065" cy="418209"/>
            <a:chOff x="0" y="6867525"/>
            <a:chExt cx="12192000" cy="533400"/>
          </a:xfrm>
        </p:grpSpPr>
        <p:sp>
          <p:nvSpPr>
            <p:cNvPr id="43" name="object 43"/>
            <p:cNvSpPr/>
            <p:nvPr/>
          </p:nvSpPr>
          <p:spPr>
            <a:xfrm>
              <a:off x="0" y="7181849"/>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44" name="object 44"/>
            <p:cNvSpPr/>
            <p:nvPr/>
          </p:nvSpPr>
          <p:spPr>
            <a:xfrm>
              <a:off x="11791937" y="7258049"/>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45" name="object 45"/>
            <p:cNvSpPr/>
            <p:nvPr/>
          </p:nvSpPr>
          <p:spPr>
            <a:xfrm>
              <a:off x="11982447" y="7258049"/>
              <a:ext cx="57150" cy="57150"/>
            </a:xfrm>
            <a:custGeom>
              <a:avLst/>
              <a:gdLst/>
              <a:ahLst/>
              <a:cxnLst/>
              <a:rect l="l" t="t" r="r" b="b"/>
              <a:pathLst>
                <a:path w="57150" h="57150">
                  <a:moveTo>
                    <a:pt x="32365" y="57149"/>
                  </a:moveTo>
                  <a:lnTo>
                    <a:pt x="24784" y="57149"/>
                  </a:lnTo>
                  <a:lnTo>
                    <a:pt x="21139" y="56423"/>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46" name="object 46"/>
            <p:cNvPicPr/>
            <p:nvPr/>
          </p:nvPicPr>
          <p:blipFill>
            <a:blip r:embed="rId5" cstate="print"/>
            <a:stretch>
              <a:fillRect/>
            </a:stretch>
          </p:blipFill>
          <p:spPr>
            <a:xfrm>
              <a:off x="9896474" y="6867525"/>
              <a:ext cx="342899" cy="342899"/>
            </a:xfrm>
            <a:prstGeom prst="rect">
              <a:avLst/>
            </a:prstGeom>
          </p:spPr>
        </p:pic>
      </p:grpSp>
      <p:sp>
        <p:nvSpPr>
          <p:cNvPr id="47" name="object 47"/>
          <p:cNvSpPr txBox="1"/>
          <p:nvPr/>
        </p:nvSpPr>
        <p:spPr>
          <a:xfrm>
            <a:off x="9392546" y="5419293"/>
            <a:ext cx="1286989" cy="154837"/>
          </a:xfrm>
          <a:prstGeom prst="rect">
            <a:avLst/>
          </a:prstGeom>
        </p:spPr>
        <p:txBody>
          <a:bodyPr vert="horz" wrap="square" lIns="0" tIns="9957" rIns="0" bIns="0" rtlCol="0">
            <a:spAutoFit/>
          </a:bodyPr>
          <a:lstStyle/>
          <a:p>
            <a:pPr marL="29845">
              <a:spcBef>
                <a:spcPts val="80"/>
              </a:spcBef>
            </a:pPr>
            <a:r>
              <a:rPr sz="940" b="1" dirty="0">
                <a:latin typeface="Arial" panose="020B0604020202020204"/>
                <a:cs typeface="Arial" panose="020B0604020202020204"/>
              </a:rPr>
              <a:t>Powered</a:t>
            </a:r>
            <a:r>
              <a:rPr sz="940" b="1" spc="74" dirty="0">
                <a:latin typeface="Arial" panose="020B0604020202020204"/>
                <a:cs typeface="Arial" panose="020B0604020202020204"/>
              </a:rPr>
              <a:t> </a:t>
            </a:r>
            <a:r>
              <a:rPr sz="940" b="1" dirty="0">
                <a:latin typeface="Arial" panose="020B0604020202020204"/>
                <a:cs typeface="Arial" panose="020B0604020202020204"/>
              </a:rPr>
              <a:t>By</a:t>
            </a:r>
            <a:r>
              <a:rPr sz="940" b="1" spc="-43" dirty="0">
                <a:latin typeface="Arial" panose="020B0604020202020204"/>
                <a:cs typeface="Arial" panose="020B0604020202020204"/>
              </a:rPr>
              <a:t> </a:t>
            </a:r>
            <a:r>
              <a:rPr sz="1115" spc="-523" baseline="44000" dirty="0">
                <a:solidFill>
                  <a:srgbClr val="94A2B8"/>
                </a:solidFill>
                <a:latin typeface="Lucida Console" panose="020B0609040504020204"/>
                <a:cs typeface="Lucida Console" panose="020B0609040504020204"/>
              </a:rPr>
              <a:t>0</a:t>
            </a:r>
            <a:r>
              <a:rPr sz="940" b="1" spc="-278" dirty="0">
                <a:latin typeface="Arial" panose="020B0604020202020204"/>
                <a:cs typeface="Arial" panose="020B0604020202020204"/>
              </a:rPr>
              <a:t>T</a:t>
            </a:r>
            <a:r>
              <a:rPr sz="1115" spc="-347" baseline="44000" dirty="0">
                <a:solidFill>
                  <a:srgbClr val="94A2B8"/>
                </a:solidFill>
                <a:latin typeface="Lucida Console" panose="020B0609040504020204"/>
                <a:cs typeface="Lucida Console" panose="020B0609040504020204"/>
              </a:rPr>
              <a:t>7</a:t>
            </a:r>
            <a:r>
              <a:rPr sz="940" b="1" spc="8" dirty="0">
                <a:latin typeface="Arial" panose="020B0604020202020204"/>
                <a:cs typeface="Arial" panose="020B0604020202020204"/>
              </a:rPr>
              <a:t>o</a:t>
            </a:r>
            <a:r>
              <a:rPr sz="940" b="1" spc="-517" dirty="0">
                <a:latin typeface="Arial" panose="020B0604020202020204"/>
                <a:cs typeface="Arial" panose="020B0604020202020204"/>
              </a:rPr>
              <a:t>s</a:t>
            </a:r>
            <a:r>
              <a:rPr sz="1115" spc="-12" baseline="44000" dirty="0">
                <a:solidFill>
                  <a:srgbClr val="94A2B8"/>
                </a:solidFill>
                <a:latin typeface="Lucida Console" panose="020B0609040504020204"/>
                <a:cs typeface="Lucida Console" panose="020B0609040504020204"/>
              </a:rPr>
              <a:t>/</a:t>
            </a:r>
            <a:r>
              <a:rPr sz="1115" spc="-494" baseline="44000" dirty="0">
                <a:solidFill>
                  <a:srgbClr val="94A2B8"/>
                </a:solidFill>
                <a:latin typeface="Lucida Console" panose="020B0609040504020204"/>
                <a:cs typeface="Lucida Console" panose="020B0609040504020204"/>
              </a:rPr>
              <a:t> </a:t>
            </a:r>
            <a:r>
              <a:rPr sz="940" b="1" spc="-89" dirty="0">
                <a:latin typeface="Arial" panose="020B0604020202020204"/>
                <a:cs typeface="Arial" panose="020B0604020202020204"/>
              </a:rPr>
              <a:t>e</a:t>
            </a:r>
            <a:r>
              <a:rPr sz="1115" spc="-135" baseline="44000" dirty="0">
                <a:solidFill>
                  <a:srgbClr val="94A2B8"/>
                </a:solidFill>
                <a:latin typeface="Lucida Console" panose="020B0609040504020204"/>
                <a:cs typeface="Lucida Console" panose="020B0609040504020204"/>
              </a:rPr>
              <a:t>1</a:t>
            </a:r>
            <a:r>
              <a:rPr sz="940" b="1" spc="-89" dirty="0">
                <a:latin typeface="Arial" panose="020B0604020202020204"/>
                <a:cs typeface="Arial" panose="020B0604020202020204"/>
              </a:rPr>
              <a:t>a</a:t>
            </a:r>
            <a:r>
              <a:rPr sz="1115" spc="-135" baseline="44000" dirty="0">
                <a:solidFill>
                  <a:srgbClr val="94A2B8"/>
                </a:solidFill>
                <a:latin typeface="Lucida Console" panose="020B0609040504020204"/>
                <a:cs typeface="Lucida Console" panose="020B0609040504020204"/>
              </a:rPr>
              <a:t>2</a:t>
            </a:r>
            <a:r>
              <a:rPr sz="940" b="1" spc="-89" dirty="0">
                <a:latin typeface="Arial" panose="020B0604020202020204"/>
                <a:cs typeface="Arial" panose="020B0604020202020204"/>
              </a:rPr>
              <a:t>.ai</a:t>
            </a:r>
            <a:endParaRPr sz="940">
              <a:latin typeface="Arial" panose="020B0604020202020204"/>
              <a:cs typeface="Arial" panose="020B0604020202020204"/>
            </a:endParaRPr>
          </a:p>
        </p:txBody>
      </p:sp>
      <p:sp>
        <p:nvSpPr>
          <p:cNvPr id="48" name="object 48"/>
          <p:cNvSpPr txBox="1"/>
          <p:nvPr/>
        </p:nvSpPr>
        <p:spPr>
          <a:xfrm>
            <a:off x="1425998" y="5658933"/>
            <a:ext cx="231509" cy="91983"/>
          </a:xfrm>
          <a:prstGeom prst="rect">
            <a:avLst/>
          </a:prstGeom>
        </p:spPr>
        <p:txBody>
          <a:bodyPr vert="horz" wrap="square" lIns="0" tIns="1494" rIns="0" bIns="0" rtlCol="0">
            <a:spAutoFit/>
          </a:bodyPr>
          <a:lstStyle/>
          <a:p>
            <a:pPr marL="10160">
              <a:spcBef>
                <a:spcPts val="10"/>
              </a:spcBef>
            </a:pPr>
            <a:r>
              <a:rPr sz="590" spc="-8" dirty="0">
                <a:solidFill>
                  <a:srgbClr val="FFFFFF"/>
                </a:solidFill>
                <a:latin typeface="Times New Roman" panose="02020603050405020304"/>
                <a:cs typeface="Times New Roman" panose="02020603050405020304"/>
              </a:rPr>
              <a:t>Author</a:t>
            </a:r>
            <a:endParaRPr sz="590">
              <a:latin typeface="Times New Roman" panose="02020603050405020304"/>
              <a:cs typeface="Times New Roman" panose="02020603050405020304"/>
            </a:endParaRPr>
          </a:p>
        </p:txBody>
      </p:sp>
      <p:sp>
        <p:nvSpPr>
          <p:cNvPr id="49" name="object 49"/>
          <p:cNvSpPr txBox="1"/>
          <p:nvPr/>
        </p:nvSpPr>
        <p:spPr>
          <a:xfrm>
            <a:off x="1757159" y="5658933"/>
            <a:ext cx="243955" cy="91983"/>
          </a:xfrm>
          <a:prstGeom prst="rect">
            <a:avLst/>
          </a:prstGeom>
        </p:spPr>
        <p:txBody>
          <a:bodyPr vert="horz" wrap="square" lIns="0" tIns="1494" rIns="0" bIns="0" rtlCol="0">
            <a:spAutoFit/>
          </a:bodyPr>
          <a:lstStyle/>
          <a:p>
            <a:pPr marL="10160">
              <a:spcBef>
                <a:spcPts val="10"/>
              </a:spcBef>
            </a:pPr>
            <a:r>
              <a:rPr sz="590" spc="-8" dirty="0">
                <a:solidFill>
                  <a:srgbClr val="FFFFFF"/>
                </a:solidFill>
                <a:latin typeface="Times New Roman" panose="02020603050405020304"/>
                <a:cs typeface="Times New Roman" panose="02020603050405020304"/>
              </a:rPr>
              <a:t>Section</a:t>
            </a:r>
            <a:endParaRPr sz="590">
              <a:latin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976" y="194068"/>
            <a:ext cx="3910753" cy="841051"/>
          </a:xfrm>
          <a:prstGeom prst="rect">
            <a:avLst/>
          </a:prstGeom>
        </p:spPr>
        <p:txBody>
          <a:bodyPr vert="horz" wrap="square" lIns="0" tIns="9957" rIns="0" bIns="0" rtlCol="0">
            <a:spAutoFit/>
          </a:bodyPr>
          <a:lstStyle/>
          <a:p>
            <a:pPr marL="10160">
              <a:spcBef>
                <a:spcPts val="80"/>
              </a:spcBef>
            </a:pPr>
            <a:r>
              <a:rPr spc="-290" dirty="0"/>
              <a:t>方法</a:t>
            </a:r>
            <a:r>
              <a:rPr sz="2115" spc="-176" dirty="0"/>
              <a:t>: </a:t>
            </a:r>
            <a:r>
              <a:rPr spc="-294" dirty="0"/>
              <a:t>用于分支策略的图卷积网络</a:t>
            </a:r>
            <a:endParaRPr sz="2115"/>
          </a:p>
        </p:txBody>
      </p:sp>
      <p:sp>
        <p:nvSpPr>
          <p:cNvPr id="3" name="object 3"/>
          <p:cNvSpPr txBox="1"/>
          <p:nvPr/>
        </p:nvSpPr>
        <p:spPr>
          <a:xfrm>
            <a:off x="1664975" y="6821893"/>
            <a:ext cx="2051216" cy="101534"/>
          </a:xfrm>
          <a:prstGeom prst="rect">
            <a:avLst/>
          </a:prstGeom>
        </p:spPr>
        <p:txBody>
          <a:bodyPr vert="horz" wrap="square" lIns="0" tIns="10953" rIns="0" bIns="0" rtlCol="0">
            <a:spAutoFit/>
          </a:bodyPr>
          <a:lstStyle/>
          <a:p>
            <a:pPr marL="10160">
              <a:spcBef>
                <a:spcPts val="85"/>
              </a:spcBef>
            </a:pPr>
            <a:r>
              <a:rPr sz="590" spc="39" dirty="0">
                <a:solidFill>
                  <a:srgbClr val="94A2B8"/>
                </a:solidFill>
                <a:latin typeface="Courier New" panose="02070309020205020404"/>
                <a:cs typeface="Courier New" panose="02070309020205020404"/>
              </a:rPr>
              <a:t>GCN</a:t>
            </a:r>
            <a:r>
              <a:rPr sz="590" spc="118" dirty="0">
                <a:solidFill>
                  <a:srgbClr val="94A2B8"/>
                </a:solidFill>
                <a:latin typeface="Courier New" panose="02070309020205020404"/>
                <a:cs typeface="Courier New" panose="02070309020205020404"/>
              </a:rPr>
              <a:t> </a:t>
            </a:r>
            <a:r>
              <a:rPr sz="590" spc="39" dirty="0">
                <a:solidFill>
                  <a:srgbClr val="94A2B8"/>
                </a:solidFill>
                <a:latin typeface="Courier New" panose="02070309020205020404"/>
                <a:cs typeface="Courier New" panose="02070309020205020404"/>
              </a:rPr>
              <a:t>FOR</a:t>
            </a:r>
            <a:r>
              <a:rPr sz="590" spc="122" dirty="0">
                <a:solidFill>
                  <a:srgbClr val="94A2B8"/>
                </a:solidFill>
                <a:latin typeface="Courier New" panose="02070309020205020404"/>
                <a:cs typeface="Courier New" panose="02070309020205020404"/>
              </a:rPr>
              <a:t> </a:t>
            </a:r>
            <a:r>
              <a:rPr sz="590" spc="51" dirty="0">
                <a:solidFill>
                  <a:srgbClr val="94A2B8"/>
                </a:solidFill>
                <a:latin typeface="Courier New" panose="02070309020205020404"/>
                <a:cs typeface="Courier New" panose="02070309020205020404"/>
              </a:rPr>
              <a:t>BRANCHING</a:t>
            </a:r>
            <a:r>
              <a:rPr sz="590" spc="122" dirty="0">
                <a:solidFill>
                  <a:srgbClr val="94A2B8"/>
                </a:solidFill>
                <a:latin typeface="Courier New" panose="02070309020205020404"/>
                <a:cs typeface="Courier New" panose="02070309020205020404"/>
              </a:rPr>
              <a:t> </a:t>
            </a:r>
            <a:r>
              <a:rPr sz="590" spc="51" dirty="0">
                <a:solidFill>
                  <a:srgbClr val="94A2B8"/>
                </a:solidFill>
                <a:latin typeface="Courier New" panose="02070309020205020404"/>
                <a:cs typeface="Courier New" panose="02070309020205020404"/>
              </a:rPr>
              <a:t>STRATEGY</a:t>
            </a:r>
            <a:r>
              <a:rPr sz="590" spc="118" dirty="0">
                <a:solidFill>
                  <a:srgbClr val="94A2B8"/>
                </a:solidFill>
                <a:latin typeface="Courier New" panose="02070309020205020404"/>
                <a:cs typeface="Courier New" panose="02070309020205020404"/>
              </a:rPr>
              <a:t> </a:t>
            </a:r>
            <a:r>
              <a:rPr sz="590" dirty="0">
                <a:solidFill>
                  <a:srgbClr val="94A2B8"/>
                </a:solidFill>
                <a:latin typeface="Courier New" panose="02070309020205020404"/>
                <a:cs typeface="Courier New" panose="02070309020205020404"/>
              </a:rPr>
              <a:t>•</a:t>
            </a:r>
            <a:r>
              <a:rPr sz="590" spc="122" dirty="0">
                <a:solidFill>
                  <a:srgbClr val="94A2B8"/>
                </a:solidFill>
                <a:latin typeface="Courier New" panose="02070309020205020404"/>
                <a:cs typeface="Courier New" panose="02070309020205020404"/>
              </a:rPr>
              <a:t> </a:t>
            </a:r>
            <a:r>
              <a:rPr sz="590" spc="47" dirty="0">
                <a:solidFill>
                  <a:srgbClr val="94A2B8"/>
                </a:solidFill>
                <a:latin typeface="Courier New" panose="02070309020205020404"/>
                <a:cs typeface="Courier New" panose="02070309020205020404"/>
              </a:rPr>
              <a:t>SECTION</a:t>
            </a:r>
            <a:r>
              <a:rPr sz="590" spc="122" dirty="0">
                <a:solidFill>
                  <a:srgbClr val="94A2B8"/>
                </a:solidFill>
                <a:latin typeface="Courier New" panose="02070309020205020404"/>
                <a:cs typeface="Courier New" panose="02070309020205020404"/>
              </a:rPr>
              <a:t> </a:t>
            </a:r>
            <a:r>
              <a:rPr sz="590" spc="-20" dirty="0">
                <a:solidFill>
                  <a:srgbClr val="94A2B8"/>
                </a:solidFill>
                <a:latin typeface="Courier New" panose="02070309020205020404"/>
                <a:cs typeface="Courier New" panose="02070309020205020404"/>
              </a:rPr>
              <a:t>02</a:t>
            </a:r>
            <a:endParaRPr sz="590">
              <a:latin typeface="Courier New" panose="02070309020205020404"/>
              <a:cs typeface="Courier New" panose="02070309020205020404"/>
            </a:endParaRPr>
          </a:p>
        </p:txBody>
      </p:sp>
      <p:sp>
        <p:nvSpPr>
          <p:cNvPr id="4" name="object 4"/>
          <p:cNvSpPr txBox="1"/>
          <p:nvPr/>
        </p:nvSpPr>
        <p:spPr>
          <a:xfrm>
            <a:off x="9939540" y="6823603"/>
            <a:ext cx="116999" cy="100025"/>
          </a:xfrm>
          <a:prstGeom prst="rect">
            <a:avLst/>
          </a:prstGeom>
        </p:spPr>
        <p:txBody>
          <a:bodyPr vert="horz" wrap="square" lIns="0" tIns="9459" rIns="0" bIns="0" rtlCol="0">
            <a:spAutoFit/>
          </a:bodyPr>
          <a:lstStyle/>
          <a:p>
            <a:pPr marL="10160">
              <a:spcBef>
                <a:spcPts val="75"/>
              </a:spcBef>
            </a:pPr>
            <a:r>
              <a:rPr sz="590" b="1" spc="-20" dirty="0">
                <a:solidFill>
                  <a:srgbClr val="4237CA"/>
                </a:solidFill>
                <a:latin typeface="Courier New" panose="02070309020205020404"/>
                <a:cs typeface="Courier New" panose="02070309020205020404"/>
              </a:rPr>
              <a:t>08</a:t>
            </a:r>
            <a:endParaRPr sz="590">
              <a:latin typeface="Courier New" panose="02070309020205020404"/>
              <a:cs typeface="Courier New" panose="02070309020205020404"/>
            </a:endParaRPr>
          </a:p>
        </p:txBody>
      </p:sp>
      <p:sp>
        <p:nvSpPr>
          <p:cNvPr id="5" name="object 5"/>
          <p:cNvSpPr/>
          <p:nvPr/>
        </p:nvSpPr>
        <p:spPr>
          <a:xfrm>
            <a:off x="10113793" y="6878045"/>
            <a:ext cx="238977" cy="7468"/>
          </a:xfrm>
          <a:custGeom>
            <a:avLst/>
            <a:gdLst/>
            <a:ahLst/>
            <a:cxnLst/>
            <a:rect l="l" t="t" r="r" b="b"/>
            <a:pathLst>
              <a:path w="304800" h="9525">
                <a:moveTo>
                  <a:pt x="304799" y="9524"/>
                </a:moveTo>
                <a:lnTo>
                  <a:pt x="0" y="9524"/>
                </a:lnTo>
                <a:lnTo>
                  <a:pt x="0" y="0"/>
                </a:lnTo>
                <a:lnTo>
                  <a:pt x="304799" y="0"/>
                </a:lnTo>
                <a:lnTo>
                  <a:pt x="304799" y="9524"/>
                </a:lnTo>
                <a:close/>
              </a:path>
            </a:pathLst>
          </a:custGeom>
          <a:solidFill>
            <a:srgbClr val="E2E7F0"/>
          </a:solidFill>
        </p:spPr>
        <p:txBody>
          <a:bodyPr wrap="square" lIns="0" tIns="0" rIns="0" bIns="0" rtlCol="0"/>
          <a:lstStyle/>
          <a:p/>
        </p:txBody>
      </p:sp>
      <p:sp>
        <p:nvSpPr>
          <p:cNvPr id="6" name="object 6"/>
          <p:cNvSpPr txBox="1"/>
          <p:nvPr/>
        </p:nvSpPr>
        <p:spPr>
          <a:xfrm>
            <a:off x="10402557" y="6821893"/>
            <a:ext cx="116999" cy="101534"/>
          </a:xfrm>
          <a:prstGeom prst="rect">
            <a:avLst/>
          </a:prstGeom>
        </p:spPr>
        <p:txBody>
          <a:bodyPr vert="horz" wrap="square" lIns="0" tIns="10953" rIns="0" bIns="0" rtlCol="0">
            <a:spAutoFit/>
          </a:bodyPr>
          <a:lstStyle/>
          <a:p>
            <a:pPr marL="10160">
              <a:spcBef>
                <a:spcPts val="85"/>
              </a:spcBef>
            </a:pPr>
            <a:r>
              <a:rPr sz="590" spc="-20" dirty="0">
                <a:solidFill>
                  <a:srgbClr val="94A2B8"/>
                </a:solidFill>
                <a:latin typeface="Courier New" panose="02070309020205020404"/>
                <a:cs typeface="Courier New" panose="02070309020205020404"/>
              </a:rPr>
              <a:t>12</a:t>
            </a:r>
            <a:endParaRPr sz="590">
              <a:latin typeface="Courier New" panose="02070309020205020404"/>
              <a:cs typeface="Courier New" panose="02070309020205020404"/>
            </a:endParaRPr>
          </a:p>
        </p:txBody>
      </p:sp>
      <p:grpSp>
        <p:nvGrpSpPr>
          <p:cNvPr id="7" name="object 7"/>
          <p:cNvGrpSpPr/>
          <p:nvPr/>
        </p:nvGrpSpPr>
        <p:grpSpPr>
          <a:xfrm>
            <a:off x="1674933" y="963375"/>
            <a:ext cx="3547309" cy="1441328"/>
            <a:chOff x="457200" y="1228725"/>
            <a:chExt cx="4524375" cy="1838325"/>
          </a:xfrm>
        </p:grpSpPr>
        <p:sp>
          <p:nvSpPr>
            <p:cNvPr id="8" name="object 8"/>
            <p:cNvSpPr/>
            <p:nvPr/>
          </p:nvSpPr>
          <p:spPr>
            <a:xfrm>
              <a:off x="476249" y="1228725"/>
              <a:ext cx="4505325" cy="1838325"/>
            </a:xfrm>
            <a:custGeom>
              <a:avLst/>
              <a:gdLst/>
              <a:ahLst/>
              <a:cxnLst/>
              <a:rect l="l" t="t" r="r" b="b"/>
              <a:pathLst>
                <a:path w="4505325" h="1838325">
                  <a:moveTo>
                    <a:pt x="4398529" y="1838324"/>
                  </a:moveTo>
                  <a:lnTo>
                    <a:pt x="0" y="1838324"/>
                  </a:lnTo>
                  <a:lnTo>
                    <a:pt x="0" y="0"/>
                  </a:lnTo>
                  <a:lnTo>
                    <a:pt x="4398529" y="0"/>
                  </a:lnTo>
                  <a:lnTo>
                    <a:pt x="4405962" y="732"/>
                  </a:lnTo>
                  <a:lnTo>
                    <a:pt x="4448285" y="15093"/>
                  </a:lnTo>
                  <a:lnTo>
                    <a:pt x="4481891" y="44558"/>
                  </a:lnTo>
                  <a:lnTo>
                    <a:pt x="4501663" y="84640"/>
                  </a:lnTo>
                  <a:lnTo>
                    <a:pt x="4505324" y="106794"/>
                  </a:lnTo>
                  <a:lnTo>
                    <a:pt x="4505324" y="1731529"/>
                  </a:lnTo>
                  <a:lnTo>
                    <a:pt x="4493751" y="1774699"/>
                  </a:lnTo>
                  <a:lnTo>
                    <a:pt x="4466539" y="1810153"/>
                  </a:lnTo>
                  <a:lnTo>
                    <a:pt x="4427831" y="1832496"/>
                  </a:lnTo>
                  <a:lnTo>
                    <a:pt x="4398529" y="1838324"/>
                  </a:lnTo>
                  <a:close/>
                </a:path>
              </a:pathLst>
            </a:custGeom>
            <a:solidFill>
              <a:srgbClr val="F7FAFB"/>
            </a:solidFill>
          </p:spPr>
          <p:txBody>
            <a:bodyPr wrap="square" lIns="0" tIns="0" rIns="0" bIns="0" rtlCol="0"/>
            <a:lstStyle/>
            <a:p/>
          </p:txBody>
        </p:sp>
        <p:sp>
          <p:nvSpPr>
            <p:cNvPr id="9" name="object 9"/>
            <p:cNvSpPr/>
            <p:nvPr/>
          </p:nvSpPr>
          <p:spPr>
            <a:xfrm>
              <a:off x="457200" y="1228725"/>
              <a:ext cx="38100" cy="1838325"/>
            </a:xfrm>
            <a:custGeom>
              <a:avLst/>
              <a:gdLst/>
              <a:ahLst/>
              <a:cxnLst/>
              <a:rect l="l" t="t" r="r" b="b"/>
              <a:pathLst>
                <a:path w="38100" h="1838325">
                  <a:moveTo>
                    <a:pt x="38099" y="1838324"/>
                  </a:moveTo>
                  <a:lnTo>
                    <a:pt x="0" y="1838324"/>
                  </a:lnTo>
                  <a:lnTo>
                    <a:pt x="0" y="0"/>
                  </a:lnTo>
                  <a:lnTo>
                    <a:pt x="38099" y="0"/>
                  </a:lnTo>
                  <a:lnTo>
                    <a:pt x="38099" y="1838324"/>
                  </a:lnTo>
                  <a:close/>
                </a:path>
              </a:pathLst>
            </a:custGeom>
            <a:solidFill>
              <a:srgbClr val="4237CA"/>
            </a:solidFill>
          </p:spPr>
          <p:txBody>
            <a:bodyPr wrap="square" lIns="0" tIns="0" rIns="0" bIns="0" rtlCol="0"/>
            <a:lstStyle/>
            <a:p/>
          </p:txBody>
        </p:sp>
        <p:pic>
          <p:nvPicPr>
            <p:cNvPr id="10" name="object 10"/>
            <p:cNvPicPr/>
            <p:nvPr/>
          </p:nvPicPr>
          <p:blipFill>
            <a:blip r:embed="rId1" cstate="print"/>
            <a:stretch>
              <a:fillRect/>
            </a:stretch>
          </p:blipFill>
          <p:spPr>
            <a:xfrm>
              <a:off x="723899" y="1476374"/>
              <a:ext cx="228600" cy="228599"/>
            </a:xfrm>
            <a:prstGeom prst="rect">
              <a:avLst/>
            </a:prstGeom>
          </p:spPr>
        </p:pic>
      </p:grpSp>
      <p:sp>
        <p:nvSpPr>
          <p:cNvPr id="11" name="object 11"/>
          <p:cNvSpPr txBox="1"/>
          <p:nvPr/>
        </p:nvSpPr>
        <p:spPr>
          <a:xfrm>
            <a:off x="1941291" y="1177458"/>
            <a:ext cx="67710" cy="118674"/>
          </a:xfrm>
          <a:prstGeom prst="rect">
            <a:avLst/>
          </a:prstGeom>
        </p:spPr>
        <p:txBody>
          <a:bodyPr vert="horz" wrap="square" lIns="0" tIns="9957" rIns="0" bIns="0" rtlCol="0">
            <a:spAutoFit/>
          </a:bodyPr>
          <a:lstStyle/>
          <a:p>
            <a:pPr marL="10160">
              <a:spcBef>
                <a:spcPts val="80"/>
              </a:spcBef>
            </a:pPr>
            <a:r>
              <a:rPr sz="705" b="1" spc="-39" dirty="0">
                <a:solidFill>
                  <a:srgbClr val="FFFFFF"/>
                </a:solidFill>
                <a:latin typeface="Calibri" panose="020F0502020204030204"/>
                <a:cs typeface="Calibri" panose="020F0502020204030204"/>
              </a:rPr>
              <a:t>1</a:t>
            </a:r>
            <a:endParaRPr sz="705">
              <a:latin typeface="Calibri" panose="020F0502020204030204"/>
              <a:cs typeface="Calibri" panose="020F0502020204030204"/>
            </a:endParaRPr>
          </a:p>
        </p:txBody>
      </p:sp>
      <p:sp>
        <p:nvSpPr>
          <p:cNvPr id="12" name="object 12"/>
          <p:cNvSpPr/>
          <p:nvPr/>
        </p:nvSpPr>
        <p:spPr>
          <a:xfrm>
            <a:off x="1678666" y="2587668"/>
            <a:ext cx="3539841" cy="4114879"/>
          </a:xfrm>
          <a:custGeom>
            <a:avLst/>
            <a:gdLst/>
            <a:ahLst/>
            <a:cxnLst/>
            <a:rect l="l" t="t" r="r" b="b"/>
            <a:pathLst>
              <a:path w="4514850" h="5248275">
                <a:moveTo>
                  <a:pt x="0" y="5138737"/>
                </a:moveTo>
                <a:lnTo>
                  <a:pt x="0" y="109537"/>
                </a:lnTo>
                <a:lnTo>
                  <a:pt x="0" y="102345"/>
                </a:lnTo>
                <a:lnTo>
                  <a:pt x="701" y="95221"/>
                </a:lnTo>
                <a:lnTo>
                  <a:pt x="2104" y="88167"/>
                </a:lnTo>
                <a:lnTo>
                  <a:pt x="3507" y="81113"/>
                </a:lnTo>
                <a:lnTo>
                  <a:pt x="5585" y="74263"/>
                </a:lnTo>
                <a:lnTo>
                  <a:pt x="8338" y="67619"/>
                </a:lnTo>
                <a:lnTo>
                  <a:pt x="11090" y="60974"/>
                </a:lnTo>
                <a:lnTo>
                  <a:pt x="14464" y="54661"/>
                </a:lnTo>
                <a:lnTo>
                  <a:pt x="18460" y="48681"/>
                </a:lnTo>
                <a:lnTo>
                  <a:pt x="22456" y="42701"/>
                </a:lnTo>
                <a:lnTo>
                  <a:pt x="26997" y="37168"/>
                </a:lnTo>
                <a:lnTo>
                  <a:pt x="32082" y="32082"/>
                </a:lnTo>
                <a:lnTo>
                  <a:pt x="37168" y="26996"/>
                </a:lnTo>
                <a:lnTo>
                  <a:pt x="42701" y="22456"/>
                </a:lnTo>
                <a:lnTo>
                  <a:pt x="48681" y="18460"/>
                </a:lnTo>
                <a:lnTo>
                  <a:pt x="54661" y="14464"/>
                </a:lnTo>
                <a:lnTo>
                  <a:pt x="60974" y="11090"/>
                </a:lnTo>
                <a:lnTo>
                  <a:pt x="67619" y="8337"/>
                </a:lnTo>
                <a:lnTo>
                  <a:pt x="74264" y="5585"/>
                </a:lnTo>
                <a:lnTo>
                  <a:pt x="81113" y="3507"/>
                </a:lnTo>
                <a:lnTo>
                  <a:pt x="88167" y="2104"/>
                </a:lnTo>
                <a:lnTo>
                  <a:pt x="95221" y="701"/>
                </a:lnTo>
                <a:lnTo>
                  <a:pt x="102345" y="0"/>
                </a:lnTo>
                <a:lnTo>
                  <a:pt x="109537" y="0"/>
                </a:lnTo>
                <a:lnTo>
                  <a:pt x="4405312" y="0"/>
                </a:lnTo>
                <a:lnTo>
                  <a:pt x="4412504" y="0"/>
                </a:lnTo>
                <a:lnTo>
                  <a:pt x="4419627" y="701"/>
                </a:lnTo>
                <a:lnTo>
                  <a:pt x="4426681" y="2104"/>
                </a:lnTo>
                <a:lnTo>
                  <a:pt x="4433735" y="3507"/>
                </a:lnTo>
                <a:lnTo>
                  <a:pt x="4440585" y="5585"/>
                </a:lnTo>
                <a:lnTo>
                  <a:pt x="4447229" y="8337"/>
                </a:lnTo>
                <a:lnTo>
                  <a:pt x="4453874" y="11090"/>
                </a:lnTo>
                <a:lnTo>
                  <a:pt x="4460187" y="14464"/>
                </a:lnTo>
                <a:lnTo>
                  <a:pt x="4466167" y="18460"/>
                </a:lnTo>
                <a:lnTo>
                  <a:pt x="4472147" y="22456"/>
                </a:lnTo>
                <a:lnTo>
                  <a:pt x="4477680" y="26996"/>
                </a:lnTo>
                <a:lnTo>
                  <a:pt x="4482766" y="32082"/>
                </a:lnTo>
                <a:lnTo>
                  <a:pt x="4487852" y="37168"/>
                </a:lnTo>
                <a:lnTo>
                  <a:pt x="4506510" y="67619"/>
                </a:lnTo>
                <a:lnTo>
                  <a:pt x="4509263" y="74263"/>
                </a:lnTo>
                <a:lnTo>
                  <a:pt x="4511341" y="81113"/>
                </a:lnTo>
                <a:lnTo>
                  <a:pt x="4512744" y="88167"/>
                </a:lnTo>
                <a:lnTo>
                  <a:pt x="4514147" y="95221"/>
                </a:lnTo>
                <a:lnTo>
                  <a:pt x="4514849" y="102345"/>
                </a:lnTo>
                <a:lnTo>
                  <a:pt x="4514849" y="109537"/>
                </a:lnTo>
                <a:lnTo>
                  <a:pt x="4514849" y="5138737"/>
                </a:lnTo>
                <a:lnTo>
                  <a:pt x="4514849" y="5145929"/>
                </a:lnTo>
                <a:lnTo>
                  <a:pt x="4514147" y="5153052"/>
                </a:lnTo>
                <a:lnTo>
                  <a:pt x="4512744" y="5160106"/>
                </a:lnTo>
                <a:lnTo>
                  <a:pt x="4511341" y="5167160"/>
                </a:lnTo>
                <a:lnTo>
                  <a:pt x="4496388" y="5199592"/>
                </a:lnTo>
                <a:lnTo>
                  <a:pt x="4492392" y="5205572"/>
                </a:lnTo>
                <a:lnTo>
                  <a:pt x="4460187" y="5233809"/>
                </a:lnTo>
                <a:lnTo>
                  <a:pt x="4419627" y="5247572"/>
                </a:lnTo>
                <a:lnTo>
                  <a:pt x="4405312" y="5248274"/>
                </a:lnTo>
                <a:lnTo>
                  <a:pt x="109537" y="5248274"/>
                </a:lnTo>
                <a:lnTo>
                  <a:pt x="102345" y="5248274"/>
                </a:lnTo>
                <a:lnTo>
                  <a:pt x="95221" y="5247572"/>
                </a:lnTo>
                <a:lnTo>
                  <a:pt x="88167" y="5246168"/>
                </a:lnTo>
                <a:lnTo>
                  <a:pt x="81113" y="5244766"/>
                </a:lnTo>
                <a:lnTo>
                  <a:pt x="48681" y="5229814"/>
                </a:lnTo>
                <a:lnTo>
                  <a:pt x="42701" y="5225818"/>
                </a:lnTo>
                <a:lnTo>
                  <a:pt x="18460" y="5199592"/>
                </a:lnTo>
                <a:lnTo>
                  <a:pt x="14464" y="5193611"/>
                </a:lnTo>
                <a:lnTo>
                  <a:pt x="2104" y="5160106"/>
                </a:lnTo>
                <a:lnTo>
                  <a:pt x="701" y="5153052"/>
                </a:lnTo>
                <a:lnTo>
                  <a:pt x="0" y="5145929"/>
                </a:lnTo>
                <a:lnTo>
                  <a:pt x="0" y="5138737"/>
                </a:lnTo>
                <a:close/>
              </a:path>
            </a:pathLst>
          </a:custGeom>
          <a:ln w="9524">
            <a:solidFill>
              <a:srgbClr val="E2E7F0"/>
            </a:solidFill>
          </a:ln>
        </p:spPr>
        <p:txBody>
          <a:bodyPr wrap="square" lIns="0" tIns="0" rIns="0" bIns="0" rtlCol="0"/>
          <a:lstStyle/>
          <a:p/>
        </p:txBody>
      </p:sp>
      <p:sp>
        <p:nvSpPr>
          <p:cNvPr id="13" name="object 13"/>
          <p:cNvSpPr txBox="1"/>
          <p:nvPr/>
        </p:nvSpPr>
        <p:spPr>
          <a:xfrm>
            <a:off x="1851676" y="2753464"/>
            <a:ext cx="1589692" cy="199040"/>
          </a:xfrm>
          <a:prstGeom prst="rect">
            <a:avLst/>
          </a:prstGeom>
        </p:spPr>
        <p:txBody>
          <a:bodyPr vert="horz" wrap="square" lIns="0" tIns="11949" rIns="0" bIns="0" rtlCol="0">
            <a:spAutoFit/>
          </a:bodyPr>
          <a:lstStyle/>
          <a:p>
            <a:pPr marL="10160">
              <a:spcBef>
                <a:spcPts val="95"/>
              </a:spcBef>
            </a:pPr>
            <a:r>
              <a:rPr sz="1215" b="1" spc="-153" dirty="0">
                <a:solidFill>
                  <a:srgbClr val="1D293B"/>
                </a:solidFill>
                <a:latin typeface="微软雅黑" panose="020B0503020204020204" charset="-122"/>
                <a:cs typeface="微软雅黑" panose="020B0503020204020204" charset="-122"/>
              </a:rPr>
              <a:t>关键设计细节 </a:t>
            </a:r>
            <a:r>
              <a:rPr sz="1100" b="1" i="1" dirty="0">
                <a:solidFill>
                  <a:srgbClr val="1D293B"/>
                </a:solidFill>
                <a:latin typeface="Calibri" panose="020F0502020204030204"/>
                <a:cs typeface="Calibri" panose="020F0502020204030204"/>
              </a:rPr>
              <a:t>(Key</a:t>
            </a:r>
            <a:r>
              <a:rPr sz="1100" b="1" i="1" spc="16" dirty="0">
                <a:solidFill>
                  <a:srgbClr val="1D293B"/>
                </a:solidFill>
                <a:latin typeface="Calibri" panose="020F0502020204030204"/>
                <a:cs typeface="Calibri" panose="020F0502020204030204"/>
              </a:rPr>
              <a:t> </a:t>
            </a:r>
            <a:r>
              <a:rPr sz="1100" b="1" i="1" spc="-8" dirty="0">
                <a:solidFill>
                  <a:srgbClr val="1D293B"/>
                </a:solidFill>
                <a:latin typeface="Calibri" panose="020F0502020204030204"/>
                <a:cs typeface="Calibri" panose="020F0502020204030204"/>
              </a:rPr>
              <a:t>Design)</a:t>
            </a:r>
            <a:endParaRPr sz="1100">
              <a:latin typeface="Calibri" panose="020F0502020204030204"/>
              <a:cs typeface="Calibri" panose="020F0502020204030204"/>
            </a:endParaRPr>
          </a:p>
        </p:txBody>
      </p:sp>
      <p:grpSp>
        <p:nvGrpSpPr>
          <p:cNvPr id="14" name="object 14"/>
          <p:cNvGrpSpPr/>
          <p:nvPr/>
        </p:nvGrpSpPr>
        <p:grpSpPr>
          <a:xfrm>
            <a:off x="1861632" y="3144036"/>
            <a:ext cx="44808" cy="940970"/>
            <a:chOff x="695324" y="4010024"/>
            <a:chExt cx="57150" cy="1200150"/>
          </a:xfrm>
        </p:grpSpPr>
        <p:sp>
          <p:nvSpPr>
            <p:cNvPr id="15" name="object 15"/>
            <p:cNvSpPr/>
            <p:nvPr/>
          </p:nvSpPr>
          <p:spPr>
            <a:xfrm>
              <a:off x="695324" y="4010024"/>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2562EB"/>
            </a:solidFill>
          </p:spPr>
          <p:txBody>
            <a:bodyPr wrap="square" lIns="0" tIns="0" rIns="0" bIns="0" rtlCol="0"/>
            <a:lstStyle/>
            <a:p/>
          </p:txBody>
        </p:sp>
        <p:sp>
          <p:nvSpPr>
            <p:cNvPr id="16" name="object 16"/>
            <p:cNvSpPr/>
            <p:nvPr/>
          </p:nvSpPr>
          <p:spPr>
            <a:xfrm>
              <a:off x="695312" y="4581536"/>
              <a:ext cx="57150" cy="628650"/>
            </a:xfrm>
            <a:custGeom>
              <a:avLst/>
              <a:gdLst/>
              <a:ahLst/>
              <a:cxnLst/>
              <a:rect l="l" t="t" r="r" b="b"/>
              <a:pathLst>
                <a:path w="57150" h="628650">
                  <a:moveTo>
                    <a:pt x="57150" y="596277"/>
                  </a:moveTo>
                  <a:lnTo>
                    <a:pt x="32372" y="571500"/>
                  </a:lnTo>
                  <a:lnTo>
                    <a:pt x="24790" y="571500"/>
                  </a:lnTo>
                  <a:lnTo>
                    <a:pt x="0" y="596277"/>
                  </a:lnTo>
                  <a:lnTo>
                    <a:pt x="0" y="603859"/>
                  </a:lnTo>
                  <a:lnTo>
                    <a:pt x="24790" y="628637"/>
                  </a:lnTo>
                  <a:lnTo>
                    <a:pt x="32372" y="628637"/>
                  </a:lnTo>
                  <a:lnTo>
                    <a:pt x="57150" y="603859"/>
                  </a:lnTo>
                  <a:lnTo>
                    <a:pt x="57150" y="600075"/>
                  </a:lnTo>
                  <a:lnTo>
                    <a:pt x="57150" y="596277"/>
                  </a:lnTo>
                  <a:close/>
                </a:path>
                <a:path w="57150" h="628650">
                  <a:moveTo>
                    <a:pt x="57150" y="24777"/>
                  </a:moveTo>
                  <a:lnTo>
                    <a:pt x="32372" y="0"/>
                  </a:lnTo>
                  <a:lnTo>
                    <a:pt x="24790" y="0"/>
                  </a:lnTo>
                  <a:lnTo>
                    <a:pt x="0" y="24777"/>
                  </a:lnTo>
                  <a:lnTo>
                    <a:pt x="0" y="32359"/>
                  </a:lnTo>
                  <a:lnTo>
                    <a:pt x="24790" y="57137"/>
                  </a:lnTo>
                  <a:lnTo>
                    <a:pt x="32372" y="57137"/>
                  </a:lnTo>
                  <a:lnTo>
                    <a:pt x="57150" y="32359"/>
                  </a:lnTo>
                  <a:lnTo>
                    <a:pt x="57150" y="28575"/>
                  </a:lnTo>
                  <a:lnTo>
                    <a:pt x="57150" y="24777"/>
                  </a:lnTo>
                  <a:close/>
                </a:path>
              </a:pathLst>
            </a:custGeom>
            <a:solidFill>
              <a:srgbClr val="2562EB"/>
            </a:solidFill>
          </p:spPr>
          <p:txBody>
            <a:bodyPr wrap="square" lIns="0" tIns="0" rIns="0" bIns="0" rtlCol="0"/>
            <a:lstStyle/>
            <a:p/>
          </p:txBody>
        </p:sp>
      </p:grpSp>
      <p:sp>
        <p:nvSpPr>
          <p:cNvPr id="17" name="object 17"/>
          <p:cNvSpPr txBox="1"/>
          <p:nvPr/>
        </p:nvSpPr>
        <p:spPr>
          <a:xfrm>
            <a:off x="1986100" y="3060388"/>
            <a:ext cx="1851571" cy="338576"/>
          </a:xfrm>
          <a:prstGeom prst="rect">
            <a:avLst/>
          </a:prstGeom>
        </p:spPr>
        <p:txBody>
          <a:bodyPr vert="horz" wrap="square" lIns="0" tIns="23898" rIns="0" bIns="0" rtlCol="0">
            <a:spAutoFit/>
          </a:bodyPr>
          <a:lstStyle/>
          <a:p>
            <a:pPr marL="10160">
              <a:spcBef>
                <a:spcPts val="190"/>
              </a:spcBef>
            </a:pPr>
            <a:r>
              <a:rPr sz="1060" b="1" spc="-122" dirty="0">
                <a:solidFill>
                  <a:srgbClr val="334054"/>
                </a:solidFill>
                <a:latin typeface="微软雅黑" panose="020B0503020204020204" charset="-122"/>
                <a:cs typeface="微软雅黑" panose="020B0503020204020204" charset="-122"/>
              </a:rPr>
              <a:t>多层感知机 </a:t>
            </a:r>
            <a:r>
              <a:rPr sz="940" b="1" spc="-16" dirty="0">
                <a:solidFill>
                  <a:srgbClr val="334054"/>
                </a:solidFill>
                <a:latin typeface="Times New Roman" panose="02020603050405020304"/>
                <a:cs typeface="Times New Roman" panose="02020603050405020304"/>
              </a:rPr>
              <a:t>(MLP)</a:t>
            </a:r>
            <a:endParaRPr sz="940">
              <a:latin typeface="Times New Roman" panose="02020603050405020304"/>
              <a:cs typeface="Times New Roman" panose="02020603050405020304"/>
            </a:endParaRPr>
          </a:p>
          <a:p>
            <a:pPr marL="10160">
              <a:spcBef>
                <a:spcPts val="120"/>
              </a:spcBef>
            </a:pPr>
            <a:r>
              <a:rPr sz="900" spc="-102" dirty="0">
                <a:solidFill>
                  <a:srgbClr val="64738B"/>
                </a:solidFill>
                <a:latin typeface="宋体" panose="02010600030101010101" pitchFamily="2" charset="-122"/>
                <a:cs typeface="宋体" panose="02010600030101010101" pitchFamily="2" charset="-122"/>
              </a:rPr>
              <a:t>消息和更新函数均使用 </a:t>
            </a:r>
            <a:r>
              <a:rPr sz="825" dirty="0">
                <a:solidFill>
                  <a:srgbClr val="64738B"/>
                </a:solidFill>
                <a:latin typeface="Times New Roman" panose="02020603050405020304"/>
                <a:cs typeface="Times New Roman" panose="02020603050405020304"/>
              </a:rPr>
              <a:t>2</a:t>
            </a:r>
            <a:r>
              <a:rPr sz="825" spc="12" dirty="0">
                <a:solidFill>
                  <a:srgbClr val="64738B"/>
                </a:solidFill>
                <a:latin typeface="Times New Roman" panose="02020603050405020304"/>
                <a:cs typeface="Times New Roman" panose="02020603050405020304"/>
              </a:rPr>
              <a:t> </a:t>
            </a:r>
            <a:r>
              <a:rPr sz="900" spc="-160" dirty="0">
                <a:solidFill>
                  <a:srgbClr val="64738B"/>
                </a:solidFill>
                <a:latin typeface="宋体" panose="02010600030101010101" pitchFamily="2" charset="-122"/>
                <a:cs typeface="宋体" panose="02010600030101010101" pitchFamily="2" charset="-122"/>
              </a:rPr>
              <a:t>层 </a:t>
            </a:r>
            <a:r>
              <a:rPr sz="825" dirty="0">
                <a:solidFill>
                  <a:srgbClr val="64738B"/>
                </a:solidFill>
                <a:latin typeface="Times New Roman" panose="02020603050405020304"/>
                <a:cs typeface="Times New Roman" panose="02020603050405020304"/>
              </a:rPr>
              <a:t>MLP</a:t>
            </a:r>
            <a:r>
              <a:rPr sz="825" spc="-20" dirty="0">
                <a:solidFill>
                  <a:srgbClr val="64738B"/>
                </a:solidFill>
                <a:latin typeface="Times New Roman" panose="02020603050405020304"/>
                <a:cs typeface="Times New Roman" panose="02020603050405020304"/>
              </a:rPr>
              <a:t> </a:t>
            </a:r>
            <a:r>
              <a:rPr sz="900" spc="-71" dirty="0">
                <a:solidFill>
                  <a:srgbClr val="64738B"/>
                </a:solidFill>
                <a:latin typeface="宋体" panose="02010600030101010101" pitchFamily="2" charset="-122"/>
                <a:cs typeface="宋体" panose="02010600030101010101" pitchFamily="2" charset="-122"/>
              </a:rPr>
              <a:t>实现。</a:t>
            </a:r>
            <a:endParaRPr sz="900">
              <a:latin typeface="宋体" panose="02010600030101010101" pitchFamily="2" charset="-122"/>
              <a:cs typeface="宋体" panose="02010600030101010101" pitchFamily="2" charset="-122"/>
            </a:endParaRPr>
          </a:p>
        </p:txBody>
      </p:sp>
      <p:sp>
        <p:nvSpPr>
          <p:cNvPr id="18" name="object 18"/>
          <p:cNvSpPr txBox="1"/>
          <p:nvPr/>
        </p:nvSpPr>
        <p:spPr>
          <a:xfrm>
            <a:off x="1986100" y="3508470"/>
            <a:ext cx="1588199" cy="338576"/>
          </a:xfrm>
          <a:prstGeom prst="rect">
            <a:avLst/>
          </a:prstGeom>
        </p:spPr>
        <p:txBody>
          <a:bodyPr vert="horz" wrap="square" lIns="0" tIns="23898" rIns="0" bIns="0" rtlCol="0">
            <a:spAutoFit/>
          </a:bodyPr>
          <a:lstStyle/>
          <a:p>
            <a:pPr marL="10160">
              <a:spcBef>
                <a:spcPts val="190"/>
              </a:spcBef>
            </a:pPr>
            <a:r>
              <a:rPr sz="940" b="1" dirty="0">
                <a:solidFill>
                  <a:srgbClr val="334054"/>
                </a:solidFill>
                <a:latin typeface="Times New Roman" panose="02020603050405020304"/>
                <a:cs typeface="Times New Roman" panose="02020603050405020304"/>
              </a:rPr>
              <a:t>Sum</a:t>
            </a:r>
            <a:r>
              <a:rPr sz="940" b="1" spc="4" dirty="0">
                <a:solidFill>
                  <a:srgbClr val="334054"/>
                </a:solidFill>
                <a:latin typeface="Times New Roman" panose="02020603050405020304"/>
                <a:cs typeface="Times New Roman" panose="02020603050405020304"/>
              </a:rPr>
              <a:t> </a:t>
            </a:r>
            <a:r>
              <a:rPr sz="1060" b="1" spc="-86" dirty="0">
                <a:solidFill>
                  <a:srgbClr val="334054"/>
                </a:solidFill>
                <a:latin typeface="微软雅黑" panose="020B0503020204020204" charset="-122"/>
                <a:cs typeface="微软雅黑" panose="020B0503020204020204" charset="-122"/>
              </a:rPr>
              <a:t>聚合</a:t>
            </a:r>
            <a:endParaRPr sz="1060">
              <a:latin typeface="微软雅黑" panose="020B0503020204020204" charset="-122"/>
              <a:cs typeface="微软雅黑" panose="020B0503020204020204" charset="-122"/>
            </a:endParaRPr>
          </a:p>
          <a:p>
            <a:pPr marL="10160">
              <a:spcBef>
                <a:spcPts val="120"/>
              </a:spcBef>
            </a:pPr>
            <a:r>
              <a:rPr sz="900" spc="-86" dirty="0">
                <a:solidFill>
                  <a:srgbClr val="64738B"/>
                </a:solidFill>
                <a:latin typeface="宋体" panose="02010600030101010101" pitchFamily="2" charset="-122"/>
                <a:cs typeface="宋体" panose="02010600030101010101" pitchFamily="2" charset="-122"/>
              </a:rPr>
              <a:t>保留变量参与约束数量的度信息。</a:t>
            </a:r>
            <a:endParaRPr sz="900">
              <a:latin typeface="宋体" panose="02010600030101010101" pitchFamily="2" charset="-122"/>
              <a:cs typeface="宋体" panose="02010600030101010101" pitchFamily="2" charset="-122"/>
            </a:endParaRPr>
          </a:p>
        </p:txBody>
      </p:sp>
      <p:sp>
        <p:nvSpPr>
          <p:cNvPr id="19" name="object 19"/>
          <p:cNvSpPr txBox="1"/>
          <p:nvPr/>
        </p:nvSpPr>
        <p:spPr>
          <a:xfrm>
            <a:off x="1986100" y="3956551"/>
            <a:ext cx="2110960" cy="338576"/>
          </a:xfrm>
          <a:prstGeom prst="rect">
            <a:avLst/>
          </a:prstGeom>
        </p:spPr>
        <p:txBody>
          <a:bodyPr vert="horz" wrap="square" lIns="0" tIns="23898" rIns="0" bIns="0" rtlCol="0">
            <a:spAutoFit/>
          </a:bodyPr>
          <a:lstStyle/>
          <a:p>
            <a:pPr marL="10160">
              <a:spcBef>
                <a:spcPts val="190"/>
              </a:spcBef>
            </a:pPr>
            <a:r>
              <a:rPr sz="1060" b="1" spc="-122" dirty="0">
                <a:solidFill>
                  <a:srgbClr val="334054"/>
                </a:solidFill>
                <a:latin typeface="微软雅黑" panose="020B0503020204020204" charset="-122"/>
                <a:cs typeface="微软雅黑" panose="020B0503020204020204" charset="-122"/>
              </a:rPr>
              <a:t>训练稳定 </a:t>
            </a:r>
            <a:r>
              <a:rPr sz="940" b="1" spc="-8" dirty="0">
                <a:solidFill>
                  <a:srgbClr val="334054"/>
                </a:solidFill>
                <a:latin typeface="Times New Roman" panose="02020603050405020304"/>
                <a:cs typeface="Times New Roman" panose="02020603050405020304"/>
              </a:rPr>
              <a:t>(Prenorm)</a:t>
            </a:r>
            <a:endParaRPr sz="940">
              <a:latin typeface="Times New Roman" panose="02020603050405020304"/>
              <a:cs typeface="Times New Roman" panose="02020603050405020304"/>
            </a:endParaRPr>
          </a:p>
          <a:p>
            <a:pPr marL="10160">
              <a:spcBef>
                <a:spcPts val="120"/>
              </a:spcBef>
            </a:pPr>
            <a:r>
              <a:rPr sz="900" spc="-86" dirty="0">
                <a:solidFill>
                  <a:srgbClr val="64738B"/>
                </a:solidFill>
                <a:latin typeface="宋体" panose="02010600030101010101" pitchFamily="2" charset="-122"/>
                <a:cs typeface="宋体" panose="02010600030101010101" pitchFamily="2" charset="-122"/>
              </a:rPr>
              <a:t>在聚合后加入归一化以保证深度学习稳定性。</a:t>
            </a:r>
            <a:endParaRPr sz="900">
              <a:latin typeface="宋体" panose="02010600030101010101" pitchFamily="2" charset="-122"/>
              <a:cs typeface="宋体" panose="02010600030101010101" pitchFamily="2" charset="-122"/>
            </a:endParaRPr>
          </a:p>
        </p:txBody>
      </p:sp>
      <p:sp>
        <p:nvSpPr>
          <p:cNvPr id="20" name="object 20"/>
          <p:cNvSpPr/>
          <p:nvPr/>
        </p:nvSpPr>
        <p:spPr>
          <a:xfrm>
            <a:off x="1884037" y="1530944"/>
            <a:ext cx="7468" cy="634782"/>
          </a:xfrm>
          <a:custGeom>
            <a:avLst/>
            <a:gdLst/>
            <a:ahLst/>
            <a:cxnLst/>
            <a:rect l="l" t="t" r="r" b="b"/>
            <a:pathLst>
              <a:path w="9525" h="809625">
                <a:moveTo>
                  <a:pt x="9524" y="809624"/>
                </a:moveTo>
                <a:lnTo>
                  <a:pt x="0" y="809624"/>
                </a:lnTo>
                <a:lnTo>
                  <a:pt x="0" y="0"/>
                </a:lnTo>
                <a:lnTo>
                  <a:pt x="9524" y="0"/>
                </a:lnTo>
                <a:lnTo>
                  <a:pt x="9524" y="809624"/>
                </a:lnTo>
                <a:close/>
              </a:path>
            </a:pathLst>
          </a:custGeom>
          <a:solidFill>
            <a:srgbClr val="E2E7F0"/>
          </a:solidFill>
        </p:spPr>
        <p:txBody>
          <a:bodyPr wrap="square" lIns="0" tIns="0" rIns="0" bIns="0" rtlCol="0"/>
          <a:lstStyle/>
          <a:p/>
        </p:txBody>
      </p:sp>
      <p:sp>
        <p:nvSpPr>
          <p:cNvPr id="21" name="object 21"/>
          <p:cNvSpPr txBox="1"/>
          <p:nvPr/>
        </p:nvSpPr>
        <p:spPr>
          <a:xfrm>
            <a:off x="1993568" y="1120701"/>
            <a:ext cx="1901856" cy="657357"/>
          </a:xfrm>
          <a:prstGeom prst="rect">
            <a:avLst/>
          </a:prstGeom>
        </p:spPr>
        <p:txBody>
          <a:bodyPr vert="horz" wrap="square" lIns="0" tIns="9459" rIns="0" bIns="0" rtlCol="0">
            <a:spAutoFit/>
          </a:bodyPr>
          <a:lstStyle/>
          <a:p>
            <a:pPr marL="128905">
              <a:spcBef>
                <a:spcPts val="75"/>
              </a:spcBef>
            </a:pPr>
            <a:r>
              <a:rPr sz="1335" b="1" spc="-165" dirty="0">
                <a:solidFill>
                  <a:srgbClr val="1D293B"/>
                </a:solidFill>
                <a:latin typeface="微软雅黑" panose="020B0503020204020204" charset="-122"/>
                <a:cs typeface="微软雅黑" panose="020B0503020204020204" charset="-122"/>
              </a:rPr>
              <a:t>核心架构</a:t>
            </a:r>
            <a:r>
              <a:rPr sz="1175" b="1" spc="-12" dirty="0">
                <a:solidFill>
                  <a:srgbClr val="1D293B"/>
                </a:solidFill>
                <a:latin typeface="Calibri" panose="020F0502020204030204"/>
                <a:cs typeface="Calibri" panose="020F0502020204030204"/>
              </a:rPr>
              <a:t>: </a:t>
            </a:r>
            <a:r>
              <a:rPr sz="1335" b="1" spc="-141" dirty="0">
                <a:solidFill>
                  <a:srgbClr val="1D293B"/>
                </a:solidFill>
                <a:latin typeface="微软雅黑" panose="020B0503020204020204" charset="-122"/>
                <a:cs typeface="微软雅黑" panose="020B0503020204020204" charset="-122"/>
              </a:rPr>
              <a:t>二部图卷积</a:t>
            </a:r>
            <a:endParaRPr sz="1335">
              <a:latin typeface="微软雅黑" panose="020B0503020204020204" charset="-122"/>
              <a:cs typeface="微软雅黑" panose="020B0503020204020204" charset="-122"/>
            </a:endParaRPr>
          </a:p>
          <a:p>
            <a:pPr marL="10160">
              <a:spcBef>
                <a:spcPts val="1025"/>
              </a:spcBef>
            </a:pPr>
            <a:r>
              <a:rPr sz="1060" b="1" spc="-169" dirty="0">
                <a:solidFill>
                  <a:srgbClr val="312E81"/>
                </a:solidFill>
                <a:latin typeface="Verdana" panose="020B0604030504040204"/>
                <a:cs typeface="Verdana" panose="020B0604030504040204"/>
              </a:rPr>
              <a:t>Variable-</a:t>
            </a:r>
            <a:r>
              <a:rPr sz="1060" b="1" spc="-110" dirty="0">
                <a:solidFill>
                  <a:srgbClr val="312E81"/>
                </a:solidFill>
                <a:latin typeface="Verdana" panose="020B0604030504040204"/>
                <a:cs typeface="Verdana" panose="020B0604030504040204"/>
              </a:rPr>
              <a:t>to-</a:t>
            </a:r>
            <a:r>
              <a:rPr sz="1060" b="1" spc="-71" dirty="0">
                <a:solidFill>
                  <a:srgbClr val="312E81"/>
                </a:solidFill>
                <a:latin typeface="Verdana" panose="020B0604030504040204"/>
                <a:cs typeface="Verdana" panose="020B0604030504040204"/>
              </a:rPr>
              <a:t>Constraint</a:t>
            </a:r>
            <a:endParaRPr sz="1060">
              <a:latin typeface="Verdana" panose="020B0604030504040204"/>
              <a:cs typeface="Verdana" panose="020B0604030504040204"/>
            </a:endParaRPr>
          </a:p>
          <a:p>
            <a:pPr marL="10160">
              <a:spcBef>
                <a:spcPts val="120"/>
              </a:spcBef>
            </a:pPr>
            <a:r>
              <a:rPr sz="900" spc="-86" dirty="0">
                <a:solidFill>
                  <a:srgbClr val="465469"/>
                </a:solidFill>
                <a:latin typeface="宋体" panose="02010600030101010101" pitchFamily="2" charset="-122"/>
                <a:cs typeface="宋体" panose="02010600030101010101" pitchFamily="2" charset="-122"/>
              </a:rPr>
              <a:t>变量节点向其相邻的约束节点传递信息。</a:t>
            </a:r>
            <a:endParaRPr sz="900">
              <a:latin typeface="宋体" panose="02010600030101010101" pitchFamily="2" charset="-122"/>
              <a:cs typeface="宋体" panose="02010600030101010101" pitchFamily="2" charset="-122"/>
            </a:endParaRPr>
          </a:p>
        </p:txBody>
      </p:sp>
      <p:sp>
        <p:nvSpPr>
          <p:cNvPr id="22" name="object 22"/>
          <p:cNvSpPr txBox="1"/>
          <p:nvPr/>
        </p:nvSpPr>
        <p:spPr>
          <a:xfrm>
            <a:off x="1993568" y="1894388"/>
            <a:ext cx="2320065" cy="324499"/>
          </a:xfrm>
          <a:prstGeom prst="rect">
            <a:avLst/>
          </a:prstGeom>
        </p:spPr>
        <p:txBody>
          <a:bodyPr vert="horz" wrap="square" lIns="0" tIns="9957" rIns="0" bIns="0" rtlCol="0">
            <a:spAutoFit/>
          </a:bodyPr>
          <a:lstStyle/>
          <a:p>
            <a:pPr marL="10160">
              <a:spcBef>
                <a:spcPts val="80"/>
              </a:spcBef>
            </a:pPr>
            <a:r>
              <a:rPr sz="1060" b="1" spc="-149" dirty="0">
                <a:solidFill>
                  <a:srgbClr val="312E81"/>
                </a:solidFill>
                <a:latin typeface="Verdana" panose="020B0604030504040204"/>
                <a:cs typeface="Verdana" panose="020B0604030504040204"/>
              </a:rPr>
              <a:t>Constraint-</a:t>
            </a:r>
            <a:r>
              <a:rPr sz="1060" b="1" spc="-110" dirty="0">
                <a:solidFill>
                  <a:srgbClr val="312E81"/>
                </a:solidFill>
                <a:latin typeface="Verdana" panose="020B0604030504040204"/>
                <a:cs typeface="Verdana" panose="020B0604030504040204"/>
              </a:rPr>
              <a:t>to-</a:t>
            </a:r>
            <a:r>
              <a:rPr sz="1060" b="1" spc="-74" dirty="0">
                <a:solidFill>
                  <a:srgbClr val="312E81"/>
                </a:solidFill>
                <a:latin typeface="Verdana" panose="020B0604030504040204"/>
                <a:cs typeface="Verdana" panose="020B0604030504040204"/>
              </a:rPr>
              <a:t>Variable</a:t>
            </a:r>
            <a:endParaRPr sz="1060">
              <a:latin typeface="Verdana" panose="020B0604030504040204"/>
              <a:cs typeface="Verdana" panose="020B0604030504040204"/>
            </a:endParaRPr>
          </a:p>
          <a:p>
            <a:pPr marL="10160">
              <a:spcBef>
                <a:spcPts val="65"/>
              </a:spcBef>
            </a:pPr>
            <a:r>
              <a:rPr sz="900" spc="-86" dirty="0">
                <a:solidFill>
                  <a:srgbClr val="465469"/>
                </a:solidFill>
                <a:latin typeface="宋体" panose="02010600030101010101" pitchFamily="2" charset="-122"/>
                <a:cs typeface="宋体" panose="02010600030101010101" pitchFamily="2" charset="-122"/>
              </a:rPr>
              <a:t>约束节点聚合信息后，再传回给相邻的变量节点。</a:t>
            </a:r>
            <a:endParaRPr sz="900">
              <a:latin typeface="宋体" panose="02010600030101010101" pitchFamily="2" charset="-122"/>
              <a:cs typeface="宋体" panose="02010600030101010101" pitchFamily="2" charset="-122"/>
            </a:endParaRPr>
          </a:p>
        </p:txBody>
      </p:sp>
      <p:sp>
        <p:nvSpPr>
          <p:cNvPr id="23" name="object 23"/>
          <p:cNvSpPr/>
          <p:nvPr/>
        </p:nvSpPr>
        <p:spPr>
          <a:xfrm>
            <a:off x="5461218" y="963375"/>
            <a:ext cx="5055849" cy="1008183"/>
          </a:xfrm>
          <a:custGeom>
            <a:avLst/>
            <a:gdLst/>
            <a:ahLst/>
            <a:cxnLst/>
            <a:rect l="l" t="t" r="r" b="b"/>
            <a:pathLst>
              <a:path w="6448425" h="1285875">
                <a:moveTo>
                  <a:pt x="6448424" y="1285874"/>
                </a:moveTo>
                <a:lnTo>
                  <a:pt x="0" y="1285874"/>
                </a:lnTo>
                <a:lnTo>
                  <a:pt x="0" y="106794"/>
                </a:lnTo>
                <a:lnTo>
                  <a:pt x="11572" y="63625"/>
                </a:lnTo>
                <a:lnTo>
                  <a:pt x="38784" y="28170"/>
                </a:lnTo>
                <a:lnTo>
                  <a:pt x="77493" y="5828"/>
                </a:lnTo>
                <a:lnTo>
                  <a:pt x="106794" y="0"/>
                </a:lnTo>
                <a:lnTo>
                  <a:pt x="6341629" y="0"/>
                </a:lnTo>
                <a:lnTo>
                  <a:pt x="6384798" y="11572"/>
                </a:lnTo>
                <a:lnTo>
                  <a:pt x="6420253" y="38784"/>
                </a:lnTo>
                <a:lnTo>
                  <a:pt x="6442595" y="77493"/>
                </a:lnTo>
                <a:lnTo>
                  <a:pt x="6448424" y="1285874"/>
                </a:lnTo>
                <a:close/>
              </a:path>
            </a:pathLst>
          </a:custGeom>
          <a:solidFill>
            <a:srgbClr val="312E81"/>
          </a:solidFill>
        </p:spPr>
        <p:txBody>
          <a:bodyPr wrap="square" lIns="0" tIns="0" rIns="0" bIns="0" rtlCol="0"/>
          <a:lstStyle/>
          <a:p/>
        </p:txBody>
      </p:sp>
      <p:sp>
        <p:nvSpPr>
          <p:cNvPr id="24" name="object 24"/>
          <p:cNvSpPr txBox="1"/>
          <p:nvPr/>
        </p:nvSpPr>
        <p:spPr>
          <a:xfrm>
            <a:off x="5627926" y="1089083"/>
            <a:ext cx="4650087" cy="657266"/>
          </a:xfrm>
          <a:prstGeom prst="rect">
            <a:avLst/>
          </a:prstGeom>
        </p:spPr>
        <p:txBody>
          <a:bodyPr vert="horz" wrap="square" lIns="0" tIns="60740" rIns="0" bIns="0" rtlCol="0">
            <a:spAutoFit/>
          </a:bodyPr>
          <a:lstStyle/>
          <a:p>
            <a:pPr marL="10160">
              <a:spcBef>
                <a:spcPts val="480"/>
              </a:spcBef>
            </a:pPr>
            <a:r>
              <a:rPr sz="825" b="1" spc="82" dirty="0">
                <a:solidFill>
                  <a:srgbClr val="A5B4FB"/>
                </a:solidFill>
                <a:latin typeface="Calibri" panose="020F0502020204030204"/>
                <a:cs typeface="Calibri" panose="020F0502020204030204"/>
              </a:rPr>
              <a:t>DESIG</a:t>
            </a:r>
            <a:r>
              <a:rPr sz="825" b="1" spc="-39" dirty="0">
                <a:solidFill>
                  <a:srgbClr val="A5B4FB"/>
                </a:solidFill>
                <a:latin typeface="Calibri" panose="020F0502020204030204"/>
                <a:cs typeface="Calibri" panose="020F0502020204030204"/>
              </a:rPr>
              <a:t> </a:t>
            </a:r>
            <a:r>
              <a:rPr sz="825" b="1" dirty="0">
                <a:solidFill>
                  <a:srgbClr val="A5B4FB"/>
                </a:solidFill>
                <a:latin typeface="Calibri" panose="020F0502020204030204"/>
                <a:cs typeface="Calibri" panose="020F0502020204030204"/>
              </a:rPr>
              <a:t>N</a:t>
            </a:r>
            <a:r>
              <a:rPr sz="825" b="1" spc="149" dirty="0">
                <a:solidFill>
                  <a:srgbClr val="A5B4FB"/>
                </a:solidFill>
                <a:latin typeface="Calibri" panose="020F0502020204030204"/>
                <a:cs typeface="Calibri" panose="020F0502020204030204"/>
              </a:rPr>
              <a:t> </a:t>
            </a:r>
            <a:r>
              <a:rPr sz="825" b="1" spc="67" dirty="0">
                <a:solidFill>
                  <a:srgbClr val="A5B4FB"/>
                </a:solidFill>
                <a:latin typeface="Calibri" panose="020F0502020204030204"/>
                <a:cs typeface="Calibri" panose="020F0502020204030204"/>
              </a:rPr>
              <a:t>INT</a:t>
            </a:r>
            <a:r>
              <a:rPr sz="825" b="1" spc="-27" dirty="0">
                <a:solidFill>
                  <a:srgbClr val="A5B4FB"/>
                </a:solidFill>
                <a:latin typeface="Calibri" panose="020F0502020204030204"/>
                <a:cs typeface="Calibri" panose="020F0502020204030204"/>
              </a:rPr>
              <a:t> </a:t>
            </a:r>
            <a:r>
              <a:rPr sz="825" b="1" spc="67" dirty="0">
                <a:solidFill>
                  <a:srgbClr val="A5B4FB"/>
                </a:solidFill>
                <a:latin typeface="Calibri" panose="020F0502020204030204"/>
                <a:cs typeface="Calibri" panose="020F0502020204030204"/>
              </a:rPr>
              <a:t>UIT</a:t>
            </a:r>
            <a:r>
              <a:rPr sz="825" b="1" spc="-31" dirty="0">
                <a:solidFill>
                  <a:srgbClr val="A5B4FB"/>
                </a:solidFill>
                <a:latin typeface="Calibri" panose="020F0502020204030204"/>
                <a:cs typeface="Calibri" panose="020F0502020204030204"/>
              </a:rPr>
              <a:t> </a:t>
            </a:r>
            <a:r>
              <a:rPr sz="825" b="1" spc="47" dirty="0">
                <a:solidFill>
                  <a:srgbClr val="A5B4FB"/>
                </a:solidFill>
                <a:latin typeface="Calibri" panose="020F0502020204030204"/>
                <a:cs typeface="Calibri" panose="020F0502020204030204"/>
              </a:rPr>
              <a:t>IO</a:t>
            </a:r>
            <a:r>
              <a:rPr sz="825" b="1" spc="-78" dirty="0">
                <a:solidFill>
                  <a:srgbClr val="A5B4FB"/>
                </a:solidFill>
                <a:latin typeface="Calibri" panose="020F0502020204030204"/>
                <a:cs typeface="Calibri" panose="020F0502020204030204"/>
              </a:rPr>
              <a:t> </a:t>
            </a:r>
            <a:r>
              <a:rPr sz="825" b="1" spc="-39" dirty="0">
                <a:solidFill>
                  <a:srgbClr val="A5B4FB"/>
                </a:solidFill>
                <a:latin typeface="Calibri" panose="020F0502020204030204"/>
                <a:cs typeface="Calibri" panose="020F0502020204030204"/>
              </a:rPr>
              <a:t>N</a:t>
            </a:r>
            <a:endParaRPr sz="825">
              <a:latin typeface="Calibri" panose="020F0502020204030204"/>
              <a:cs typeface="Calibri" panose="020F0502020204030204"/>
            </a:endParaRPr>
          </a:p>
          <a:p>
            <a:pPr marL="10160" marR="3810">
              <a:lnSpc>
                <a:spcPct val="117000"/>
              </a:lnSpc>
              <a:spcBef>
                <a:spcPts val="370"/>
              </a:spcBef>
            </a:pPr>
            <a:r>
              <a:rPr sz="1100" i="1" dirty="0">
                <a:solidFill>
                  <a:srgbClr val="EDF1FF"/>
                </a:solidFill>
                <a:latin typeface="Calibri" panose="020F0502020204030204"/>
                <a:cs typeface="Calibri" panose="020F0502020204030204"/>
              </a:rPr>
              <a:t>“</a:t>
            </a:r>
            <a:r>
              <a:rPr sz="1215" spc="-165" dirty="0">
                <a:solidFill>
                  <a:srgbClr val="EDF1FF"/>
                </a:solidFill>
                <a:latin typeface="宋体" panose="02010600030101010101" pitchFamily="2" charset="-122"/>
                <a:cs typeface="宋体" panose="02010600030101010101" pitchFamily="2" charset="-122"/>
              </a:rPr>
              <a:t>一个变量的重要性，取决于它参与了哪些重要的约束。通过双向传递，变量节</a:t>
            </a:r>
            <a:r>
              <a:rPr sz="1215" spc="-220" dirty="0">
                <a:solidFill>
                  <a:srgbClr val="EDF1FF"/>
                </a:solidFill>
                <a:latin typeface="宋体" panose="02010600030101010101" pitchFamily="2" charset="-122"/>
                <a:cs typeface="宋体" panose="02010600030101010101" pitchFamily="2" charset="-122"/>
              </a:rPr>
              <a:t>点才能获得全局视野。</a:t>
            </a:r>
            <a:r>
              <a:rPr sz="1100" i="1" spc="-39" dirty="0">
                <a:solidFill>
                  <a:srgbClr val="EDF1FF"/>
                </a:solidFill>
                <a:latin typeface="Calibri" panose="020F0502020204030204"/>
                <a:cs typeface="Calibri" panose="020F0502020204030204"/>
              </a:rPr>
              <a:t>”</a:t>
            </a:r>
            <a:endParaRPr sz="1100">
              <a:latin typeface="Calibri" panose="020F0502020204030204"/>
              <a:cs typeface="Calibri" panose="020F0502020204030204"/>
            </a:endParaRPr>
          </a:p>
        </p:txBody>
      </p:sp>
      <p:grpSp>
        <p:nvGrpSpPr>
          <p:cNvPr id="25" name="object 25"/>
          <p:cNvGrpSpPr/>
          <p:nvPr/>
        </p:nvGrpSpPr>
        <p:grpSpPr>
          <a:xfrm>
            <a:off x="5461219" y="1971556"/>
            <a:ext cx="5055849" cy="4734724"/>
            <a:chOff x="5286375" y="2514599"/>
            <a:chExt cx="6448425" cy="6038850"/>
          </a:xfrm>
        </p:grpSpPr>
        <p:sp>
          <p:nvSpPr>
            <p:cNvPr id="26" name="object 26"/>
            <p:cNvSpPr/>
            <p:nvPr/>
          </p:nvSpPr>
          <p:spPr>
            <a:xfrm>
              <a:off x="5286375" y="2514611"/>
              <a:ext cx="6448425" cy="6038850"/>
            </a:xfrm>
            <a:custGeom>
              <a:avLst/>
              <a:gdLst/>
              <a:ahLst/>
              <a:cxnLst/>
              <a:rect l="l" t="t" r="r" b="b"/>
              <a:pathLst>
                <a:path w="6448425" h="6038850">
                  <a:moveTo>
                    <a:pt x="6448412" y="0"/>
                  </a:moveTo>
                  <a:lnTo>
                    <a:pt x="6438887" y="0"/>
                  </a:lnTo>
                  <a:lnTo>
                    <a:pt x="6438887" y="5924550"/>
                  </a:lnTo>
                  <a:lnTo>
                    <a:pt x="6438392" y="5934862"/>
                  </a:lnTo>
                  <a:lnTo>
                    <a:pt x="6426505" y="5973978"/>
                  </a:lnTo>
                  <a:lnTo>
                    <a:pt x="6400559" y="6005576"/>
                  </a:lnTo>
                  <a:lnTo>
                    <a:pt x="6364491" y="6024829"/>
                  </a:lnTo>
                  <a:lnTo>
                    <a:pt x="6334125" y="6029325"/>
                  </a:lnTo>
                  <a:lnTo>
                    <a:pt x="114300" y="6029325"/>
                  </a:lnTo>
                  <a:lnTo>
                    <a:pt x="74193" y="6021336"/>
                  </a:lnTo>
                  <a:lnTo>
                    <a:pt x="40703" y="5999086"/>
                  </a:lnTo>
                  <a:lnTo>
                    <a:pt x="17500" y="5964644"/>
                  </a:lnTo>
                  <a:lnTo>
                    <a:pt x="9525" y="5924550"/>
                  </a:lnTo>
                  <a:lnTo>
                    <a:pt x="9525" y="0"/>
                  </a:lnTo>
                  <a:lnTo>
                    <a:pt x="0" y="0"/>
                  </a:lnTo>
                  <a:lnTo>
                    <a:pt x="0" y="5924550"/>
                  </a:lnTo>
                  <a:lnTo>
                    <a:pt x="533" y="5935802"/>
                  </a:lnTo>
                  <a:lnTo>
                    <a:pt x="13500" y="5978474"/>
                  </a:lnTo>
                  <a:lnTo>
                    <a:pt x="33515" y="6005322"/>
                  </a:lnTo>
                  <a:lnTo>
                    <a:pt x="33921" y="6005779"/>
                  </a:lnTo>
                  <a:lnTo>
                    <a:pt x="41821" y="6012942"/>
                  </a:lnTo>
                  <a:lnTo>
                    <a:pt x="81165" y="6033948"/>
                  </a:lnTo>
                  <a:lnTo>
                    <a:pt x="114300" y="6038850"/>
                  </a:lnTo>
                  <a:lnTo>
                    <a:pt x="6334125" y="6038850"/>
                  </a:lnTo>
                  <a:lnTo>
                    <a:pt x="6377864" y="6030138"/>
                  </a:lnTo>
                  <a:lnTo>
                    <a:pt x="6414427" y="6005817"/>
                  </a:lnTo>
                  <a:lnTo>
                    <a:pt x="6414935" y="6005360"/>
                  </a:lnTo>
                  <a:lnTo>
                    <a:pt x="6439713" y="5968289"/>
                  </a:lnTo>
                  <a:lnTo>
                    <a:pt x="6448412" y="5924550"/>
                  </a:lnTo>
                  <a:lnTo>
                    <a:pt x="6448412" y="0"/>
                  </a:lnTo>
                  <a:close/>
                </a:path>
              </a:pathLst>
            </a:custGeom>
            <a:solidFill>
              <a:srgbClr val="E2E7F0"/>
            </a:solidFill>
          </p:spPr>
          <p:txBody>
            <a:bodyPr wrap="square" lIns="0" tIns="0" rIns="0" bIns="0" rtlCol="0"/>
            <a:lstStyle/>
            <a:p/>
          </p:txBody>
        </p:sp>
        <p:sp>
          <p:nvSpPr>
            <p:cNvPr id="27" name="object 27"/>
            <p:cNvSpPr/>
            <p:nvPr/>
          </p:nvSpPr>
          <p:spPr>
            <a:xfrm>
              <a:off x="5600699" y="3124199"/>
              <a:ext cx="5819775" cy="1762125"/>
            </a:xfrm>
            <a:custGeom>
              <a:avLst/>
              <a:gdLst/>
              <a:ahLst/>
              <a:cxnLst/>
              <a:rect l="l" t="t" r="r" b="b"/>
              <a:pathLst>
                <a:path w="5819775" h="1762125">
                  <a:moveTo>
                    <a:pt x="5748577" y="1762124"/>
                  </a:moveTo>
                  <a:lnTo>
                    <a:pt x="71196" y="1762124"/>
                  </a:lnTo>
                  <a:lnTo>
                    <a:pt x="66241" y="1761636"/>
                  </a:lnTo>
                  <a:lnTo>
                    <a:pt x="29705" y="1746502"/>
                  </a:lnTo>
                  <a:lnTo>
                    <a:pt x="3885" y="1710462"/>
                  </a:lnTo>
                  <a:lnTo>
                    <a:pt x="0" y="1690928"/>
                  </a:lnTo>
                  <a:lnTo>
                    <a:pt x="0" y="1685924"/>
                  </a:lnTo>
                  <a:lnTo>
                    <a:pt x="0" y="71196"/>
                  </a:lnTo>
                  <a:lnTo>
                    <a:pt x="15621" y="29705"/>
                  </a:lnTo>
                  <a:lnTo>
                    <a:pt x="51661" y="3885"/>
                  </a:lnTo>
                  <a:lnTo>
                    <a:pt x="71196" y="0"/>
                  </a:lnTo>
                  <a:lnTo>
                    <a:pt x="5748577" y="0"/>
                  </a:lnTo>
                  <a:lnTo>
                    <a:pt x="5790068" y="15621"/>
                  </a:lnTo>
                  <a:lnTo>
                    <a:pt x="5815887" y="51661"/>
                  </a:lnTo>
                  <a:lnTo>
                    <a:pt x="5819774" y="71196"/>
                  </a:lnTo>
                  <a:lnTo>
                    <a:pt x="5819774" y="1690928"/>
                  </a:lnTo>
                  <a:lnTo>
                    <a:pt x="5804152" y="1732418"/>
                  </a:lnTo>
                  <a:lnTo>
                    <a:pt x="5768111" y="1758238"/>
                  </a:lnTo>
                  <a:lnTo>
                    <a:pt x="5753532" y="1761636"/>
                  </a:lnTo>
                  <a:lnTo>
                    <a:pt x="5748577" y="1762124"/>
                  </a:lnTo>
                  <a:close/>
                </a:path>
              </a:pathLst>
            </a:custGeom>
            <a:solidFill>
              <a:srgbClr val="F7FAFB"/>
            </a:solidFill>
          </p:spPr>
          <p:txBody>
            <a:bodyPr wrap="square" lIns="0" tIns="0" rIns="0" bIns="0" rtlCol="0"/>
            <a:lstStyle/>
            <a:p/>
          </p:txBody>
        </p:sp>
      </p:grpSp>
      <p:sp>
        <p:nvSpPr>
          <p:cNvPr id="28" name="object 28"/>
          <p:cNvSpPr txBox="1"/>
          <p:nvPr/>
        </p:nvSpPr>
        <p:spPr>
          <a:xfrm>
            <a:off x="5695138" y="2198913"/>
            <a:ext cx="1411954" cy="120181"/>
          </a:xfrm>
          <a:prstGeom prst="rect">
            <a:avLst/>
          </a:prstGeom>
        </p:spPr>
        <p:txBody>
          <a:bodyPr vert="horz" wrap="square" lIns="0" tIns="11450" rIns="0" bIns="0" rtlCol="0">
            <a:spAutoFit/>
          </a:bodyPr>
          <a:lstStyle/>
          <a:p>
            <a:pPr marL="10160">
              <a:spcBef>
                <a:spcPts val="90"/>
              </a:spcBef>
            </a:pPr>
            <a:r>
              <a:rPr sz="705" dirty="0">
                <a:solidFill>
                  <a:srgbClr val="94A2B8"/>
                </a:solidFill>
                <a:latin typeface="Courier New" panose="02070309020205020404"/>
                <a:cs typeface="Courier New" panose="02070309020205020404"/>
              </a:rPr>
              <a:t>—</a:t>
            </a:r>
            <a:r>
              <a:rPr sz="705" spc="-63" dirty="0">
                <a:solidFill>
                  <a:srgbClr val="94A2B8"/>
                </a:solidFill>
                <a:latin typeface="Courier New" panose="02070309020205020404"/>
                <a:cs typeface="Courier New" panose="02070309020205020404"/>
              </a:rPr>
              <a:t> </a:t>
            </a:r>
            <a:r>
              <a:rPr sz="705" spc="-47" dirty="0">
                <a:solidFill>
                  <a:srgbClr val="94A2B8"/>
                </a:solidFill>
                <a:latin typeface="Courier New" panose="02070309020205020404"/>
                <a:cs typeface="Courier New" panose="02070309020205020404"/>
              </a:rPr>
              <a:t>MESSAGE</a:t>
            </a:r>
            <a:r>
              <a:rPr sz="705" spc="-63" dirty="0">
                <a:solidFill>
                  <a:srgbClr val="94A2B8"/>
                </a:solidFill>
                <a:latin typeface="Courier New" panose="02070309020205020404"/>
                <a:cs typeface="Courier New" panose="02070309020205020404"/>
              </a:rPr>
              <a:t> </a:t>
            </a:r>
            <a:r>
              <a:rPr sz="705" spc="-47" dirty="0">
                <a:solidFill>
                  <a:srgbClr val="94A2B8"/>
                </a:solidFill>
                <a:latin typeface="Courier New" panose="02070309020205020404"/>
                <a:cs typeface="Courier New" panose="02070309020205020404"/>
              </a:rPr>
              <a:t>PASSING</a:t>
            </a:r>
            <a:r>
              <a:rPr sz="705" spc="-63" dirty="0">
                <a:solidFill>
                  <a:srgbClr val="94A2B8"/>
                </a:solidFill>
                <a:latin typeface="Courier New" panose="02070309020205020404"/>
                <a:cs typeface="Courier New" panose="02070309020205020404"/>
              </a:rPr>
              <a:t> </a:t>
            </a:r>
            <a:r>
              <a:rPr sz="705" spc="-47" dirty="0">
                <a:solidFill>
                  <a:srgbClr val="94A2B8"/>
                </a:solidFill>
                <a:latin typeface="Courier New" panose="02070309020205020404"/>
                <a:cs typeface="Courier New" panose="02070309020205020404"/>
              </a:rPr>
              <a:t>MECHANISM</a:t>
            </a:r>
            <a:r>
              <a:rPr sz="705" spc="-63" dirty="0">
                <a:solidFill>
                  <a:srgbClr val="94A2B8"/>
                </a:solidFill>
                <a:latin typeface="Courier New" panose="02070309020205020404"/>
                <a:cs typeface="Courier New" panose="02070309020205020404"/>
              </a:rPr>
              <a:t> </a:t>
            </a:r>
            <a:r>
              <a:rPr sz="705" spc="-39" dirty="0">
                <a:solidFill>
                  <a:srgbClr val="94A2B8"/>
                </a:solidFill>
                <a:latin typeface="Courier New" panose="02070309020205020404"/>
                <a:cs typeface="Courier New" panose="02070309020205020404"/>
              </a:rPr>
              <a:t>—</a:t>
            </a:r>
            <a:endParaRPr sz="705">
              <a:latin typeface="Courier New" panose="02070309020205020404"/>
              <a:cs typeface="Courier New" panose="02070309020205020404"/>
            </a:endParaRPr>
          </a:p>
        </p:txBody>
      </p:sp>
      <p:sp>
        <p:nvSpPr>
          <p:cNvPr id="29" name="object 29"/>
          <p:cNvSpPr txBox="1"/>
          <p:nvPr/>
        </p:nvSpPr>
        <p:spPr>
          <a:xfrm>
            <a:off x="9097521" y="3589628"/>
            <a:ext cx="1063944" cy="100528"/>
          </a:xfrm>
          <a:prstGeom prst="rect">
            <a:avLst/>
          </a:prstGeom>
        </p:spPr>
        <p:txBody>
          <a:bodyPr vert="horz" wrap="square" lIns="0" tIns="9957" rIns="0" bIns="0" rtlCol="0">
            <a:spAutoFit/>
          </a:bodyPr>
          <a:lstStyle/>
          <a:p>
            <a:pPr marL="10160">
              <a:spcBef>
                <a:spcPts val="80"/>
              </a:spcBef>
            </a:pPr>
            <a:r>
              <a:rPr sz="590" dirty="0">
                <a:solidFill>
                  <a:srgbClr val="94A2B8"/>
                </a:solidFill>
                <a:latin typeface="Times New Roman" panose="02020603050405020304"/>
                <a:cs typeface="Times New Roman" panose="02020603050405020304"/>
              </a:rPr>
              <a:t>STEP</a:t>
            </a:r>
            <a:r>
              <a:rPr sz="590" spc="-27" dirty="0">
                <a:solidFill>
                  <a:srgbClr val="94A2B8"/>
                </a:solidFill>
                <a:latin typeface="Times New Roman" panose="02020603050405020304"/>
                <a:cs typeface="Times New Roman" panose="02020603050405020304"/>
              </a:rPr>
              <a:t> </a:t>
            </a:r>
            <a:r>
              <a:rPr sz="590" dirty="0">
                <a:solidFill>
                  <a:srgbClr val="94A2B8"/>
                </a:solidFill>
                <a:latin typeface="Times New Roman" panose="02020603050405020304"/>
                <a:cs typeface="Times New Roman" panose="02020603050405020304"/>
              </a:rPr>
              <a:t>1: CONSTRAINT</a:t>
            </a:r>
            <a:r>
              <a:rPr sz="590" spc="-16" dirty="0">
                <a:solidFill>
                  <a:srgbClr val="94A2B8"/>
                </a:solidFill>
                <a:latin typeface="Times New Roman" panose="02020603050405020304"/>
                <a:cs typeface="Times New Roman" panose="02020603050405020304"/>
              </a:rPr>
              <a:t> </a:t>
            </a:r>
            <a:r>
              <a:rPr sz="590" spc="-8" dirty="0">
                <a:solidFill>
                  <a:srgbClr val="94A2B8"/>
                </a:solidFill>
                <a:latin typeface="Times New Roman" panose="02020603050405020304"/>
                <a:cs typeface="Times New Roman" panose="02020603050405020304"/>
              </a:rPr>
              <a:t>UPDATE</a:t>
            </a:r>
            <a:endParaRPr sz="590">
              <a:latin typeface="Times New Roman" panose="02020603050405020304"/>
              <a:cs typeface="Times New Roman" panose="02020603050405020304"/>
            </a:endParaRPr>
          </a:p>
        </p:txBody>
      </p:sp>
      <p:sp>
        <p:nvSpPr>
          <p:cNvPr id="30" name="object 30"/>
          <p:cNvSpPr/>
          <p:nvPr/>
        </p:nvSpPr>
        <p:spPr>
          <a:xfrm>
            <a:off x="5707662" y="4070070"/>
            <a:ext cx="4562960" cy="1740048"/>
          </a:xfrm>
          <a:custGeom>
            <a:avLst/>
            <a:gdLst/>
            <a:ahLst/>
            <a:cxnLst/>
            <a:rect l="l" t="t" r="r" b="b"/>
            <a:pathLst>
              <a:path w="5819775" h="2219325">
                <a:moveTo>
                  <a:pt x="5748577" y="2219324"/>
                </a:moveTo>
                <a:lnTo>
                  <a:pt x="71196" y="2219324"/>
                </a:lnTo>
                <a:lnTo>
                  <a:pt x="66241" y="2218836"/>
                </a:lnTo>
                <a:lnTo>
                  <a:pt x="29705" y="2203703"/>
                </a:lnTo>
                <a:lnTo>
                  <a:pt x="3885" y="2167662"/>
                </a:lnTo>
                <a:lnTo>
                  <a:pt x="0" y="2148128"/>
                </a:lnTo>
                <a:lnTo>
                  <a:pt x="0" y="2143124"/>
                </a:lnTo>
                <a:lnTo>
                  <a:pt x="0" y="71196"/>
                </a:lnTo>
                <a:lnTo>
                  <a:pt x="15621" y="29704"/>
                </a:lnTo>
                <a:lnTo>
                  <a:pt x="51661" y="3885"/>
                </a:lnTo>
                <a:lnTo>
                  <a:pt x="71196" y="0"/>
                </a:lnTo>
                <a:lnTo>
                  <a:pt x="5748577" y="0"/>
                </a:lnTo>
                <a:lnTo>
                  <a:pt x="5790068" y="15621"/>
                </a:lnTo>
                <a:lnTo>
                  <a:pt x="5815887" y="51661"/>
                </a:lnTo>
                <a:lnTo>
                  <a:pt x="5819774" y="71196"/>
                </a:lnTo>
                <a:lnTo>
                  <a:pt x="5819774" y="2148128"/>
                </a:lnTo>
                <a:lnTo>
                  <a:pt x="5804152" y="2189618"/>
                </a:lnTo>
                <a:lnTo>
                  <a:pt x="5768111" y="2215439"/>
                </a:lnTo>
                <a:lnTo>
                  <a:pt x="5753532" y="2218836"/>
                </a:lnTo>
                <a:lnTo>
                  <a:pt x="5748577" y="2219324"/>
                </a:lnTo>
                <a:close/>
              </a:path>
            </a:pathLst>
          </a:custGeom>
          <a:solidFill>
            <a:srgbClr val="F7FAFB"/>
          </a:solidFill>
        </p:spPr>
        <p:txBody>
          <a:bodyPr wrap="square" lIns="0" tIns="0" rIns="0" bIns="0" rtlCol="0"/>
          <a:lstStyle/>
          <a:p/>
        </p:txBody>
      </p:sp>
      <p:sp>
        <p:nvSpPr>
          <p:cNvPr id="31" name="object 31"/>
          <p:cNvSpPr txBox="1"/>
          <p:nvPr/>
        </p:nvSpPr>
        <p:spPr>
          <a:xfrm>
            <a:off x="9202657" y="5568653"/>
            <a:ext cx="958396" cy="100528"/>
          </a:xfrm>
          <a:prstGeom prst="rect">
            <a:avLst/>
          </a:prstGeom>
        </p:spPr>
        <p:txBody>
          <a:bodyPr vert="horz" wrap="square" lIns="0" tIns="9957" rIns="0" bIns="0" rtlCol="0">
            <a:spAutoFit/>
          </a:bodyPr>
          <a:lstStyle/>
          <a:p>
            <a:pPr marL="10160">
              <a:spcBef>
                <a:spcPts val="80"/>
              </a:spcBef>
            </a:pPr>
            <a:r>
              <a:rPr sz="590" dirty="0">
                <a:solidFill>
                  <a:srgbClr val="94A2B8"/>
                </a:solidFill>
                <a:latin typeface="Times New Roman" panose="02020603050405020304"/>
                <a:cs typeface="Times New Roman" panose="02020603050405020304"/>
              </a:rPr>
              <a:t>STEP</a:t>
            </a:r>
            <a:r>
              <a:rPr sz="590" spc="-20" dirty="0">
                <a:solidFill>
                  <a:srgbClr val="94A2B8"/>
                </a:solidFill>
                <a:latin typeface="Times New Roman" panose="02020603050405020304"/>
                <a:cs typeface="Times New Roman" panose="02020603050405020304"/>
              </a:rPr>
              <a:t> </a:t>
            </a:r>
            <a:r>
              <a:rPr sz="590" dirty="0">
                <a:solidFill>
                  <a:srgbClr val="94A2B8"/>
                </a:solidFill>
                <a:latin typeface="Times New Roman" panose="02020603050405020304"/>
                <a:cs typeface="Times New Roman" panose="02020603050405020304"/>
              </a:rPr>
              <a:t>2:</a:t>
            </a:r>
            <a:r>
              <a:rPr sz="590" spc="-4" dirty="0">
                <a:solidFill>
                  <a:srgbClr val="94A2B8"/>
                </a:solidFill>
                <a:latin typeface="Times New Roman" panose="02020603050405020304"/>
                <a:cs typeface="Times New Roman" panose="02020603050405020304"/>
              </a:rPr>
              <a:t> </a:t>
            </a:r>
            <a:r>
              <a:rPr sz="590" spc="-16" dirty="0">
                <a:solidFill>
                  <a:srgbClr val="94A2B8"/>
                </a:solidFill>
                <a:latin typeface="Times New Roman" panose="02020603050405020304"/>
                <a:cs typeface="Times New Roman" panose="02020603050405020304"/>
              </a:rPr>
              <a:t>VARIABLE</a:t>
            </a:r>
            <a:r>
              <a:rPr sz="590" dirty="0">
                <a:solidFill>
                  <a:srgbClr val="94A2B8"/>
                </a:solidFill>
                <a:latin typeface="Times New Roman" panose="02020603050405020304"/>
                <a:cs typeface="Times New Roman" panose="02020603050405020304"/>
              </a:rPr>
              <a:t> </a:t>
            </a:r>
            <a:r>
              <a:rPr sz="590" spc="-8" dirty="0">
                <a:solidFill>
                  <a:srgbClr val="94A2B8"/>
                </a:solidFill>
                <a:latin typeface="Times New Roman" panose="02020603050405020304"/>
                <a:cs typeface="Times New Roman" panose="02020603050405020304"/>
              </a:rPr>
              <a:t>UPDATE</a:t>
            </a:r>
            <a:endParaRPr sz="590">
              <a:latin typeface="Times New Roman" panose="02020603050405020304"/>
              <a:cs typeface="Times New Roman" panose="02020603050405020304"/>
            </a:endParaRPr>
          </a:p>
        </p:txBody>
      </p:sp>
      <p:grpSp>
        <p:nvGrpSpPr>
          <p:cNvPr id="32" name="object 32"/>
          <p:cNvGrpSpPr/>
          <p:nvPr/>
        </p:nvGrpSpPr>
        <p:grpSpPr>
          <a:xfrm>
            <a:off x="5707662" y="2748231"/>
            <a:ext cx="4562960" cy="3308333"/>
            <a:chOff x="5600699" y="3505200"/>
            <a:chExt cx="5819775" cy="4219575"/>
          </a:xfrm>
        </p:grpSpPr>
        <p:sp>
          <p:nvSpPr>
            <p:cNvPr id="33" name="object 33"/>
            <p:cNvSpPr/>
            <p:nvPr/>
          </p:nvSpPr>
          <p:spPr>
            <a:xfrm>
              <a:off x="5600699" y="7715249"/>
              <a:ext cx="5819775" cy="9525"/>
            </a:xfrm>
            <a:custGeom>
              <a:avLst/>
              <a:gdLst/>
              <a:ahLst/>
              <a:cxnLst/>
              <a:rect l="l" t="t" r="r" b="b"/>
              <a:pathLst>
                <a:path w="5819775" h="9525">
                  <a:moveTo>
                    <a:pt x="5819774" y="9524"/>
                  </a:moveTo>
                  <a:lnTo>
                    <a:pt x="0" y="9524"/>
                  </a:lnTo>
                  <a:lnTo>
                    <a:pt x="0" y="0"/>
                  </a:lnTo>
                  <a:lnTo>
                    <a:pt x="5819774" y="0"/>
                  </a:lnTo>
                  <a:lnTo>
                    <a:pt x="5819774" y="9524"/>
                  </a:lnTo>
                  <a:close/>
                </a:path>
              </a:pathLst>
            </a:custGeom>
            <a:solidFill>
              <a:srgbClr val="F1F5F9"/>
            </a:solidFill>
          </p:spPr>
          <p:txBody>
            <a:bodyPr wrap="square" lIns="0" tIns="0" rIns="0" bIns="0" rtlCol="0"/>
            <a:lstStyle/>
            <a:p/>
          </p:txBody>
        </p:sp>
        <p:sp>
          <p:nvSpPr>
            <p:cNvPr id="34" name="object 34"/>
            <p:cNvSpPr/>
            <p:nvPr/>
          </p:nvSpPr>
          <p:spPr>
            <a:xfrm>
              <a:off x="7681572" y="3505200"/>
              <a:ext cx="126364" cy="819150"/>
            </a:xfrm>
            <a:custGeom>
              <a:avLst/>
              <a:gdLst/>
              <a:ahLst/>
              <a:cxnLst/>
              <a:rect l="l" t="t" r="r" b="b"/>
              <a:pathLst>
                <a:path w="126365" h="819150">
                  <a:moveTo>
                    <a:pt x="122835" y="819149"/>
                  </a:moveTo>
                  <a:lnTo>
                    <a:pt x="110203" y="819149"/>
                  </a:lnTo>
                  <a:lnTo>
                    <a:pt x="85169" y="784809"/>
                  </a:lnTo>
                  <a:lnTo>
                    <a:pt x="61358" y="742694"/>
                  </a:lnTo>
                  <a:lnTo>
                    <a:pt x="41483" y="696528"/>
                  </a:lnTo>
                  <a:lnTo>
                    <a:pt x="25546" y="646310"/>
                  </a:lnTo>
                  <a:lnTo>
                    <a:pt x="13546" y="592041"/>
                  </a:lnTo>
                  <a:lnTo>
                    <a:pt x="5485" y="533722"/>
                  </a:lnTo>
                  <a:lnTo>
                    <a:pt x="1714" y="483207"/>
                  </a:lnTo>
                  <a:lnTo>
                    <a:pt x="0" y="429949"/>
                  </a:lnTo>
                  <a:lnTo>
                    <a:pt x="0" y="422178"/>
                  </a:lnTo>
                  <a:lnTo>
                    <a:pt x="45" y="417606"/>
                  </a:lnTo>
                  <a:lnTo>
                    <a:pt x="0" y="416235"/>
                  </a:lnTo>
                  <a:lnTo>
                    <a:pt x="0" y="397035"/>
                  </a:lnTo>
                  <a:lnTo>
                    <a:pt x="861" y="362333"/>
                  </a:lnTo>
                  <a:lnTo>
                    <a:pt x="4975" y="298673"/>
                  </a:lnTo>
                  <a:lnTo>
                    <a:pt x="17107" y="216626"/>
                  </a:lnTo>
                  <a:lnTo>
                    <a:pt x="29411" y="167064"/>
                  </a:lnTo>
                  <a:lnTo>
                    <a:pt x="45143" y="121033"/>
                  </a:lnTo>
                  <a:lnTo>
                    <a:pt x="64304" y="78531"/>
                  </a:lnTo>
                  <a:lnTo>
                    <a:pt x="86894" y="39558"/>
                  </a:lnTo>
                  <a:lnTo>
                    <a:pt x="112916" y="4114"/>
                  </a:lnTo>
                  <a:lnTo>
                    <a:pt x="116344" y="228"/>
                  </a:lnTo>
                  <a:lnTo>
                    <a:pt x="116504" y="0"/>
                  </a:lnTo>
                  <a:lnTo>
                    <a:pt x="124802" y="0"/>
                  </a:lnTo>
                  <a:lnTo>
                    <a:pt x="125716" y="914"/>
                  </a:lnTo>
                  <a:lnTo>
                    <a:pt x="126173" y="1599"/>
                  </a:lnTo>
                  <a:lnTo>
                    <a:pt x="126173" y="2674"/>
                  </a:lnTo>
                  <a:lnTo>
                    <a:pt x="125419" y="4045"/>
                  </a:lnTo>
                  <a:lnTo>
                    <a:pt x="123887" y="6171"/>
                  </a:lnTo>
                  <a:lnTo>
                    <a:pt x="105283" y="35075"/>
                  </a:lnTo>
                  <a:lnTo>
                    <a:pt x="74425" y="98959"/>
                  </a:lnTo>
                  <a:lnTo>
                    <a:pt x="51933" y="171274"/>
                  </a:lnTo>
                  <a:lnTo>
                    <a:pt x="43606" y="211260"/>
                  </a:lnTo>
                  <a:lnTo>
                    <a:pt x="37190" y="253904"/>
                  </a:lnTo>
                  <a:lnTo>
                    <a:pt x="32686" y="299204"/>
                  </a:lnTo>
                  <a:lnTo>
                    <a:pt x="29774" y="349145"/>
                  </a:lnTo>
                  <a:lnTo>
                    <a:pt x="28800" y="402977"/>
                  </a:lnTo>
                  <a:lnTo>
                    <a:pt x="28800" y="424006"/>
                  </a:lnTo>
                  <a:lnTo>
                    <a:pt x="29486" y="467207"/>
                  </a:lnTo>
                  <a:lnTo>
                    <a:pt x="32379" y="523175"/>
                  </a:lnTo>
                  <a:lnTo>
                    <a:pt x="37629" y="575432"/>
                  </a:lnTo>
                  <a:lnTo>
                    <a:pt x="45236" y="623977"/>
                  </a:lnTo>
                  <a:lnTo>
                    <a:pt x="55200" y="668810"/>
                  </a:lnTo>
                  <a:lnTo>
                    <a:pt x="67852" y="710542"/>
                  </a:lnTo>
                  <a:lnTo>
                    <a:pt x="83518" y="749783"/>
                  </a:lnTo>
                  <a:lnTo>
                    <a:pt x="102197" y="786539"/>
                  </a:lnTo>
                  <a:lnTo>
                    <a:pt x="122835" y="819149"/>
                  </a:lnTo>
                  <a:close/>
                </a:path>
              </a:pathLst>
            </a:custGeom>
            <a:solidFill>
              <a:srgbClr val="312E81"/>
            </a:solidFill>
          </p:spPr>
          <p:txBody>
            <a:bodyPr wrap="square" lIns="0" tIns="0" rIns="0" bIns="0" rtlCol="0"/>
            <a:lstStyle/>
            <a:p/>
          </p:txBody>
        </p:sp>
      </p:grpSp>
      <p:sp>
        <p:nvSpPr>
          <p:cNvPr id="35" name="object 35"/>
          <p:cNvSpPr txBox="1"/>
          <p:nvPr/>
        </p:nvSpPr>
        <p:spPr>
          <a:xfrm>
            <a:off x="6621911" y="2924975"/>
            <a:ext cx="646233" cy="227165"/>
          </a:xfrm>
          <a:prstGeom prst="rect">
            <a:avLst/>
          </a:prstGeom>
        </p:spPr>
        <p:txBody>
          <a:bodyPr vert="horz" wrap="square" lIns="0" tIns="9957" rIns="0" bIns="0" rtlCol="0">
            <a:spAutoFit/>
          </a:bodyPr>
          <a:lstStyle/>
          <a:p>
            <a:pPr marL="29845">
              <a:spcBef>
                <a:spcPts val="80"/>
              </a:spcBef>
            </a:pPr>
            <a:r>
              <a:rPr sz="1410" i="1" dirty="0">
                <a:solidFill>
                  <a:srgbClr val="312E81"/>
                </a:solidFill>
                <a:latin typeface="Times New Roman" panose="02020603050405020304"/>
                <a:cs typeface="Times New Roman" panose="02020603050405020304"/>
              </a:rPr>
              <a:t>c</a:t>
            </a:r>
            <a:r>
              <a:rPr sz="1470" i="1" baseline="-11000" dirty="0">
                <a:solidFill>
                  <a:srgbClr val="312E81"/>
                </a:solidFill>
                <a:latin typeface="Times New Roman" panose="02020603050405020304"/>
                <a:cs typeface="Times New Roman" panose="02020603050405020304"/>
              </a:rPr>
              <a:t>i</a:t>
            </a:r>
            <a:r>
              <a:rPr sz="1470" i="1" spc="353" baseline="-11000" dirty="0">
                <a:solidFill>
                  <a:srgbClr val="312E81"/>
                </a:solidFill>
                <a:latin typeface="Times New Roman" panose="02020603050405020304"/>
                <a:cs typeface="Times New Roman" panose="02020603050405020304"/>
              </a:rPr>
              <a:t> </a:t>
            </a:r>
            <a:r>
              <a:rPr sz="1410" spc="223" dirty="0">
                <a:solidFill>
                  <a:srgbClr val="312E81"/>
                </a:solidFill>
                <a:latin typeface="Cambria" panose="02040503050406030204"/>
                <a:cs typeface="Cambria" panose="02040503050406030204"/>
              </a:rPr>
              <a:t>←</a:t>
            </a:r>
            <a:r>
              <a:rPr sz="1410" spc="89" dirty="0">
                <a:solidFill>
                  <a:srgbClr val="312E81"/>
                </a:solidFill>
                <a:latin typeface="Cambria" panose="02040503050406030204"/>
                <a:cs typeface="Cambria" panose="02040503050406030204"/>
              </a:rPr>
              <a:t> </a:t>
            </a:r>
            <a:r>
              <a:rPr sz="1410" i="1" spc="157" dirty="0">
                <a:solidFill>
                  <a:srgbClr val="312E81"/>
                </a:solidFill>
                <a:latin typeface="Times New Roman" panose="02020603050405020304"/>
                <a:cs typeface="Times New Roman" panose="02020603050405020304"/>
              </a:rPr>
              <a:t>f</a:t>
            </a:r>
            <a:r>
              <a:rPr sz="1470" i="1" spc="235" baseline="-11000" dirty="0">
                <a:solidFill>
                  <a:srgbClr val="312E81"/>
                </a:solidFill>
                <a:latin typeface="Times New Roman" panose="02020603050405020304"/>
                <a:cs typeface="Times New Roman" panose="02020603050405020304"/>
              </a:rPr>
              <a:t>C</a:t>
            </a:r>
            <a:endParaRPr sz="1470" baseline="-11000">
              <a:latin typeface="Times New Roman" panose="02020603050405020304"/>
              <a:cs typeface="Times New Roman" panose="02020603050405020304"/>
            </a:endParaRPr>
          </a:p>
        </p:txBody>
      </p:sp>
      <p:sp>
        <p:nvSpPr>
          <p:cNvPr id="36" name="object 36"/>
          <p:cNvSpPr txBox="1"/>
          <p:nvPr/>
        </p:nvSpPr>
        <p:spPr>
          <a:xfrm>
            <a:off x="7412588" y="2845873"/>
            <a:ext cx="1787346" cy="509206"/>
          </a:xfrm>
          <a:prstGeom prst="rect">
            <a:avLst/>
          </a:prstGeom>
        </p:spPr>
        <p:txBody>
          <a:bodyPr vert="horz" wrap="square" lIns="0" tIns="89118" rIns="0" bIns="0" rtlCol="0">
            <a:spAutoFit/>
          </a:bodyPr>
          <a:lstStyle/>
          <a:p>
            <a:pPr marL="29845">
              <a:spcBef>
                <a:spcPts val="700"/>
              </a:spcBef>
              <a:tabLst>
                <a:tab pos="370205" algn="l"/>
                <a:tab pos="746760" algn="l"/>
              </a:tabLst>
            </a:pPr>
            <a:r>
              <a:rPr sz="1410" i="1" spc="43" dirty="0">
                <a:solidFill>
                  <a:srgbClr val="312E81"/>
                </a:solidFill>
                <a:latin typeface="Times New Roman" panose="02020603050405020304"/>
                <a:cs typeface="Times New Roman" panose="02020603050405020304"/>
              </a:rPr>
              <a:t>c</a:t>
            </a:r>
            <a:r>
              <a:rPr sz="1470" i="1" spc="64" baseline="-11000" dirty="0">
                <a:solidFill>
                  <a:srgbClr val="312E81"/>
                </a:solidFill>
                <a:latin typeface="Times New Roman" panose="02020603050405020304"/>
                <a:cs typeface="Times New Roman" panose="02020603050405020304"/>
              </a:rPr>
              <a:t>i</a:t>
            </a:r>
            <a:r>
              <a:rPr sz="1410" spc="43" dirty="0">
                <a:solidFill>
                  <a:srgbClr val="312E81"/>
                </a:solidFill>
                <a:latin typeface="Cambria" panose="02040503050406030204"/>
                <a:cs typeface="Cambria" panose="02040503050406030204"/>
              </a:rPr>
              <a:t>,</a:t>
            </a:r>
            <a:r>
              <a:rPr sz="1410" dirty="0">
                <a:solidFill>
                  <a:srgbClr val="312E81"/>
                </a:solidFill>
                <a:latin typeface="Cambria" panose="02040503050406030204"/>
                <a:cs typeface="Cambria" panose="02040503050406030204"/>
              </a:rPr>
              <a:t>	</a:t>
            </a:r>
            <a:r>
              <a:rPr sz="1410" spc="980" dirty="0">
                <a:solidFill>
                  <a:srgbClr val="312E81"/>
                </a:solidFill>
                <a:latin typeface="Arial" panose="020B0604020202020204"/>
                <a:cs typeface="Arial" panose="020B0604020202020204"/>
              </a:rPr>
              <a:t>∑</a:t>
            </a:r>
            <a:r>
              <a:rPr sz="1410" dirty="0">
                <a:solidFill>
                  <a:srgbClr val="312E81"/>
                </a:solidFill>
                <a:latin typeface="Arial" panose="020B0604020202020204"/>
                <a:cs typeface="Arial" panose="020B0604020202020204"/>
              </a:rPr>
              <a:t>	</a:t>
            </a:r>
            <a:r>
              <a:rPr sz="1410" i="1" spc="-16" dirty="0">
                <a:solidFill>
                  <a:srgbClr val="312E81"/>
                </a:solidFill>
                <a:latin typeface="Times New Roman" panose="02020603050405020304"/>
                <a:cs typeface="Times New Roman" panose="02020603050405020304"/>
              </a:rPr>
              <a:t>g</a:t>
            </a:r>
            <a:r>
              <a:rPr sz="1470" i="1" spc="-24" baseline="-11000" dirty="0">
                <a:solidFill>
                  <a:srgbClr val="312E81"/>
                </a:solidFill>
                <a:latin typeface="Times New Roman" panose="02020603050405020304"/>
                <a:cs typeface="Times New Roman" panose="02020603050405020304"/>
              </a:rPr>
              <a:t>C</a:t>
            </a:r>
            <a:r>
              <a:rPr sz="1470" i="1" spc="-153" baseline="-11000" dirty="0">
                <a:solidFill>
                  <a:srgbClr val="312E81"/>
                </a:solidFill>
                <a:latin typeface="Times New Roman" panose="02020603050405020304"/>
                <a:cs typeface="Times New Roman" panose="02020603050405020304"/>
              </a:rPr>
              <a:t> </a:t>
            </a:r>
            <a:r>
              <a:rPr sz="1410" spc="43" dirty="0">
                <a:solidFill>
                  <a:srgbClr val="312E81"/>
                </a:solidFill>
                <a:latin typeface="Cambria" panose="02040503050406030204"/>
                <a:cs typeface="Cambria" panose="02040503050406030204"/>
              </a:rPr>
              <a:t>(</a:t>
            </a:r>
            <a:r>
              <a:rPr sz="1410" i="1" spc="43" dirty="0">
                <a:solidFill>
                  <a:srgbClr val="312E81"/>
                </a:solidFill>
                <a:latin typeface="Times New Roman" panose="02020603050405020304"/>
                <a:cs typeface="Times New Roman" panose="02020603050405020304"/>
              </a:rPr>
              <a:t>c</a:t>
            </a:r>
            <a:r>
              <a:rPr sz="1470" i="1" spc="64" baseline="-11000" dirty="0">
                <a:solidFill>
                  <a:srgbClr val="312E81"/>
                </a:solidFill>
                <a:latin typeface="Times New Roman" panose="02020603050405020304"/>
                <a:cs typeface="Times New Roman" panose="02020603050405020304"/>
              </a:rPr>
              <a:t>i</a:t>
            </a:r>
            <a:r>
              <a:rPr sz="1410" spc="43" dirty="0">
                <a:solidFill>
                  <a:srgbClr val="312E81"/>
                </a:solidFill>
                <a:latin typeface="Cambria" panose="02040503050406030204"/>
                <a:cs typeface="Cambria" panose="02040503050406030204"/>
              </a:rPr>
              <a:t>,</a:t>
            </a:r>
            <a:r>
              <a:rPr sz="1410" spc="-47" dirty="0">
                <a:solidFill>
                  <a:srgbClr val="312E81"/>
                </a:solidFill>
                <a:latin typeface="Cambria" panose="02040503050406030204"/>
                <a:cs typeface="Cambria" panose="02040503050406030204"/>
              </a:rPr>
              <a:t> </a:t>
            </a:r>
            <a:r>
              <a:rPr sz="1410" i="1" spc="102" dirty="0">
                <a:solidFill>
                  <a:srgbClr val="312E81"/>
                </a:solidFill>
                <a:latin typeface="Times New Roman" panose="02020603050405020304"/>
                <a:cs typeface="Times New Roman" panose="02020603050405020304"/>
              </a:rPr>
              <a:t>v</a:t>
            </a:r>
            <a:r>
              <a:rPr sz="1470" i="1" spc="153" baseline="-11000" dirty="0">
                <a:solidFill>
                  <a:srgbClr val="312E81"/>
                </a:solidFill>
                <a:latin typeface="Times New Roman" panose="02020603050405020304"/>
                <a:cs typeface="Times New Roman" panose="02020603050405020304"/>
              </a:rPr>
              <a:t>j</a:t>
            </a:r>
            <a:r>
              <a:rPr sz="1470" i="1" spc="-170" baseline="-11000" dirty="0">
                <a:solidFill>
                  <a:srgbClr val="312E81"/>
                </a:solidFill>
                <a:latin typeface="Times New Roman" panose="02020603050405020304"/>
                <a:cs typeface="Times New Roman" panose="02020603050405020304"/>
              </a:rPr>
              <a:t> </a:t>
            </a:r>
            <a:r>
              <a:rPr sz="1410" spc="94" dirty="0">
                <a:solidFill>
                  <a:srgbClr val="312E81"/>
                </a:solidFill>
                <a:latin typeface="Cambria" panose="02040503050406030204"/>
                <a:cs typeface="Cambria" panose="02040503050406030204"/>
              </a:rPr>
              <a:t>,</a:t>
            </a:r>
            <a:r>
              <a:rPr sz="1410" spc="-47" dirty="0">
                <a:solidFill>
                  <a:srgbClr val="312E81"/>
                </a:solidFill>
                <a:latin typeface="Cambria" panose="02040503050406030204"/>
                <a:cs typeface="Cambria" panose="02040503050406030204"/>
              </a:rPr>
              <a:t> </a:t>
            </a:r>
            <a:r>
              <a:rPr sz="1410" i="1" spc="74" dirty="0">
                <a:solidFill>
                  <a:srgbClr val="312E81"/>
                </a:solidFill>
                <a:latin typeface="Times New Roman" panose="02020603050405020304"/>
                <a:cs typeface="Times New Roman" panose="02020603050405020304"/>
              </a:rPr>
              <a:t>e</a:t>
            </a:r>
            <a:r>
              <a:rPr sz="1470" i="1" spc="111" baseline="-11000" dirty="0">
                <a:solidFill>
                  <a:srgbClr val="312E81"/>
                </a:solidFill>
                <a:latin typeface="Times New Roman" panose="02020603050405020304"/>
                <a:cs typeface="Times New Roman" panose="02020603050405020304"/>
              </a:rPr>
              <a:t>i</a:t>
            </a:r>
            <a:r>
              <a:rPr sz="1470" spc="111" baseline="-11000" dirty="0">
                <a:solidFill>
                  <a:srgbClr val="312E81"/>
                </a:solidFill>
                <a:latin typeface="Cambria" panose="02040503050406030204"/>
                <a:cs typeface="Cambria" panose="02040503050406030204"/>
              </a:rPr>
              <a:t>,</a:t>
            </a:r>
            <a:r>
              <a:rPr sz="1470" i="1" spc="111" baseline="-11000" dirty="0">
                <a:solidFill>
                  <a:srgbClr val="312E81"/>
                </a:solidFill>
                <a:latin typeface="Times New Roman" panose="02020603050405020304"/>
                <a:cs typeface="Times New Roman" panose="02020603050405020304"/>
              </a:rPr>
              <a:t>j</a:t>
            </a:r>
            <a:r>
              <a:rPr sz="1470" i="1" spc="-170" baseline="-11000" dirty="0">
                <a:solidFill>
                  <a:srgbClr val="312E81"/>
                </a:solidFill>
                <a:latin typeface="Times New Roman" panose="02020603050405020304"/>
                <a:cs typeface="Times New Roman" panose="02020603050405020304"/>
              </a:rPr>
              <a:t> </a:t>
            </a:r>
            <a:r>
              <a:rPr sz="1410" spc="-39" dirty="0">
                <a:solidFill>
                  <a:srgbClr val="312E81"/>
                </a:solidFill>
                <a:latin typeface="Cambria" panose="02040503050406030204"/>
                <a:cs typeface="Cambria" panose="02040503050406030204"/>
              </a:rPr>
              <a:t>)</a:t>
            </a:r>
            <a:endParaRPr sz="1410">
              <a:latin typeface="Cambria" panose="02040503050406030204"/>
              <a:cs typeface="Cambria" panose="02040503050406030204"/>
            </a:endParaRPr>
          </a:p>
          <a:p>
            <a:pPr marL="284480">
              <a:spcBef>
                <a:spcPts val="445"/>
              </a:spcBef>
            </a:pPr>
            <a:r>
              <a:rPr sz="980" spc="74" dirty="0">
                <a:solidFill>
                  <a:srgbClr val="312E81"/>
                </a:solidFill>
                <a:latin typeface="Cambria" panose="02040503050406030204"/>
                <a:cs typeface="Cambria" panose="02040503050406030204"/>
              </a:rPr>
              <a:t>(</a:t>
            </a:r>
            <a:r>
              <a:rPr sz="980" i="1" spc="74" dirty="0">
                <a:solidFill>
                  <a:srgbClr val="312E81"/>
                </a:solidFill>
                <a:latin typeface="Times New Roman" panose="02020603050405020304"/>
                <a:cs typeface="Times New Roman" panose="02020603050405020304"/>
              </a:rPr>
              <a:t>i</a:t>
            </a:r>
            <a:r>
              <a:rPr sz="980" spc="74" dirty="0">
                <a:solidFill>
                  <a:srgbClr val="312E81"/>
                </a:solidFill>
                <a:latin typeface="Cambria" panose="02040503050406030204"/>
                <a:cs typeface="Cambria" panose="02040503050406030204"/>
              </a:rPr>
              <a:t>,</a:t>
            </a:r>
            <a:r>
              <a:rPr sz="980" i="1" spc="74" dirty="0">
                <a:solidFill>
                  <a:srgbClr val="312E81"/>
                </a:solidFill>
                <a:latin typeface="Times New Roman" panose="02020603050405020304"/>
                <a:cs typeface="Times New Roman" panose="02020603050405020304"/>
              </a:rPr>
              <a:t>j</a:t>
            </a:r>
            <a:r>
              <a:rPr sz="980" spc="74" dirty="0">
                <a:solidFill>
                  <a:srgbClr val="312E81"/>
                </a:solidFill>
                <a:latin typeface="Cambria" panose="02040503050406030204"/>
                <a:cs typeface="Cambria" panose="02040503050406030204"/>
              </a:rPr>
              <a:t>)∈</a:t>
            </a:r>
            <a:r>
              <a:rPr sz="980" i="1" spc="74" dirty="0">
                <a:solidFill>
                  <a:srgbClr val="312E81"/>
                </a:solidFill>
                <a:latin typeface="Times New Roman" panose="02020603050405020304"/>
                <a:cs typeface="Times New Roman" panose="02020603050405020304"/>
              </a:rPr>
              <a:t>E</a:t>
            </a:r>
            <a:endParaRPr sz="980">
              <a:latin typeface="Times New Roman" panose="02020603050405020304"/>
              <a:cs typeface="Times New Roman" panose="02020603050405020304"/>
            </a:endParaRPr>
          </a:p>
        </p:txBody>
      </p:sp>
      <p:sp>
        <p:nvSpPr>
          <p:cNvPr id="37" name="object 37"/>
          <p:cNvSpPr/>
          <p:nvPr/>
        </p:nvSpPr>
        <p:spPr>
          <a:xfrm>
            <a:off x="7339156" y="2748241"/>
            <a:ext cx="1934715" cy="2442042"/>
          </a:xfrm>
          <a:custGeom>
            <a:avLst/>
            <a:gdLst/>
            <a:ahLst/>
            <a:cxnLst/>
            <a:rect l="l" t="t" r="r" b="b"/>
            <a:pathLst>
              <a:path w="2467609" h="3114675">
                <a:moveTo>
                  <a:pt x="126174" y="2297125"/>
                </a:moveTo>
                <a:lnTo>
                  <a:pt x="125717" y="2296439"/>
                </a:lnTo>
                <a:lnTo>
                  <a:pt x="124802" y="2295525"/>
                </a:lnTo>
                <a:lnTo>
                  <a:pt x="116497" y="2295525"/>
                </a:lnTo>
                <a:lnTo>
                  <a:pt x="116344" y="2295753"/>
                </a:lnTo>
                <a:lnTo>
                  <a:pt x="115125" y="2296960"/>
                </a:lnTo>
                <a:lnTo>
                  <a:pt x="86893" y="2335072"/>
                </a:lnTo>
                <a:lnTo>
                  <a:pt x="64300" y="2374049"/>
                </a:lnTo>
                <a:lnTo>
                  <a:pt x="45135" y="2416556"/>
                </a:lnTo>
                <a:lnTo>
                  <a:pt x="29413" y="2462580"/>
                </a:lnTo>
                <a:lnTo>
                  <a:pt x="17106" y="2512149"/>
                </a:lnTo>
                <a:lnTo>
                  <a:pt x="8229" y="2565235"/>
                </a:lnTo>
                <a:lnTo>
                  <a:pt x="2514" y="2625064"/>
                </a:lnTo>
                <a:lnTo>
                  <a:pt x="0" y="2692552"/>
                </a:lnTo>
                <a:lnTo>
                  <a:pt x="0" y="2711754"/>
                </a:lnTo>
                <a:lnTo>
                  <a:pt x="38" y="2713126"/>
                </a:lnTo>
                <a:lnTo>
                  <a:pt x="0" y="2717698"/>
                </a:lnTo>
                <a:lnTo>
                  <a:pt x="0" y="2725470"/>
                </a:lnTo>
                <a:lnTo>
                  <a:pt x="596" y="2752433"/>
                </a:lnTo>
                <a:lnTo>
                  <a:pt x="3340" y="2804325"/>
                </a:lnTo>
                <a:lnTo>
                  <a:pt x="13538" y="2887561"/>
                </a:lnTo>
                <a:lnTo>
                  <a:pt x="25539" y="2941828"/>
                </a:lnTo>
                <a:lnTo>
                  <a:pt x="41478" y="2992043"/>
                </a:lnTo>
                <a:lnTo>
                  <a:pt x="61353" y="3038208"/>
                </a:lnTo>
                <a:lnTo>
                  <a:pt x="85166" y="3080334"/>
                </a:lnTo>
                <a:lnTo>
                  <a:pt x="110197" y="3114675"/>
                </a:lnTo>
                <a:lnTo>
                  <a:pt x="122834" y="3114675"/>
                </a:lnTo>
                <a:lnTo>
                  <a:pt x="102196" y="3082061"/>
                </a:lnTo>
                <a:lnTo>
                  <a:pt x="83515" y="3045307"/>
                </a:lnTo>
                <a:lnTo>
                  <a:pt x="67843" y="3006064"/>
                </a:lnTo>
                <a:lnTo>
                  <a:pt x="55194" y="2964332"/>
                </a:lnTo>
                <a:lnTo>
                  <a:pt x="45237" y="2919501"/>
                </a:lnTo>
                <a:lnTo>
                  <a:pt x="37630" y="2870949"/>
                </a:lnTo>
                <a:lnTo>
                  <a:pt x="32372" y="2818688"/>
                </a:lnTo>
                <a:lnTo>
                  <a:pt x="29476" y="2762732"/>
                </a:lnTo>
                <a:lnTo>
                  <a:pt x="28803" y="2719527"/>
                </a:lnTo>
                <a:lnTo>
                  <a:pt x="28803" y="2698496"/>
                </a:lnTo>
                <a:lnTo>
                  <a:pt x="29768" y="2644660"/>
                </a:lnTo>
                <a:lnTo>
                  <a:pt x="32677" y="2594724"/>
                </a:lnTo>
                <a:lnTo>
                  <a:pt x="37185" y="2549423"/>
                </a:lnTo>
                <a:lnTo>
                  <a:pt x="43599" y="2506776"/>
                </a:lnTo>
                <a:lnTo>
                  <a:pt x="51930" y="2466797"/>
                </a:lnTo>
                <a:lnTo>
                  <a:pt x="62166" y="2429459"/>
                </a:lnTo>
                <a:lnTo>
                  <a:pt x="88798" y="2361527"/>
                </a:lnTo>
                <a:lnTo>
                  <a:pt x="123888" y="2301684"/>
                </a:lnTo>
                <a:lnTo>
                  <a:pt x="125412" y="2299563"/>
                </a:lnTo>
                <a:lnTo>
                  <a:pt x="126174" y="2298192"/>
                </a:lnTo>
                <a:lnTo>
                  <a:pt x="126174" y="2297125"/>
                </a:lnTo>
                <a:close/>
              </a:path>
              <a:path w="2467609" h="3114675">
                <a:moveTo>
                  <a:pt x="2467038" y="397027"/>
                </a:moveTo>
                <a:lnTo>
                  <a:pt x="2465324" y="343776"/>
                </a:lnTo>
                <a:lnTo>
                  <a:pt x="2461552" y="293255"/>
                </a:lnTo>
                <a:lnTo>
                  <a:pt x="2453487" y="234937"/>
                </a:lnTo>
                <a:lnTo>
                  <a:pt x="2441498" y="180670"/>
                </a:lnTo>
                <a:lnTo>
                  <a:pt x="2425560" y="130454"/>
                </a:lnTo>
                <a:lnTo>
                  <a:pt x="2405684" y="84289"/>
                </a:lnTo>
                <a:lnTo>
                  <a:pt x="2381872" y="42164"/>
                </a:lnTo>
                <a:lnTo>
                  <a:pt x="2354122" y="4114"/>
                </a:lnTo>
                <a:lnTo>
                  <a:pt x="2350693" y="228"/>
                </a:lnTo>
                <a:lnTo>
                  <a:pt x="2350541" y="0"/>
                </a:lnTo>
                <a:lnTo>
                  <a:pt x="2342769" y="0"/>
                </a:lnTo>
                <a:lnTo>
                  <a:pt x="2340864" y="685"/>
                </a:lnTo>
                <a:lnTo>
                  <a:pt x="2340864" y="2514"/>
                </a:lnTo>
                <a:lnTo>
                  <a:pt x="2341321" y="3492"/>
                </a:lnTo>
                <a:lnTo>
                  <a:pt x="2342235" y="5016"/>
                </a:lnTo>
                <a:lnTo>
                  <a:pt x="2345880" y="10071"/>
                </a:lnTo>
                <a:lnTo>
                  <a:pt x="2349487" y="15367"/>
                </a:lnTo>
                <a:lnTo>
                  <a:pt x="2372334" y="54419"/>
                </a:lnTo>
                <a:lnTo>
                  <a:pt x="2398445" y="114706"/>
                </a:lnTo>
                <a:lnTo>
                  <a:pt x="2417622" y="181876"/>
                </a:lnTo>
                <a:lnTo>
                  <a:pt x="2430361" y="257822"/>
                </a:lnTo>
                <a:lnTo>
                  <a:pt x="2434348" y="299199"/>
                </a:lnTo>
                <a:lnTo>
                  <a:pt x="2437269" y="349034"/>
                </a:lnTo>
                <a:lnTo>
                  <a:pt x="2438235" y="402971"/>
                </a:lnTo>
                <a:lnTo>
                  <a:pt x="2438235" y="409371"/>
                </a:lnTo>
                <a:lnTo>
                  <a:pt x="2438628" y="412800"/>
                </a:lnTo>
                <a:lnTo>
                  <a:pt x="2438997" y="413258"/>
                </a:lnTo>
                <a:lnTo>
                  <a:pt x="2438997" y="415315"/>
                </a:lnTo>
                <a:lnTo>
                  <a:pt x="2438311" y="416229"/>
                </a:lnTo>
                <a:lnTo>
                  <a:pt x="2438235" y="419138"/>
                </a:lnTo>
                <a:lnTo>
                  <a:pt x="2438235" y="424002"/>
                </a:lnTo>
                <a:lnTo>
                  <a:pt x="2437993" y="451332"/>
                </a:lnTo>
                <a:lnTo>
                  <a:pt x="2436050" y="503339"/>
                </a:lnTo>
                <a:lnTo>
                  <a:pt x="2430361" y="569379"/>
                </a:lnTo>
                <a:lnTo>
                  <a:pt x="2424785" y="608457"/>
                </a:lnTo>
                <a:lnTo>
                  <a:pt x="2408872" y="679780"/>
                </a:lnTo>
                <a:lnTo>
                  <a:pt x="2386266" y="743267"/>
                </a:lnTo>
                <a:lnTo>
                  <a:pt x="2356637" y="800239"/>
                </a:lnTo>
                <a:lnTo>
                  <a:pt x="2344267" y="819150"/>
                </a:lnTo>
                <a:lnTo>
                  <a:pt x="2356853" y="819150"/>
                </a:lnTo>
                <a:lnTo>
                  <a:pt x="2380145" y="787425"/>
                </a:lnTo>
                <a:lnTo>
                  <a:pt x="2402738" y="748474"/>
                </a:lnTo>
                <a:lnTo>
                  <a:pt x="2421902" y="706005"/>
                </a:lnTo>
                <a:lnTo>
                  <a:pt x="2437625" y="660006"/>
                </a:lnTo>
                <a:lnTo>
                  <a:pt x="2449931" y="610514"/>
                </a:lnTo>
                <a:lnTo>
                  <a:pt x="2458809" y="557491"/>
                </a:lnTo>
                <a:lnTo>
                  <a:pt x="2464524" y="497370"/>
                </a:lnTo>
                <a:lnTo>
                  <a:pt x="2467038" y="429945"/>
                </a:lnTo>
                <a:lnTo>
                  <a:pt x="2467038" y="397027"/>
                </a:lnTo>
                <a:close/>
              </a:path>
            </a:pathLst>
          </a:custGeom>
          <a:solidFill>
            <a:srgbClr val="312E81"/>
          </a:solidFill>
        </p:spPr>
        <p:txBody>
          <a:bodyPr wrap="square" lIns="0" tIns="0" rIns="0" bIns="0" rtlCol="0"/>
          <a:lstStyle/>
          <a:p/>
        </p:txBody>
      </p:sp>
      <p:sp>
        <p:nvSpPr>
          <p:cNvPr id="38" name="object 38"/>
          <p:cNvSpPr txBox="1"/>
          <p:nvPr/>
        </p:nvSpPr>
        <p:spPr>
          <a:xfrm>
            <a:off x="6588422" y="4724767"/>
            <a:ext cx="659177" cy="227165"/>
          </a:xfrm>
          <a:prstGeom prst="rect">
            <a:avLst/>
          </a:prstGeom>
        </p:spPr>
        <p:txBody>
          <a:bodyPr vert="horz" wrap="square" lIns="0" tIns="9957" rIns="0" bIns="0" rtlCol="0">
            <a:spAutoFit/>
          </a:bodyPr>
          <a:lstStyle/>
          <a:p>
            <a:pPr marL="29845">
              <a:spcBef>
                <a:spcPts val="80"/>
              </a:spcBef>
            </a:pPr>
            <a:r>
              <a:rPr sz="1410" i="1" spc="102" dirty="0">
                <a:solidFill>
                  <a:srgbClr val="312E81"/>
                </a:solidFill>
                <a:latin typeface="Times New Roman" panose="02020603050405020304"/>
                <a:cs typeface="Times New Roman" panose="02020603050405020304"/>
              </a:rPr>
              <a:t>v</a:t>
            </a:r>
            <a:r>
              <a:rPr sz="1470" i="1" spc="153" baseline="-13000" dirty="0">
                <a:solidFill>
                  <a:srgbClr val="312E81"/>
                </a:solidFill>
                <a:latin typeface="Times New Roman" panose="02020603050405020304"/>
                <a:cs typeface="Times New Roman" panose="02020603050405020304"/>
              </a:rPr>
              <a:t>j</a:t>
            </a:r>
            <a:r>
              <a:rPr sz="1470" i="1" spc="412" baseline="-13000" dirty="0">
                <a:solidFill>
                  <a:srgbClr val="312E81"/>
                </a:solidFill>
                <a:latin typeface="Times New Roman" panose="02020603050405020304"/>
                <a:cs typeface="Times New Roman" panose="02020603050405020304"/>
              </a:rPr>
              <a:t> </a:t>
            </a:r>
            <a:r>
              <a:rPr sz="1410" spc="223" dirty="0">
                <a:solidFill>
                  <a:srgbClr val="312E81"/>
                </a:solidFill>
                <a:latin typeface="Cambria" panose="02040503050406030204"/>
                <a:cs typeface="Cambria" panose="02040503050406030204"/>
              </a:rPr>
              <a:t>←</a:t>
            </a:r>
            <a:r>
              <a:rPr sz="1410" spc="82" dirty="0">
                <a:solidFill>
                  <a:srgbClr val="312E81"/>
                </a:solidFill>
                <a:latin typeface="Cambria" panose="02040503050406030204"/>
                <a:cs typeface="Cambria" panose="02040503050406030204"/>
              </a:rPr>
              <a:t> </a:t>
            </a:r>
            <a:r>
              <a:rPr sz="1410" i="1" spc="122" dirty="0">
                <a:solidFill>
                  <a:srgbClr val="312E81"/>
                </a:solidFill>
                <a:latin typeface="Times New Roman" panose="02020603050405020304"/>
                <a:cs typeface="Times New Roman" panose="02020603050405020304"/>
              </a:rPr>
              <a:t>f</a:t>
            </a:r>
            <a:r>
              <a:rPr sz="1470" i="1" spc="182" baseline="-13000" dirty="0">
                <a:solidFill>
                  <a:srgbClr val="312E81"/>
                </a:solidFill>
                <a:latin typeface="Times New Roman" panose="02020603050405020304"/>
                <a:cs typeface="Times New Roman" panose="02020603050405020304"/>
              </a:rPr>
              <a:t>V</a:t>
            </a:r>
            <a:endParaRPr sz="1470" baseline="-13000">
              <a:latin typeface="Times New Roman" panose="02020603050405020304"/>
              <a:cs typeface="Times New Roman" panose="02020603050405020304"/>
            </a:endParaRPr>
          </a:p>
        </p:txBody>
      </p:sp>
      <p:sp>
        <p:nvSpPr>
          <p:cNvPr id="39" name="object 39"/>
          <p:cNvSpPr txBox="1"/>
          <p:nvPr/>
        </p:nvSpPr>
        <p:spPr>
          <a:xfrm>
            <a:off x="7412588" y="4634990"/>
            <a:ext cx="1820703" cy="532588"/>
          </a:xfrm>
          <a:prstGeom prst="rect">
            <a:avLst/>
          </a:prstGeom>
        </p:spPr>
        <p:txBody>
          <a:bodyPr vert="horz" wrap="square" lIns="0" tIns="99574" rIns="0" bIns="0" rtlCol="0">
            <a:spAutoFit/>
          </a:bodyPr>
          <a:lstStyle/>
          <a:p>
            <a:pPr marL="29845">
              <a:spcBef>
                <a:spcPts val="785"/>
              </a:spcBef>
              <a:tabLst>
                <a:tab pos="399415" algn="l"/>
                <a:tab pos="776605" algn="l"/>
              </a:tabLst>
            </a:pPr>
            <a:r>
              <a:rPr sz="1410" i="1" spc="102" dirty="0">
                <a:solidFill>
                  <a:srgbClr val="312E81"/>
                </a:solidFill>
                <a:latin typeface="Times New Roman" panose="02020603050405020304"/>
                <a:cs typeface="Times New Roman" panose="02020603050405020304"/>
              </a:rPr>
              <a:t>v</a:t>
            </a:r>
            <a:r>
              <a:rPr sz="1470" i="1" spc="153" baseline="-13000" dirty="0">
                <a:solidFill>
                  <a:srgbClr val="312E81"/>
                </a:solidFill>
                <a:latin typeface="Times New Roman" panose="02020603050405020304"/>
                <a:cs typeface="Times New Roman" panose="02020603050405020304"/>
              </a:rPr>
              <a:t>j</a:t>
            </a:r>
            <a:r>
              <a:rPr sz="1470" i="1" spc="-170" baseline="-13000" dirty="0">
                <a:solidFill>
                  <a:srgbClr val="312E81"/>
                </a:solidFill>
                <a:latin typeface="Times New Roman" panose="02020603050405020304"/>
                <a:cs typeface="Times New Roman" panose="02020603050405020304"/>
              </a:rPr>
              <a:t> </a:t>
            </a:r>
            <a:r>
              <a:rPr sz="1410" spc="55" dirty="0">
                <a:solidFill>
                  <a:srgbClr val="312E81"/>
                </a:solidFill>
                <a:latin typeface="Cambria" panose="02040503050406030204"/>
                <a:cs typeface="Cambria" panose="02040503050406030204"/>
              </a:rPr>
              <a:t>,</a:t>
            </a:r>
            <a:r>
              <a:rPr sz="1410" dirty="0">
                <a:solidFill>
                  <a:srgbClr val="312E81"/>
                </a:solidFill>
                <a:latin typeface="Cambria" panose="02040503050406030204"/>
                <a:cs typeface="Cambria" panose="02040503050406030204"/>
              </a:rPr>
              <a:t>	</a:t>
            </a:r>
            <a:r>
              <a:rPr sz="1410" spc="980" dirty="0">
                <a:solidFill>
                  <a:srgbClr val="312E81"/>
                </a:solidFill>
                <a:latin typeface="Arial" panose="020B0604020202020204"/>
                <a:cs typeface="Arial" panose="020B0604020202020204"/>
              </a:rPr>
              <a:t>∑</a:t>
            </a:r>
            <a:r>
              <a:rPr sz="1410" dirty="0">
                <a:solidFill>
                  <a:srgbClr val="312E81"/>
                </a:solidFill>
                <a:latin typeface="Arial" panose="020B0604020202020204"/>
                <a:cs typeface="Arial" panose="020B0604020202020204"/>
              </a:rPr>
              <a:t>	</a:t>
            </a:r>
            <a:r>
              <a:rPr sz="1410" i="1" dirty="0">
                <a:solidFill>
                  <a:srgbClr val="312E81"/>
                </a:solidFill>
                <a:latin typeface="Times New Roman" panose="02020603050405020304"/>
                <a:cs typeface="Times New Roman" panose="02020603050405020304"/>
              </a:rPr>
              <a:t>g</a:t>
            </a:r>
            <a:r>
              <a:rPr sz="1470" i="1" baseline="-13000" dirty="0">
                <a:solidFill>
                  <a:srgbClr val="312E81"/>
                </a:solidFill>
                <a:latin typeface="Times New Roman" panose="02020603050405020304"/>
                <a:cs typeface="Times New Roman" panose="02020603050405020304"/>
              </a:rPr>
              <a:t>V</a:t>
            </a:r>
            <a:r>
              <a:rPr sz="1470" i="1" spc="29" baseline="-13000" dirty="0">
                <a:solidFill>
                  <a:srgbClr val="312E81"/>
                </a:solidFill>
                <a:latin typeface="Times New Roman" panose="02020603050405020304"/>
                <a:cs typeface="Times New Roman" panose="02020603050405020304"/>
              </a:rPr>
              <a:t> </a:t>
            </a:r>
            <a:r>
              <a:rPr sz="1410" spc="43" dirty="0">
                <a:solidFill>
                  <a:srgbClr val="312E81"/>
                </a:solidFill>
                <a:latin typeface="Cambria" panose="02040503050406030204"/>
                <a:cs typeface="Cambria" panose="02040503050406030204"/>
              </a:rPr>
              <a:t>(</a:t>
            </a:r>
            <a:r>
              <a:rPr sz="1410" i="1" spc="43" dirty="0">
                <a:solidFill>
                  <a:srgbClr val="312E81"/>
                </a:solidFill>
                <a:latin typeface="Times New Roman" panose="02020603050405020304"/>
                <a:cs typeface="Times New Roman" panose="02020603050405020304"/>
              </a:rPr>
              <a:t>c</a:t>
            </a:r>
            <a:r>
              <a:rPr sz="1470" i="1" spc="64" baseline="-13000" dirty="0">
                <a:solidFill>
                  <a:srgbClr val="312E81"/>
                </a:solidFill>
                <a:latin typeface="Times New Roman" panose="02020603050405020304"/>
                <a:cs typeface="Times New Roman" panose="02020603050405020304"/>
              </a:rPr>
              <a:t>i</a:t>
            </a:r>
            <a:r>
              <a:rPr sz="1410" spc="43" dirty="0">
                <a:solidFill>
                  <a:srgbClr val="312E81"/>
                </a:solidFill>
                <a:latin typeface="Cambria" panose="02040503050406030204"/>
                <a:cs typeface="Cambria" panose="02040503050406030204"/>
              </a:rPr>
              <a:t>,</a:t>
            </a:r>
            <a:r>
              <a:rPr sz="1410" spc="-74" dirty="0">
                <a:solidFill>
                  <a:srgbClr val="312E81"/>
                </a:solidFill>
                <a:latin typeface="Cambria" panose="02040503050406030204"/>
                <a:cs typeface="Cambria" panose="02040503050406030204"/>
              </a:rPr>
              <a:t> </a:t>
            </a:r>
            <a:r>
              <a:rPr sz="1410" i="1" spc="102" dirty="0">
                <a:solidFill>
                  <a:srgbClr val="312E81"/>
                </a:solidFill>
                <a:latin typeface="Times New Roman" panose="02020603050405020304"/>
                <a:cs typeface="Times New Roman" panose="02020603050405020304"/>
              </a:rPr>
              <a:t>v</a:t>
            </a:r>
            <a:r>
              <a:rPr sz="1470" i="1" spc="153" baseline="-13000" dirty="0">
                <a:solidFill>
                  <a:srgbClr val="312E81"/>
                </a:solidFill>
                <a:latin typeface="Times New Roman" panose="02020603050405020304"/>
                <a:cs typeface="Times New Roman" panose="02020603050405020304"/>
              </a:rPr>
              <a:t>j</a:t>
            </a:r>
            <a:r>
              <a:rPr sz="1470" i="1" spc="-176" baseline="-13000" dirty="0">
                <a:solidFill>
                  <a:srgbClr val="312E81"/>
                </a:solidFill>
                <a:latin typeface="Times New Roman" panose="02020603050405020304"/>
                <a:cs typeface="Times New Roman" panose="02020603050405020304"/>
              </a:rPr>
              <a:t> </a:t>
            </a:r>
            <a:r>
              <a:rPr sz="1410" spc="94" dirty="0">
                <a:solidFill>
                  <a:srgbClr val="312E81"/>
                </a:solidFill>
                <a:latin typeface="Cambria" panose="02040503050406030204"/>
                <a:cs typeface="Cambria" panose="02040503050406030204"/>
              </a:rPr>
              <a:t>,</a:t>
            </a:r>
            <a:r>
              <a:rPr sz="1410" spc="-74" dirty="0">
                <a:solidFill>
                  <a:srgbClr val="312E81"/>
                </a:solidFill>
                <a:latin typeface="Cambria" panose="02040503050406030204"/>
                <a:cs typeface="Cambria" panose="02040503050406030204"/>
              </a:rPr>
              <a:t> </a:t>
            </a:r>
            <a:r>
              <a:rPr sz="1410" i="1" spc="74" dirty="0">
                <a:solidFill>
                  <a:srgbClr val="312E81"/>
                </a:solidFill>
                <a:latin typeface="Times New Roman" panose="02020603050405020304"/>
                <a:cs typeface="Times New Roman" panose="02020603050405020304"/>
              </a:rPr>
              <a:t>e</a:t>
            </a:r>
            <a:r>
              <a:rPr sz="1470" i="1" spc="111" baseline="-13000" dirty="0">
                <a:solidFill>
                  <a:srgbClr val="312E81"/>
                </a:solidFill>
                <a:latin typeface="Times New Roman" panose="02020603050405020304"/>
                <a:cs typeface="Times New Roman" panose="02020603050405020304"/>
              </a:rPr>
              <a:t>i</a:t>
            </a:r>
            <a:r>
              <a:rPr sz="1470" spc="111" baseline="-13000" dirty="0">
                <a:solidFill>
                  <a:srgbClr val="312E81"/>
                </a:solidFill>
                <a:latin typeface="Cambria" panose="02040503050406030204"/>
                <a:cs typeface="Cambria" panose="02040503050406030204"/>
              </a:rPr>
              <a:t>,</a:t>
            </a:r>
            <a:r>
              <a:rPr sz="1470" i="1" spc="111" baseline="-13000" dirty="0">
                <a:solidFill>
                  <a:srgbClr val="312E81"/>
                </a:solidFill>
                <a:latin typeface="Times New Roman" panose="02020603050405020304"/>
                <a:cs typeface="Times New Roman" panose="02020603050405020304"/>
              </a:rPr>
              <a:t>j</a:t>
            </a:r>
            <a:r>
              <a:rPr sz="1470" i="1" spc="-176" baseline="-13000" dirty="0">
                <a:solidFill>
                  <a:srgbClr val="312E81"/>
                </a:solidFill>
                <a:latin typeface="Times New Roman" panose="02020603050405020304"/>
                <a:cs typeface="Times New Roman" panose="02020603050405020304"/>
              </a:rPr>
              <a:t> </a:t>
            </a:r>
            <a:r>
              <a:rPr sz="1410" spc="-39" dirty="0">
                <a:solidFill>
                  <a:srgbClr val="312E81"/>
                </a:solidFill>
                <a:latin typeface="Cambria" panose="02040503050406030204"/>
                <a:cs typeface="Cambria" panose="02040503050406030204"/>
              </a:rPr>
              <a:t>)</a:t>
            </a:r>
            <a:endParaRPr sz="1410">
              <a:latin typeface="Cambria" panose="02040503050406030204"/>
              <a:cs typeface="Cambria" panose="02040503050406030204"/>
            </a:endParaRPr>
          </a:p>
          <a:p>
            <a:pPr marL="314325">
              <a:spcBef>
                <a:spcPts val="500"/>
              </a:spcBef>
            </a:pPr>
            <a:r>
              <a:rPr sz="980" spc="74" dirty="0">
                <a:solidFill>
                  <a:srgbClr val="312E81"/>
                </a:solidFill>
                <a:latin typeface="Cambria" panose="02040503050406030204"/>
                <a:cs typeface="Cambria" panose="02040503050406030204"/>
              </a:rPr>
              <a:t>(</a:t>
            </a:r>
            <a:r>
              <a:rPr sz="980" i="1" spc="74" dirty="0">
                <a:solidFill>
                  <a:srgbClr val="312E81"/>
                </a:solidFill>
                <a:latin typeface="Times New Roman" panose="02020603050405020304"/>
                <a:cs typeface="Times New Roman" panose="02020603050405020304"/>
              </a:rPr>
              <a:t>i</a:t>
            </a:r>
            <a:r>
              <a:rPr sz="980" spc="74" dirty="0">
                <a:solidFill>
                  <a:srgbClr val="312E81"/>
                </a:solidFill>
                <a:latin typeface="Cambria" panose="02040503050406030204"/>
                <a:cs typeface="Cambria" panose="02040503050406030204"/>
              </a:rPr>
              <a:t>,</a:t>
            </a:r>
            <a:r>
              <a:rPr sz="980" i="1" spc="74" dirty="0">
                <a:solidFill>
                  <a:srgbClr val="312E81"/>
                </a:solidFill>
                <a:latin typeface="Times New Roman" panose="02020603050405020304"/>
                <a:cs typeface="Times New Roman" panose="02020603050405020304"/>
              </a:rPr>
              <a:t>j</a:t>
            </a:r>
            <a:r>
              <a:rPr sz="980" spc="74" dirty="0">
                <a:solidFill>
                  <a:srgbClr val="312E81"/>
                </a:solidFill>
                <a:latin typeface="Cambria" panose="02040503050406030204"/>
                <a:cs typeface="Cambria" panose="02040503050406030204"/>
              </a:rPr>
              <a:t>)∈</a:t>
            </a:r>
            <a:r>
              <a:rPr sz="980" i="1" spc="74" dirty="0">
                <a:solidFill>
                  <a:srgbClr val="312E81"/>
                </a:solidFill>
                <a:latin typeface="Times New Roman" panose="02020603050405020304"/>
                <a:cs typeface="Times New Roman" panose="02020603050405020304"/>
              </a:rPr>
              <a:t>E</a:t>
            </a:r>
            <a:endParaRPr sz="980">
              <a:latin typeface="Times New Roman" panose="02020603050405020304"/>
              <a:cs typeface="Times New Roman" panose="02020603050405020304"/>
            </a:endParaRPr>
          </a:p>
        </p:txBody>
      </p:sp>
      <p:sp>
        <p:nvSpPr>
          <p:cNvPr id="40" name="object 40"/>
          <p:cNvSpPr/>
          <p:nvPr/>
        </p:nvSpPr>
        <p:spPr>
          <a:xfrm>
            <a:off x="9211843" y="4548024"/>
            <a:ext cx="99075" cy="642250"/>
          </a:xfrm>
          <a:custGeom>
            <a:avLst/>
            <a:gdLst/>
            <a:ahLst/>
            <a:cxnLst/>
            <a:rect l="l" t="t" r="r" b="b"/>
            <a:pathLst>
              <a:path w="126365" h="819150">
                <a:moveTo>
                  <a:pt x="15989" y="819149"/>
                </a:moveTo>
                <a:lnTo>
                  <a:pt x="3395" y="819149"/>
                </a:lnTo>
                <a:lnTo>
                  <a:pt x="5010" y="816911"/>
                </a:lnTo>
                <a:lnTo>
                  <a:pt x="8622" y="811613"/>
                </a:lnTo>
                <a:lnTo>
                  <a:pt x="31466" y="772567"/>
                </a:lnTo>
                <a:lnTo>
                  <a:pt x="57577" y="712342"/>
                </a:lnTo>
                <a:lnTo>
                  <a:pt x="76753" y="645264"/>
                </a:lnTo>
                <a:lnTo>
                  <a:pt x="89492" y="569379"/>
                </a:lnTo>
                <a:lnTo>
                  <a:pt x="93487" y="528008"/>
                </a:lnTo>
                <a:lnTo>
                  <a:pt x="96398" y="477782"/>
                </a:lnTo>
                <a:lnTo>
                  <a:pt x="97373" y="424006"/>
                </a:lnTo>
                <a:lnTo>
                  <a:pt x="97373" y="419138"/>
                </a:lnTo>
                <a:lnTo>
                  <a:pt x="97441" y="416235"/>
                </a:lnTo>
                <a:lnTo>
                  <a:pt x="98127" y="415321"/>
                </a:lnTo>
                <a:lnTo>
                  <a:pt x="98127" y="413263"/>
                </a:lnTo>
                <a:lnTo>
                  <a:pt x="97761" y="412806"/>
                </a:lnTo>
                <a:lnTo>
                  <a:pt x="97373" y="409378"/>
                </a:lnTo>
                <a:lnTo>
                  <a:pt x="97373" y="402977"/>
                </a:lnTo>
                <a:lnTo>
                  <a:pt x="97129" y="375493"/>
                </a:lnTo>
                <a:lnTo>
                  <a:pt x="95184" y="323603"/>
                </a:lnTo>
                <a:lnTo>
                  <a:pt x="89492" y="257825"/>
                </a:lnTo>
                <a:lnTo>
                  <a:pt x="83915" y="218717"/>
                </a:lnTo>
                <a:lnTo>
                  <a:pt x="68001" y="147316"/>
                </a:lnTo>
                <a:lnTo>
                  <a:pt x="45400" y="83746"/>
                </a:lnTo>
                <a:lnTo>
                  <a:pt x="15771" y="26743"/>
                </a:lnTo>
                <a:lnTo>
                  <a:pt x="1371" y="5028"/>
                </a:lnTo>
                <a:lnTo>
                  <a:pt x="457" y="3497"/>
                </a:lnTo>
                <a:lnTo>
                  <a:pt x="0" y="2514"/>
                </a:lnTo>
                <a:lnTo>
                  <a:pt x="0" y="685"/>
                </a:lnTo>
                <a:lnTo>
                  <a:pt x="1897" y="0"/>
                </a:lnTo>
                <a:lnTo>
                  <a:pt x="9668" y="0"/>
                </a:lnTo>
                <a:lnTo>
                  <a:pt x="9828" y="228"/>
                </a:lnTo>
                <a:lnTo>
                  <a:pt x="11040" y="1439"/>
                </a:lnTo>
                <a:lnTo>
                  <a:pt x="41004" y="42175"/>
                </a:lnTo>
                <a:lnTo>
                  <a:pt x="64815" y="84289"/>
                </a:lnTo>
                <a:lnTo>
                  <a:pt x="84689" y="130456"/>
                </a:lnTo>
                <a:lnTo>
                  <a:pt x="100627" y="180674"/>
                </a:lnTo>
                <a:lnTo>
                  <a:pt x="112626" y="234942"/>
                </a:lnTo>
                <a:lnTo>
                  <a:pt x="120687" y="293261"/>
                </a:lnTo>
                <a:lnTo>
                  <a:pt x="124459" y="343776"/>
                </a:lnTo>
                <a:lnTo>
                  <a:pt x="126173" y="397034"/>
                </a:lnTo>
                <a:lnTo>
                  <a:pt x="126173" y="429949"/>
                </a:lnTo>
                <a:lnTo>
                  <a:pt x="123653" y="497373"/>
                </a:lnTo>
                <a:lnTo>
                  <a:pt x="117944" y="557494"/>
                </a:lnTo>
                <a:lnTo>
                  <a:pt x="109066" y="610514"/>
                </a:lnTo>
                <a:lnTo>
                  <a:pt x="96761" y="660018"/>
                </a:lnTo>
                <a:lnTo>
                  <a:pt x="81029" y="706005"/>
                </a:lnTo>
                <a:lnTo>
                  <a:pt x="61869" y="748476"/>
                </a:lnTo>
                <a:lnTo>
                  <a:pt x="39278" y="787431"/>
                </a:lnTo>
                <a:lnTo>
                  <a:pt x="15989" y="819149"/>
                </a:lnTo>
                <a:close/>
              </a:path>
            </a:pathLst>
          </a:custGeom>
          <a:solidFill>
            <a:srgbClr val="312E81"/>
          </a:solidFill>
        </p:spPr>
        <p:txBody>
          <a:bodyPr wrap="square" lIns="0" tIns="0" rIns="0" bIns="0" rtlCol="0"/>
          <a:lstStyle/>
          <a:p/>
        </p:txBody>
      </p:sp>
      <p:sp>
        <p:nvSpPr>
          <p:cNvPr id="41" name="object 41"/>
          <p:cNvSpPr txBox="1"/>
          <p:nvPr/>
        </p:nvSpPr>
        <p:spPr>
          <a:xfrm>
            <a:off x="5675223" y="6203435"/>
            <a:ext cx="1286989" cy="227165"/>
          </a:xfrm>
          <a:prstGeom prst="rect">
            <a:avLst/>
          </a:prstGeom>
        </p:spPr>
        <p:txBody>
          <a:bodyPr vert="horz" wrap="square" lIns="0" tIns="9957" rIns="0" bIns="0" rtlCol="0">
            <a:spAutoFit/>
          </a:bodyPr>
          <a:lstStyle/>
          <a:p>
            <a:pPr marL="29845">
              <a:spcBef>
                <a:spcPts val="80"/>
              </a:spcBef>
            </a:pPr>
            <a:r>
              <a:rPr sz="1410" i="1" spc="102" dirty="0">
                <a:solidFill>
                  <a:srgbClr val="4237CA"/>
                </a:solidFill>
                <a:latin typeface="Times New Roman" panose="02020603050405020304"/>
                <a:cs typeface="Times New Roman" panose="02020603050405020304"/>
              </a:rPr>
              <a:t>v</a:t>
            </a:r>
            <a:r>
              <a:rPr sz="1470" i="1" spc="153" baseline="-13000" dirty="0">
                <a:solidFill>
                  <a:srgbClr val="4237CA"/>
                </a:solidFill>
                <a:latin typeface="Times New Roman" panose="02020603050405020304"/>
                <a:cs typeface="Times New Roman" panose="02020603050405020304"/>
              </a:rPr>
              <a:t>j</a:t>
            </a:r>
            <a:r>
              <a:rPr sz="1470" i="1" spc="-140" baseline="-13000" dirty="0">
                <a:solidFill>
                  <a:srgbClr val="4237CA"/>
                </a:solidFill>
                <a:latin typeface="Times New Roman" panose="02020603050405020304"/>
                <a:cs typeface="Times New Roman" panose="02020603050405020304"/>
              </a:rPr>
              <a:t> </a:t>
            </a:r>
            <a:r>
              <a:rPr sz="1410" spc="39" dirty="0">
                <a:solidFill>
                  <a:srgbClr val="4237CA"/>
                </a:solidFill>
                <a:latin typeface="Cambria" panose="02040503050406030204"/>
                <a:cs typeface="Cambria" panose="02040503050406030204"/>
              </a:rPr>
              <a:t>, </a:t>
            </a:r>
            <a:r>
              <a:rPr sz="1410" i="1" dirty="0">
                <a:solidFill>
                  <a:srgbClr val="4237CA"/>
                </a:solidFill>
                <a:latin typeface="Times New Roman" panose="02020603050405020304"/>
                <a:cs typeface="Times New Roman" panose="02020603050405020304"/>
              </a:rPr>
              <a:t>c</a:t>
            </a:r>
            <a:r>
              <a:rPr sz="1470" i="1" baseline="-13000" dirty="0">
                <a:solidFill>
                  <a:srgbClr val="4237CA"/>
                </a:solidFill>
                <a:latin typeface="Times New Roman" panose="02020603050405020304"/>
                <a:cs typeface="Times New Roman" panose="02020603050405020304"/>
              </a:rPr>
              <a:t>i</a:t>
            </a:r>
            <a:r>
              <a:rPr sz="705" b="1" spc="16" dirty="0">
                <a:solidFill>
                  <a:srgbClr val="4237CA"/>
                </a:solidFill>
                <a:latin typeface="Times New Roman" panose="02020603050405020304"/>
                <a:cs typeface="Times New Roman" panose="02020603050405020304"/>
              </a:rPr>
              <a:t>: </a:t>
            </a:r>
            <a:r>
              <a:rPr sz="785" spc="-74" dirty="0">
                <a:solidFill>
                  <a:srgbClr val="64738B"/>
                </a:solidFill>
                <a:latin typeface="宋体" panose="02010600030101010101" pitchFamily="2" charset="-122"/>
                <a:cs typeface="宋体" panose="02010600030101010101" pitchFamily="2" charset="-122"/>
              </a:rPr>
              <a:t>变量与约束特征向量</a:t>
            </a:r>
            <a:endParaRPr sz="785">
              <a:latin typeface="宋体" panose="02010600030101010101" pitchFamily="2" charset="-122"/>
              <a:cs typeface="宋体" panose="02010600030101010101" pitchFamily="2" charset="-122"/>
            </a:endParaRPr>
          </a:p>
        </p:txBody>
      </p:sp>
      <p:sp>
        <p:nvSpPr>
          <p:cNvPr id="42" name="object 42"/>
          <p:cNvSpPr txBox="1"/>
          <p:nvPr/>
        </p:nvSpPr>
        <p:spPr>
          <a:xfrm>
            <a:off x="8017731" y="6203435"/>
            <a:ext cx="1139122" cy="227165"/>
          </a:xfrm>
          <a:prstGeom prst="rect">
            <a:avLst/>
          </a:prstGeom>
        </p:spPr>
        <p:txBody>
          <a:bodyPr vert="horz" wrap="square" lIns="0" tIns="9957" rIns="0" bIns="0" rtlCol="0">
            <a:spAutoFit/>
          </a:bodyPr>
          <a:lstStyle/>
          <a:p>
            <a:pPr marL="29845">
              <a:spcBef>
                <a:spcPts val="80"/>
              </a:spcBef>
            </a:pPr>
            <a:r>
              <a:rPr sz="1410" i="1" spc="-16" dirty="0">
                <a:solidFill>
                  <a:srgbClr val="4237CA"/>
                </a:solidFill>
                <a:latin typeface="Times New Roman" panose="02020603050405020304"/>
                <a:cs typeface="Times New Roman" panose="02020603050405020304"/>
              </a:rPr>
              <a:t>g</a:t>
            </a:r>
            <a:r>
              <a:rPr sz="1470" i="1" spc="-24" baseline="-13000" dirty="0">
                <a:solidFill>
                  <a:srgbClr val="4237CA"/>
                </a:solidFill>
                <a:latin typeface="Times New Roman" panose="02020603050405020304"/>
                <a:cs typeface="Times New Roman" panose="02020603050405020304"/>
              </a:rPr>
              <a:t>C</a:t>
            </a:r>
            <a:r>
              <a:rPr sz="1470" i="1" spc="-158" baseline="-13000" dirty="0">
                <a:solidFill>
                  <a:srgbClr val="4237CA"/>
                </a:solidFill>
                <a:latin typeface="Times New Roman" panose="02020603050405020304"/>
                <a:cs typeface="Times New Roman" panose="02020603050405020304"/>
              </a:rPr>
              <a:t> </a:t>
            </a:r>
            <a:r>
              <a:rPr sz="1410" spc="4" dirty="0">
                <a:solidFill>
                  <a:srgbClr val="4237CA"/>
                </a:solidFill>
                <a:latin typeface="Cambria" panose="02040503050406030204"/>
                <a:cs typeface="Cambria" panose="02040503050406030204"/>
              </a:rPr>
              <a:t>, </a:t>
            </a:r>
            <a:r>
              <a:rPr sz="1410" i="1" dirty="0">
                <a:solidFill>
                  <a:srgbClr val="4237CA"/>
                </a:solidFill>
                <a:latin typeface="Times New Roman" panose="02020603050405020304"/>
                <a:cs typeface="Times New Roman" panose="02020603050405020304"/>
              </a:rPr>
              <a:t>g</a:t>
            </a:r>
            <a:r>
              <a:rPr sz="1470" i="1" baseline="-13000" dirty="0">
                <a:solidFill>
                  <a:srgbClr val="4237CA"/>
                </a:solidFill>
                <a:latin typeface="Times New Roman" panose="02020603050405020304"/>
                <a:cs typeface="Times New Roman" panose="02020603050405020304"/>
              </a:rPr>
              <a:t>V</a:t>
            </a:r>
            <a:r>
              <a:rPr sz="1470" i="1" spc="34" baseline="-13000" dirty="0">
                <a:solidFill>
                  <a:srgbClr val="4237CA"/>
                </a:solidFill>
                <a:latin typeface="Times New Roman" panose="02020603050405020304"/>
                <a:cs typeface="Times New Roman" panose="02020603050405020304"/>
              </a:rPr>
              <a:t> </a:t>
            </a:r>
            <a:r>
              <a:rPr sz="705" b="1" spc="-8" dirty="0">
                <a:solidFill>
                  <a:srgbClr val="4237CA"/>
                </a:solidFill>
                <a:latin typeface="Times New Roman" panose="02020603050405020304"/>
                <a:cs typeface="Times New Roman" panose="02020603050405020304"/>
              </a:rPr>
              <a:t>: </a:t>
            </a:r>
            <a:r>
              <a:rPr sz="705" dirty="0">
                <a:solidFill>
                  <a:srgbClr val="64738B"/>
                </a:solidFill>
                <a:latin typeface="Times New Roman" panose="02020603050405020304"/>
                <a:cs typeface="Times New Roman" panose="02020603050405020304"/>
              </a:rPr>
              <a:t>MLP</a:t>
            </a:r>
            <a:r>
              <a:rPr sz="705" spc="-39" dirty="0">
                <a:solidFill>
                  <a:srgbClr val="64738B"/>
                </a:solidFill>
                <a:latin typeface="Times New Roman" panose="02020603050405020304"/>
                <a:cs typeface="Times New Roman" panose="02020603050405020304"/>
              </a:rPr>
              <a:t> </a:t>
            </a:r>
            <a:r>
              <a:rPr sz="785" spc="-71" dirty="0">
                <a:solidFill>
                  <a:srgbClr val="64738B"/>
                </a:solidFill>
                <a:latin typeface="宋体" panose="02010600030101010101" pitchFamily="2" charset="-122"/>
                <a:cs typeface="宋体" panose="02010600030101010101" pitchFamily="2" charset="-122"/>
              </a:rPr>
              <a:t>消息函数</a:t>
            </a:r>
            <a:endParaRPr sz="785">
              <a:latin typeface="宋体" panose="02010600030101010101" pitchFamily="2" charset="-122"/>
              <a:cs typeface="宋体" panose="02010600030101010101" pitchFamily="2" charset="-122"/>
            </a:endParaRPr>
          </a:p>
        </p:txBody>
      </p:sp>
      <p:grpSp>
        <p:nvGrpSpPr>
          <p:cNvPr id="43" name="object 43"/>
          <p:cNvGrpSpPr/>
          <p:nvPr/>
        </p:nvGrpSpPr>
        <p:grpSpPr>
          <a:xfrm>
            <a:off x="1316468" y="6818302"/>
            <a:ext cx="9559065" cy="418209"/>
            <a:chOff x="0" y="8696325"/>
            <a:chExt cx="12192000" cy="533400"/>
          </a:xfrm>
        </p:grpSpPr>
        <p:sp>
          <p:nvSpPr>
            <p:cNvPr id="44" name="object 44"/>
            <p:cNvSpPr/>
            <p:nvPr/>
          </p:nvSpPr>
          <p:spPr>
            <a:xfrm>
              <a:off x="0" y="9010649"/>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45" name="object 45"/>
            <p:cNvSpPr/>
            <p:nvPr/>
          </p:nvSpPr>
          <p:spPr>
            <a:xfrm>
              <a:off x="11791937" y="9096374"/>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46" name="object 46"/>
            <p:cNvSpPr/>
            <p:nvPr/>
          </p:nvSpPr>
          <p:spPr>
            <a:xfrm>
              <a:off x="11982447" y="9096374"/>
              <a:ext cx="57150" cy="57150"/>
            </a:xfrm>
            <a:custGeom>
              <a:avLst/>
              <a:gdLst/>
              <a:ahLst/>
              <a:cxnLst/>
              <a:rect l="l" t="t" r="r" b="b"/>
              <a:pathLst>
                <a:path w="57150" h="57150">
                  <a:moveTo>
                    <a:pt x="32365" y="57149"/>
                  </a:moveTo>
                  <a:lnTo>
                    <a:pt x="24784" y="57149"/>
                  </a:lnTo>
                  <a:lnTo>
                    <a:pt x="21139" y="56423"/>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47" name="object 47"/>
            <p:cNvPicPr/>
            <p:nvPr/>
          </p:nvPicPr>
          <p:blipFill>
            <a:blip r:embed="rId2" cstate="print"/>
            <a:stretch>
              <a:fillRect/>
            </a:stretch>
          </p:blipFill>
          <p:spPr>
            <a:xfrm>
              <a:off x="9896474" y="8696325"/>
              <a:ext cx="342899" cy="342899"/>
            </a:xfrm>
            <a:prstGeom prst="rect">
              <a:avLst/>
            </a:prstGeom>
          </p:spPr>
        </p:pic>
      </p:grpSp>
      <p:sp>
        <p:nvSpPr>
          <p:cNvPr id="48" name="object 48"/>
          <p:cNvSpPr txBox="1"/>
          <p:nvPr/>
        </p:nvSpPr>
        <p:spPr>
          <a:xfrm>
            <a:off x="9412461" y="6864471"/>
            <a:ext cx="1247159" cy="141064"/>
          </a:xfrm>
          <a:prstGeom prst="rect">
            <a:avLst/>
          </a:prstGeom>
        </p:spPr>
        <p:txBody>
          <a:bodyPr vert="horz" wrap="square" lIns="0" tIns="0" rIns="0" bIns="0" rtlCol="0">
            <a:spAutoFit/>
          </a:bodyPr>
          <a:lstStyle/>
          <a:p>
            <a:pPr marL="10160">
              <a:lnSpc>
                <a:spcPts val="1115"/>
              </a:lnSpc>
            </a:pPr>
            <a:r>
              <a:rPr sz="940" b="1" dirty="0">
                <a:latin typeface="Arial" panose="020B0604020202020204"/>
                <a:cs typeface="Arial" panose="020B0604020202020204"/>
              </a:rPr>
              <a:t>Powered</a:t>
            </a:r>
            <a:r>
              <a:rPr sz="940" b="1" spc="78" dirty="0">
                <a:latin typeface="Arial" panose="020B0604020202020204"/>
                <a:cs typeface="Arial" panose="020B0604020202020204"/>
              </a:rPr>
              <a:t> </a:t>
            </a:r>
            <a:r>
              <a:rPr sz="940" b="1" dirty="0">
                <a:latin typeface="Arial" panose="020B0604020202020204"/>
                <a:cs typeface="Arial" panose="020B0604020202020204"/>
              </a:rPr>
              <a:t>By</a:t>
            </a:r>
            <a:r>
              <a:rPr sz="940" b="1" spc="82" dirty="0">
                <a:latin typeface="Arial" panose="020B0604020202020204"/>
                <a:cs typeface="Arial" panose="020B0604020202020204"/>
              </a:rPr>
              <a:t> </a:t>
            </a:r>
            <a:r>
              <a:rPr sz="940" b="1" spc="-8" dirty="0">
                <a:latin typeface="Arial" panose="020B0604020202020204"/>
                <a:cs typeface="Arial" panose="020B0604020202020204"/>
              </a:rPr>
              <a:t>Tosea.ai</a:t>
            </a:r>
            <a:endParaRPr sz="940">
              <a:latin typeface="Arial" panose="020B0604020202020204"/>
              <a:cs typeface="Arial" panose="020B0604020202020204"/>
            </a:endParaRPr>
          </a:p>
        </p:txBody>
      </p:sp>
      <p:sp>
        <p:nvSpPr>
          <p:cNvPr id="49" name="object 49"/>
          <p:cNvSpPr txBox="1"/>
          <p:nvPr/>
        </p:nvSpPr>
        <p:spPr>
          <a:xfrm>
            <a:off x="1425998" y="7092792"/>
            <a:ext cx="231509" cy="91983"/>
          </a:xfrm>
          <a:prstGeom prst="rect">
            <a:avLst/>
          </a:prstGeom>
        </p:spPr>
        <p:txBody>
          <a:bodyPr vert="horz" wrap="square" lIns="0" tIns="1494" rIns="0" bIns="0" rtlCol="0">
            <a:spAutoFit/>
          </a:bodyPr>
          <a:lstStyle/>
          <a:p>
            <a:pPr marL="10160">
              <a:spcBef>
                <a:spcPts val="10"/>
              </a:spcBef>
            </a:pPr>
            <a:r>
              <a:rPr sz="590" spc="-8" dirty="0">
                <a:solidFill>
                  <a:srgbClr val="FFFFFF"/>
                </a:solidFill>
                <a:latin typeface="Times New Roman" panose="02020603050405020304"/>
                <a:cs typeface="Times New Roman" panose="02020603050405020304"/>
              </a:rPr>
              <a:t>Author</a:t>
            </a:r>
            <a:endParaRPr sz="590">
              <a:latin typeface="Times New Roman" panose="02020603050405020304"/>
              <a:cs typeface="Times New Roman" panose="02020603050405020304"/>
            </a:endParaRPr>
          </a:p>
        </p:txBody>
      </p:sp>
      <p:sp>
        <p:nvSpPr>
          <p:cNvPr id="50" name="object 50"/>
          <p:cNvSpPr txBox="1"/>
          <p:nvPr/>
        </p:nvSpPr>
        <p:spPr>
          <a:xfrm>
            <a:off x="1757159" y="7092792"/>
            <a:ext cx="243955" cy="91983"/>
          </a:xfrm>
          <a:prstGeom prst="rect">
            <a:avLst/>
          </a:prstGeom>
        </p:spPr>
        <p:txBody>
          <a:bodyPr vert="horz" wrap="square" lIns="0" tIns="1494" rIns="0" bIns="0" rtlCol="0">
            <a:spAutoFit/>
          </a:bodyPr>
          <a:lstStyle/>
          <a:p>
            <a:pPr marL="10160">
              <a:spcBef>
                <a:spcPts val="10"/>
              </a:spcBef>
            </a:pPr>
            <a:r>
              <a:rPr sz="590" spc="-8" dirty="0">
                <a:solidFill>
                  <a:srgbClr val="FFFFFF"/>
                </a:solidFill>
                <a:latin typeface="Times New Roman" panose="02020603050405020304"/>
                <a:cs typeface="Times New Roman" panose="02020603050405020304"/>
              </a:rPr>
              <a:t>Section</a:t>
            </a:r>
            <a:endParaRPr sz="590">
              <a:latin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975" y="194068"/>
            <a:ext cx="3104207" cy="841051"/>
          </a:xfrm>
          <a:prstGeom prst="rect">
            <a:avLst/>
          </a:prstGeom>
        </p:spPr>
        <p:txBody>
          <a:bodyPr vert="horz" wrap="square" lIns="0" tIns="9957" rIns="0" bIns="0" rtlCol="0">
            <a:spAutoFit/>
          </a:bodyPr>
          <a:lstStyle/>
          <a:p>
            <a:pPr marL="10160">
              <a:spcBef>
                <a:spcPts val="80"/>
              </a:spcBef>
            </a:pPr>
            <a:r>
              <a:rPr spc="-290" dirty="0"/>
              <a:t>方法</a:t>
            </a:r>
            <a:r>
              <a:rPr sz="2115" spc="-180" dirty="0"/>
              <a:t>: </a:t>
            </a:r>
            <a:r>
              <a:rPr spc="-298" dirty="0"/>
              <a:t>学习目标与推理策略</a:t>
            </a:r>
            <a:endParaRPr sz="2115"/>
          </a:p>
        </p:txBody>
      </p:sp>
      <p:sp>
        <p:nvSpPr>
          <p:cNvPr id="42" name="object 42"/>
          <p:cNvSpPr txBox="1">
            <a:spLocks noGrp="1"/>
          </p:cNvSpPr>
          <p:nvPr>
            <p:ph type="ftr" sz="quarter" idx="5"/>
          </p:nvPr>
        </p:nvSpPr>
        <p:spPr>
          <a:xfrm>
            <a:off x="1425998" y="5233255"/>
            <a:ext cx="231509" cy="232341"/>
          </a:xfrm>
          <a:prstGeom prst="rect">
            <a:avLst/>
          </a:prstGeom>
        </p:spPr>
        <p:txBody>
          <a:bodyPr vert="horz" wrap="square" lIns="0" tIns="1494" rIns="0" bIns="0" rtlCol="0">
            <a:spAutoFit/>
          </a:bodyPr>
          <a:lstStyle/>
          <a:p>
            <a:pPr marL="10160">
              <a:spcBef>
                <a:spcPts val="10"/>
              </a:spcBef>
            </a:pPr>
            <a:r>
              <a:rPr spc="-8" dirty="0"/>
              <a:t>Author</a:t>
            </a:r>
            <a:endParaRPr spc="-8" dirty="0"/>
          </a:p>
        </p:txBody>
      </p:sp>
      <p:sp>
        <p:nvSpPr>
          <p:cNvPr id="43" name="object 43"/>
          <p:cNvSpPr txBox="1">
            <a:spLocks noGrp="1"/>
          </p:cNvSpPr>
          <p:nvPr>
            <p:ph type="dt" sz="half" idx="6"/>
          </p:nvPr>
        </p:nvSpPr>
        <p:spPr>
          <a:xfrm>
            <a:off x="9412461" y="5004933"/>
            <a:ext cx="1247159" cy="186175"/>
          </a:xfrm>
          <a:prstGeom prst="rect">
            <a:avLst/>
          </a:prstGeom>
        </p:spPr>
        <p:txBody>
          <a:bodyPr vert="horz" wrap="square" lIns="0" tIns="1494" rIns="0" bIns="0" rtlCol="0">
            <a:spAutoFit/>
          </a:bodyPr>
          <a:lstStyle/>
          <a:p>
            <a:pPr marL="10160">
              <a:spcBef>
                <a:spcPts val="10"/>
              </a:spcBef>
            </a:pPr>
            <a:r>
              <a:rPr spc="-8" dirty="0"/>
              <a:t>Section</a:t>
            </a:r>
            <a:endParaRPr spc="-8" dirty="0"/>
          </a:p>
        </p:txBody>
      </p:sp>
      <p:sp>
        <p:nvSpPr>
          <p:cNvPr id="3" name="object 3"/>
          <p:cNvSpPr/>
          <p:nvPr/>
        </p:nvSpPr>
        <p:spPr>
          <a:xfrm>
            <a:off x="1674932" y="4831808"/>
            <a:ext cx="8842135" cy="7468"/>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1F5F9"/>
          </a:solidFill>
        </p:spPr>
        <p:txBody>
          <a:bodyPr wrap="square" lIns="0" tIns="0" rIns="0" bIns="0" rtlCol="0"/>
          <a:lstStyle/>
          <a:p/>
        </p:txBody>
      </p:sp>
      <p:pic>
        <p:nvPicPr>
          <p:cNvPr id="4" name="object 4"/>
          <p:cNvPicPr/>
          <p:nvPr/>
        </p:nvPicPr>
        <p:blipFill>
          <a:blip r:embed="rId1" cstate="print"/>
          <a:stretch>
            <a:fillRect/>
          </a:stretch>
        </p:blipFill>
        <p:spPr>
          <a:xfrm>
            <a:off x="1674933" y="978310"/>
            <a:ext cx="59743" cy="179232"/>
          </a:xfrm>
          <a:prstGeom prst="rect">
            <a:avLst/>
          </a:prstGeom>
        </p:spPr>
      </p:pic>
      <p:pic>
        <p:nvPicPr>
          <p:cNvPr id="5" name="object 5"/>
          <p:cNvPicPr/>
          <p:nvPr/>
        </p:nvPicPr>
        <p:blipFill>
          <a:blip r:embed="rId2" cstate="print"/>
          <a:stretch>
            <a:fillRect/>
          </a:stretch>
        </p:blipFill>
        <p:spPr>
          <a:xfrm>
            <a:off x="1686881" y="1348724"/>
            <a:ext cx="95590" cy="95590"/>
          </a:xfrm>
          <a:prstGeom prst="rect">
            <a:avLst/>
          </a:prstGeom>
        </p:spPr>
      </p:pic>
      <p:sp>
        <p:nvSpPr>
          <p:cNvPr id="6" name="object 6"/>
          <p:cNvSpPr/>
          <p:nvPr/>
        </p:nvSpPr>
        <p:spPr>
          <a:xfrm>
            <a:off x="3153600" y="1291968"/>
            <a:ext cx="1209819" cy="171764"/>
          </a:xfrm>
          <a:custGeom>
            <a:avLst/>
            <a:gdLst/>
            <a:ahLst/>
            <a:cxnLst/>
            <a:rect l="l" t="t" r="r" b="b"/>
            <a:pathLst>
              <a:path w="1543050" h="219075">
                <a:moveTo>
                  <a:pt x="1510002" y="219074"/>
                </a:moveTo>
                <a:lnTo>
                  <a:pt x="33047" y="219074"/>
                </a:lnTo>
                <a:lnTo>
                  <a:pt x="28187" y="218108"/>
                </a:lnTo>
                <a:lnTo>
                  <a:pt x="966" y="190887"/>
                </a:lnTo>
                <a:lnTo>
                  <a:pt x="0" y="186027"/>
                </a:lnTo>
                <a:lnTo>
                  <a:pt x="0" y="180974"/>
                </a:lnTo>
                <a:lnTo>
                  <a:pt x="0" y="33047"/>
                </a:lnTo>
                <a:lnTo>
                  <a:pt x="28187" y="966"/>
                </a:lnTo>
                <a:lnTo>
                  <a:pt x="33047" y="0"/>
                </a:lnTo>
                <a:lnTo>
                  <a:pt x="1510002" y="0"/>
                </a:lnTo>
                <a:lnTo>
                  <a:pt x="1542083" y="28187"/>
                </a:lnTo>
                <a:lnTo>
                  <a:pt x="1543050" y="33047"/>
                </a:lnTo>
                <a:lnTo>
                  <a:pt x="1543050" y="186027"/>
                </a:lnTo>
                <a:lnTo>
                  <a:pt x="1514862" y="218108"/>
                </a:lnTo>
                <a:lnTo>
                  <a:pt x="1510002" y="219074"/>
                </a:lnTo>
                <a:close/>
              </a:path>
            </a:pathLst>
          </a:custGeom>
          <a:solidFill>
            <a:srgbClr val="EDF1FF"/>
          </a:solidFill>
        </p:spPr>
        <p:txBody>
          <a:bodyPr wrap="square" lIns="0" tIns="0" rIns="0" bIns="0" rtlCol="0"/>
          <a:lstStyle/>
          <a:p/>
        </p:txBody>
      </p:sp>
      <p:sp>
        <p:nvSpPr>
          <p:cNvPr id="7" name="object 7"/>
          <p:cNvSpPr txBox="1"/>
          <p:nvPr/>
        </p:nvSpPr>
        <p:spPr>
          <a:xfrm>
            <a:off x="1794420" y="941469"/>
            <a:ext cx="4107411" cy="1571646"/>
          </a:xfrm>
          <a:prstGeom prst="rect">
            <a:avLst/>
          </a:prstGeom>
        </p:spPr>
        <p:txBody>
          <a:bodyPr vert="horz" wrap="square" lIns="0" tIns="9459" rIns="0" bIns="0" rtlCol="0">
            <a:spAutoFit/>
          </a:bodyPr>
          <a:lstStyle/>
          <a:p>
            <a:pPr marL="29845">
              <a:spcBef>
                <a:spcPts val="75"/>
              </a:spcBef>
            </a:pPr>
            <a:r>
              <a:rPr sz="1335" b="1" spc="-165" dirty="0">
                <a:solidFill>
                  <a:srgbClr val="4237CA"/>
                </a:solidFill>
                <a:latin typeface="微软雅黑" panose="020B0503020204020204" charset="-122"/>
                <a:cs typeface="微软雅黑" panose="020B0503020204020204" charset="-122"/>
              </a:rPr>
              <a:t>决策逻辑 </a:t>
            </a:r>
            <a:r>
              <a:rPr sz="1175" b="1" spc="35" dirty="0">
                <a:solidFill>
                  <a:srgbClr val="4237CA"/>
                </a:solidFill>
                <a:latin typeface="Calibri" panose="020F0502020204030204"/>
                <a:cs typeface="Calibri" panose="020F0502020204030204"/>
              </a:rPr>
              <a:t>(Decision</a:t>
            </a:r>
            <a:r>
              <a:rPr sz="1175" b="1" spc="-43" dirty="0">
                <a:solidFill>
                  <a:srgbClr val="4237CA"/>
                </a:solidFill>
                <a:latin typeface="Calibri" panose="020F0502020204030204"/>
                <a:cs typeface="Calibri" panose="020F0502020204030204"/>
              </a:rPr>
              <a:t> </a:t>
            </a:r>
            <a:r>
              <a:rPr sz="1175" b="1" spc="71" dirty="0">
                <a:solidFill>
                  <a:srgbClr val="4237CA"/>
                </a:solidFill>
                <a:latin typeface="Calibri" panose="020F0502020204030204"/>
                <a:cs typeface="Calibri" panose="020F0502020204030204"/>
              </a:rPr>
              <a:t>Logic)</a:t>
            </a:r>
            <a:endParaRPr sz="1175">
              <a:latin typeface="Calibri" panose="020F0502020204030204"/>
              <a:cs typeface="Calibri" panose="020F0502020204030204"/>
            </a:endParaRPr>
          </a:p>
          <a:p>
            <a:pPr marL="88900" marR="24130">
              <a:spcBef>
                <a:spcPts val="970"/>
              </a:spcBef>
            </a:pPr>
            <a:r>
              <a:rPr sz="1175" b="1" spc="-118" dirty="0">
                <a:solidFill>
                  <a:srgbClr val="312E81"/>
                </a:solidFill>
                <a:latin typeface="微软雅黑" panose="020B0503020204020204" charset="-122"/>
                <a:cs typeface="微软雅黑" panose="020B0503020204020204" charset="-122"/>
              </a:rPr>
              <a:t>模型输出</a:t>
            </a:r>
            <a:r>
              <a:rPr sz="1060" b="1" spc="-31" dirty="0">
                <a:solidFill>
                  <a:srgbClr val="312E81"/>
                </a:solidFill>
                <a:latin typeface="Calibri" panose="020F0502020204030204"/>
                <a:cs typeface="Calibri" panose="020F0502020204030204"/>
              </a:rPr>
              <a:t>: </a:t>
            </a:r>
            <a:r>
              <a:rPr sz="1060" dirty="0">
                <a:solidFill>
                  <a:srgbClr val="334054"/>
                </a:solidFill>
                <a:latin typeface="Calibri" panose="020F0502020204030204"/>
                <a:cs typeface="Calibri" panose="020F0502020204030204"/>
              </a:rPr>
              <a:t>GCNN</a:t>
            </a:r>
            <a:r>
              <a:rPr sz="1060" spc="-59" dirty="0">
                <a:solidFill>
                  <a:srgbClr val="334054"/>
                </a:solidFill>
                <a:latin typeface="Calibri" panose="020F0502020204030204"/>
                <a:cs typeface="Calibri" panose="020F0502020204030204"/>
              </a:rPr>
              <a:t> </a:t>
            </a:r>
            <a:r>
              <a:rPr sz="1175" spc="-118" dirty="0">
                <a:solidFill>
                  <a:srgbClr val="334054"/>
                </a:solidFill>
                <a:latin typeface="宋体" panose="02010600030101010101" pitchFamily="2" charset="-122"/>
                <a:cs typeface="宋体" panose="02010600030101010101" pitchFamily="2" charset="-122"/>
              </a:rPr>
              <a:t>通过 </a:t>
            </a:r>
            <a:r>
              <a:rPr sz="1135" spc="-27" dirty="0">
                <a:solidFill>
                  <a:srgbClr val="372FA2"/>
                </a:solidFill>
                <a:latin typeface="Courier New" panose="02070309020205020404"/>
                <a:cs typeface="Courier New" panose="02070309020205020404"/>
              </a:rPr>
              <a:t>Masked</a:t>
            </a:r>
            <a:r>
              <a:rPr sz="1135" spc="-86" dirty="0">
                <a:solidFill>
                  <a:srgbClr val="372FA2"/>
                </a:solidFill>
                <a:latin typeface="Courier New" panose="02070309020205020404"/>
                <a:cs typeface="Courier New" panose="02070309020205020404"/>
              </a:rPr>
              <a:t> </a:t>
            </a:r>
            <a:r>
              <a:rPr sz="1135" spc="-51" dirty="0">
                <a:solidFill>
                  <a:srgbClr val="372FA2"/>
                </a:solidFill>
                <a:latin typeface="Courier New" panose="02070309020205020404"/>
                <a:cs typeface="Courier New" panose="02070309020205020404"/>
              </a:rPr>
              <a:t>Softmax</a:t>
            </a:r>
            <a:r>
              <a:rPr sz="1135" spc="-204" dirty="0">
                <a:solidFill>
                  <a:srgbClr val="372FA2"/>
                </a:solidFill>
                <a:latin typeface="Courier New" panose="02070309020205020404"/>
                <a:cs typeface="Courier New" panose="02070309020205020404"/>
              </a:rPr>
              <a:t> </a:t>
            </a:r>
            <a:r>
              <a:rPr sz="1175" spc="-114" dirty="0">
                <a:solidFill>
                  <a:srgbClr val="334054"/>
                </a:solidFill>
                <a:latin typeface="宋体" panose="02010600030101010101" pitchFamily="2" charset="-122"/>
                <a:cs typeface="宋体" panose="02010600030101010101" pitchFamily="2" charset="-122"/>
              </a:rPr>
              <a:t>确保只在当前合法的分支</a:t>
            </a:r>
            <a:r>
              <a:rPr sz="1175" spc="-141" dirty="0">
                <a:solidFill>
                  <a:srgbClr val="334054"/>
                </a:solidFill>
                <a:latin typeface="宋体" panose="02010600030101010101" pitchFamily="2" charset="-122"/>
                <a:cs typeface="宋体" panose="02010600030101010101" pitchFamily="2" charset="-122"/>
              </a:rPr>
              <a:t>变量上生成概率分布 </a:t>
            </a:r>
            <a:r>
              <a:rPr sz="1410" i="1" spc="47" dirty="0">
                <a:solidFill>
                  <a:srgbClr val="334054"/>
                </a:solidFill>
                <a:latin typeface="Times New Roman" panose="02020603050405020304"/>
                <a:cs typeface="Times New Roman" panose="02020603050405020304"/>
              </a:rPr>
              <a:t>π</a:t>
            </a:r>
            <a:r>
              <a:rPr sz="1470" i="1" spc="70" baseline="-11000" dirty="0">
                <a:solidFill>
                  <a:srgbClr val="334054"/>
                </a:solidFill>
                <a:latin typeface="Times New Roman" panose="02020603050405020304"/>
                <a:cs typeface="Times New Roman" panose="02020603050405020304"/>
              </a:rPr>
              <a:t>θ</a:t>
            </a:r>
            <a:r>
              <a:rPr sz="1470" i="1" spc="-212" baseline="-11000" dirty="0">
                <a:solidFill>
                  <a:srgbClr val="334054"/>
                </a:solidFill>
                <a:latin typeface="Times New Roman" panose="02020603050405020304"/>
                <a:cs typeface="Times New Roman" panose="02020603050405020304"/>
              </a:rPr>
              <a:t> </a:t>
            </a:r>
            <a:r>
              <a:rPr sz="1175" spc="-39" dirty="0">
                <a:solidFill>
                  <a:srgbClr val="334054"/>
                </a:solidFill>
                <a:latin typeface="宋体" panose="02010600030101010101" pitchFamily="2" charset="-122"/>
                <a:cs typeface="宋体" panose="02010600030101010101" pitchFamily="2" charset="-122"/>
              </a:rPr>
              <a:t>。</a:t>
            </a:r>
            <a:endParaRPr sz="1175">
              <a:latin typeface="宋体" panose="02010600030101010101" pitchFamily="2" charset="-122"/>
              <a:cs typeface="宋体" panose="02010600030101010101" pitchFamily="2" charset="-122"/>
            </a:endParaRPr>
          </a:p>
          <a:p>
            <a:pPr marL="88900" marR="29845">
              <a:lnSpc>
                <a:spcPct val="160000"/>
              </a:lnSpc>
              <a:tabLst>
                <a:tab pos="3077210" algn="l"/>
              </a:tabLst>
            </a:pPr>
            <a:r>
              <a:rPr sz="1175" b="1" spc="-118" dirty="0">
                <a:solidFill>
                  <a:srgbClr val="312E81"/>
                </a:solidFill>
                <a:latin typeface="微软雅黑" panose="020B0503020204020204" charset="-122"/>
                <a:cs typeface="微软雅黑" panose="020B0503020204020204" charset="-122"/>
              </a:rPr>
              <a:t>学习目标</a:t>
            </a:r>
            <a:r>
              <a:rPr sz="1060" b="1" dirty="0">
                <a:solidFill>
                  <a:srgbClr val="312E81"/>
                </a:solidFill>
                <a:latin typeface="Calibri" panose="020F0502020204030204"/>
                <a:cs typeface="Calibri" panose="020F0502020204030204"/>
              </a:rPr>
              <a:t>:</a:t>
            </a:r>
            <a:r>
              <a:rPr sz="1060" b="1" spc="-4" dirty="0">
                <a:solidFill>
                  <a:srgbClr val="312E81"/>
                </a:solidFill>
                <a:latin typeface="Calibri" panose="020F0502020204030204"/>
                <a:cs typeface="Calibri" panose="020F0502020204030204"/>
              </a:rPr>
              <a:t> </a:t>
            </a:r>
            <a:r>
              <a:rPr sz="1175" spc="-118" dirty="0">
                <a:solidFill>
                  <a:srgbClr val="334054"/>
                </a:solidFill>
                <a:latin typeface="宋体" panose="02010600030101010101" pitchFamily="2" charset="-122"/>
                <a:cs typeface="宋体" panose="02010600030101010101" pitchFamily="2" charset="-122"/>
              </a:rPr>
              <a:t>视为</a:t>
            </a:r>
            <a:r>
              <a:rPr sz="1215" b="1" spc="-165" dirty="0">
                <a:solidFill>
                  <a:srgbClr val="2562EB"/>
                </a:solidFill>
                <a:latin typeface="微软雅黑" panose="020B0503020204020204" charset="-122"/>
                <a:cs typeface="微软雅黑" panose="020B0503020204020204" charset="-122"/>
              </a:rPr>
              <a:t>动作分类问题</a:t>
            </a:r>
            <a:r>
              <a:rPr sz="1175" spc="-118" dirty="0">
                <a:solidFill>
                  <a:srgbClr val="334054"/>
                </a:solidFill>
                <a:latin typeface="宋体" panose="02010600030101010101" pitchFamily="2" charset="-122"/>
                <a:cs typeface="宋体" panose="02010600030101010101" pitchFamily="2" charset="-122"/>
              </a:rPr>
              <a:t>，最大化专家动作</a:t>
            </a:r>
            <a:r>
              <a:rPr sz="1175" spc="-318" dirty="0">
                <a:solidFill>
                  <a:srgbClr val="334054"/>
                </a:solidFill>
                <a:latin typeface="宋体" panose="02010600030101010101" pitchFamily="2" charset="-122"/>
                <a:cs typeface="宋体" panose="02010600030101010101" pitchFamily="2" charset="-122"/>
              </a:rPr>
              <a:t> </a:t>
            </a:r>
            <a:r>
              <a:rPr sz="1410" i="1" spc="-39" dirty="0">
                <a:solidFill>
                  <a:srgbClr val="334054"/>
                </a:solidFill>
                <a:latin typeface="Times New Roman" panose="02020603050405020304"/>
                <a:cs typeface="Times New Roman" panose="02020603050405020304"/>
              </a:rPr>
              <a:t>a</a:t>
            </a:r>
            <a:r>
              <a:rPr sz="1410" i="1" dirty="0">
                <a:solidFill>
                  <a:srgbClr val="334054"/>
                </a:solidFill>
                <a:latin typeface="Times New Roman" panose="02020603050405020304"/>
                <a:cs typeface="Times New Roman" panose="02020603050405020304"/>
              </a:rPr>
              <a:t>	</a:t>
            </a:r>
            <a:r>
              <a:rPr sz="1175" spc="-118" dirty="0">
                <a:solidFill>
                  <a:srgbClr val="334054"/>
                </a:solidFill>
                <a:latin typeface="宋体" panose="02010600030101010101" pitchFamily="2" charset="-122"/>
                <a:cs typeface="宋体" panose="02010600030101010101" pitchFamily="2" charset="-122"/>
              </a:rPr>
              <a:t>的对数似然</a:t>
            </a:r>
            <a:r>
              <a:rPr sz="1175" spc="-39" dirty="0">
                <a:solidFill>
                  <a:srgbClr val="334054"/>
                </a:solidFill>
                <a:latin typeface="宋体" panose="02010600030101010101" pitchFamily="2" charset="-122"/>
                <a:cs typeface="宋体" panose="02010600030101010101" pitchFamily="2" charset="-122"/>
              </a:rPr>
              <a:t>。 </a:t>
            </a:r>
            <a:r>
              <a:rPr sz="1175" b="1" spc="-118" dirty="0">
                <a:solidFill>
                  <a:srgbClr val="312E81"/>
                </a:solidFill>
                <a:latin typeface="微软雅黑" panose="020B0503020204020204" charset="-122"/>
                <a:cs typeface="微软雅黑" panose="020B0503020204020204" charset="-122"/>
              </a:rPr>
              <a:t>推理策略</a:t>
            </a:r>
            <a:r>
              <a:rPr sz="1060" b="1" dirty="0">
                <a:solidFill>
                  <a:srgbClr val="312E81"/>
                </a:solidFill>
                <a:latin typeface="Calibri" panose="020F0502020204030204"/>
                <a:cs typeface="Calibri" panose="020F0502020204030204"/>
              </a:rPr>
              <a:t>:</a:t>
            </a:r>
            <a:r>
              <a:rPr sz="1060" b="1" spc="-24" dirty="0">
                <a:solidFill>
                  <a:srgbClr val="312E81"/>
                </a:solidFill>
                <a:latin typeface="Calibri" panose="020F0502020204030204"/>
                <a:cs typeface="Calibri" panose="020F0502020204030204"/>
              </a:rPr>
              <a:t> </a:t>
            </a:r>
            <a:r>
              <a:rPr sz="1175" spc="-118" dirty="0">
                <a:solidFill>
                  <a:srgbClr val="334054"/>
                </a:solidFill>
                <a:latin typeface="宋体" panose="02010600030101010101" pitchFamily="2" charset="-122"/>
                <a:cs typeface="宋体" panose="02010600030101010101" pitchFamily="2" charset="-122"/>
              </a:rPr>
              <a:t>在线计算候选变量的分数，选择最高概率项并传递给</a:t>
            </a:r>
            <a:r>
              <a:rPr sz="1175" spc="-337" dirty="0">
                <a:solidFill>
                  <a:srgbClr val="334054"/>
                </a:solidFill>
                <a:latin typeface="宋体" panose="02010600030101010101" pitchFamily="2" charset="-122"/>
                <a:cs typeface="宋体" panose="02010600030101010101" pitchFamily="2" charset="-122"/>
              </a:rPr>
              <a:t> </a:t>
            </a:r>
            <a:r>
              <a:rPr sz="1060" spc="-16" dirty="0">
                <a:solidFill>
                  <a:srgbClr val="334054"/>
                </a:solidFill>
                <a:latin typeface="Calibri" panose="020F0502020204030204"/>
                <a:cs typeface="Calibri" panose="020F0502020204030204"/>
              </a:rPr>
              <a:t>SCIP</a:t>
            </a:r>
            <a:endParaRPr sz="1060">
              <a:latin typeface="Calibri" panose="020F0502020204030204"/>
              <a:cs typeface="Calibri" panose="020F0502020204030204"/>
            </a:endParaRPr>
          </a:p>
          <a:p>
            <a:pPr marL="88900">
              <a:spcBef>
                <a:spcPts val="60"/>
              </a:spcBef>
            </a:pPr>
            <a:r>
              <a:rPr sz="1175" spc="-110" dirty="0">
                <a:solidFill>
                  <a:srgbClr val="334054"/>
                </a:solidFill>
                <a:latin typeface="宋体" panose="02010600030101010101" pitchFamily="2" charset="-122"/>
                <a:cs typeface="宋体" panose="02010600030101010101" pitchFamily="2" charset="-122"/>
              </a:rPr>
              <a:t>执行分支指令。</a:t>
            </a:r>
            <a:endParaRPr sz="1175">
              <a:latin typeface="宋体" panose="02010600030101010101" pitchFamily="2" charset="-122"/>
              <a:cs typeface="宋体" panose="02010600030101010101" pitchFamily="2" charset="-122"/>
            </a:endParaRPr>
          </a:p>
        </p:txBody>
      </p:sp>
      <p:pic>
        <p:nvPicPr>
          <p:cNvPr id="8" name="object 8"/>
          <p:cNvPicPr/>
          <p:nvPr/>
        </p:nvPicPr>
        <p:blipFill>
          <a:blip r:embed="rId2" cstate="print"/>
          <a:stretch>
            <a:fillRect/>
          </a:stretch>
        </p:blipFill>
        <p:spPr>
          <a:xfrm>
            <a:off x="1686881" y="1878953"/>
            <a:ext cx="95590" cy="95590"/>
          </a:xfrm>
          <a:prstGeom prst="rect">
            <a:avLst/>
          </a:prstGeom>
        </p:spPr>
      </p:pic>
      <p:pic>
        <p:nvPicPr>
          <p:cNvPr id="9" name="object 9"/>
          <p:cNvPicPr/>
          <p:nvPr/>
        </p:nvPicPr>
        <p:blipFill>
          <a:blip r:embed="rId2" cstate="print"/>
          <a:stretch>
            <a:fillRect/>
          </a:stretch>
        </p:blipFill>
        <p:spPr>
          <a:xfrm>
            <a:off x="1686881" y="2215014"/>
            <a:ext cx="95590" cy="95590"/>
          </a:xfrm>
          <a:prstGeom prst="rect">
            <a:avLst/>
          </a:prstGeom>
        </p:spPr>
      </p:pic>
      <p:grpSp>
        <p:nvGrpSpPr>
          <p:cNvPr id="10" name="object 10"/>
          <p:cNvGrpSpPr/>
          <p:nvPr/>
        </p:nvGrpSpPr>
        <p:grpSpPr>
          <a:xfrm>
            <a:off x="1674933" y="2710890"/>
            <a:ext cx="4271707" cy="597442"/>
            <a:chOff x="457200" y="3457574"/>
            <a:chExt cx="5448300" cy="762000"/>
          </a:xfrm>
        </p:grpSpPr>
        <p:sp>
          <p:nvSpPr>
            <p:cNvPr id="11" name="object 11"/>
            <p:cNvSpPr/>
            <p:nvPr/>
          </p:nvSpPr>
          <p:spPr>
            <a:xfrm>
              <a:off x="476249" y="3457574"/>
              <a:ext cx="5429250" cy="762000"/>
            </a:xfrm>
            <a:custGeom>
              <a:avLst/>
              <a:gdLst/>
              <a:ahLst/>
              <a:cxnLst/>
              <a:rect l="l" t="t" r="r" b="b"/>
              <a:pathLst>
                <a:path w="5429250" h="762000">
                  <a:moveTo>
                    <a:pt x="5358052" y="761999"/>
                  </a:moveTo>
                  <a:lnTo>
                    <a:pt x="0" y="761999"/>
                  </a:lnTo>
                  <a:lnTo>
                    <a:pt x="0" y="0"/>
                  </a:lnTo>
                  <a:lnTo>
                    <a:pt x="5358052" y="0"/>
                  </a:lnTo>
                  <a:lnTo>
                    <a:pt x="5399543" y="15621"/>
                  </a:lnTo>
                  <a:lnTo>
                    <a:pt x="5425363" y="51661"/>
                  </a:lnTo>
                  <a:lnTo>
                    <a:pt x="5429249" y="71196"/>
                  </a:lnTo>
                  <a:lnTo>
                    <a:pt x="5429249" y="690803"/>
                  </a:lnTo>
                  <a:lnTo>
                    <a:pt x="5413627" y="732294"/>
                  </a:lnTo>
                  <a:lnTo>
                    <a:pt x="5377587" y="758113"/>
                  </a:lnTo>
                  <a:lnTo>
                    <a:pt x="5358052" y="761999"/>
                  </a:lnTo>
                  <a:close/>
                </a:path>
              </a:pathLst>
            </a:custGeom>
            <a:solidFill>
              <a:srgbClr val="EDF1FF"/>
            </a:solidFill>
          </p:spPr>
          <p:txBody>
            <a:bodyPr wrap="square" lIns="0" tIns="0" rIns="0" bIns="0" rtlCol="0"/>
            <a:lstStyle/>
            <a:p/>
          </p:txBody>
        </p:sp>
        <p:sp>
          <p:nvSpPr>
            <p:cNvPr id="12" name="object 12"/>
            <p:cNvSpPr/>
            <p:nvPr/>
          </p:nvSpPr>
          <p:spPr>
            <a:xfrm>
              <a:off x="457200" y="3457574"/>
              <a:ext cx="38100" cy="762000"/>
            </a:xfrm>
            <a:custGeom>
              <a:avLst/>
              <a:gdLst/>
              <a:ahLst/>
              <a:cxnLst/>
              <a:rect l="l" t="t" r="r" b="b"/>
              <a:pathLst>
                <a:path w="38100" h="762000">
                  <a:moveTo>
                    <a:pt x="38099" y="761999"/>
                  </a:moveTo>
                  <a:lnTo>
                    <a:pt x="0" y="761999"/>
                  </a:lnTo>
                  <a:lnTo>
                    <a:pt x="0" y="0"/>
                  </a:lnTo>
                  <a:lnTo>
                    <a:pt x="38099" y="0"/>
                  </a:lnTo>
                  <a:lnTo>
                    <a:pt x="38099" y="761999"/>
                  </a:lnTo>
                  <a:close/>
                </a:path>
              </a:pathLst>
            </a:custGeom>
            <a:solidFill>
              <a:srgbClr val="4237CA"/>
            </a:solidFill>
          </p:spPr>
          <p:txBody>
            <a:bodyPr wrap="square" lIns="0" tIns="0" rIns="0" bIns="0" rtlCol="0"/>
            <a:lstStyle/>
            <a:p/>
          </p:txBody>
        </p:sp>
      </p:grpSp>
      <p:sp>
        <p:nvSpPr>
          <p:cNvPr id="13" name="object 13"/>
          <p:cNvSpPr txBox="1"/>
          <p:nvPr/>
        </p:nvSpPr>
        <p:spPr>
          <a:xfrm>
            <a:off x="1814335" y="2766400"/>
            <a:ext cx="3199797" cy="393003"/>
          </a:xfrm>
          <a:prstGeom prst="rect">
            <a:avLst/>
          </a:prstGeom>
        </p:spPr>
        <p:txBody>
          <a:bodyPr vert="horz" wrap="square" lIns="0" tIns="46302" rIns="0" bIns="0" rtlCol="0">
            <a:spAutoFit/>
          </a:bodyPr>
          <a:lstStyle/>
          <a:p>
            <a:pPr marL="10160">
              <a:spcBef>
                <a:spcPts val="365"/>
              </a:spcBef>
            </a:pPr>
            <a:r>
              <a:rPr sz="900" b="1" spc="-47" dirty="0">
                <a:solidFill>
                  <a:srgbClr val="372FA2"/>
                </a:solidFill>
                <a:latin typeface="微软雅黑" panose="020B0503020204020204" charset="-122"/>
                <a:cs typeface="微软雅黑" panose="020B0503020204020204" charset="-122"/>
              </a:rPr>
              <a:t>系统特性</a:t>
            </a:r>
            <a:endParaRPr sz="900">
              <a:latin typeface="微软雅黑" panose="020B0503020204020204" charset="-122"/>
              <a:cs typeface="微软雅黑" panose="020B0503020204020204" charset="-122"/>
            </a:endParaRPr>
          </a:p>
          <a:p>
            <a:pPr marL="10160">
              <a:spcBef>
                <a:spcPts val="310"/>
              </a:spcBef>
            </a:pPr>
            <a:r>
              <a:rPr sz="940" i="1" dirty="0">
                <a:solidFill>
                  <a:srgbClr val="465469"/>
                </a:solidFill>
                <a:latin typeface="Times New Roman" panose="02020603050405020304"/>
                <a:cs typeface="Times New Roman" panose="02020603050405020304"/>
              </a:rPr>
              <a:t>“</a:t>
            </a:r>
            <a:r>
              <a:rPr sz="1100" spc="-184" dirty="0">
                <a:solidFill>
                  <a:srgbClr val="465469"/>
                </a:solidFill>
                <a:latin typeface="宋体" panose="02010600030101010101" pitchFamily="2" charset="-122"/>
                <a:cs typeface="宋体" panose="02010600030101010101" pitchFamily="2" charset="-122"/>
              </a:rPr>
              <a:t>输出、损失和推理在同一个动作空间内实现高度局部对齐。</a:t>
            </a:r>
            <a:r>
              <a:rPr sz="940" i="1" spc="-39" dirty="0">
                <a:solidFill>
                  <a:srgbClr val="465469"/>
                </a:solidFill>
                <a:latin typeface="Times New Roman" panose="02020603050405020304"/>
                <a:cs typeface="Times New Roman" panose="02020603050405020304"/>
              </a:rPr>
              <a:t>”</a:t>
            </a:r>
            <a:endParaRPr sz="940">
              <a:latin typeface="Times New Roman" panose="02020603050405020304"/>
              <a:cs typeface="Times New Roman" panose="02020603050405020304"/>
            </a:endParaRPr>
          </a:p>
        </p:txBody>
      </p:sp>
      <p:sp>
        <p:nvSpPr>
          <p:cNvPr id="14" name="object 14"/>
          <p:cNvSpPr txBox="1"/>
          <p:nvPr/>
        </p:nvSpPr>
        <p:spPr>
          <a:xfrm>
            <a:off x="4756735" y="1776468"/>
            <a:ext cx="82646" cy="161870"/>
          </a:xfrm>
          <a:prstGeom prst="rect">
            <a:avLst/>
          </a:prstGeom>
        </p:spPr>
        <p:txBody>
          <a:bodyPr vert="horz" wrap="square" lIns="0" tIns="10953" rIns="0" bIns="0" rtlCol="0">
            <a:spAutoFit/>
          </a:bodyPr>
          <a:lstStyle/>
          <a:p>
            <a:pPr marL="10160">
              <a:spcBef>
                <a:spcPts val="85"/>
              </a:spcBef>
            </a:pPr>
            <a:r>
              <a:rPr sz="980" spc="-39" dirty="0">
                <a:solidFill>
                  <a:srgbClr val="334054"/>
                </a:solidFill>
                <a:latin typeface="Cambria" panose="02040503050406030204"/>
                <a:cs typeface="Cambria" panose="02040503050406030204"/>
              </a:rPr>
              <a:t>⋆</a:t>
            </a:r>
            <a:endParaRPr sz="980">
              <a:latin typeface="Cambria" panose="02040503050406030204"/>
              <a:cs typeface="Cambria" panose="02040503050406030204"/>
            </a:endParaRPr>
          </a:p>
        </p:txBody>
      </p:sp>
      <p:grpSp>
        <p:nvGrpSpPr>
          <p:cNvPr id="15" name="object 15"/>
          <p:cNvGrpSpPr/>
          <p:nvPr/>
        </p:nvGrpSpPr>
        <p:grpSpPr>
          <a:xfrm>
            <a:off x="6245360" y="963374"/>
            <a:ext cx="4271707" cy="1613092"/>
            <a:chOff x="6286499" y="1228724"/>
            <a:chExt cx="5448300" cy="2057400"/>
          </a:xfrm>
        </p:grpSpPr>
        <p:sp>
          <p:nvSpPr>
            <p:cNvPr id="16" name="object 16"/>
            <p:cNvSpPr/>
            <p:nvPr/>
          </p:nvSpPr>
          <p:spPr>
            <a:xfrm>
              <a:off x="6291262" y="1233487"/>
              <a:ext cx="5438775" cy="2047875"/>
            </a:xfrm>
            <a:custGeom>
              <a:avLst/>
              <a:gdLst/>
              <a:ahLst/>
              <a:cxnLst/>
              <a:rect l="l" t="t" r="r" b="b"/>
              <a:pathLst>
                <a:path w="5438775" h="2047875">
                  <a:moveTo>
                    <a:pt x="0" y="193833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5329237" y="0"/>
                  </a:lnTo>
                  <a:lnTo>
                    <a:pt x="5336429" y="0"/>
                  </a:lnTo>
                  <a:lnTo>
                    <a:pt x="5343552" y="701"/>
                  </a:lnTo>
                  <a:lnTo>
                    <a:pt x="5384111" y="14464"/>
                  </a:lnTo>
                  <a:lnTo>
                    <a:pt x="5390092" y="18460"/>
                  </a:lnTo>
                  <a:lnTo>
                    <a:pt x="5396072" y="22456"/>
                  </a:lnTo>
                  <a:lnTo>
                    <a:pt x="5401605" y="26997"/>
                  </a:lnTo>
                  <a:lnTo>
                    <a:pt x="5406691" y="32082"/>
                  </a:lnTo>
                  <a:lnTo>
                    <a:pt x="5411777" y="37168"/>
                  </a:lnTo>
                  <a:lnTo>
                    <a:pt x="5430436" y="67619"/>
                  </a:lnTo>
                  <a:lnTo>
                    <a:pt x="5433188" y="74264"/>
                  </a:lnTo>
                  <a:lnTo>
                    <a:pt x="5435266" y="81113"/>
                  </a:lnTo>
                  <a:lnTo>
                    <a:pt x="5436668" y="88167"/>
                  </a:lnTo>
                  <a:lnTo>
                    <a:pt x="5438072" y="95221"/>
                  </a:lnTo>
                  <a:lnTo>
                    <a:pt x="5438773" y="102345"/>
                  </a:lnTo>
                  <a:lnTo>
                    <a:pt x="5438774" y="109537"/>
                  </a:lnTo>
                  <a:lnTo>
                    <a:pt x="5438774" y="1938337"/>
                  </a:lnTo>
                  <a:lnTo>
                    <a:pt x="5438773" y="1945529"/>
                  </a:lnTo>
                  <a:lnTo>
                    <a:pt x="5438072" y="1952652"/>
                  </a:lnTo>
                  <a:lnTo>
                    <a:pt x="5436668" y="1959706"/>
                  </a:lnTo>
                  <a:lnTo>
                    <a:pt x="5435266" y="1966761"/>
                  </a:lnTo>
                  <a:lnTo>
                    <a:pt x="5433188" y="1973610"/>
                  </a:lnTo>
                  <a:lnTo>
                    <a:pt x="5430436" y="1980255"/>
                  </a:lnTo>
                  <a:lnTo>
                    <a:pt x="5427683" y="1986900"/>
                  </a:lnTo>
                  <a:lnTo>
                    <a:pt x="5424309" y="1993212"/>
                  </a:lnTo>
                  <a:lnTo>
                    <a:pt x="5420313" y="1999193"/>
                  </a:lnTo>
                  <a:lnTo>
                    <a:pt x="5416317" y="2005173"/>
                  </a:lnTo>
                  <a:lnTo>
                    <a:pt x="5390092" y="2029414"/>
                  </a:lnTo>
                  <a:lnTo>
                    <a:pt x="5384111" y="2033409"/>
                  </a:lnTo>
                  <a:lnTo>
                    <a:pt x="5343552" y="2047173"/>
                  </a:lnTo>
                  <a:lnTo>
                    <a:pt x="5336429" y="2047874"/>
                  </a:lnTo>
                  <a:lnTo>
                    <a:pt x="5329237" y="2047874"/>
                  </a:lnTo>
                  <a:lnTo>
                    <a:pt x="109537" y="2047874"/>
                  </a:lnTo>
                  <a:lnTo>
                    <a:pt x="102345" y="2047874"/>
                  </a:lnTo>
                  <a:lnTo>
                    <a:pt x="95221" y="2047173"/>
                  </a:lnTo>
                  <a:lnTo>
                    <a:pt x="88167" y="2045769"/>
                  </a:lnTo>
                  <a:lnTo>
                    <a:pt x="81113" y="2044366"/>
                  </a:lnTo>
                  <a:lnTo>
                    <a:pt x="48681" y="2029414"/>
                  </a:lnTo>
                  <a:lnTo>
                    <a:pt x="42701" y="2025418"/>
                  </a:lnTo>
                  <a:lnTo>
                    <a:pt x="18460" y="1999193"/>
                  </a:lnTo>
                  <a:lnTo>
                    <a:pt x="14464" y="1993212"/>
                  </a:lnTo>
                  <a:lnTo>
                    <a:pt x="11090" y="1986900"/>
                  </a:lnTo>
                  <a:lnTo>
                    <a:pt x="8338" y="1980255"/>
                  </a:lnTo>
                  <a:lnTo>
                    <a:pt x="5585" y="1973610"/>
                  </a:lnTo>
                  <a:lnTo>
                    <a:pt x="3507" y="1966761"/>
                  </a:lnTo>
                  <a:lnTo>
                    <a:pt x="2104" y="1959706"/>
                  </a:lnTo>
                  <a:lnTo>
                    <a:pt x="701" y="1952652"/>
                  </a:lnTo>
                  <a:lnTo>
                    <a:pt x="0" y="1945529"/>
                  </a:lnTo>
                  <a:lnTo>
                    <a:pt x="0" y="1938337"/>
                  </a:lnTo>
                  <a:close/>
                </a:path>
              </a:pathLst>
            </a:custGeom>
            <a:ln w="9524">
              <a:solidFill>
                <a:srgbClr val="DFE7FF"/>
              </a:solidFill>
            </a:ln>
          </p:spPr>
          <p:txBody>
            <a:bodyPr wrap="square" lIns="0" tIns="0" rIns="0" bIns="0" rtlCol="0"/>
            <a:lstStyle/>
            <a:p/>
          </p:txBody>
        </p:sp>
        <p:sp>
          <p:nvSpPr>
            <p:cNvPr id="17" name="object 17"/>
            <p:cNvSpPr/>
            <p:nvPr/>
          </p:nvSpPr>
          <p:spPr>
            <a:xfrm>
              <a:off x="6524624" y="1466849"/>
              <a:ext cx="1419225" cy="228600"/>
            </a:xfrm>
            <a:custGeom>
              <a:avLst/>
              <a:gdLst/>
              <a:ahLst/>
              <a:cxnLst/>
              <a:rect l="l" t="t" r="r" b="b"/>
              <a:pathLst>
                <a:path w="1419225" h="228600">
                  <a:moveTo>
                    <a:pt x="1386176" y="228599"/>
                  </a:moveTo>
                  <a:lnTo>
                    <a:pt x="33047" y="228599"/>
                  </a:lnTo>
                  <a:lnTo>
                    <a:pt x="28187" y="227633"/>
                  </a:lnTo>
                  <a:lnTo>
                    <a:pt x="966" y="200412"/>
                  </a:lnTo>
                  <a:lnTo>
                    <a:pt x="0" y="195552"/>
                  </a:lnTo>
                  <a:lnTo>
                    <a:pt x="0" y="190499"/>
                  </a:lnTo>
                  <a:lnTo>
                    <a:pt x="0" y="33047"/>
                  </a:lnTo>
                  <a:lnTo>
                    <a:pt x="28187" y="966"/>
                  </a:lnTo>
                  <a:lnTo>
                    <a:pt x="33047" y="0"/>
                  </a:lnTo>
                  <a:lnTo>
                    <a:pt x="1386176" y="0"/>
                  </a:lnTo>
                  <a:lnTo>
                    <a:pt x="1418257" y="28187"/>
                  </a:lnTo>
                  <a:lnTo>
                    <a:pt x="1419224" y="33047"/>
                  </a:lnTo>
                  <a:lnTo>
                    <a:pt x="1419224" y="195552"/>
                  </a:lnTo>
                  <a:lnTo>
                    <a:pt x="1391037" y="227633"/>
                  </a:lnTo>
                  <a:lnTo>
                    <a:pt x="1386176" y="228599"/>
                  </a:lnTo>
                  <a:close/>
                </a:path>
              </a:pathLst>
            </a:custGeom>
            <a:solidFill>
              <a:srgbClr val="DFE7FF"/>
            </a:solidFill>
          </p:spPr>
          <p:txBody>
            <a:bodyPr wrap="square" lIns="0" tIns="0" rIns="0" bIns="0" rtlCol="0"/>
            <a:lstStyle/>
            <a:p/>
          </p:txBody>
        </p:sp>
      </p:grpSp>
      <p:sp>
        <p:nvSpPr>
          <p:cNvPr id="18" name="object 18"/>
          <p:cNvSpPr txBox="1"/>
          <p:nvPr/>
        </p:nvSpPr>
        <p:spPr>
          <a:xfrm>
            <a:off x="6481848" y="1161391"/>
            <a:ext cx="1014655" cy="128220"/>
          </a:xfrm>
          <a:prstGeom prst="rect">
            <a:avLst/>
          </a:prstGeom>
        </p:spPr>
        <p:txBody>
          <a:bodyPr vert="horz" wrap="square" lIns="0" tIns="13442" rIns="0" bIns="0" rtlCol="0">
            <a:spAutoFit/>
          </a:bodyPr>
          <a:lstStyle/>
          <a:p>
            <a:pPr marL="10160">
              <a:spcBef>
                <a:spcPts val="105"/>
              </a:spcBef>
            </a:pPr>
            <a:r>
              <a:rPr sz="745" b="1" spc="-27" dirty="0">
                <a:solidFill>
                  <a:srgbClr val="4237CA"/>
                </a:solidFill>
                <a:latin typeface="Courier New" panose="02070309020205020404"/>
                <a:cs typeface="Courier New" panose="02070309020205020404"/>
              </a:rPr>
              <a:t>Output</a:t>
            </a:r>
            <a:r>
              <a:rPr sz="745" b="1" spc="-82" dirty="0">
                <a:solidFill>
                  <a:srgbClr val="4237CA"/>
                </a:solidFill>
                <a:latin typeface="Courier New" panose="02070309020205020404"/>
                <a:cs typeface="Courier New" panose="02070309020205020404"/>
              </a:rPr>
              <a:t> </a:t>
            </a:r>
            <a:r>
              <a:rPr sz="745" b="1" spc="-43" dirty="0">
                <a:solidFill>
                  <a:srgbClr val="4237CA"/>
                </a:solidFill>
                <a:latin typeface="Courier New" panose="02070309020205020404"/>
                <a:cs typeface="Courier New" panose="02070309020205020404"/>
              </a:rPr>
              <a:t>Distribution</a:t>
            </a:r>
            <a:endParaRPr sz="745">
              <a:latin typeface="Courier New" panose="02070309020205020404"/>
              <a:cs typeface="Courier New" panose="02070309020205020404"/>
            </a:endParaRPr>
          </a:p>
        </p:txBody>
      </p:sp>
      <p:grpSp>
        <p:nvGrpSpPr>
          <p:cNvPr id="19" name="object 19"/>
          <p:cNvGrpSpPr/>
          <p:nvPr/>
        </p:nvGrpSpPr>
        <p:grpSpPr>
          <a:xfrm>
            <a:off x="6245360" y="2755699"/>
            <a:ext cx="4271707" cy="1949153"/>
            <a:chOff x="6286499" y="3514724"/>
            <a:chExt cx="5448300" cy="2486025"/>
          </a:xfrm>
        </p:grpSpPr>
        <p:sp>
          <p:nvSpPr>
            <p:cNvPr id="20" name="object 20"/>
            <p:cNvSpPr/>
            <p:nvPr/>
          </p:nvSpPr>
          <p:spPr>
            <a:xfrm>
              <a:off x="6286499" y="3514724"/>
              <a:ext cx="5448300" cy="2486025"/>
            </a:xfrm>
            <a:custGeom>
              <a:avLst/>
              <a:gdLst/>
              <a:ahLst/>
              <a:cxnLst/>
              <a:rect l="l" t="t" r="r" b="b"/>
              <a:pathLst>
                <a:path w="5448300" h="2486025">
                  <a:moveTo>
                    <a:pt x="5341504" y="2486024"/>
                  </a:moveTo>
                  <a:lnTo>
                    <a:pt x="106794" y="2486024"/>
                  </a:lnTo>
                  <a:lnTo>
                    <a:pt x="99362" y="2485292"/>
                  </a:lnTo>
                  <a:lnTo>
                    <a:pt x="57038" y="2470930"/>
                  </a:lnTo>
                  <a:lnTo>
                    <a:pt x="23432" y="2441466"/>
                  </a:lnTo>
                  <a:lnTo>
                    <a:pt x="3660" y="2401384"/>
                  </a:lnTo>
                  <a:lnTo>
                    <a:pt x="0" y="2379229"/>
                  </a:lnTo>
                  <a:lnTo>
                    <a:pt x="0" y="2371724"/>
                  </a:lnTo>
                  <a:lnTo>
                    <a:pt x="0" y="106794"/>
                  </a:lnTo>
                  <a:lnTo>
                    <a:pt x="11572" y="63625"/>
                  </a:lnTo>
                  <a:lnTo>
                    <a:pt x="38784" y="28170"/>
                  </a:lnTo>
                  <a:lnTo>
                    <a:pt x="77493" y="5828"/>
                  </a:lnTo>
                  <a:lnTo>
                    <a:pt x="106794" y="0"/>
                  </a:lnTo>
                  <a:lnTo>
                    <a:pt x="5341504" y="0"/>
                  </a:lnTo>
                  <a:lnTo>
                    <a:pt x="5384673" y="11572"/>
                  </a:lnTo>
                  <a:lnTo>
                    <a:pt x="5420128" y="38784"/>
                  </a:lnTo>
                  <a:lnTo>
                    <a:pt x="5442470" y="77492"/>
                  </a:lnTo>
                  <a:lnTo>
                    <a:pt x="5448299" y="106794"/>
                  </a:lnTo>
                  <a:lnTo>
                    <a:pt x="5448299" y="2379229"/>
                  </a:lnTo>
                  <a:lnTo>
                    <a:pt x="5436726" y="2422398"/>
                  </a:lnTo>
                  <a:lnTo>
                    <a:pt x="5409514" y="2457853"/>
                  </a:lnTo>
                  <a:lnTo>
                    <a:pt x="5370805" y="2480195"/>
                  </a:lnTo>
                  <a:lnTo>
                    <a:pt x="5348937" y="2485292"/>
                  </a:lnTo>
                  <a:lnTo>
                    <a:pt x="5341504" y="2486024"/>
                  </a:lnTo>
                  <a:close/>
                </a:path>
              </a:pathLst>
            </a:custGeom>
            <a:solidFill>
              <a:srgbClr val="312E81"/>
            </a:solidFill>
          </p:spPr>
          <p:txBody>
            <a:bodyPr wrap="square" lIns="0" tIns="0" rIns="0" bIns="0" rtlCol="0"/>
            <a:lstStyle/>
            <a:p/>
          </p:txBody>
        </p:sp>
        <p:sp>
          <p:nvSpPr>
            <p:cNvPr id="21" name="object 21"/>
            <p:cNvSpPr/>
            <p:nvPr/>
          </p:nvSpPr>
          <p:spPr>
            <a:xfrm>
              <a:off x="6515099" y="4048124"/>
              <a:ext cx="4991100" cy="9525"/>
            </a:xfrm>
            <a:custGeom>
              <a:avLst/>
              <a:gdLst/>
              <a:ahLst/>
              <a:cxnLst/>
              <a:rect l="l" t="t" r="r" b="b"/>
              <a:pathLst>
                <a:path w="4991100" h="9525">
                  <a:moveTo>
                    <a:pt x="4991099" y="9524"/>
                  </a:moveTo>
                  <a:lnTo>
                    <a:pt x="0" y="9524"/>
                  </a:lnTo>
                  <a:lnTo>
                    <a:pt x="0" y="0"/>
                  </a:lnTo>
                  <a:lnTo>
                    <a:pt x="4991099" y="0"/>
                  </a:lnTo>
                  <a:lnTo>
                    <a:pt x="4991099" y="9524"/>
                  </a:lnTo>
                  <a:close/>
                </a:path>
              </a:pathLst>
            </a:custGeom>
            <a:solidFill>
              <a:srgbClr val="818BF7">
                <a:alpha val="30198"/>
              </a:srgbClr>
            </a:solidFill>
          </p:spPr>
          <p:txBody>
            <a:bodyPr wrap="square" lIns="0" tIns="0" rIns="0" bIns="0" rtlCol="0"/>
            <a:lstStyle/>
            <a:p/>
          </p:txBody>
        </p:sp>
      </p:grpSp>
      <p:sp>
        <p:nvSpPr>
          <p:cNvPr id="22" name="object 22"/>
          <p:cNvSpPr txBox="1"/>
          <p:nvPr/>
        </p:nvSpPr>
        <p:spPr>
          <a:xfrm>
            <a:off x="6474380" y="2946247"/>
            <a:ext cx="1537416" cy="128220"/>
          </a:xfrm>
          <a:prstGeom prst="rect">
            <a:avLst/>
          </a:prstGeom>
        </p:spPr>
        <p:txBody>
          <a:bodyPr vert="horz" wrap="square" lIns="0" tIns="13442" rIns="0" bIns="0" rtlCol="0">
            <a:spAutoFit/>
          </a:bodyPr>
          <a:lstStyle/>
          <a:p>
            <a:pPr marL="10160">
              <a:spcBef>
                <a:spcPts val="105"/>
              </a:spcBef>
            </a:pPr>
            <a:r>
              <a:rPr sz="745" b="1" spc="-24" dirty="0">
                <a:solidFill>
                  <a:srgbClr val="C7D1FE"/>
                </a:solidFill>
                <a:latin typeface="Courier New" panose="02070309020205020404"/>
                <a:cs typeface="Courier New" panose="02070309020205020404"/>
              </a:rPr>
              <a:t>Loss</a:t>
            </a:r>
            <a:r>
              <a:rPr sz="745" b="1" spc="-59" dirty="0">
                <a:solidFill>
                  <a:srgbClr val="C7D1FE"/>
                </a:solidFill>
                <a:latin typeface="Courier New" panose="02070309020205020404"/>
                <a:cs typeface="Courier New" panose="02070309020205020404"/>
              </a:rPr>
              <a:t> </a:t>
            </a:r>
            <a:r>
              <a:rPr sz="745" b="1" spc="-31" dirty="0">
                <a:solidFill>
                  <a:srgbClr val="C7D1FE"/>
                </a:solidFill>
                <a:latin typeface="Courier New" panose="02070309020205020404"/>
                <a:cs typeface="Courier New" panose="02070309020205020404"/>
              </a:rPr>
              <a:t>Function</a:t>
            </a:r>
            <a:r>
              <a:rPr sz="745" b="1" spc="-55" dirty="0">
                <a:solidFill>
                  <a:srgbClr val="C7D1FE"/>
                </a:solidFill>
                <a:latin typeface="Courier New" panose="02070309020205020404"/>
                <a:cs typeface="Courier New" panose="02070309020205020404"/>
              </a:rPr>
              <a:t> </a:t>
            </a:r>
            <a:r>
              <a:rPr sz="745" b="1" spc="-39" dirty="0">
                <a:solidFill>
                  <a:srgbClr val="C7D1FE"/>
                </a:solidFill>
                <a:latin typeface="Courier New" panose="02070309020205020404"/>
                <a:cs typeface="Courier New" panose="02070309020205020404"/>
              </a:rPr>
              <a:t>(Cross-</a:t>
            </a:r>
            <a:r>
              <a:rPr sz="745" b="1" spc="-51" dirty="0">
                <a:solidFill>
                  <a:srgbClr val="C7D1FE"/>
                </a:solidFill>
                <a:latin typeface="Courier New" panose="02070309020205020404"/>
                <a:cs typeface="Courier New" panose="02070309020205020404"/>
              </a:rPr>
              <a:t>Entropy)</a:t>
            </a:r>
            <a:endParaRPr sz="745">
              <a:latin typeface="Courier New" panose="02070309020205020404"/>
              <a:cs typeface="Courier New" panose="02070309020205020404"/>
            </a:endParaRPr>
          </a:p>
        </p:txBody>
      </p:sp>
      <p:sp>
        <p:nvSpPr>
          <p:cNvPr id="23" name="object 23"/>
          <p:cNvSpPr txBox="1"/>
          <p:nvPr/>
        </p:nvSpPr>
        <p:spPr>
          <a:xfrm>
            <a:off x="6785119" y="1836212"/>
            <a:ext cx="79161" cy="161870"/>
          </a:xfrm>
          <a:prstGeom prst="rect">
            <a:avLst/>
          </a:prstGeom>
        </p:spPr>
        <p:txBody>
          <a:bodyPr vert="horz" wrap="square" lIns="0" tIns="10953" rIns="0" bIns="0" rtlCol="0">
            <a:spAutoFit/>
          </a:bodyPr>
          <a:lstStyle/>
          <a:p>
            <a:pPr marL="10160">
              <a:spcBef>
                <a:spcPts val="85"/>
              </a:spcBef>
            </a:pPr>
            <a:r>
              <a:rPr sz="980" i="1" spc="-39" dirty="0">
                <a:solidFill>
                  <a:srgbClr val="312E81"/>
                </a:solidFill>
                <a:latin typeface="Times New Roman" panose="02020603050405020304"/>
                <a:cs typeface="Times New Roman" panose="02020603050405020304"/>
              </a:rPr>
              <a:t>θ</a:t>
            </a:r>
            <a:endParaRPr sz="980">
              <a:latin typeface="Times New Roman" panose="02020603050405020304"/>
              <a:cs typeface="Times New Roman" panose="02020603050405020304"/>
            </a:endParaRPr>
          </a:p>
        </p:txBody>
      </p:sp>
      <p:sp>
        <p:nvSpPr>
          <p:cNvPr id="24" name="object 24"/>
          <p:cNvSpPr txBox="1"/>
          <p:nvPr/>
        </p:nvSpPr>
        <p:spPr>
          <a:xfrm>
            <a:off x="6680567" y="1752496"/>
            <a:ext cx="1177458" cy="227165"/>
          </a:xfrm>
          <a:prstGeom prst="rect">
            <a:avLst/>
          </a:prstGeom>
        </p:spPr>
        <p:txBody>
          <a:bodyPr vert="horz" wrap="square" lIns="0" tIns="9957" rIns="0" bIns="0" rtlCol="0">
            <a:spAutoFit/>
          </a:bodyPr>
          <a:lstStyle/>
          <a:p>
            <a:pPr marL="10160">
              <a:spcBef>
                <a:spcPts val="80"/>
              </a:spcBef>
            </a:pPr>
            <a:r>
              <a:rPr sz="1410" i="1" spc="98" dirty="0">
                <a:solidFill>
                  <a:srgbClr val="312E81"/>
                </a:solidFill>
                <a:latin typeface="Times New Roman" panose="02020603050405020304"/>
                <a:cs typeface="Times New Roman" panose="02020603050405020304"/>
              </a:rPr>
              <a:t>π</a:t>
            </a:r>
            <a:r>
              <a:rPr sz="1410" i="1" spc="231" dirty="0">
                <a:solidFill>
                  <a:srgbClr val="312E81"/>
                </a:solidFill>
                <a:latin typeface="Times New Roman" panose="02020603050405020304"/>
                <a:cs typeface="Times New Roman" panose="02020603050405020304"/>
              </a:rPr>
              <a:t> </a:t>
            </a:r>
            <a:r>
              <a:rPr sz="1410" dirty="0">
                <a:solidFill>
                  <a:srgbClr val="312E81"/>
                </a:solidFill>
                <a:latin typeface="Cambria" panose="02040503050406030204"/>
                <a:cs typeface="Cambria" panose="02040503050406030204"/>
              </a:rPr>
              <a:t>(</a:t>
            </a:r>
            <a:r>
              <a:rPr sz="1410" i="1" dirty="0">
                <a:solidFill>
                  <a:srgbClr val="312E81"/>
                </a:solidFill>
                <a:latin typeface="Times New Roman" panose="02020603050405020304"/>
                <a:cs typeface="Times New Roman" panose="02020603050405020304"/>
              </a:rPr>
              <a:t>a</a:t>
            </a:r>
            <a:r>
              <a:rPr sz="1410" i="1" spc="55" dirty="0">
                <a:solidFill>
                  <a:srgbClr val="312E81"/>
                </a:solidFill>
                <a:latin typeface="Times New Roman" panose="02020603050405020304"/>
                <a:cs typeface="Times New Roman" panose="02020603050405020304"/>
              </a:rPr>
              <a:t> </a:t>
            </a:r>
            <a:r>
              <a:rPr sz="1410" spc="314" dirty="0">
                <a:solidFill>
                  <a:srgbClr val="312E81"/>
                </a:solidFill>
                <a:latin typeface="Cambria" panose="02040503050406030204"/>
                <a:cs typeface="Cambria" panose="02040503050406030204"/>
              </a:rPr>
              <a:t>=</a:t>
            </a:r>
            <a:r>
              <a:rPr sz="1410" spc="98" dirty="0">
                <a:solidFill>
                  <a:srgbClr val="312E81"/>
                </a:solidFill>
                <a:latin typeface="Cambria" panose="02040503050406030204"/>
                <a:cs typeface="Cambria" panose="02040503050406030204"/>
              </a:rPr>
              <a:t> </a:t>
            </a:r>
            <a:r>
              <a:rPr sz="1410" i="1" spc="188" dirty="0">
                <a:solidFill>
                  <a:srgbClr val="312E81"/>
                </a:solidFill>
                <a:latin typeface="Times New Roman" panose="02020603050405020304"/>
                <a:cs typeface="Times New Roman" panose="02020603050405020304"/>
              </a:rPr>
              <a:t>j</a:t>
            </a:r>
            <a:r>
              <a:rPr sz="1410" i="1" spc="122" dirty="0">
                <a:solidFill>
                  <a:srgbClr val="312E81"/>
                </a:solidFill>
                <a:latin typeface="Times New Roman" panose="02020603050405020304"/>
                <a:cs typeface="Times New Roman" panose="02020603050405020304"/>
              </a:rPr>
              <a:t> </a:t>
            </a:r>
            <a:r>
              <a:rPr sz="1410" dirty="0">
                <a:solidFill>
                  <a:srgbClr val="312E81"/>
                </a:solidFill>
                <a:latin typeface="Cambria" panose="02040503050406030204"/>
                <a:cs typeface="Cambria" panose="02040503050406030204"/>
              </a:rPr>
              <a:t>∣</a:t>
            </a:r>
            <a:r>
              <a:rPr sz="1410" spc="98" dirty="0">
                <a:solidFill>
                  <a:srgbClr val="312E81"/>
                </a:solidFill>
                <a:latin typeface="Cambria" panose="02040503050406030204"/>
                <a:cs typeface="Cambria" panose="02040503050406030204"/>
              </a:rPr>
              <a:t> </a:t>
            </a:r>
            <a:r>
              <a:rPr sz="1410" i="1" spc="47" dirty="0">
                <a:solidFill>
                  <a:srgbClr val="312E81"/>
                </a:solidFill>
                <a:latin typeface="Times New Roman" panose="02020603050405020304"/>
                <a:cs typeface="Times New Roman" panose="02020603050405020304"/>
              </a:rPr>
              <a:t>s</a:t>
            </a:r>
            <a:r>
              <a:rPr sz="1410" spc="47" dirty="0">
                <a:solidFill>
                  <a:srgbClr val="312E81"/>
                </a:solidFill>
                <a:latin typeface="Cambria" panose="02040503050406030204"/>
                <a:cs typeface="Cambria" panose="02040503050406030204"/>
              </a:rPr>
              <a:t>)</a:t>
            </a:r>
            <a:r>
              <a:rPr sz="1410" spc="59" dirty="0">
                <a:solidFill>
                  <a:srgbClr val="312E81"/>
                </a:solidFill>
                <a:latin typeface="Cambria" panose="02040503050406030204"/>
                <a:cs typeface="Cambria" panose="02040503050406030204"/>
              </a:rPr>
              <a:t> </a:t>
            </a:r>
            <a:r>
              <a:rPr sz="1410" spc="274" dirty="0">
                <a:solidFill>
                  <a:srgbClr val="312E81"/>
                </a:solidFill>
                <a:latin typeface="Cambria" panose="02040503050406030204"/>
                <a:cs typeface="Cambria" panose="02040503050406030204"/>
              </a:rPr>
              <a:t>=</a:t>
            </a:r>
            <a:endParaRPr sz="1410">
              <a:latin typeface="Cambria" panose="02040503050406030204"/>
              <a:cs typeface="Cambria" panose="02040503050406030204"/>
            </a:endParaRPr>
          </a:p>
        </p:txBody>
      </p:sp>
      <p:sp>
        <p:nvSpPr>
          <p:cNvPr id="25" name="object 25"/>
          <p:cNvSpPr txBox="1"/>
          <p:nvPr/>
        </p:nvSpPr>
        <p:spPr>
          <a:xfrm>
            <a:off x="7911390" y="1879452"/>
            <a:ext cx="209602" cy="227165"/>
          </a:xfrm>
          <a:prstGeom prst="rect">
            <a:avLst/>
          </a:prstGeom>
        </p:spPr>
        <p:txBody>
          <a:bodyPr vert="horz" wrap="square" lIns="0" tIns="9957" rIns="0" bIns="0" rtlCol="0">
            <a:spAutoFit/>
          </a:bodyPr>
          <a:lstStyle/>
          <a:p>
            <a:pPr marL="10160">
              <a:spcBef>
                <a:spcPts val="80"/>
              </a:spcBef>
            </a:pPr>
            <a:r>
              <a:rPr sz="1410" spc="435" dirty="0">
                <a:solidFill>
                  <a:srgbClr val="312E81"/>
                </a:solidFill>
                <a:latin typeface="Times New Roman" panose="02020603050405020304"/>
                <a:cs typeface="Times New Roman" panose="02020603050405020304"/>
              </a:rPr>
              <a:t>∑</a:t>
            </a:r>
            <a:endParaRPr sz="1410">
              <a:latin typeface="Times New Roman" panose="02020603050405020304"/>
              <a:cs typeface="Times New Roman" panose="02020603050405020304"/>
            </a:endParaRPr>
          </a:p>
        </p:txBody>
      </p:sp>
      <p:sp>
        <p:nvSpPr>
          <p:cNvPr id="26" name="object 26"/>
          <p:cNvSpPr txBox="1"/>
          <p:nvPr/>
        </p:nvSpPr>
        <p:spPr>
          <a:xfrm>
            <a:off x="8098090" y="1985572"/>
            <a:ext cx="431154" cy="161870"/>
          </a:xfrm>
          <a:prstGeom prst="rect">
            <a:avLst/>
          </a:prstGeom>
        </p:spPr>
        <p:txBody>
          <a:bodyPr vert="horz" wrap="square" lIns="0" tIns="10953" rIns="0" bIns="0" rtlCol="0">
            <a:spAutoFit/>
          </a:bodyPr>
          <a:lstStyle/>
          <a:p>
            <a:pPr marL="10160">
              <a:spcBef>
                <a:spcPts val="85"/>
              </a:spcBef>
            </a:pPr>
            <a:r>
              <a:rPr sz="980" i="1" spc="67" dirty="0">
                <a:solidFill>
                  <a:srgbClr val="312E81"/>
                </a:solidFill>
                <a:latin typeface="Times New Roman" panose="02020603050405020304"/>
                <a:cs typeface="Times New Roman" panose="02020603050405020304"/>
              </a:rPr>
              <a:t>k</a:t>
            </a:r>
            <a:r>
              <a:rPr sz="980" spc="67" dirty="0">
                <a:solidFill>
                  <a:srgbClr val="312E81"/>
                </a:solidFill>
                <a:latin typeface="Cambria" panose="02040503050406030204"/>
                <a:cs typeface="Cambria" panose="02040503050406030204"/>
              </a:rPr>
              <a:t>∈</a:t>
            </a:r>
            <a:r>
              <a:rPr sz="980" i="1" spc="67" dirty="0">
                <a:solidFill>
                  <a:srgbClr val="312E81"/>
                </a:solidFill>
                <a:latin typeface="Times New Roman" panose="02020603050405020304"/>
                <a:cs typeface="Times New Roman" panose="02020603050405020304"/>
              </a:rPr>
              <a:t>A</a:t>
            </a:r>
            <a:r>
              <a:rPr sz="980" spc="67" dirty="0">
                <a:solidFill>
                  <a:srgbClr val="312E81"/>
                </a:solidFill>
                <a:latin typeface="Cambria" panose="02040503050406030204"/>
                <a:cs typeface="Cambria" panose="02040503050406030204"/>
              </a:rPr>
              <a:t>(</a:t>
            </a:r>
            <a:r>
              <a:rPr sz="980" i="1" spc="67" dirty="0">
                <a:solidFill>
                  <a:srgbClr val="312E81"/>
                </a:solidFill>
                <a:latin typeface="Times New Roman" panose="02020603050405020304"/>
                <a:cs typeface="Times New Roman" panose="02020603050405020304"/>
              </a:rPr>
              <a:t>s</a:t>
            </a:r>
            <a:r>
              <a:rPr sz="980" spc="67" dirty="0">
                <a:solidFill>
                  <a:srgbClr val="312E81"/>
                </a:solidFill>
                <a:latin typeface="Cambria" panose="02040503050406030204"/>
                <a:cs typeface="Cambria" panose="02040503050406030204"/>
              </a:rPr>
              <a:t>)</a:t>
            </a:r>
            <a:endParaRPr sz="980">
              <a:latin typeface="Cambria" panose="02040503050406030204"/>
              <a:cs typeface="Cambria" panose="02040503050406030204"/>
            </a:endParaRPr>
          </a:p>
        </p:txBody>
      </p:sp>
      <p:sp>
        <p:nvSpPr>
          <p:cNvPr id="27" name="object 27"/>
          <p:cNvSpPr txBox="1"/>
          <p:nvPr/>
        </p:nvSpPr>
        <p:spPr>
          <a:xfrm>
            <a:off x="8531507" y="1879452"/>
            <a:ext cx="635280" cy="227165"/>
          </a:xfrm>
          <a:prstGeom prst="rect">
            <a:avLst/>
          </a:prstGeom>
        </p:spPr>
        <p:txBody>
          <a:bodyPr vert="horz" wrap="square" lIns="0" tIns="9957" rIns="0" bIns="0" rtlCol="0">
            <a:spAutoFit/>
          </a:bodyPr>
          <a:lstStyle/>
          <a:p>
            <a:pPr marL="29845">
              <a:spcBef>
                <a:spcPts val="80"/>
              </a:spcBef>
            </a:pPr>
            <a:r>
              <a:rPr sz="1410" spc="16" dirty="0">
                <a:solidFill>
                  <a:srgbClr val="312E81"/>
                </a:solidFill>
                <a:latin typeface="Cambria" panose="02040503050406030204"/>
                <a:cs typeface="Cambria" panose="02040503050406030204"/>
              </a:rPr>
              <a:t>exp(</a:t>
            </a:r>
            <a:r>
              <a:rPr sz="1410" i="1" spc="16" dirty="0">
                <a:solidFill>
                  <a:srgbClr val="312E81"/>
                </a:solidFill>
                <a:latin typeface="Times New Roman" panose="02020603050405020304"/>
                <a:cs typeface="Times New Roman" panose="02020603050405020304"/>
              </a:rPr>
              <a:t>z</a:t>
            </a:r>
            <a:r>
              <a:rPr sz="1470" i="1" spc="24" baseline="-11000" dirty="0">
                <a:solidFill>
                  <a:srgbClr val="312E81"/>
                </a:solidFill>
                <a:latin typeface="Times New Roman" panose="02020603050405020304"/>
                <a:cs typeface="Times New Roman" panose="02020603050405020304"/>
              </a:rPr>
              <a:t>k</a:t>
            </a:r>
            <a:r>
              <a:rPr sz="1470" i="1" spc="-100" baseline="-11000" dirty="0">
                <a:solidFill>
                  <a:srgbClr val="312E81"/>
                </a:solidFill>
                <a:latin typeface="Times New Roman" panose="02020603050405020304"/>
                <a:cs typeface="Times New Roman" panose="02020603050405020304"/>
              </a:rPr>
              <a:t> </a:t>
            </a:r>
            <a:r>
              <a:rPr sz="1410" spc="-39" dirty="0">
                <a:solidFill>
                  <a:srgbClr val="312E81"/>
                </a:solidFill>
                <a:latin typeface="Cambria" panose="02040503050406030204"/>
                <a:cs typeface="Cambria" panose="02040503050406030204"/>
              </a:rPr>
              <a:t>)</a:t>
            </a:r>
            <a:endParaRPr sz="1410">
              <a:latin typeface="Cambria" panose="02040503050406030204"/>
              <a:cs typeface="Cambria" panose="02040503050406030204"/>
            </a:endParaRPr>
          </a:p>
        </p:txBody>
      </p:sp>
      <p:sp>
        <p:nvSpPr>
          <p:cNvPr id="28" name="object 28"/>
          <p:cNvSpPr/>
          <p:nvPr/>
        </p:nvSpPr>
        <p:spPr>
          <a:xfrm>
            <a:off x="7918197" y="1896877"/>
            <a:ext cx="1217287" cy="7468"/>
          </a:xfrm>
          <a:custGeom>
            <a:avLst/>
            <a:gdLst/>
            <a:ahLst/>
            <a:cxnLst/>
            <a:rect l="l" t="t" r="r" b="b"/>
            <a:pathLst>
              <a:path w="1552575" h="9525">
                <a:moveTo>
                  <a:pt x="1552574" y="9524"/>
                </a:moveTo>
                <a:lnTo>
                  <a:pt x="0" y="9524"/>
                </a:lnTo>
                <a:lnTo>
                  <a:pt x="0" y="0"/>
                </a:lnTo>
                <a:lnTo>
                  <a:pt x="1552574" y="0"/>
                </a:lnTo>
                <a:lnTo>
                  <a:pt x="1552574" y="9524"/>
                </a:lnTo>
                <a:close/>
              </a:path>
            </a:pathLst>
          </a:custGeom>
          <a:solidFill>
            <a:srgbClr val="312E81"/>
          </a:solidFill>
        </p:spPr>
        <p:txBody>
          <a:bodyPr wrap="square" lIns="0" tIns="0" rIns="0" bIns="0" rtlCol="0"/>
          <a:lstStyle/>
          <a:p/>
        </p:txBody>
      </p:sp>
      <p:sp>
        <p:nvSpPr>
          <p:cNvPr id="29" name="object 29"/>
          <p:cNvSpPr txBox="1"/>
          <p:nvPr/>
        </p:nvSpPr>
        <p:spPr>
          <a:xfrm>
            <a:off x="8217267" y="1633007"/>
            <a:ext cx="623829" cy="227165"/>
          </a:xfrm>
          <a:prstGeom prst="rect">
            <a:avLst/>
          </a:prstGeom>
        </p:spPr>
        <p:txBody>
          <a:bodyPr vert="horz" wrap="square" lIns="0" tIns="9957" rIns="0" bIns="0" rtlCol="0">
            <a:spAutoFit/>
          </a:bodyPr>
          <a:lstStyle/>
          <a:p>
            <a:pPr marL="29845">
              <a:spcBef>
                <a:spcPts val="80"/>
              </a:spcBef>
            </a:pPr>
            <a:r>
              <a:rPr sz="1410" spc="16" dirty="0">
                <a:solidFill>
                  <a:srgbClr val="312E81"/>
                </a:solidFill>
                <a:latin typeface="Cambria" panose="02040503050406030204"/>
                <a:cs typeface="Cambria" panose="02040503050406030204"/>
              </a:rPr>
              <a:t>exp(</a:t>
            </a:r>
            <a:r>
              <a:rPr sz="1410" i="1" spc="16" dirty="0">
                <a:solidFill>
                  <a:srgbClr val="312E81"/>
                </a:solidFill>
                <a:latin typeface="Times New Roman" panose="02020603050405020304"/>
                <a:cs typeface="Times New Roman" panose="02020603050405020304"/>
              </a:rPr>
              <a:t>z</a:t>
            </a:r>
            <a:r>
              <a:rPr sz="1470" i="1" spc="24" baseline="-13000" dirty="0">
                <a:solidFill>
                  <a:srgbClr val="312E81"/>
                </a:solidFill>
                <a:latin typeface="Times New Roman" panose="02020603050405020304"/>
                <a:cs typeface="Times New Roman" panose="02020603050405020304"/>
              </a:rPr>
              <a:t>j</a:t>
            </a:r>
            <a:r>
              <a:rPr sz="1470" i="1" spc="-5" baseline="-13000" dirty="0">
                <a:solidFill>
                  <a:srgbClr val="312E81"/>
                </a:solidFill>
                <a:latin typeface="Times New Roman" panose="02020603050405020304"/>
                <a:cs typeface="Times New Roman" panose="02020603050405020304"/>
              </a:rPr>
              <a:t> </a:t>
            </a:r>
            <a:r>
              <a:rPr sz="1410" spc="-39" dirty="0">
                <a:solidFill>
                  <a:srgbClr val="312E81"/>
                </a:solidFill>
                <a:latin typeface="Cambria" panose="02040503050406030204"/>
                <a:cs typeface="Cambria" panose="02040503050406030204"/>
              </a:rPr>
              <a:t>)</a:t>
            </a:r>
            <a:endParaRPr sz="1410">
              <a:latin typeface="Cambria" panose="02040503050406030204"/>
              <a:cs typeface="Cambria" panose="02040503050406030204"/>
            </a:endParaRPr>
          </a:p>
        </p:txBody>
      </p:sp>
      <p:sp>
        <p:nvSpPr>
          <p:cNvPr id="30" name="object 30"/>
          <p:cNvSpPr txBox="1"/>
          <p:nvPr/>
        </p:nvSpPr>
        <p:spPr>
          <a:xfrm>
            <a:off x="9145713" y="1754362"/>
            <a:ext cx="938979" cy="227165"/>
          </a:xfrm>
          <a:prstGeom prst="rect">
            <a:avLst/>
          </a:prstGeom>
        </p:spPr>
        <p:txBody>
          <a:bodyPr vert="horz" wrap="square" lIns="0" tIns="9957" rIns="0" bIns="0" rtlCol="0">
            <a:spAutoFit/>
          </a:bodyPr>
          <a:lstStyle/>
          <a:p>
            <a:pPr marL="10160">
              <a:spcBef>
                <a:spcPts val="80"/>
              </a:spcBef>
              <a:tabLst>
                <a:tab pos="270510" algn="l"/>
              </a:tabLst>
            </a:pPr>
            <a:r>
              <a:rPr sz="1410" spc="55" dirty="0">
                <a:solidFill>
                  <a:srgbClr val="312E81"/>
                </a:solidFill>
                <a:latin typeface="Cambria" panose="02040503050406030204"/>
                <a:cs typeface="Cambria" panose="02040503050406030204"/>
              </a:rPr>
              <a:t>,</a:t>
            </a:r>
            <a:r>
              <a:rPr sz="1410" dirty="0">
                <a:solidFill>
                  <a:srgbClr val="312E81"/>
                </a:solidFill>
                <a:latin typeface="Cambria" panose="02040503050406030204"/>
                <a:cs typeface="Cambria" panose="02040503050406030204"/>
              </a:rPr>
              <a:t>	</a:t>
            </a:r>
            <a:r>
              <a:rPr sz="1410" i="1" spc="188" dirty="0">
                <a:solidFill>
                  <a:srgbClr val="312E81"/>
                </a:solidFill>
                <a:latin typeface="Times New Roman" panose="02020603050405020304"/>
                <a:cs typeface="Times New Roman" panose="02020603050405020304"/>
              </a:rPr>
              <a:t>j</a:t>
            </a:r>
            <a:r>
              <a:rPr sz="1410" i="1" spc="122" dirty="0">
                <a:solidFill>
                  <a:srgbClr val="312E81"/>
                </a:solidFill>
                <a:latin typeface="Times New Roman" panose="02020603050405020304"/>
                <a:cs typeface="Times New Roman" panose="02020603050405020304"/>
              </a:rPr>
              <a:t> </a:t>
            </a:r>
            <a:r>
              <a:rPr sz="1410" spc="51" dirty="0">
                <a:solidFill>
                  <a:srgbClr val="312E81"/>
                </a:solidFill>
                <a:latin typeface="Cambria" panose="02040503050406030204"/>
                <a:cs typeface="Cambria" panose="02040503050406030204"/>
              </a:rPr>
              <a:t>∈</a:t>
            </a:r>
            <a:r>
              <a:rPr sz="1410" spc="78" dirty="0">
                <a:solidFill>
                  <a:srgbClr val="312E81"/>
                </a:solidFill>
                <a:latin typeface="Cambria" panose="02040503050406030204"/>
                <a:cs typeface="Cambria" panose="02040503050406030204"/>
              </a:rPr>
              <a:t> </a:t>
            </a:r>
            <a:r>
              <a:rPr sz="1410" i="1" spc="51" dirty="0">
                <a:solidFill>
                  <a:srgbClr val="312E81"/>
                </a:solidFill>
                <a:latin typeface="Times New Roman" panose="02020603050405020304"/>
                <a:cs typeface="Times New Roman" panose="02020603050405020304"/>
              </a:rPr>
              <a:t>A</a:t>
            </a:r>
            <a:r>
              <a:rPr sz="1410" spc="51" dirty="0">
                <a:solidFill>
                  <a:srgbClr val="312E81"/>
                </a:solidFill>
                <a:latin typeface="Cambria" panose="02040503050406030204"/>
                <a:cs typeface="Cambria" panose="02040503050406030204"/>
              </a:rPr>
              <a:t>(</a:t>
            </a:r>
            <a:r>
              <a:rPr sz="1410" i="1" spc="51" dirty="0">
                <a:solidFill>
                  <a:srgbClr val="312E81"/>
                </a:solidFill>
                <a:latin typeface="Times New Roman" panose="02020603050405020304"/>
                <a:cs typeface="Times New Roman" panose="02020603050405020304"/>
              </a:rPr>
              <a:t>s</a:t>
            </a:r>
            <a:r>
              <a:rPr sz="1410" spc="51" dirty="0">
                <a:solidFill>
                  <a:srgbClr val="312E81"/>
                </a:solidFill>
                <a:latin typeface="Cambria" panose="02040503050406030204"/>
                <a:cs typeface="Cambria" panose="02040503050406030204"/>
              </a:rPr>
              <a:t>)</a:t>
            </a:r>
            <a:endParaRPr sz="1410">
              <a:latin typeface="Cambria" panose="02040503050406030204"/>
              <a:cs typeface="Cambria" panose="02040503050406030204"/>
            </a:endParaRPr>
          </a:p>
        </p:txBody>
      </p:sp>
      <p:sp>
        <p:nvSpPr>
          <p:cNvPr id="31" name="object 31"/>
          <p:cNvSpPr txBox="1"/>
          <p:nvPr/>
        </p:nvSpPr>
        <p:spPr>
          <a:xfrm>
            <a:off x="7879300" y="3709117"/>
            <a:ext cx="164296" cy="227165"/>
          </a:xfrm>
          <a:prstGeom prst="rect">
            <a:avLst/>
          </a:prstGeom>
        </p:spPr>
        <p:txBody>
          <a:bodyPr vert="horz" wrap="square" lIns="0" tIns="9957" rIns="0" bIns="0" rtlCol="0">
            <a:spAutoFit/>
          </a:bodyPr>
          <a:lstStyle/>
          <a:p>
            <a:pPr marL="10160">
              <a:spcBef>
                <a:spcPts val="80"/>
              </a:spcBef>
            </a:pPr>
            <a:r>
              <a:rPr sz="1410" i="1" spc="149" dirty="0">
                <a:solidFill>
                  <a:srgbClr val="FFFFFF"/>
                </a:solidFill>
                <a:latin typeface="Times New Roman" panose="02020603050405020304"/>
                <a:cs typeface="Times New Roman" panose="02020603050405020304"/>
              </a:rPr>
              <a:t>N</a:t>
            </a:r>
            <a:endParaRPr sz="1410">
              <a:latin typeface="Times New Roman" panose="02020603050405020304"/>
              <a:cs typeface="Times New Roman" panose="02020603050405020304"/>
            </a:endParaRPr>
          </a:p>
        </p:txBody>
      </p:sp>
      <p:sp>
        <p:nvSpPr>
          <p:cNvPr id="32" name="object 32"/>
          <p:cNvSpPr txBox="1"/>
          <p:nvPr/>
        </p:nvSpPr>
        <p:spPr>
          <a:xfrm>
            <a:off x="7113750" y="3589628"/>
            <a:ext cx="931013" cy="227293"/>
          </a:xfrm>
          <a:prstGeom prst="rect">
            <a:avLst/>
          </a:prstGeom>
        </p:spPr>
        <p:txBody>
          <a:bodyPr vert="horz" wrap="square" lIns="0" tIns="9957" rIns="0" bIns="0" rtlCol="0">
            <a:spAutoFit/>
          </a:bodyPr>
          <a:lstStyle/>
          <a:p>
            <a:pPr marL="29845">
              <a:spcBef>
                <a:spcPts val="80"/>
              </a:spcBef>
            </a:pPr>
            <a:r>
              <a:rPr sz="1410" i="1" dirty="0">
                <a:solidFill>
                  <a:srgbClr val="FFFFFF"/>
                </a:solidFill>
                <a:latin typeface="Times New Roman" panose="02020603050405020304"/>
                <a:cs typeface="Times New Roman" panose="02020603050405020304"/>
              </a:rPr>
              <a:t>L</a:t>
            </a:r>
            <a:r>
              <a:rPr sz="1410" dirty="0">
                <a:solidFill>
                  <a:srgbClr val="FFFFFF"/>
                </a:solidFill>
                <a:latin typeface="Cambria" panose="02040503050406030204"/>
                <a:cs typeface="Cambria" panose="02040503050406030204"/>
              </a:rPr>
              <a:t>(</a:t>
            </a:r>
            <a:r>
              <a:rPr sz="1410" i="1" dirty="0">
                <a:solidFill>
                  <a:srgbClr val="FFFFFF"/>
                </a:solidFill>
                <a:latin typeface="Times New Roman" panose="02020603050405020304"/>
                <a:cs typeface="Times New Roman" panose="02020603050405020304"/>
              </a:rPr>
              <a:t>θ</a:t>
            </a:r>
            <a:r>
              <a:rPr sz="1410" dirty="0">
                <a:solidFill>
                  <a:srgbClr val="FFFFFF"/>
                </a:solidFill>
                <a:latin typeface="Cambria" panose="02040503050406030204"/>
                <a:cs typeface="Cambria" panose="02040503050406030204"/>
              </a:rPr>
              <a:t>)</a:t>
            </a:r>
            <a:r>
              <a:rPr sz="1410" spc="98" dirty="0">
                <a:solidFill>
                  <a:srgbClr val="FFFFFF"/>
                </a:solidFill>
                <a:latin typeface="Cambria" panose="02040503050406030204"/>
                <a:cs typeface="Cambria" panose="02040503050406030204"/>
              </a:rPr>
              <a:t> </a:t>
            </a:r>
            <a:r>
              <a:rPr sz="1410" spc="314" dirty="0">
                <a:solidFill>
                  <a:srgbClr val="FFFFFF"/>
                </a:solidFill>
                <a:latin typeface="Cambria" panose="02040503050406030204"/>
                <a:cs typeface="Cambria" panose="02040503050406030204"/>
              </a:rPr>
              <a:t>=</a:t>
            </a:r>
            <a:r>
              <a:rPr sz="1410" spc="141" dirty="0">
                <a:solidFill>
                  <a:srgbClr val="FFFFFF"/>
                </a:solidFill>
                <a:latin typeface="Cambria" panose="02040503050406030204"/>
                <a:cs typeface="Cambria" panose="02040503050406030204"/>
              </a:rPr>
              <a:t> </a:t>
            </a:r>
            <a:r>
              <a:rPr sz="1410" spc="314" dirty="0">
                <a:solidFill>
                  <a:srgbClr val="FFFFFF"/>
                </a:solidFill>
                <a:latin typeface="Cambria" panose="02040503050406030204"/>
                <a:cs typeface="Cambria" panose="02040503050406030204"/>
              </a:rPr>
              <a:t>−</a:t>
            </a:r>
            <a:r>
              <a:rPr sz="1410" spc="-114" dirty="0">
                <a:solidFill>
                  <a:srgbClr val="FFFFFF"/>
                </a:solidFill>
                <a:latin typeface="Cambria" panose="02040503050406030204"/>
                <a:cs typeface="Cambria" panose="02040503050406030204"/>
              </a:rPr>
              <a:t> </a:t>
            </a:r>
            <a:r>
              <a:rPr sz="2115" u="sng" spc="-118" baseline="37000" dirty="0">
                <a:solidFill>
                  <a:srgbClr val="FFFFFF"/>
                </a:solidFill>
                <a:uFill>
                  <a:solidFill>
                    <a:srgbClr val="FFFFFF"/>
                  </a:solidFill>
                </a:uFill>
                <a:latin typeface="Cambria" panose="02040503050406030204"/>
                <a:cs typeface="Cambria" panose="02040503050406030204"/>
              </a:rPr>
              <a:t> </a:t>
            </a:r>
            <a:r>
              <a:rPr sz="2115" u="sng" spc="-59" baseline="37000" dirty="0">
                <a:solidFill>
                  <a:srgbClr val="FFFFFF"/>
                </a:solidFill>
                <a:uFill>
                  <a:solidFill>
                    <a:srgbClr val="FFFFFF"/>
                  </a:solidFill>
                </a:uFill>
                <a:latin typeface="Cambria" panose="02040503050406030204"/>
                <a:cs typeface="Cambria" panose="02040503050406030204"/>
              </a:rPr>
              <a:t>1</a:t>
            </a:r>
            <a:endParaRPr sz="2115" baseline="37000">
              <a:latin typeface="Cambria" panose="02040503050406030204"/>
              <a:cs typeface="Cambria" panose="02040503050406030204"/>
            </a:endParaRPr>
          </a:p>
        </p:txBody>
      </p:sp>
      <p:sp>
        <p:nvSpPr>
          <p:cNvPr id="33" name="object 33"/>
          <p:cNvSpPr txBox="1"/>
          <p:nvPr/>
        </p:nvSpPr>
        <p:spPr>
          <a:xfrm>
            <a:off x="8072108" y="3499851"/>
            <a:ext cx="1579237" cy="532588"/>
          </a:xfrm>
          <a:prstGeom prst="rect">
            <a:avLst/>
          </a:prstGeom>
        </p:spPr>
        <p:txBody>
          <a:bodyPr vert="horz" wrap="square" lIns="0" tIns="99574" rIns="0" bIns="0" rtlCol="0">
            <a:spAutoFit/>
          </a:bodyPr>
          <a:lstStyle/>
          <a:p>
            <a:pPr marL="151130">
              <a:spcBef>
                <a:spcPts val="785"/>
              </a:spcBef>
              <a:tabLst>
                <a:tab pos="564515" algn="l"/>
              </a:tabLst>
            </a:pPr>
            <a:r>
              <a:rPr sz="1410" spc="980" dirty="0">
                <a:solidFill>
                  <a:srgbClr val="FFFFFF"/>
                </a:solidFill>
                <a:latin typeface="Arial" panose="020B0604020202020204"/>
                <a:cs typeface="Arial" panose="020B0604020202020204"/>
              </a:rPr>
              <a:t>∑</a:t>
            </a:r>
            <a:r>
              <a:rPr sz="1410" dirty="0">
                <a:solidFill>
                  <a:srgbClr val="FFFFFF"/>
                </a:solidFill>
                <a:latin typeface="Arial" panose="020B0604020202020204"/>
                <a:cs typeface="Arial" panose="020B0604020202020204"/>
              </a:rPr>
              <a:t>	</a:t>
            </a:r>
            <a:r>
              <a:rPr sz="1410" dirty="0">
                <a:solidFill>
                  <a:srgbClr val="FFFFFF"/>
                </a:solidFill>
                <a:latin typeface="Cambria" panose="02040503050406030204"/>
                <a:cs typeface="Cambria" panose="02040503050406030204"/>
              </a:rPr>
              <a:t>log</a:t>
            </a:r>
            <a:r>
              <a:rPr sz="1410" spc="-67" dirty="0">
                <a:solidFill>
                  <a:srgbClr val="FFFFFF"/>
                </a:solidFill>
                <a:latin typeface="Cambria" panose="02040503050406030204"/>
                <a:cs typeface="Cambria" panose="02040503050406030204"/>
              </a:rPr>
              <a:t> </a:t>
            </a:r>
            <a:r>
              <a:rPr sz="1410" i="1" spc="47" dirty="0">
                <a:solidFill>
                  <a:srgbClr val="FFFFFF"/>
                </a:solidFill>
                <a:latin typeface="Times New Roman" panose="02020603050405020304"/>
                <a:cs typeface="Times New Roman" panose="02020603050405020304"/>
              </a:rPr>
              <a:t>π</a:t>
            </a:r>
            <a:r>
              <a:rPr sz="1470" i="1" spc="70" baseline="-11000" dirty="0">
                <a:solidFill>
                  <a:srgbClr val="FFFFFF"/>
                </a:solidFill>
                <a:latin typeface="Times New Roman" panose="02020603050405020304"/>
                <a:cs typeface="Times New Roman" panose="02020603050405020304"/>
              </a:rPr>
              <a:t>θ</a:t>
            </a:r>
            <a:r>
              <a:rPr sz="1470" i="1" spc="-212" baseline="-11000" dirty="0">
                <a:solidFill>
                  <a:srgbClr val="FFFFFF"/>
                </a:solidFill>
                <a:latin typeface="Times New Roman" panose="02020603050405020304"/>
                <a:cs typeface="Times New Roman" panose="02020603050405020304"/>
              </a:rPr>
              <a:t> </a:t>
            </a:r>
            <a:r>
              <a:rPr sz="1410" dirty="0">
                <a:solidFill>
                  <a:srgbClr val="FFFFFF"/>
                </a:solidFill>
                <a:latin typeface="Cambria" panose="02040503050406030204"/>
                <a:cs typeface="Cambria" panose="02040503050406030204"/>
              </a:rPr>
              <a:t>(</a:t>
            </a:r>
            <a:r>
              <a:rPr sz="1410" i="1" dirty="0">
                <a:solidFill>
                  <a:srgbClr val="FFFFFF"/>
                </a:solidFill>
                <a:latin typeface="Times New Roman" panose="02020603050405020304"/>
                <a:cs typeface="Times New Roman" panose="02020603050405020304"/>
              </a:rPr>
              <a:t>a</a:t>
            </a:r>
            <a:r>
              <a:rPr sz="1470" baseline="33000" dirty="0">
                <a:solidFill>
                  <a:srgbClr val="FFFFFF"/>
                </a:solidFill>
                <a:latin typeface="Cambria" panose="02040503050406030204"/>
                <a:cs typeface="Cambria" panose="02040503050406030204"/>
              </a:rPr>
              <a:t>⋆</a:t>
            </a:r>
            <a:r>
              <a:rPr sz="1470" spc="405" baseline="33000" dirty="0">
                <a:solidFill>
                  <a:srgbClr val="FFFFFF"/>
                </a:solidFill>
                <a:latin typeface="Cambria" panose="02040503050406030204"/>
                <a:cs typeface="Cambria" panose="02040503050406030204"/>
              </a:rPr>
              <a:t> </a:t>
            </a:r>
            <a:r>
              <a:rPr sz="1410" dirty="0">
                <a:solidFill>
                  <a:srgbClr val="FFFFFF"/>
                </a:solidFill>
                <a:latin typeface="Cambria" panose="02040503050406030204"/>
                <a:cs typeface="Cambria" panose="02040503050406030204"/>
              </a:rPr>
              <a:t>∣</a:t>
            </a:r>
            <a:r>
              <a:rPr sz="1410" spc="89" dirty="0">
                <a:solidFill>
                  <a:srgbClr val="FFFFFF"/>
                </a:solidFill>
                <a:latin typeface="Cambria" panose="02040503050406030204"/>
                <a:cs typeface="Cambria" panose="02040503050406030204"/>
              </a:rPr>
              <a:t> </a:t>
            </a:r>
            <a:r>
              <a:rPr sz="1410" i="1" spc="20" dirty="0">
                <a:solidFill>
                  <a:srgbClr val="FFFFFF"/>
                </a:solidFill>
                <a:latin typeface="Times New Roman" panose="02020603050405020304"/>
                <a:cs typeface="Times New Roman" panose="02020603050405020304"/>
              </a:rPr>
              <a:t>s</a:t>
            </a:r>
            <a:r>
              <a:rPr sz="1410" spc="20" dirty="0">
                <a:solidFill>
                  <a:srgbClr val="FFFFFF"/>
                </a:solidFill>
                <a:latin typeface="Cambria" panose="02040503050406030204"/>
                <a:cs typeface="Cambria" panose="02040503050406030204"/>
              </a:rPr>
              <a:t>)</a:t>
            </a:r>
            <a:endParaRPr sz="1410">
              <a:latin typeface="Cambria" panose="02040503050406030204"/>
              <a:cs typeface="Cambria" panose="02040503050406030204"/>
            </a:endParaRPr>
          </a:p>
          <a:p>
            <a:pPr marL="29845">
              <a:spcBef>
                <a:spcPts val="500"/>
              </a:spcBef>
            </a:pPr>
            <a:r>
              <a:rPr sz="980" spc="35" dirty="0">
                <a:solidFill>
                  <a:srgbClr val="FFFFFF"/>
                </a:solidFill>
                <a:latin typeface="Cambria" panose="02040503050406030204"/>
                <a:cs typeface="Cambria" panose="02040503050406030204"/>
              </a:rPr>
              <a:t>(</a:t>
            </a:r>
            <a:r>
              <a:rPr sz="980" i="1" spc="35" dirty="0">
                <a:solidFill>
                  <a:srgbClr val="FFFFFF"/>
                </a:solidFill>
                <a:latin typeface="Times New Roman" panose="02020603050405020304"/>
                <a:cs typeface="Times New Roman" panose="02020603050405020304"/>
              </a:rPr>
              <a:t>s</a:t>
            </a:r>
            <a:r>
              <a:rPr sz="980" spc="35" dirty="0">
                <a:solidFill>
                  <a:srgbClr val="FFFFFF"/>
                </a:solidFill>
                <a:latin typeface="Cambria" panose="02040503050406030204"/>
                <a:cs typeface="Cambria" panose="02040503050406030204"/>
              </a:rPr>
              <a:t>,</a:t>
            </a:r>
            <a:r>
              <a:rPr sz="980" i="1" spc="35" dirty="0">
                <a:solidFill>
                  <a:srgbClr val="FFFFFF"/>
                </a:solidFill>
                <a:latin typeface="Times New Roman" panose="02020603050405020304"/>
                <a:cs typeface="Times New Roman" panose="02020603050405020304"/>
              </a:rPr>
              <a:t>a</a:t>
            </a:r>
            <a:r>
              <a:rPr sz="1060" spc="53" baseline="22000" dirty="0">
                <a:solidFill>
                  <a:srgbClr val="FFFFFF"/>
                </a:solidFill>
                <a:latin typeface="Cambria" panose="02040503050406030204"/>
                <a:cs typeface="Cambria" panose="02040503050406030204"/>
              </a:rPr>
              <a:t>⋆</a:t>
            </a:r>
            <a:r>
              <a:rPr sz="980" spc="35" dirty="0">
                <a:solidFill>
                  <a:srgbClr val="FFFFFF"/>
                </a:solidFill>
                <a:latin typeface="Cambria" panose="02040503050406030204"/>
                <a:cs typeface="Cambria" panose="02040503050406030204"/>
              </a:rPr>
              <a:t>)∈</a:t>
            </a:r>
            <a:r>
              <a:rPr sz="980" spc="35" dirty="0">
                <a:solidFill>
                  <a:srgbClr val="FFFFFF"/>
                </a:solidFill>
                <a:latin typeface="Verdana" panose="020B0604030504040204"/>
                <a:cs typeface="Verdana" panose="020B0604030504040204"/>
              </a:rPr>
              <a:t>D</a:t>
            </a:r>
            <a:endParaRPr sz="980">
              <a:latin typeface="Verdana" panose="020B0604030504040204"/>
              <a:cs typeface="Verdana" panose="020B0604030504040204"/>
            </a:endParaRPr>
          </a:p>
        </p:txBody>
      </p:sp>
      <p:sp>
        <p:nvSpPr>
          <p:cNvPr id="34" name="object 34"/>
          <p:cNvSpPr txBox="1"/>
          <p:nvPr/>
        </p:nvSpPr>
        <p:spPr>
          <a:xfrm>
            <a:off x="7110912" y="4396174"/>
            <a:ext cx="2540620" cy="118674"/>
          </a:xfrm>
          <a:prstGeom prst="rect">
            <a:avLst/>
          </a:prstGeom>
        </p:spPr>
        <p:txBody>
          <a:bodyPr vert="horz" wrap="square" lIns="0" tIns="9957" rIns="0" bIns="0" rtlCol="0">
            <a:spAutoFit/>
          </a:bodyPr>
          <a:lstStyle/>
          <a:p>
            <a:pPr marL="10160">
              <a:spcBef>
                <a:spcPts val="80"/>
              </a:spcBef>
            </a:pPr>
            <a:r>
              <a:rPr sz="705" i="1" dirty="0">
                <a:solidFill>
                  <a:srgbClr val="A5B4FB"/>
                </a:solidFill>
                <a:latin typeface="Times New Roman" panose="02020603050405020304"/>
                <a:cs typeface="Times New Roman" panose="02020603050405020304"/>
              </a:rPr>
              <a:t>Equation</a:t>
            </a:r>
            <a:r>
              <a:rPr sz="705" i="1" spc="-20" dirty="0">
                <a:solidFill>
                  <a:srgbClr val="A5B4FB"/>
                </a:solidFill>
                <a:latin typeface="Times New Roman" panose="02020603050405020304"/>
                <a:cs typeface="Times New Roman" panose="02020603050405020304"/>
              </a:rPr>
              <a:t> </a:t>
            </a:r>
            <a:r>
              <a:rPr sz="705" i="1" dirty="0">
                <a:solidFill>
                  <a:srgbClr val="A5B4FB"/>
                </a:solidFill>
                <a:latin typeface="Times New Roman" panose="02020603050405020304"/>
                <a:cs typeface="Times New Roman" panose="02020603050405020304"/>
              </a:rPr>
              <a:t>(3):</a:t>
            </a:r>
            <a:r>
              <a:rPr sz="705" i="1" spc="-12" dirty="0">
                <a:solidFill>
                  <a:srgbClr val="A5B4FB"/>
                </a:solidFill>
                <a:latin typeface="Times New Roman" panose="02020603050405020304"/>
                <a:cs typeface="Times New Roman" panose="02020603050405020304"/>
              </a:rPr>
              <a:t> </a:t>
            </a:r>
            <a:r>
              <a:rPr sz="705" i="1" dirty="0">
                <a:solidFill>
                  <a:srgbClr val="A5B4FB"/>
                </a:solidFill>
                <a:latin typeface="Times New Roman" panose="02020603050405020304"/>
                <a:cs typeface="Times New Roman" panose="02020603050405020304"/>
              </a:rPr>
              <a:t>Standard</a:t>
            </a:r>
            <a:r>
              <a:rPr sz="705" i="1" spc="-12" dirty="0">
                <a:solidFill>
                  <a:srgbClr val="A5B4FB"/>
                </a:solidFill>
                <a:latin typeface="Times New Roman" panose="02020603050405020304"/>
                <a:cs typeface="Times New Roman" panose="02020603050405020304"/>
              </a:rPr>
              <a:t> </a:t>
            </a:r>
            <a:r>
              <a:rPr sz="705" i="1" dirty="0">
                <a:solidFill>
                  <a:srgbClr val="A5B4FB"/>
                </a:solidFill>
                <a:latin typeface="Times New Roman" panose="02020603050405020304"/>
                <a:cs typeface="Times New Roman" panose="02020603050405020304"/>
              </a:rPr>
              <a:t>classification</a:t>
            </a:r>
            <a:r>
              <a:rPr sz="705" i="1" spc="-16" dirty="0">
                <a:solidFill>
                  <a:srgbClr val="A5B4FB"/>
                </a:solidFill>
                <a:latin typeface="Times New Roman" panose="02020603050405020304"/>
                <a:cs typeface="Times New Roman" panose="02020603050405020304"/>
              </a:rPr>
              <a:t> </a:t>
            </a:r>
            <a:r>
              <a:rPr sz="705" i="1" dirty="0">
                <a:solidFill>
                  <a:srgbClr val="A5B4FB"/>
                </a:solidFill>
                <a:latin typeface="Times New Roman" panose="02020603050405020304"/>
                <a:cs typeface="Times New Roman" panose="02020603050405020304"/>
              </a:rPr>
              <a:t>loss</a:t>
            </a:r>
            <a:r>
              <a:rPr sz="705" i="1" spc="-12" dirty="0">
                <a:solidFill>
                  <a:srgbClr val="A5B4FB"/>
                </a:solidFill>
                <a:latin typeface="Times New Roman" panose="02020603050405020304"/>
                <a:cs typeface="Times New Roman" panose="02020603050405020304"/>
              </a:rPr>
              <a:t> </a:t>
            </a:r>
            <a:r>
              <a:rPr sz="705" i="1" dirty="0">
                <a:solidFill>
                  <a:srgbClr val="A5B4FB"/>
                </a:solidFill>
                <a:latin typeface="Times New Roman" panose="02020603050405020304"/>
                <a:cs typeface="Times New Roman" panose="02020603050405020304"/>
              </a:rPr>
              <a:t>over</a:t>
            </a:r>
            <a:r>
              <a:rPr sz="705" i="1" spc="-16" dirty="0">
                <a:solidFill>
                  <a:srgbClr val="A5B4FB"/>
                </a:solidFill>
                <a:latin typeface="Times New Roman" panose="02020603050405020304"/>
                <a:cs typeface="Times New Roman" panose="02020603050405020304"/>
              </a:rPr>
              <a:t> </a:t>
            </a:r>
            <a:r>
              <a:rPr sz="705" i="1" dirty="0">
                <a:solidFill>
                  <a:srgbClr val="A5B4FB"/>
                </a:solidFill>
                <a:latin typeface="Times New Roman" panose="02020603050405020304"/>
                <a:cs typeface="Times New Roman" panose="02020603050405020304"/>
              </a:rPr>
              <a:t>expert</a:t>
            </a:r>
            <a:r>
              <a:rPr sz="705" i="1" spc="-12" dirty="0">
                <a:solidFill>
                  <a:srgbClr val="A5B4FB"/>
                </a:solidFill>
                <a:latin typeface="Times New Roman" panose="02020603050405020304"/>
                <a:cs typeface="Times New Roman" panose="02020603050405020304"/>
              </a:rPr>
              <a:t> </a:t>
            </a:r>
            <a:r>
              <a:rPr sz="705" i="1" spc="-8" dirty="0">
                <a:solidFill>
                  <a:srgbClr val="A5B4FB"/>
                </a:solidFill>
                <a:latin typeface="Times New Roman" panose="02020603050405020304"/>
                <a:cs typeface="Times New Roman" panose="02020603050405020304"/>
              </a:rPr>
              <a:t>demonstrations.</a:t>
            </a:r>
            <a:endParaRPr sz="705">
              <a:latin typeface="Times New Roman" panose="02020603050405020304"/>
              <a:cs typeface="Times New Roman" panose="02020603050405020304"/>
            </a:endParaRPr>
          </a:p>
        </p:txBody>
      </p:sp>
      <p:grpSp>
        <p:nvGrpSpPr>
          <p:cNvPr id="35" name="object 35"/>
          <p:cNvGrpSpPr/>
          <p:nvPr/>
        </p:nvGrpSpPr>
        <p:grpSpPr>
          <a:xfrm>
            <a:off x="1316468" y="4958764"/>
            <a:ext cx="9559065" cy="418209"/>
            <a:chOff x="0" y="6324599"/>
            <a:chExt cx="12192000" cy="533400"/>
          </a:xfrm>
        </p:grpSpPr>
        <p:sp>
          <p:nvSpPr>
            <p:cNvPr id="36" name="object 36"/>
            <p:cNvSpPr/>
            <p:nvPr/>
          </p:nvSpPr>
          <p:spPr>
            <a:xfrm>
              <a:off x="0" y="6638924"/>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37" name="object 37"/>
            <p:cNvSpPr/>
            <p:nvPr/>
          </p:nvSpPr>
          <p:spPr>
            <a:xfrm>
              <a:off x="11791937" y="6724649"/>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38" name="object 38"/>
            <p:cNvSpPr/>
            <p:nvPr/>
          </p:nvSpPr>
          <p:spPr>
            <a:xfrm>
              <a:off x="11982447" y="6724649"/>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39" name="object 39"/>
            <p:cNvPicPr/>
            <p:nvPr/>
          </p:nvPicPr>
          <p:blipFill>
            <a:blip r:embed="rId3" cstate="print"/>
            <a:stretch>
              <a:fillRect/>
            </a:stretch>
          </p:blipFill>
          <p:spPr>
            <a:xfrm>
              <a:off x="9896474" y="6324599"/>
              <a:ext cx="342899" cy="342899"/>
            </a:xfrm>
            <a:prstGeom prst="rect">
              <a:avLst/>
            </a:prstGeom>
          </p:spPr>
        </p:pic>
      </p:grpSp>
      <p:sp>
        <p:nvSpPr>
          <p:cNvPr id="40" name="object 40"/>
          <p:cNvSpPr txBox="1"/>
          <p:nvPr/>
        </p:nvSpPr>
        <p:spPr>
          <a:xfrm>
            <a:off x="9412461" y="4958565"/>
            <a:ext cx="1247159" cy="190029"/>
          </a:xfrm>
          <a:prstGeom prst="rect">
            <a:avLst/>
          </a:prstGeom>
        </p:spPr>
        <p:txBody>
          <a:bodyPr vert="horz" wrap="square" lIns="0" tIns="44808" rIns="0" bIns="0" rtlCol="0">
            <a:spAutoFit/>
          </a:bodyPr>
          <a:lstStyle/>
          <a:p>
            <a:pPr marL="10160">
              <a:spcBef>
                <a:spcPts val="355"/>
              </a:spcBef>
            </a:pPr>
            <a:r>
              <a:rPr sz="940" b="1" dirty="0">
                <a:latin typeface="Arial" panose="020B0604020202020204"/>
                <a:cs typeface="Arial" panose="020B0604020202020204"/>
              </a:rPr>
              <a:t>Powered</a:t>
            </a:r>
            <a:r>
              <a:rPr sz="940" b="1" spc="78" dirty="0">
                <a:latin typeface="Arial" panose="020B0604020202020204"/>
                <a:cs typeface="Arial" panose="020B0604020202020204"/>
              </a:rPr>
              <a:t> </a:t>
            </a:r>
            <a:r>
              <a:rPr sz="940" b="1" dirty="0">
                <a:latin typeface="Arial" panose="020B0604020202020204"/>
                <a:cs typeface="Arial" panose="020B0604020202020204"/>
              </a:rPr>
              <a:t>By</a:t>
            </a:r>
            <a:r>
              <a:rPr sz="940" b="1" spc="82" dirty="0">
                <a:latin typeface="Arial" panose="020B0604020202020204"/>
                <a:cs typeface="Arial" panose="020B0604020202020204"/>
              </a:rPr>
              <a:t> </a:t>
            </a:r>
            <a:r>
              <a:rPr sz="940" b="1" spc="-172" dirty="0">
                <a:latin typeface="Arial" panose="020B0604020202020204"/>
                <a:cs typeface="Arial" panose="020B0604020202020204"/>
              </a:rPr>
              <a:t>T</a:t>
            </a:r>
            <a:r>
              <a:rPr sz="1060" b="1" spc="-412" baseline="46000" dirty="0">
                <a:solidFill>
                  <a:srgbClr val="A5B4FB"/>
                </a:solidFill>
                <a:latin typeface="Times New Roman" panose="02020603050405020304"/>
                <a:cs typeface="Times New Roman" panose="02020603050405020304"/>
              </a:rPr>
              <a:t>S</a:t>
            </a:r>
            <a:r>
              <a:rPr sz="940" b="1" spc="-302" dirty="0">
                <a:latin typeface="Arial" panose="020B0604020202020204"/>
                <a:cs typeface="Arial" panose="020B0604020202020204"/>
              </a:rPr>
              <a:t>o</a:t>
            </a:r>
            <a:r>
              <a:rPr sz="1060" b="1" spc="5" baseline="46000" dirty="0">
                <a:solidFill>
                  <a:srgbClr val="A5B4FB"/>
                </a:solidFill>
                <a:latin typeface="Times New Roman" panose="02020603050405020304"/>
                <a:cs typeface="Times New Roman" panose="02020603050405020304"/>
              </a:rPr>
              <a:t>l</a:t>
            </a:r>
            <a:r>
              <a:rPr sz="1060" b="1" spc="-111" baseline="46000" dirty="0">
                <a:solidFill>
                  <a:srgbClr val="A5B4FB"/>
                </a:solidFill>
                <a:latin typeface="Times New Roman" panose="02020603050405020304"/>
                <a:cs typeface="Times New Roman" panose="02020603050405020304"/>
              </a:rPr>
              <a:t>i</a:t>
            </a:r>
            <a:r>
              <a:rPr sz="940" b="1" spc="-447" dirty="0">
                <a:latin typeface="Arial" panose="020B0604020202020204"/>
                <a:cs typeface="Arial" panose="020B0604020202020204"/>
              </a:rPr>
              <a:t>s</a:t>
            </a:r>
            <a:r>
              <a:rPr sz="1060" b="1" spc="5" baseline="46000" dirty="0">
                <a:solidFill>
                  <a:srgbClr val="A5B4FB"/>
                </a:solidFill>
                <a:latin typeface="Times New Roman" panose="02020603050405020304"/>
                <a:cs typeface="Times New Roman" panose="02020603050405020304"/>
              </a:rPr>
              <a:t>d</a:t>
            </a:r>
            <a:r>
              <a:rPr sz="1060" b="1" spc="-365" baseline="46000" dirty="0">
                <a:solidFill>
                  <a:srgbClr val="A5B4FB"/>
                </a:solidFill>
                <a:latin typeface="Times New Roman" panose="02020603050405020304"/>
                <a:cs typeface="Times New Roman" panose="02020603050405020304"/>
              </a:rPr>
              <a:t>e</a:t>
            </a:r>
            <a:r>
              <a:rPr sz="940" b="1" spc="-106" dirty="0">
                <a:latin typeface="Arial" panose="020B0604020202020204"/>
                <a:cs typeface="Arial" panose="020B0604020202020204"/>
              </a:rPr>
              <a:t>e</a:t>
            </a:r>
            <a:r>
              <a:rPr sz="1060" b="1" spc="-340" baseline="46000" dirty="0">
                <a:solidFill>
                  <a:srgbClr val="A5B4FB"/>
                </a:solidFill>
                <a:latin typeface="Times New Roman" panose="02020603050405020304"/>
                <a:cs typeface="Times New Roman" panose="02020603050405020304"/>
              </a:rPr>
              <a:t>0</a:t>
            </a:r>
            <a:r>
              <a:rPr sz="940" b="1" spc="-294" dirty="0">
                <a:latin typeface="Arial" panose="020B0604020202020204"/>
                <a:cs typeface="Arial" panose="020B0604020202020204"/>
              </a:rPr>
              <a:t>a</a:t>
            </a:r>
            <a:r>
              <a:rPr sz="1060" b="1" spc="-59" baseline="46000" dirty="0">
                <a:solidFill>
                  <a:srgbClr val="A5B4FB"/>
                </a:solidFill>
                <a:latin typeface="Times New Roman" panose="02020603050405020304"/>
                <a:cs typeface="Times New Roman" panose="02020603050405020304"/>
              </a:rPr>
              <a:t>9</a:t>
            </a:r>
            <a:r>
              <a:rPr sz="940" b="1" spc="20" dirty="0">
                <a:latin typeface="Arial" panose="020B0604020202020204"/>
                <a:cs typeface="Arial" panose="020B0604020202020204"/>
              </a:rPr>
              <a:t>.a</a:t>
            </a:r>
            <a:r>
              <a:rPr sz="940" b="1" spc="4" dirty="0">
                <a:latin typeface="Arial" panose="020B0604020202020204"/>
                <a:cs typeface="Arial" panose="020B0604020202020204"/>
              </a:rPr>
              <a:t>i</a:t>
            </a:r>
            <a:endParaRPr sz="940">
              <a:latin typeface="Arial" panose="020B0604020202020204"/>
              <a:cs typeface="Arial" panose="020B0604020202020204"/>
            </a:endParaRPr>
          </a:p>
        </p:txBody>
      </p:sp>
      <p:sp>
        <p:nvSpPr>
          <p:cNvPr id="41" name="object 41"/>
          <p:cNvSpPr txBox="1"/>
          <p:nvPr/>
        </p:nvSpPr>
        <p:spPr>
          <a:xfrm>
            <a:off x="1664975" y="4974526"/>
            <a:ext cx="1537416" cy="91500"/>
          </a:xfrm>
          <a:prstGeom prst="rect">
            <a:avLst/>
          </a:prstGeom>
        </p:spPr>
        <p:txBody>
          <a:bodyPr vert="horz" wrap="square" lIns="0" tIns="0" rIns="0" bIns="0" rtlCol="0">
            <a:spAutoFit/>
          </a:bodyPr>
          <a:lstStyle/>
          <a:p>
            <a:pPr marL="10160">
              <a:lnSpc>
                <a:spcPts val="730"/>
              </a:lnSpc>
            </a:pPr>
            <a:r>
              <a:rPr sz="745" spc="-24" dirty="0">
                <a:solidFill>
                  <a:srgbClr val="94A2B8"/>
                </a:solidFill>
                <a:latin typeface="Lucida Console" panose="020B0609040504020204"/>
                <a:cs typeface="Lucida Console" panose="020B0609040504020204"/>
              </a:rPr>
              <a:t>GCNN</a:t>
            </a:r>
            <a:r>
              <a:rPr sz="745" spc="-78" dirty="0">
                <a:solidFill>
                  <a:srgbClr val="94A2B8"/>
                </a:solidFill>
                <a:latin typeface="Lucida Console" panose="020B0609040504020204"/>
                <a:cs typeface="Lucida Console" panose="020B0609040504020204"/>
              </a:rPr>
              <a:t> </a:t>
            </a:r>
            <a:r>
              <a:rPr sz="745" dirty="0">
                <a:solidFill>
                  <a:srgbClr val="94A2B8"/>
                </a:solidFill>
                <a:latin typeface="Lucida Console" panose="020B0609040504020204"/>
                <a:cs typeface="Lucida Console" panose="020B0609040504020204"/>
              </a:rPr>
              <a:t>/</a:t>
            </a:r>
            <a:r>
              <a:rPr sz="745" spc="-78" dirty="0">
                <a:solidFill>
                  <a:srgbClr val="94A2B8"/>
                </a:solidFill>
                <a:latin typeface="Lucida Console" panose="020B0609040504020204"/>
                <a:cs typeface="Lucida Console" panose="020B0609040504020204"/>
              </a:rPr>
              <a:t> </a:t>
            </a:r>
            <a:r>
              <a:rPr sz="745" spc="-24" dirty="0">
                <a:solidFill>
                  <a:srgbClr val="94A2B8"/>
                </a:solidFill>
                <a:latin typeface="Lucida Console" panose="020B0609040504020204"/>
                <a:cs typeface="Lucida Console" panose="020B0609040504020204"/>
              </a:rPr>
              <a:t>SCIP</a:t>
            </a:r>
            <a:r>
              <a:rPr sz="745" spc="-74" dirty="0">
                <a:solidFill>
                  <a:srgbClr val="94A2B8"/>
                </a:solidFill>
                <a:latin typeface="Lucida Console" panose="020B0609040504020204"/>
                <a:cs typeface="Lucida Console" panose="020B0609040504020204"/>
              </a:rPr>
              <a:t> </a:t>
            </a:r>
            <a:r>
              <a:rPr sz="745" spc="-31" dirty="0">
                <a:solidFill>
                  <a:srgbClr val="94A2B8"/>
                </a:solidFill>
                <a:latin typeface="Lucida Console" panose="020B0609040504020204"/>
                <a:cs typeface="Lucida Console" panose="020B0609040504020204"/>
              </a:rPr>
              <a:t>Integrated</a:t>
            </a:r>
            <a:r>
              <a:rPr sz="745" spc="-78" dirty="0">
                <a:solidFill>
                  <a:srgbClr val="94A2B8"/>
                </a:solidFill>
                <a:latin typeface="Lucida Console" panose="020B0609040504020204"/>
                <a:cs typeface="Lucida Console" panose="020B0609040504020204"/>
              </a:rPr>
              <a:t> </a:t>
            </a:r>
            <a:r>
              <a:rPr sz="745" spc="-51" dirty="0">
                <a:solidFill>
                  <a:srgbClr val="94A2B8"/>
                </a:solidFill>
                <a:latin typeface="Lucida Console" panose="020B0609040504020204"/>
                <a:cs typeface="Lucida Console" panose="020B0609040504020204"/>
              </a:rPr>
              <a:t>Method</a:t>
            </a:r>
            <a:endParaRPr sz="745">
              <a:latin typeface="Lucida Console" panose="020B0609040504020204"/>
              <a:cs typeface="Lucida Console" panose="020B0609040504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74932" y="806545"/>
            <a:ext cx="597442" cy="44808"/>
          </a:xfrm>
          <a:custGeom>
            <a:avLst/>
            <a:gdLst/>
            <a:ahLst/>
            <a:cxnLst/>
            <a:rect l="l" t="t" r="r" b="b"/>
            <a:pathLst>
              <a:path w="762000" h="57150">
                <a:moveTo>
                  <a:pt x="737214" y="57149"/>
                </a:moveTo>
                <a:lnTo>
                  <a:pt x="24785" y="57149"/>
                </a:lnTo>
                <a:lnTo>
                  <a:pt x="21140" y="56424"/>
                </a:lnTo>
                <a:lnTo>
                  <a:pt x="0" y="32364"/>
                </a:lnTo>
                <a:lnTo>
                  <a:pt x="0" y="28574"/>
                </a:lnTo>
                <a:lnTo>
                  <a:pt x="0" y="24785"/>
                </a:lnTo>
                <a:lnTo>
                  <a:pt x="24785" y="0"/>
                </a:lnTo>
                <a:lnTo>
                  <a:pt x="737214" y="0"/>
                </a:lnTo>
                <a:lnTo>
                  <a:pt x="761999" y="24785"/>
                </a:lnTo>
                <a:lnTo>
                  <a:pt x="761999" y="32364"/>
                </a:lnTo>
                <a:lnTo>
                  <a:pt x="740859" y="56424"/>
                </a:lnTo>
                <a:lnTo>
                  <a:pt x="737214" y="57149"/>
                </a:lnTo>
                <a:close/>
              </a:path>
            </a:pathLst>
          </a:custGeom>
          <a:solidFill>
            <a:srgbClr val="2562EB"/>
          </a:solidFill>
        </p:spPr>
        <p:txBody>
          <a:bodyPr wrap="square" lIns="0" tIns="0" rIns="0" bIns="0" rtlCol="0"/>
          <a:lstStyle/>
          <a:p/>
        </p:txBody>
      </p:sp>
      <p:sp>
        <p:nvSpPr>
          <p:cNvPr id="3" name="object 3"/>
          <p:cNvSpPr txBox="1">
            <a:spLocks noGrp="1"/>
          </p:cNvSpPr>
          <p:nvPr>
            <p:ph type="title"/>
          </p:nvPr>
        </p:nvSpPr>
        <p:spPr>
          <a:xfrm>
            <a:off x="1664975" y="194068"/>
            <a:ext cx="3834579" cy="568597"/>
          </a:xfrm>
          <a:prstGeom prst="rect">
            <a:avLst/>
          </a:prstGeom>
        </p:spPr>
        <p:txBody>
          <a:bodyPr vert="horz" wrap="square" lIns="0" tIns="13442" rIns="0" bIns="0" rtlCol="0">
            <a:spAutoFit/>
          </a:bodyPr>
          <a:lstStyle/>
          <a:p>
            <a:pPr marL="29845">
              <a:spcBef>
                <a:spcPts val="105"/>
              </a:spcBef>
            </a:pPr>
            <a:r>
              <a:rPr sz="5410" i="1" spc="-412" baseline="-8000" dirty="0"/>
              <a:t>10</a:t>
            </a:r>
            <a:r>
              <a:rPr sz="5410" i="1" spc="-299" baseline="-8000" dirty="0"/>
              <a:t>. </a:t>
            </a:r>
            <a:r>
              <a:rPr sz="2390" spc="-290" dirty="0"/>
              <a:t>结果与分析</a:t>
            </a:r>
            <a:r>
              <a:rPr sz="2115" spc="-192" dirty="0"/>
              <a:t>: </a:t>
            </a:r>
            <a:r>
              <a:rPr sz="2390" spc="-298" dirty="0"/>
              <a:t>主要实验结果</a:t>
            </a:r>
            <a:endParaRPr sz="2390"/>
          </a:p>
        </p:txBody>
      </p:sp>
      <p:grpSp>
        <p:nvGrpSpPr>
          <p:cNvPr id="4" name="object 4"/>
          <p:cNvGrpSpPr/>
          <p:nvPr/>
        </p:nvGrpSpPr>
        <p:grpSpPr>
          <a:xfrm>
            <a:off x="1674933" y="1030586"/>
            <a:ext cx="8842135" cy="903630"/>
            <a:chOff x="457200" y="1314449"/>
            <a:chExt cx="11277600" cy="1152525"/>
          </a:xfrm>
        </p:grpSpPr>
        <p:sp>
          <p:nvSpPr>
            <p:cNvPr id="5" name="object 5"/>
            <p:cNvSpPr/>
            <p:nvPr/>
          </p:nvSpPr>
          <p:spPr>
            <a:xfrm>
              <a:off x="495299" y="1314449"/>
              <a:ext cx="11239500" cy="1152525"/>
            </a:xfrm>
            <a:custGeom>
              <a:avLst/>
              <a:gdLst/>
              <a:ahLst/>
              <a:cxnLst/>
              <a:rect l="l" t="t" r="r" b="b"/>
              <a:pathLst>
                <a:path w="11239500" h="1152525">
                  <a:moveTo>
                    <a:pt x="11087099" y="1152524"/>
                  </a:moveTo>
                  <a:lnTo>
                    <a:pt x="0" y="1152524"/>
                  </a:lnTo>
                  <a:lnTo>
                    <a:pt x="0" y="0"/>
                  </a:lnTo>
                  <a:lnTo>
                    <a:pt x="11087099" y="0"/>
                  </a:lnTo>
                  <a:lnTo>
                    <a:pt x="11094586" y="183"/>
                  </a:lnTo>
                  <a:lnTo>
                    <a:pt x="11138431" y="8904"/>
                  </a:lnTo>
                  <a:lnTo>
                    <a:pt x="11177889" y="29995"/>
                  </a:lnTo>
                  <a:lnTo>
                    <a:pt x="11209502" y="61607"/>
                  </a:lnTo>
                  <a:lnTo>
                    <a:pt x="11230592" y="101066"/>
                  </a:lnTo>
                  <a:lnTo>
                    <a:pt x="11239315" y="144912"/>
                  </a:lnTo>
                  <a:lnTo>
                    <a:pt x="11239499" y="152399"/>
                  </a:lnTo>
                  <a:lnTo>
                    <a:pt x="11239499" y="1000124"/>
                  </a:lnTo>
                  <a:lnTo>
                    <a:pt x="11232936" y="1044364"/>
                  </a:lnTo>
                  <a:lnTo>
                    <a:pt x="11213813" y="1084793"/>
                  </a:lnTo>
                  <a:lnTo>
                    <a:pt x="11183780" y="1117932"/>
                  </a:lnTo>
                  <a:lnTo>
                    <a:pt x="11145418" y="1140924"/>
                  </a:lnTo>
                  <a:lnTo>
                    <a:pt x="11102037" y="1151792"/>
                  </a:lnTo>
                  <a:lnTo>
                    <a:pt x="11087099" y="1152524"/>
                  </a:lnTo>
                  <a:close/>
                </a:path>
              </a:pathLst>
            </a:custGeom>
            <a:solidFill>
              <a:srgbClr val="EDF1FF"/>
            </a:solidFill>
          </p:spPr>
          <p:txBody>
            <a:bodyPr wrap="square" lIns="0" tIns="0" rIns="0" bIns="0" rtlCol="0"/>
            <a:lstStyle/>
            <a:p/>
          </p:txBody>
        </p:sp>
        <p:sp>
          <p:nvSpPr>
            <p:cNvPr id="6" name="object 6"/>
            <p:cNvSpPr/>
            <p:nvPr/>
          </p:nvSpPr>
          <p:spPr>
            <a:xfrm>
              <a:off x="457187" y="1314449"/>
              <a:ext cx="2057400" cy="1152525"/>
            </a:xfrm>
            <a:custGeom>
              <a:avLst/>
              <a:gdLst/>
              <a:ahLst/>
              <a:cxnLst/>
              <a:rect l="l" t="t" r="r" b="b"/>
              <a:pathLst>
                <a:path w="2057400" h="1152525">
                  <a:moveTo>
                    <a:pt x="76200" y="0"/>
                  </a:moveTo>
                  <a:lnTo>
                    <a:pt x="0" y="0"/>
                  </a:lnTo>
                  <a:lnTo>
                    <a:pt x="0" y="1152525"/>
                  </a:lnTo>
                  <a:lnTo>
                    <a:pt x="76200" y="1152525"/>
                  </a:lnTo>
                  <a:lnTo>
                    <a:pt x="76200" y="0"/>
                  </a:lnTo>
                  <a:close/>
                </a:path>
                <a:path w="2057400" h="1152525">
                  <a:moveTo>
                    <a:pt x="2057400" y="301053"/>
                  </a:moveTo>
                  <a:lnTo>
                    <a:pt x="2038019" y="261747"/>
                  </a:lnTo>
                  <a:lnTo>
                    <a:pt x="2004009" y="247650"/>
                  </a:lnTo>
                  <a:lnTo>
                    <a:pt x="358203" y="247650"/>
                  </a:lnTo>
                  <a:lnTo>
                    <a:pt x="318897" y="267042"/>
                  </a:lnTo>
                  <a:lnTo>
                    <a:pt x="304800" y="301053"/>
                  </a:lnTo>
                  <a:lnTo>
                    <a:pt x="304800" y="457200"/>
                  </a:lnTo>
                  <a:lnTo>
                    <a:pt x="304800" y="460959"/>
                  </a:lnTo>
                  <a:lnTo>
                    <a:pt x="324192" y="500265"/>
                  </a:lnTo>
                  <a:lnTo>
                    <a:pt x="358203" y="514350"/>
                  </a:lnTo>
                  <a:lnTo>
                    <a:pt x="2004009" y="514350"/>
                  </a:lnTo>
                  <a:lnTo>
                    <a:pt x="2043315" y="494969"/>
                  </a:lnTo>
                  <a:lnTo>
                    <a:pt x="2057400" y="460959"/>
                  </a:lnTo>
                  <a:lnTo>
                    <a:pt x="2057400" y="301053"/>
                  </a:lnTo>
                  <a:close/>
                </a:path>
              </a:pathLst>
            </a:custGeom>
            <a:solidFill>
              <a:srgbClr val="4237CA"/>
            </a:solidFill>
          </p:spPr>
          <p:txBody>
            <a:bodyPr wrap="square" lIns="0" tIns="0" rIns="0" bIns="0" rtlCol="0"/>
            <a:lstStyle/>
            <a:p/>
          </p:txBody>
        </p:sp>
      </p:grpSp>
      <p:sp>
        <p:nvSpPr>
          <p:cNvPr id="7" name="object 7"/>
          <p:cNvSpPr txBox="1"/>
          <p:nvPr/>
        </p:nvSpPr>
        <p:spPr>
          <a:xfrm>
            <a:off x="1993568" y="1250198"/>
            <a:ext cx="1205836" cy="138703"/>
          </a:xfrm>
          <a:prstGeom prst="rect">
            <a:avLst/>
          </a:prstGeom>
        </p:spPr>
        <p:txBody>
          <a:bodyPr vert="horz" wrap="square" lIns="0" tIns="11949" rIns="0" bIns="0" rtlCol="0">
            <a:spAutoFit/>
          </a:bodyPr>
          <a:lstStyle/>
          <a:p>
            <a:pPr marL="10160">
              <a:spcBef>
                <a:spcPts val="95"/>
              </a:spcBef>
            </a:pPr>
            <a:r>
              <a:rPr sz="825" spc="43" dirty="0">
                <a:solidFill>
                  <a:srgbClr val="FFFFFF"/>
                </a:solidFill>
                <a:latin typeface="Courier New" panose="02070309020205020404"/>
                <a:cs typeface="Courier New" panose="02070309020205020404"/>
              </a:rPr>
              <a:t>CORE</a:t>
            </a:r>
            <a:r>
              <a:rPr sz="825" spc="118" dirty="0">
                <a:solidFill>
                  <a:srgbClr val="FFFFFF"/>
                </a:solidFill>
                <a:latin typeface="Courier New" panose="02070309020205020404"/>
                <a:cs typeface="Courier New" panose="02070309020205020404"/>
              </a:rPr>
              <a:t> </a:t>
            </a:r>
            <a:r>
              <a:rPr sz="825" spc="43" dirty="0">
                <a:solidFill>
                  <a:srgbClr val="FFFFFF"/>
                </a:solidFill>
                <a:latin typeface="Courier New" panose="02070309020205020404"/>
                <a:cs typeface="Courier New" panose="02070309020205020404"/>
              </a:rPr>
              <a:t>CONTRIBUTION</a:t>
            </a:r>
            <a:endParaRPr sz="825">
              <a:latin typeface="Courier New" panose="02070309020205020404"/>
              <a:cs typeface="Courier New" panose="02070309020205020404"/>
            </a:endParaRPr>
          </a:p>
        </p:txBody>
      </p:sp>
      <p:sp>
        <p:nvSpPr>
          <p:cNvPr id="8" name="object 8"/>
          <p:cNvSpPr txBox="1"/>
          <p:nvPr/>
        </p:nvSpPr>
        <p:spPr>
          <a:xfrm>
            <a:off x="3396155" y="1176561"/>
            <a:ext cx="1453774" cy="254356"/>
          </a:xfrm>
          <a:prstGeom prst="rect">
            <a:avLst/>
          </a:prstGeom>
        </p:spPr>
        <p:txBody>
          <a:bodyPr vert="horz" wrap="square" lIns="0" tIns="12945" rIns="0" bIns="0" rtlCol="0">
            <a:spAutoFit/>
          </a:bodyPr>
          <a:lstStyle/>
          <a:p>
            <a:pPr marL="10160">
              <a:spcBef>
                <a:spcPts val="100"/>
              </a:spcBef>
            </a:pPr>
            <a:r>
              <a:rPr sz="1570" b="1" spc="-153" dirty="0">
                <a:solidFill>
                  <a:srgbClr val="1D293B"/>
                </a:solidFill>
                <a:latin typeface="微软雅黑" panose="020B0503020204020204" charset="-122"/>
                <a:cs typeface="微软雅黑" panose="020B0503020204020204" charset="-122"/>
              </a:rPr>
              <a:t>新颖的表示与框架</a:t>
            </a:r>
            <a:endParaRPr sz="1570">
              <a:latin typeface="微软雅黑" panose="020B0503020204020204" charset="-122"/>
              <a:cs typeface="微软雅黑" panose="020B0503020204020204" charset="-122"/>
            </a:endParaRPr>
          </a:p>
        </p:txBody>
      </p:sp>
      <p:sp>
        <p:nvSpPr>
          <p:cNvPr id="9" name="object 9"/>
          <p:cNvSpPr/>
          <p:nvPr/>
        </p:nvSpPr>
        <p:spPr>
          <a:xfrm>
            <a:off x="3198399" y="1710176"/>
            <a:ext cx="3009612" cy="14936"/>
          </a:xfrm>
          <a:custGeom>
            <a:avLst/>
            <a:gdLst/>
            <a:ahLst/>
            <a:cxnLst/>
            <a:rect l="l" t="t" r="r" b="b"/>
            <a:pathLst>
              <a:path w="3838575" h="19050">
                <a:moveTo>
                  <a:pt x="1333500" y="0"/>
                </a:moveTo>
                <a:lnTo>
                  <a:pt x="0" y="0"/>
                </a:lnTo>
                <a:lnTo>
                  <a:pt x="0" y="19050"/>
                </a:lnTo>
                <a:lnTo>
                  <a:pt x="1333500" y="19050"/>
                </a:lnTo>
                <a:lnTo>
                  <a:pt x="1333500" y="0"/>
                </a:lnTo>
                <a:close/>
              </a:path>
              <a:path w="3838575" h="19050">
                <a:moveTo>
                  <a:pt x="2809875" y="0"/>
                </a:moveTo>
                <a:lnTo>
                  <a:pt x="1524000" y="0"/>
                </a:lnTo>
                <a:lnTo>
                  <a:pt x="1524000" y="19050"/>
                </a:lnTo>
                <a:lnTo>
                  <a:pt x="2809875" y="19050"/>
                </a:lnTo>
                <a:lnTo>
                  <a:pt x="2809875" y="0"/>
                </a:lnTo>
                <a:close/>
              </a:path>
              <a:path w="3838575" h="19050">
                <a:moveTo>
                  <a:pt x="3838575" y="0"/>
                </a:moveTo>
                <a:lnTo>
                  <a:pt x="3076575" y="0"/>
                </a:lnTo>
                <a:lnTo>
                  <a:pt x="3076575" y="19050"/>
                </a:lnTo>
                <a:lnTo>
                  <a:pt x="3838575" y="19050"/>
                </a:lnTo>
                <a:lnTo>
                  <a:pt x="3838575" y="0"/>
                </a:lnTo>
                <a:close/>
              </a:path>
            </a:pathLst>
          </a:custGeom>
          <a:solidFill>
            <a:srgbClr val="A5B4FB"/>
          </a:solidFill>
        </p:spPr>
        <p:txBody>
          <a:bodyPr wrap="square" lIns="0" tIns="0" rIns="0" bIns="0" rtlCol="0"/>
          <a:lstStyle/>
          <a:p/>
        </p:txBody>
      </p:sp>
      <p:sp>
        <p:nvSpPr>
          <p:cNvPr id="10" name="object 10"/>
          <p:cNvSpPr txBox="1"/>
          <p:nvPr/>
        </p:nvSpPr>
        <p:spPr>
          <a:xfrm>
            <a:off x="1903951" y="1501570"/>
            <a:ext cx="6636580" cy="214672"/>
          </a:xfrm>
          <a:prstGeom prst="rect">
            <a:avLst/>
          </a:prstGeom>
        </p:spPr>
        <p:txBody>
          <a:bodyPr vert="horz" wrap="square" lIns="0" tIns="9459" rIns="0" bIns="0" rtlCol="0">
            <a:spAutoFit/>
          </a:bodyPr>
          <a:lstStyle/>
          <a:p>
            <a:pPr marL="10160">
              <a:spcBef>
                <a:spcPts val="75"/>
              </a:spcBef>
            </a:pPr>
            <a:r>
              <a:rPr sz="1335" spc="-208" dirty="0">
                <a:solidFill>
                  <a:srgbClr val="334054"/>
                </a:solidFill>
                <a:latin typeface="宋体" panose="02010600030101010101" pitchFamily="2" charset="-122"/>
                <a:cs typeface="宋体" panose="02010600030101010101" pitchFamily="2" charset="-122"/>
              </a:rPr>
              <a:t>这是学术界 </a:t>
            </a:r>
            <a:r>
              <a:rPr sz="1335" b="1" spc="-157" dirty="0">
                <a:solidFill>
                  <a:srgbClr val="4237CA"/>
                </a:solidFill>
                <a:latin typeface="微软雅黑" panose="020B0503020204020204" charset="-122"/>
                <a:cs typeface="微软雅黑" panose="020B0503020204020204" charset="-122"/>
              </a:rPr>
              <a:t>首次 </a:t>
            </a:r>
            <a:r>
              <a:rPr sz="1335" spc="-196" dirty="0">
                <a:solidFill>
                  <a:srgbClr val="334054"/>
                </a:solidFill>
                <a:latin typeface="宋体" panose="02010600030101010101" pitchFamily="2" charset="-122"/>
                <a:cs typeface="宋体" panose="02010600030101010101" pitchFamily="2" charset="-122"/>
              </a:rPr>
              <a:t>将 二部图状态表示、</a:t>
            </a:r>
            <a:r>
              <a:rPr sz="1175" dirty="0">
                <a:solidFill>
                  <a:srgbClr val="334054"/>
                </a:solidFill>
                <a:latin typeface="Calibri" panose="020F0502020204030204"/>
                <a:cs typeface="Calibri" panose="020F0502020204030204"/>
              </a:rPr>
              <a:t>GCNN</a:t>
            </a:r>
            <a:r>
              <a:rPr sz="1175" spc="63" dirty="0">
                <a:solidFill>
                  <a:srgbClr val="334054"/>
                </a:solidFill>
                <a:latin typeface="Calibri" panose="020F0502020204030204"/>
                <a:cs typeface="Calibri" panose="020F0502020204030204"/>
              </a:rPr>
              <a:t> </a:t>
            </a:r>
            <a:r>
              <a:rPr sz="1335" spc="-235" dirty="0">
                <a:solidFill>
                  <a:srgbClr val="334054"/>
                </a:solidFill>
                <a:latin typeface="宋体" panose="02010600030101010101" pitchFamily="2" charset="-122"/>
                <a:cs typeface="宋体" panose="02010600030101010101" pitchFamily="2" charset="-122"/>
              </a:rPr>
              <a:t>策略网络 和 模仿学习 深度整合到完整的 </a:t>
            </a:r>
            <a:r>
              <a:rPr sz="1175" spc="39" dirty="0">
                <a:solidFill>
                  <a:srgbClr val="334054"/>
                </a:solidFill>
                <a:latin typeface="Calibri" panose="020F0502020204030204"/>
                <a:cs typeface="Calibri" panose="020F0502020204030204"/>
              </a:rPr>
              <a:t>SCIP</a:t>
            </a:r>
            <a:r>
              <a:rPr sz="1175" spc="35" dirty="0">
                <a:solidFill>
                  <a:srgbClr val="334054"/>
                </a:solidFill>
                <a:latin typeface="Calibri" panose="020F0502020204030204"/>
                <a:cs typeface="Calibri" panose="020F0502020204030204"/>
              </a:rPr>
              <a:t> </a:t>
            </a:r>
            <a:r>
              <a:rPr sz="1335" spc="-141" dirty="0">
                <a:solidFill>
                  <a:srgbClr val="334054"/>
                </a:solidFill>
                <a:latin typeface="宋体" panose="02010600030101010101" pitchFamily="2" charset="-122"/>
                <a:cs typeface="宋体" panose="02010600030101010101" pitchFamily="2" charset="-122"/>
              </a:rPr>
              <a:t>求解器中。</a:t>
            </a:r>
            <a:endParaRPr sz="1335">
              <a:latin typeface="宋体" panose="02010600030101010101" pitchFamily="2" charset="-122"/>
              <a:cs typeface="宋体" panose="02010600030101010101" pitchFamily="2" charset="-122"/>
            </a:endParaRPr>
          </a:p>
        </p:txBody>
      </p:sp>
      <p:grpSp>
        <p:nvGrpSpPr>
          <p:cNvPr id="11" name="object 11"/>
          <p:cNvGrpSpPr/>
          <p:nvPr/>
        </p:nvGrpSpPr>
        <p:grpSpPr>
          <a:xfrm>
            <a:off x="1674933" y="2173193"/>
            <a:ext cx="2830379" cy="1867005"/>
            <a:chOff x="457200" y="2771774"/>
            <a:chExt cx="3609975" cy="2381250"/>
          </a:xfrm>
        </p:grpSpPr>
        <p:sp>
          <p:nvSpPr>
            <p:cNvPr id="12" name="object 12"/>
            <p:cNvSpPr/>
            <p:nvPr/>
          </p:nvSpPr>
          <p:spPr>
            <a:xfrm>
              <a:off x="461962" y="2776537"/>
              <a:ext cx="3600450" cy="2371725"/>
            </a:xfrm>
            <a:custGeom>
              <a:avLst/>
              <a:gdLst/>
              <a:ahLst/>
              <a:cxnLst/>
              <a:rect l="l" t="t" r="r" b="b"/>
              <a:pathLst>
                <a:path w="3600450" h="2371725">
                  <a:moveTo>
                    <a:pt x="0" y="22621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90912" y="0"/>
                  </a:lnTo>
                  <a:lnTo>
                    <a:pt x="3498104" y="0"/>
                  </a:lnTo>
                  <a:lnTo>
                    <a:pt x="3505227" y="701"/>
                  </a:lnTo>
                  <a:lnTo>
                    <a:pt x="3512281" y="2104"/>
                  </a:lnTo>
                  <a:lnTo>
                    <a:pt x="3519335" y="3507"/>
                  </a:lnTo>
                  <a:lnTo>
                    <a:pt x="3526185" y="5585"/>
                  </a:lnTo>
                  <a:lnTo>
                    <a:pt x="3532829" y="8338"/>
                  </a:lnTo>
                  <a:lnTo>
                    <a:pt x="3539474" y="11090"/>
                  </a:lnTo>
                  <a:lnTo>
                    <a:pt x="3573452" y="37168"/>
                  </a:lnTo>
                  <a:lnTo>
                    <a:pt x="3592110" y="67619"/>
                  </a:lnTo>
                  <a:lnTo>
                    <a:pt x="3594863" y="74264"/>
                  </a:lnTo>
                  <a:lnTo>
                    <a:pt x="3596941" y="81113"/>
                  </a:lnTo>
                  <a:lnTo>
                    <a:pt x="3598344" y="88167"/>
                  </a:lnTo>
                  <a:lnTo>
                    <a:pt x="3599747" y="95221"/>
                  </a:lnTo>
                  <a:lnTo>
                    <a:pt x="3600449" y="102345"/>
                  </a:lnTo>
                  <a:lnTo>
                    <a:pt x="3600449" y="109537"/>
                  </a:lnTo>
                  <a:lnTo>
                    <a:pt x="3600449" y="2262187"/>
                  </a:lnTo>
                  <a:lnTo>
                    <a:pt x="3600449" y="2269379"/>
                  </a:lnTo>
                  <a:lnTo>
                    <a:pt x="3599747" y="2276502"/>
                  </a:lnTo>
                  <a:lnTo>
                    <a:pt x="3598344" y="2283556"/>
                  </a:lnTo>
                  <a:lnTo>
                    <a:pt x="3596941" y="2290610"/>
                  </a:lnTo>
                  <a:lnTo>
                    <a:pt x="3594863" y="2297460"/>
                  </a:lnTo>
                  <a:lnTo>
                    <a:pt x="3592110" y="2304105"/>
                  </a:lnTo>
                  <a:lnTo>
                    <a:pt x="3589358" y="2310750"/>
                  </a:lnTo>
                  <a:lnTo>
                    <a:pt x="3563280" y="2344727"/>
                  </a:lnTo>
                  <a:lnTo>
                    <a:pt x="3532829" y="2363386"/>
                  </a:lnTo>
                  <a:lnTo>
                    <a:pt x="3526185" y="2366138"/>
                  </a:lnTo>
                  <a:lnTo>
                    <a:pt x="3519335" y="2368216"/>
                  </a:lnTo>
                  <a:lnTo>
                    <a:pt x="3512281" y="2369619"/>
                  </a:lnTo>
                  <a:lnTo>
                    <a:pt x="3505227" y="2371023"/>
                  </a:lnTo>
                  <a:lnTo>
                    <a:pt x="3498104" y="2371724"/>
                  </a:lnTo>
                  <a:lnTo>
                    <a:pt x="3490912" y="2371724"/>
                  </a:lnTo>
                  <a:lnTo>
                    <a:pt x="109537" y="2371724"/>
                  </a:lnTo>
                  <a:lnTo>
                    <a:pt x="102345" y="2371724"/>
                  </a:lnTo>
                  <a:lnTo>
                    <a:pt x="95221" y="2371023"/>
                  </a:lnTo>
                  <a:lnTo>
                    <a:pt x="88167" y="2369619"/>
                  </a:lnTo>
                  <a:lnTo>
                    <a:pt x="81113" y="2368216"/>
                  </a:lnTo>
                  <a:lnTo>
                    <a:pt x="74264" y="2366138"/>
                  </a:lnTo>
                  <a:lnTo>
                    <a:pt x="67619" y="2363386"/>
                  </a:lnTo>
                  <a:lnTo>
                    <a:pt x="60974" y="2360634"/>
                  </a:lnTo>
                  <a:lnTo>
                    <a:pt x="26997" y="2334556"/>
                  </a:lnTo>
                  <a:lnTo>
                    <a:pt x="5585" y="2297460"/>
                  </a:lnTo>
                  <a:lnTo>
                    <a:pt x="0" y="2269379"/>
                  </a:lnTo>
                  <a:lnTo>
                    <a:pt x="0" y="2262187"/>
                  </a:lnTo>
                  <a:close/>
                </a:path>
              </a:pathLst>
            </a:custGeom>
            <a:ln w="9524">
              <a:solidFill>
                <a:srgbClr val="E2E7F0"/>
              </a:solidFill>
            </a:ln>
          </p:spPr>
          <p:txBody>
            <a:bodyPr wrap="square" lIns="0" tIns="0" rIns="0" bIns="0" rtlCol="0"/>
            <a:lstStyle/>
            <a:p/>
          </p:txBody>
        </p:sp>
        <p:sp>
          <p:nvSpPr>
            <p:cNvPr id="13" name="object 13"/>
            <p:cNvSpPr/>
            <p:nvPr/>
          </p:nvSpPr>
          <p:spPr>
            <a:xfrm>
              <a:off x="695324" y="3009899"/>
              <a:ext cx="381000" cy="381000"/>
            </a:xfrm>
            <a:custGeom>
              <a:avLst/>
              <a:gdLst/>
              <a:ahLst/>
              <a:cxnLst/>
              <a:rect l="l" t="t" r="r" b="b"/>
              <a:pathLst>
                <a:path w="381000" h="381000">
                  <a:moveTo>
                    <a:pt x="190499" y="380999"/>
                  </a:moveTo>
                  <a:lnTo>
                    <a:pt x="144200" y="375289"/>
                  </a:lnTo>
                  <a:lnTo>
                    <a:pt x="100697" y="358507"/>
                  </a:lnTo>
                  <a:lnTo>
                    <a:pt x="62575" y="331659"/>
                  </a:lnTo>
                  <a:lnTo>
                    <a:pt x="32105" y="296336"/>
                  </a:lnTo>
                  <a:lnTo>
                    <a:pt x="11130" y="254667"/>
                  </a:lnTo>
                  <a:lnTo>
                    <a:pt x="915" y="209172"/>
                  </a:lnTo>
                  <a:lnTo>
                    <a:pt x="0" y="190499"/>
                  </a:lnTo>
                  <a:lnTo>
                    <a:pt x="228" y="181141"/>
                  </a:lnTo>
                  <a:lnTo>
                    <a:pt x="8200" y="135200"/>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200"/>
                  </a:lnTo>
                  <a:lnTo>
                    <a:pt x="380771" y="181141"/>
                  </a:lnTo>
                  <a:lnTo>
                    <a:pt x="380999" y="190499"/>
                  </a:lnTo>
                  <a:lnTo>
                    <a:pt x="380771" y="199858"/>
                  </a:lnTo>
                  <a:lnTo>
                    <a:pt x="372799" y="245799"/>
                  </a:lnTo>
                  <a:lnTo>
                    <a:pt x="353904" y="288427"/>
                  </a:lnTo>
                  <a:lnTo>
                    <a:pt x="325203" y="325203"/>
                  </a:lnTo>
                  <a:lnTo>
                    <a:pt x="288427" y="353904"/>
                  </a:lnTo>
                  <a:lnTo>
                    <a:pt x="245799" y="372799"/>
                  </a:lnTo>
                  <a:lnTo>
                    <a:pt x="199858" y="380771"/>
                  </a:lnTo>
                  <a:lnTo>
                    <a:pt x="190499" y="380999"/>
                  </a:lnTo>
                  <a:close/>
                </a:path>
              </a:pathLst>
            </a:custGeom>
            <a:solidFill>
              <a:srgbClr val="DAE9FE"/>
            </a:solidFill>
          </p:spPr>
          <p:txBody>
            <a:bodyPr wrap="square" lIns="0" tIns="0" rIns="0" bIns="0" rtlCol="0"/>
            <a:lstStyle/>
            <a:p/>
          </p:txBody>
        </p:sp>
        <p:pic>
          <p:nvPicPr>
            <p:cNvPr id="14" name="object 14"/>
            <p:cNvPicPr/>
            <p:nvPr/>
          </p:nvPicPr>
          <p:blipFill>
            <a:blip r:embed="rId1" cstate="print"/>
            <a:stretch>
              <a:fillRect/>
            </a:stretch>
          </p:blipFill>
          <p:spPr>
            <a:xfrm>
              <a:off x="790573" y="3105179"/>
              <a:ext cx="190503" cy="190499"/>
            </a:xfrm>
            <a:prstGeom prst="rect">
              <a:avLst/>
            </a:prstGeom>
          </p:spPr>
        </p:pic>
      </p:grpSp>
      <p:sp>
        <p:nvSpPr>
          <p:cNvPr id="15" name="object 15"/>
          <p:cNvSpPr txBox="1"/>
          <p:nvPr/>
        </p:nvSpPr>
        <p:spPr>
          <a:xfrm>
            <a:off x="2240012" y="2392206"/>
            <a:ext cx="692036" cy="193516"/>
          </a:xfrm>
          <a:prstGeom prst="rect">
            <a:avLst/>
          </a:prstGeom>
        </p:spPr>
        <p:txBody>
          <a:bodyPr vert="horz" wrap="square" lIns="0" tIns="12447" rIns="0" bIns="0" rtlCol="0">
            <a:spAutoFit/>
          </a:bodyPr>
          <a:lstStyle/>
          <a:p>
            <a:pPr marL="10160">
              <a:spcBef>
                <a:spcPts val="100"/>
              </a:spcBef>
            </a:pPr>
            <a:r>
              <a:rPr sz="1175" b="1" spc="-110" dirty="0">
                <a:solidFill>
                  <a:srgbClr val="1D293B"/>
                </a:solidFill>
                <a:latin typeface="微软雅黑" panose="020B0503020204020204" charset="-122"/>
                <a:cs typeface="微软雅黑" panose="020B0503020204020204" charset="-122"/>
              </a:rPr>
              <a:t>模仿准确率</a:t>
            </a:r>
            <a:endParaRPr sz="1175">
              <a:latin typeface="微软雅黑" panose="020B0503020204020204" charset="-122"/>
              <a:cs typeface="微软雅黑" panose="020B0503020204020204" charset="-122"/>
            </a:endParaRPr>
          </a:p>
        </p:txBody>
      </p:sp>
      <p:sp>
        <p:nvSpPr>
          <p:cNvPr id="16" name="object 16"/>
          <p:cNvSpPr/>
          <p:nvPr/>
        </p:nvSpPr>
        <p:spPr>
          <a:xfrm>
            <a:off x="1861623" y="3226184"/>
            <a:ext cx="926034" cy="179232"/>
          </a:xfrm>
          <a:custGeom>
            <a:avLst/>
            <a:gdLst/>
            <a:ahLst/>
            <a:cxnLst/>
            <a:rect l="l" t="t" r="r" b="b"/>
            <a:pathLst>
              <a:path w="1181100" h="228600">
                <a:moveTo>
                  <a:pt x="485775" y="33058"/>
                </a:moveTo>
                <a:lnTo>
                  <a:pt x="457593" y="977"/>
                </a:lnTo>
                <a:lnTo>
                  <a:pt x="452729" y="0"/>
                </a:lnTo>
                <a:lnTo>
                  <a:pt x="33058" y="0"/>
                </a:lnTo>
                <a:lnTo>
                  <a:pt x="977" y="28194"/>
                </a:lnTo>
                <a:lnTo>
                  <a:pt x="0" y="33058"/>
                </a:lnTo>
                <a:lnTo>
                  <a:pt x="0" y="190500"/>
                </a:lnTo>
                <a:lnTo>
                  <a:pt x="0" y="195554"/>
                </a:lnTo>
                <a:lnTo>
                  <a:pt x="28194" y="227634"/>
                </a:lnTo>
                <a:lnTo>
                  <a:pt x="33058" y="228600"/>
                </a:lnTo>
                <a:lnTo>
                  <a:pt x="452729" y="228600"/>
                </a:lnTo>
                <a:lnTo>
                  <a:pt x="484809" y="200418"/>
                </a:lnTo>
                <a:lnTo>
                  <a:pt x="485775" y="195554"/>
                </a:lnTo>
                <a:lnTo>
                  <a:pt x="485775" y="33058"/>
                </a:lnTo>
                <a:close/>
              </a:path>
              <a:path w="1181100" h="228600">
                <a:moveTo>
                  <a:pt x="1181100" y="33058"/>
                </a:moveTo>
                <a:lnTo>
                  <a:pt x="1152918" y="977"/>
                </a:lnTo>
                <a:lnTo>
                  <a:pt x="1148054" y="0"/>
                </a:lnTo>
                <a:lnTo>
                  <a:pt x="595033" y="0"/>
                </a:lnTo>
                <a:lnTo>
                  <a:pt x="562952" y="28194"/>
                </a:lnTo>
                <a:lnTo>
                  <a:pt x="561975" y="33058"/>
                </a:lnTo>
                <a:lnTo>
                  <a:pt x="561975" y="190500"/>
                </a:lnTo>
                <a:lnTo>
                  <a:pt x="561975" y="195554"/>
                </a:lnTo>
                <a:lnTo>
                  <a:pt x="590169" y="227634"/>
                </a:lnTo>
                <a:lnTo>
                  <a:pt x="595033" y="228600"/>
                </a:lnTo>
                <a:lnTo>
                  <a:pt x="1148054" y="228600"/>
                </a:lnTo>
                <a:lnTo>
                  <a:pt x="1180134" y="200418"/>
                </a:lnTo>
                <a:lnTo>
                  <a:pt x="1181100" y="195554"/>
                </a:lnTo>
                <a:lnTo>
                  <a:pt x="1181100" y="33058"/>
                </a:lnTo>
                <a:close/>
              </a:path>
            </a:pathLst>
          </a:custGeom>
          <a:solidFill>
            <a:srgbClr val="F1F5F9"/>
          </a:solidFill>
        </p:spPr>
        <p:txBody>
          <a:bodyPr wrap="square" lIns="0" tIns="0" rIns="0" bIns="0" rtlCol="0"/>
          <a:lstStyle/>
          <a:p/>
        </p:txBody>
      </p:sp>
      <p:sp>
        <p:nvSpPr>
          <p:cNvPr id="17" name="object 17"/>
          <p:cNvSpPr txBox="1"/>
          <p:nvPr/>
        </p:nvSpPr>
        <p:spPr>
          <a:xfrm>
            <a:off x="1851675" y="2745144"/>
            <a:ext cx="2462953" cy="618734"/>
          </a:xfrm>
          <a:prstGeom prst="rect">
            <a:avLst/>
          </a:prstGeom>
        </p:spPr>
        <p:txBody>
          <a:bodyPr vert="horz" wrap="square" lIns="0" tIns="7468" rIns="0" bIns="0" rtlCol="0">
            <a:spAutoFit/>
          </a:bodyPr>
          <a:lstStyle/>
          <a:p>
            <a:pPr marL="10160" marR="3810">
              <a:lnSpc>
                <a:spcPct val="102000"/>
              </a:lnSpc>
              <a:spcBef>
                <a:spcPts val="60"/>
              </a:spcBef>
            </a:pPr>
            <a:r>
              <a:rPr sz="1060" spc="-122" dirty="0">
                <a:solidFill>
                  <a:srgbClr val="465469"/>
                </a:solidFill>
                <a:latin typeface="宋体" panose="02010600030101010101" pitchFamily="2" charset="-122"/>
                <a:cs typeface="宋体" panose="02010600030101010101" pitchFamily="2" charset="-122"/>
              </a:rPr>
              <a:t>在所有四类问题上，</a:t>
            </a:r>
            <a:r>
              <a:rPr sz="940" b="1" spc="-20" dirty="0">
                <a:solidFill>
                  <a:srgbClr val="4237CA"/>
                </a:solidFill>
                <a:latin typeface="Times New Roman" panose="02020603050405020304"/>
                <a:cs typeface="Times New Roman" panose="02020603050405020304"/>
              </a:rPr>
              <a:t>GCNN </a:t>
            </a:r>
            <a:r>
              <a:rPr sz="1060" b="1" spc="-118" dirty="0">
                <a:solidFill>
                  <a:srgbClr val="4237CA"/>
                </a:solidFill>
                <a:latin typeface="微软雅黑" panose="020B0503020204020204" charset="-122"/>
                <a:cs typeface="微软雅黑" panose="020B0503020204020204" charset="-122"/>
              </a:rPr>
              <a:t>模型 </a:t>
            </a:r>
            <a:r>
              <a:rPr sz="1060" spc="-118" dirty="0">
                <a:solidFill>
                  <a:srgbClr val="465469"/>
                </a:solidFill>
                <a:latin typeface="宋体" panose="02010600030101010101" pitchFamily="2" charset="-122"/>
                <a:cs typeface="宋体" panose="02010600030101010101" pitchFamily="2" charset="-122"/>
              </a:rPr>
              <a:t>显著优于机器学习基线：</a:t>
            </a:r>
            <a:endParaRPr sz="1060">
              <a:latin typeface="宋体" panose="02010600030101010101" pitchFamily="2" charset="-122"/>
              <a:cs typeface="宋体" panose="02010600030101010101" pitchFamily="2" charset="-122"/>
            </a:endParaRPr>
          </a:p>
          <a:p>
            <a:pPr>
              <a:spcBef>
                <a:spcPts val="155"/>
              </a:spcBef>
            </a:pPr>
            <a:endParaRPr sz="940">
              <a:latin typeface="宋体" panose="02010600030101010101" pitchFamily="2" charset="-122"/>
              <a:cs typeface="宋体" panose="02010600030101010101" pitchFamily="2" charset="-122"/>
            </a:endParaRPr>
          </a:p>
          <a:p>
            <a:pPr marL="69215">
              <a:tabLst>
                <a:tab pos="509270" algn="l"/>
              </a:tabLst>
            </a:pPr>
            <a:r>
              <a:rPr sz="705" spc="-8" dirty="0">
                <a:latin typeface="Courier New" panose="02070309020205020404"/>
                <a:cs typeface="Courier New" panose="02070309020205020404"/>
              </a:rPr>
              <a:t>TREES</a:t>
            </a:r>
            <a:r>
              <a:rPr sz="705" dirty="0">
                <a:latin typeface="Courier New" panose="02070309020205020404"/>
                <a:cs typeface="Courier New" panose="02070309020205020404"/>
              </a:rPr>
              <a:t>	</a:t>
            </a:r>
            <a:r>
              <a:rPr sz="705" spc="-8" dirty="0">
                <a:latin typeface="Courier New" panose="02070309020205020404"/>
                <a:cs typeface="Courier New" panose="02070309020205020404"/>
              </a:rPr>
              <a:t>SVMRANK</a:t>
            </a:r>
            <a:endParaRPr sz="705">
              <a:latin typeface="Courier New" panose="02070309020205020404"/>
              <a:cs typeface="Courier New" panose="02070309020205020404"/>
            </a:endParaRPr>
          </a:p>
        </p:txBody>
      </p:sp>
      <p:sp>
        <p:nvSpPr>
          <p:cNvPr id="18" name="object 18"/>
          <p:cNvSpPr txBox="1"/>
          <p:nvPr/>
        </p:nvSpPr>
        <p:spPr>
          <a:xfrm>
            <a:off x="1851675" y="3567224"/>
            <a:ext cx="1428382" cy="281539"/>
          </a:xfrm>
          <a:prstGeom prst="rect">
            <a:avLst/>
          </a:prstGeom>
        </p:spPr>
        <p:txBody>
          <a:bodyPr vert="horz" wrap="square" lIns="0" tIns="9957" rIns="0" bIns="0" rtlCol="0">
            <a:spAutoFit/>
          </a:bodyPr>
          <a:lstStyle/>
          <a:p>
            <a:pPr marL="10160">
              <a:spcBef>
                <a:spcPts val="80"/>
              </a:spcBef>
            </a:pPr>
            <a:r>
              <a:rPr sz="1765" b="1" spc="-82" dirty="0">
                <a:solidFill>
                  <a:srgbClr val="4237CA"/>
                </a:solidFill>
                <a:latin typeface="Tahoma" panose="020B0604030504040204"/>
                <a:cs typeface="Tahoma" panose="020B0604030504040204"/>
              </a:rPr>
              <a:t>SOTA</a:t>
            </a:r>
            <a:r>
              <a:rPr sz="1765" b="1" spc="-55" dirty="0">
                <a:solidFill>
                  <a:srgbClr val="4237CA"/>
                </a:solidFill>
                <a:latin typeface="Tahoma" panose="020B0604030504040204"/>
                <a:cs typeface="Tahoma" panose="020B0604030504040204"/>
              </a:rPr>
              <a:t> </a:t>
            </a:r>
            <a:r>
              <a:rPr sz="825" dirty="0">
                <a:solidFill>
                  <a:srgbClr val="94A2B8"/>
                </a:solidFill>
                <a:latin typeface="Times New Roman" panose="02020603050405020304"/>
                <a:cs typeface="Times New Roman" panose="02020603050405020304"/>
              </a:rPr>
              <a:t>Superior</a:t>
            </a:r>
            <a:r>
              <a:rPr sz="825" spc="-43" dirty="0">
                <a:solidFill>
                  <a:srgbClr val="94A2B8"/>
                </a:solidFill>
                <a:latin typeface="Times New Roman" panose="02020603050405020304"/>
                <a:cs typeface="Times New Roman" panose="02020603050405020304"/>
              </a:rPr>
              <a:t> </a:t>
            </a:r>
            <a:r>
              <a:rPr sz="825" spc="-8" dirty="0">
                <a:solidFill>
                  <a:srgbClr val="94A2B8"/>
                </a:solidFill>
                <a:latin typeface="Times New Roman" panose="02020603050405020304"/>
                <a:cs typeface="Times New Roman" panose="02020603050405020304"/>
              </a:rPr>
              <a:t>Accuracy</a:t>
            </a:r>
            <a:endParaRPr sz="825">
              <a:latin typeface="Times New Roman" panose="02020603050405020304"/>
              <a:cs typeface="Times New Roman" panose="02020603050405020304"/>
            </a:endParaRPr>
          </a:p>
        </p:txBody>
      </p:sp>
      <p:grpSp>
        <p:nvGrpSpPr>
          <p:cNvPr id="19" name="object 19"/>
          <p:cNvGrpSpPr/>
          <p:nvPr/>
        </p:nvGrpSpPr>
        <p:grpSpPr>
          <a:xfrm>
            <a:off x="4684545" y="2173193"/>
            <a:ext cx="2822911" cy="1867005"/>
            <a:chOff x="4295775" y="2771774"/>
            <a:chExt cx="3600450" cy="2381250"/>
          </a:xfrm>
        </p:grpSpPr>
        <p:sp>
          <p:nvSpPr>
            <p:cNvPr id="20" name="object 20"/>
            <p:cNvSpPr/>
            <p:nvPr/>
          </p:nvSpPr>
          <p:spPr>
            <a:xfrm>
              <a:off x="4300537" y="2776537"/>
              <a:ext cx="3590925" cy="2371725"/>
            </a:xfrm>
            <a:custGeom>
              <a:avLst/>
              <a:gdLst/>
              <a:ahLst/>
              <a:cxnLst/>
              <a:rect l="l" t="t" r="r" b="b"/>
              <a:pathLst>
                <a:path w="3590925" h="2371725">
                  <a:moveTo>
                    <a:pt x="0" y="22621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81387" y="0"/>
                  </a:lnTo>
                  <a:lnTo>
                    <a:pt x="3488579" y="0"/>
                  </a:lnTo>
                  <a:lnTo>
                    <a:pt x="3495702" y="701"/>
                  </a:lnTo>
                  <a:lnTo>
                    <a:pt x="3502756" y="2104"/>
                  </a:lnTo>
                  <a:lnTo>
                    <a:pt x="3509810" y="3507"/>
                  </a:lnTo>
                  <a:lnTo>
                    <a:pt x="3516660" y="5585"/>
                  </a:lnTo>
                  <a:lnTo>
                    <a:pt x="3523305" y="8338"/>
                  </a:lnTo>
                  <a:lnTo>
                    <a:pt x="3529949" y="11090"/>
                  </a:lnTo>
                  <a:lnTo>
                    <a:pt x="3536262" y="14464"/>
                  </a:lnTo>
                  <a:lnTo>
                    <a:pt x="3542242" y="18460"/>
                  </a:lnTo>
                  <a:lnTo>
                    <a:pt x="3548223" y="22456"/>
                  </a:lnTo>
                  <a:lnTo>
                    <a:pt x="3553756" y="26997"/>
                  </a:lnTo>
                  <a:lnTo>
                    <a:pt x="3558841" y="32082"/>
                  </a:lnTo>
                  <a:lnTo>
                    <a:pt x="3563927" y="37168"/>
                  </a:lnTo>
                  <a:lnTo>
                    <a:pt x="3568468" y="42701"/>
                  </a:lnTo>
                  <a:lnTo>
                    <a:pt x="3572463" y="48681"/>
                  </a:lnTo>
                  <a:lnTo>
                    <a:pt x="3576459" y="54661"/>
                  </a:lnTo>
                  <a:lnTo>
                    <a:pt x="3579833" y="60974"/>
                  </a:lnTo>
                  <a:lnTo>
                    <a:pt x="3582585" y="67619"/>
                  </a:lnTo>
                  <a:lnTo>
                    <a:pt x="3585338" y="74264"/>
                  </a:lnTo>
                  <a:lnTo>
                    <a:pt x="3587416" y="81113"/>
                  </a:lnTo>
                  <a:lnTo>
                    <a:pt x="3588819" y="88167"/>
                  </a:lnTo>
                  <a:lnTo>
                    <a:pt x="3590223" y="95221"/>
                  </a:lnTo>
                  <a:lnTo>
                    <a:pt x="3590924" y="102345"/>
                  </a:lnTo>
                  <a:lnTo>
                    <a:pt x="3590924" y="109537"/>
                  </a:lnTo>
                  <a:lnTo>
                    <a:pt x="3590924" y="2262187"/>
                  </a:lnTo>
                  <a:lnTo>
                    <a:pt x="3590924" y="2269379"/>
                  </a:lnTo>
                  <a:lnTo>
                    <a:pt x="3590223" y="2276502"/>
                  </a:lnTo>
                  <a:lnTo>
                    <a:pt x="3588819" y="2283556"/>
                  </a:lnTo>
                  <a:lnTo>
                    <a:pt x="3587416" y="2290610"/>
                  </a:lnTo>
                  <a:lnTo>
                    <a:pt x="3568468" y="2329023"/>
                  </a:lnTo>
                  <a:lnTo>
                    <a:pt x="3542242" y="2353264"/>
                  </a:lnTo>
                  <a:lnTo>
                    <a:pt x="3536262" y="2357260"/>
                  </a:lnTo>
                  <a:lnTo>
                    <a:pt x="3529949" y="2360634"/>
                  </a:lnTo>
                  <a:lnTo>
                    <a:pt x="3523304" y="2363386"/>
                  </a:lnTo>
                  <a:lnTo>
                    <a:pt x="3516660" y="2366138"/>
                  </a:lnTo>
                  <a:lnTo>
                    <a:pt x="3509810" y="2368216"/>
                  </a:lnTo>
                  <a:lnTo>
                    <a:pt x="3502756" y="2369619"/>
                  </a:lnTo>
                  <a:lnTo>
                    <a:pt x="3495702" y="2371023"/>
                  </a:lnTo>
                  <a:lnTo>
                    <a:pt x="3488579" y="2371724"/>
                  </a:lnTo>
                  <a:lnTo>
                    <a:pt x="3481387" y="2371724"/>
                  </a:lnTo>
                  <a:lnTo>
                    <a:pt x="109537" y="2371724"/>
                  </a:lnTo>
                  <a:lnTo>
                    <a:pt x="102345" y="2371724"/>
                  </a:lnTo>
                  <a:lnTo>
                    <a:pt x="95221" y="2371023"/>
                  </a:lnTo>
                  <a:lnTo>
                    <a:pt x="88167" y="2369619"/>
                  </a:lnTo>
                  <a:lnTo>
                    <a:pt x="81113" y="2368216"/>
                  </a:lnTo>
                  <a:lnTo>
                    <a:pt x="74264" y="2366138"/>
                  </a:lnTo>
                  <a:lnTo>
                    <a:pt x="67619" y="2363386"/>
                  </a:lnTo>
                  <a:lnTo>
                    <a:pt x="60974" y="2360634"/>
                  </a:lnTo>
                  <a:lnTo>
                    <a:pt x="26997" y="2334556"/>
                  </a:lnTo>
                  <a:lnTo>
                    <a:pt x="5585" y="2297460"/>
                  </a:lnTo>
                  <a:lnTo>
                    <a:pt x="0" y="2269379"/>
                  </a:lnTo>
                  <a:lnTo>
                    <a:pt x="0" y="2262187"/>
                  </a:lnTo>
                  <a:close/>
                </a:path>
              </a:pathLst>
            </a:custGeom>
            <a:ln w="9524">
              <a:solidFill>
                <a:srgbClr val="E2E7F0"/>
              </a:solidFill>
            </a:ln>
          </p:spPr>
          <p:txBody>
            <a:bodyPr wrap="square" lIns="0" tIns="0" rIns="0" bIns="0" rtlCol="0"/>
            <a:lstStyle/>
            <a:p/>
          </p:txBody>
        </p:sp>
        <p:sp>
          <p:nvSpPr>
            <p:cNvPr id="21" name="object 21"/>
            <p:cNvSpPr/>
            <p:nvPr/>
          </p:nvSpPr>
          <p:spPr>
            <a:xfrm>
              <a:off x="4533899" y="3009899"/>
              <a:ext cx="381000" cy="381000"/>
            </a:xfrm>
            <a:custGeom>
              <a:avLst/>
              <a:gdLst/>
              <a:ahLst/>
              <a:cxnLst/>
              <a:rect l="l" t="t" r="r" b="b"/>
              <a:pathLst>
                <a:path w="381000" h="381000">
                  <a:moveTo>
                    <a:pt x="190499" y="380999"/>
                  </a:moveTo>
                  <a:lnTo>
                    <a:pt x="144200" y="375289"/>
                  </a:lnTo>
                  <a:lnTo>
                    <a:pt x="100697" y="358507"/>
                  </a:lnTo>
                  <a:lnTo>
                    <a:pt x="62575" y="331659"/>
                  </a:lnTo>
                  <a:lnTo>
                    <a:pt x="32105" y="296336"/>
                  </a:lnTo>
                  <a:lnTo>
                    <a:pt x="11130" y="254667"/>
                  </a:lnTo>
                  <a:lnTo>
                    <a:pt x="915" y="209172"/>
                  </a:lnTo>
                  <a:lnTo>
                    <a:pt x="0" y="190499"/>
                  </a:lnTo>
                  <a:lnTo>
                    <a:pt x="228" y="181141"/>
                  </a:lnTo>
                  <a:lnTo>
                    <a:pt x="8200" y="135200"/>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200"/>
                  </a:lnTo>
                  <a:lnTo>
                    <a:pt x="380771" y="181141"/>
                  </a:lnTo>
                  <a:lnTo>
                    <a:pt x="380999" y="190499"/>
                  </a:lnTo>
                  <a:lnTo>
                    <a:pt x="380771" y="199858"/>
                  </a:lnTo>
                  <a:lnTo>
                    <a:pt x="372799" y="245799"/>
                  </a:lnTo>
                  <a:lnTo>
                    <a:pt x="353904" y="288427"/>
                  </a:lnTo>
                  <a:lnTo>
                    <a:pt x="325203" y="325203"/>
                  </a:lnTo>
                  <a:lnTo>
                    <a:pt x="288427" y="353904"/>
                  </a:lnTo>
                  <a:lnTo>
                    <a:pt x="245799" y="372799"/>
                  </a:lnTo>
                  <a:lnTo>
                    <a:pt x="199858" y="380771"/>
                  </a:lnTo>
                  <a:lnTo>
                    <a:pt x="190499" y="380999"/>
                  </a:lnTo>
                  <a:close/>
                </a:path>
              </a:pathLst>
            </a:custGeom>
            <a:solidFill>
              <a:srgbClr val="DFE7FF"/>
            </a:solidFill>
          </p:spPr>
          <p:txBody>
            <a:bodyPr wrap="square" lIns="0" tIns="0" rIns="0" bIns="0" rtlCol="0"/>
            <a:lstStyle/>
            <a:p/>
          </p:txBody>
        </p:sp>
        <p:pic>
          <p:nvPicPr>
            <p:cNvPr id="22" name="object 22"/>
            <p:cNvPicPr/>
            <p:nvPr/>
          </p:nvPicPr>
          <p:blipFill>
            <a:blip r:embed="rId2" cstate="print"/>
            <a:stretch>
              <a:fillRect/>
            </a:stretch>
          </p:blipFill>
          <p:spPr>
            <a:xfrm>
              <a:off x="4638674" y="3105149"/>
              <a:ext cx="171449" cy="190499"/>
            </a:xfrm>
            <a:prstGeom prst="rect">
              <a:avLst/>
            </a:prstGeom>
          </p:spPr>
        </p:pic>
      </p:grpSp>
      <p:sp>
        <p:nvSpPr>
          <p:cNvPr id="23" name="object 23"/>
          <p:cNvSpPr txBox="1"/>
          <p:nvPr/>
        </p:nvSpPr>
        <p:spPr>
          <a:xfrm>
            <a:off x="5247057" y="2392206"/>
            <a:ext cx="1095309" cy="193516"/>
          </a:xfrm>
          <a:prstGeom prst="rect">
            <a:avLst/>
          </a:prstGeom>
        </p:spPr>
        <p:txBody>
          <a:bodyPr vert="horz" wrap="square" lIns="0" tIns="12447" rIns="0" bIns="0" rtlCol="0">
            <a:spAutoFit/>
          </a:bodyPr>
          <a:lstStyle/>
          <a:p>
            <a:pPr marL="10160">
              <a:spcBef>
                <a:spcPts val="100"/>
              </a:spcBef>
            </a:pPr>
            <a:r>
              <a:rPr sz="1175" b="1" spc="-114" dirty="0">
                <a:solidFill>
                  <a:srgbClr val="1D293B"/>
                </a:solidFill>
                <a:latin typeface="微软雅黑" panose="020B0503020204020204" charset="-122"/>
                <a:cs typeface="微软雅黑" panose="020B0503020204020204" charset="-122"/>
              </a:rPr>
              <a:t>节点数与求解时间</a:t>
            </a:r>
            <a:endParaRPr sz="1175">
              <a:latin typeface="微软雅黑" panose="020B0503020204020204" charset="-122"/>
              <a:cs typeface="微软雅黑" panose="020B0503020204020204" charset="-122"/>
            </a:endParaRPr>
          </a:p>
        </p:txBody>
      </p:sp>
      <p:sp>
        <p:nvSpPr>
          <p:cNvPr id="24" name="object 24"/>
          <p:cNvSpPr txBox="1"/>
          <p:nvPr/>
        </p:nvSpPr>
        <p:spPr>
          <a:xfrm>
            <a:off x="4858720" y="2745144"/>
            <a:ext cx="2370349" cy="328783"/>
          </a:xfrm>
          <a:prstGeom prst="rect">
            <a:avLst/>
          </a:prstGeom>
        </p:spPr>
        <p:txBody>
          <a:bodyPr vert="horz" wrap="square" lIns="0" tIns="7468" rIns="0" bIns="0" rtlCol="0">
            <a:spAutoFit/>
          </a:bodyPr>
          <a:lstStyle/>
          <a:p>
            <a:pPr marL="10160" marR="3810">
              <a:lnSpc>
                <a:spcPct val="102000"/>
              </a:lnSpc>
              <a:spcBef>
                <a:spcPts val="60"/>
              </a:spcBef>
            </a:pPr>
            <a:r>
              <a:rPr sz="1060" spc="-145" dirty="0">
                <a:solidFill>
                  <a:srgbClr val="465469"/>
                </a:solidFill>
                <a:latin typeface="宋体" panose="02010600030101010101" pitchFamily="2" charset="-122"/>
                <a:cs typeface="宋体" panose="02010600030101010101" pitchFamily="2" charset="-122"/>
              </a:rPr>
              <a:t>高准确率成功转化为更少的 </a:t>
            </a:r>
            <a:r>
              <a:rPr sz="940" b="1" dirty="0">
                <a:solidFill>
                  <a:srgbClr val="1D293B"/>
                </a:solidFill>
                <a:latin typeface="Times New Roman" panose="02020603050405020304"/>
                <a:cs typeface="Times New Roman" panose="02020603050405020304"/>
              </a:rPr>
              <a:t>B&amp;B </a:t>
            </a:r>
            <a:r>
              <a:rPr sz="1060" b="1" spc="-118" dirty="0">
                <a:solidFill>
                  <a:srgbClr val="1D293B"/>
                </a:solidFill>
                <a:latin typeface="微软雅黑" panose="020B0503020204020204" charset="-122"/>
                <a:cs typeface="微软雅黑" panose="020B0503020204020204" charset="-122"/>
              </a:rPr>
              <a:t>分支定界搜</a:t>
            </a:r>
            <a:r>
              <a:rPr sz="1060" b="1" spc="-133" dirty="0">
                <a:solidFill>
                  <a:srgbClr val="1D293B"/>
                </a:solidFill>
                <a:latin typeface="微软雅黑" panose="020B0503020204020204" charset="-122"/>
                <a:cs typeface="微软雅黑" panose="020B0503020204020204" charset="-122"/>
              </a:rPr>
              <a:t>索节点</a:t>
            </a:r>
            <a:r>
              <a:rPr sz="1060" spc="-39" dirty="0">
                <a:solidFill>
                  <a:srgbClr val="465469"/>
                </a:solidFill>
                <a:latin typeface="宋体" panose="02010600030101010101" pitchFamily="2" charset="-122"/>
                <a:cs typeface="宋体" panose="02010600030101010101" pitchFamily="2" charset="-122"/>
              </a:rPr>
              <a:t>。</a:t>
            </a:r>
            <a:endParaRPr sz="1060">
              <a:latin typeface="宋体" panose="02010600030101010101" pitchFamily="2" charset="-122"/>
              <a:cs typeface="宋体" panose="02010600030101010101" pitchFamily="2" charset="-122"/>
            </a:endParaRPr>
          </a:p>
        </p:txBody>
      </p:sp>
      <p:grpSp>
        <p:nvGrpSpPr>
          <p:cNvPr id="25" name="object 25"/>
          <p:cNvGrpSpPr/>
          <p:nvPr/>
        </p:nvGrpSpPr>
        <p:grpSpPr>
          <a:xfrm>
            <a:off x="4871244" y="3166440"/>
            <a:ext cx="2449510" cy="537697"/>
            <a:chOff x="4533899" y="4038599"/>
            <a:chExt cx="3124200" cy="685800"/>
          </a:xfrm>
        </p:grpSpPr>
        <p:sp>
          <p:nvSpPr>
            <p:cNvPr id="26" name="object 26"/>
            <p:cNvSpPr/>
            <p:nvPr/>
          </p:nvSpPr>
          <p:spPr>
            <a:xfrm>
              <a:off x="4533899" y="4038599"/>
              <a:ext cx="19050" cy="457200"/>
            </a:xfrm>
            <a:custGeom>
              <a:avLst/>
              <a:gdLst/>
              <a:ahLst/>
              <a:cxnLst/>
              <a:rect l="l" t="t" r="r" b="b"/>
              <a:pathLst>
                <a:path w="19050" h="457200">
                  <a:moveTo>
                    <a:pt x="19049" y="457199"/>
                  </a:moveTo>
                  <a:lnTo>
                    <a:pt x="0" y="457199"/>
                  </a:lnTo>
                  <a:lnTo>
                    <a:pt x="0" y="0"/>
                  </a:lnTo>
                  <a:lnTo>
                    <a:pt x="19049" y="0"/>
                  </a:lnTo>
                  <a:lnTo>
                    <a:pt x="19049" y="457199"/>
                  </a:lnTo>
                  <a:close/>
                </a:path>
              </a:pathLst>
            </a:custGeom>
            <a:solidFill>
              <a:srgbClr val="C7D1FE"/>
            </a:solidFill>
          </p:spPr>
          <p:txBody>
            <a:bodyPr wrap="square" lIns="0" tIns="0" rIns="0" bIns="0" rtlCol="0"/>
            <a:lstStyle/>
            <a:p/>
          </p:txBody>
        </p:sp>
        <p:sp>
          <p:nvSpPr>
            <p:cNvPr id="27" name="object 27"/>
            <p:cNvSpPr/>
            <p:nvPr/>
          </p:nvSpPr>
          <p:spPr>
            <a:xfrm>
              <a:off x="4533899" y="4648199"/>
              <a:ext cx="3124200" cy="76200"/>
            </a:xfrm>
            <a:custGeom>
              <a:avLst/>
              <a:gdLst/>
              <a:ahLst/>
              <a:cxnLst/>
              <a:rect l="l" t="t" r="r" b="b"/>
              <a:pathLst>
                <a:path w="3124200" h="76200">
                  <a:moveTo>
                    <a:pt x="3091152" y="76199"/>
                  </a:moveTo>
                  <a:lnTo>
                    <a:pt x="33047" y="76199"/>
                  </a:lnTo>
                  <a:lnTo>
                    <a:pt x="28187" y="75233"/>
                  </a:lnTo>
                  <a:lnTo>
                    <a:pt x="966" y="48012"/>
                  </a:lnTo>
                  <a:lnTo>
                    <a:pt x="0" y="43152"/>
                  </a:lnTo>
                  <a:lnTo>
                    <a:pt x="0" y="38099"/>
                  </a:lnTo>
                  <a:lnTo>
                    <a:pt x="0" y="33047"/>
                  </a:lnTo>
                  <a:lnTo>
                    <a:pt x="28187" y="966"/>
                  </a:lnTo>
                  <a:lnTo>
                    <a:pt x="33047" y="0"/>
                  </a:lnTo>
                  <a:lnTo>
                    <a:pt x="3091152" y="0"/>
                  </a:lnTo>
                  <a:lnTo>
                    <a:pt x="3123232" y="28187"/>
                  </a:lnTo>
                  <a:lnTo>
                    <a:pt x="3124199" y="33047"/>
                  </a:lnTo>
                  <a:lnTo>
                    <a:pt x="3124199" y="43152"/>
                  </a:lnTo>
                  <a:lnTo>
                    <a:pt x="3096011" y="75233"/>
                  </a:lnTo>
                  <a:lnTo>
                    <a:pt x="3091152" y="76199"/>
                  </a:lnTo>
                  <a:close/>
                </a:path>
              </a:pathLst>
            </a:custGeom>
            <a:solidFill>
              <a:srgbClr val="F1F5F9"/>
            </a:solidFill>
          </p:spPr>
          <p:txBody>
            <a:bodyPr wrap="square" lIns="0" tIns="0" rIns="0" bIns="0" rtlCol="0"/>
            <a:lstStyle/>
            <a:p/>
          </p:txBody>
        </p:sp>
        <p:sp>
          <p:nvSpPr>
            <p:cNvPr id="28" name="object 28"/>
            <p:cNvSpPr/>
            <p:nvPr/>
          </p:nvSpPr>
          <p:spPr>
            <a:xfrm>
              <a:off x="4533899" y="4648199"/>
              <a:ext cx="2343150" cy="76200"/>
            </a:xfrm>
            <a:custGeom>
              <a:avLst/>
              <a:gdLst/>
              <a:ahLst/>
              <a:cxnLst/>
              <a:rect l="l" t="t" r="r" b="b"/>
              <a:pathLst>
                <a:path w="2343150" h="76200">
                  <a:moveTo>
                    <a:pt x="2343149" y="76199"/>
                  </a:moveTo>
                  <a:lnTo>
                    <a:pt x="38100" y="76199"/>
                  </a:lnTo>
                  <a:lnTo>
                    <a:pt x="30498" y="75502"/>
                  </a:lnTo>
                  <a:lnTo>
                    <a:pt x="697" y="45702"/>
                  </a:lnTo>
                  <a:lnTo>
                    <a:pt x="0" y="38100"/>
                  </a:lnTo>
                  <a:lnTo>
                    <a:pt x="697" y="30498"/>
                  </a:lnTo>
                  <a:lnTo>
                    <a:pt x="30498" y="697"/>
                  </a:lnTo>
                  <a:lnTo>
                    <a:pt x="38100" y="0"/>
                  </a:lnTo>
                  <a:lnTo>
                    <a:pt x="2343149" y="0"/>
                  </a:lnTo>
                  <a:lnTo>
                    <a:pt x="2343149" y="76199"/>
                  </a:lnTo>
                  <a:close/>
                </a:path>
              </a:pathLst>
            </a:custGeom>
            <a:solidFill>
              <a:srgbClr val="6266F1"/>
            </a:solidFill>
          </p:spPr>
          <p:txBody>
            <a:bodyPr wrap="square" lIns="0" tIns="0" rIns="0" bIns="0" rtlCol="0"/>
            <a:lstStyle/>
            <a:p/>
          </p:txBody>
        </p:sp>
      </p:grpSp>
      <p:sp>
        <p:nvSpPr>
          <p:cNvPr id="29" name="object 29"/>
          <p:cNvSpPr txBox="1"/>
          <p:nvPr/>
        </p:nvSpPr>
        <p:spPr>
          <a:xfrm>
            <a:off x="4963273" y="3124574"/>
            <a:ext cx="2241899" cy="350212"/>
          </a:xfrm>
          <a:prstGeom prst="rect">
            <a:avLst/>
          </a:prstGeom>
        </p:spPr>
        <p:txBody>
          <a:bodyPr vert="horz" wrap="square" lIns="0" tIns="9957" rIns="0" bIns="0" rtlCol="0">
            <a:spAutoFit/>
          </a:bodyPr>
          <a:lstStyle/>
          <a:p>
            <a:pPr marL="10160" marR="3810">
              <a:lnSpc>
                <a:spcPct val="107000"/>
              </a:lnSpc>
              <a:spcBef>
                <a:spcPts val="80"/>
              </a:spcBef>
            </a:pPr>
            <a:r>
              <a:rPr sz="1100" spc="-176" dirty="0">
                <a:solidFill>
                  <a:srgbClr val="465469"/>
                </a:solidFill>
                <a:latin typeface="宋体" panose="02010600030101010101" pitchFamily="2" charset="-122"/>
                <a:cs typeface="宋体" panose="02010600030101010101" pitchFamily="2" charset="-122"/>
              </a:rPr>
              <a:t>多数配置下最终求解时间优于 </a:t>
            </a:r>
            <a:r>
              <a:rPr sz="940" i="1" dirty="0">
                <a:solidFill>
                  <a:srgbClr val="465469"/>
                </a:solidFill>
                <a:latin typeface="Times New Roman" panose="02020603050405020304"/>
                <a:cs typeface="Times New Roman" panose="02020603050405020304"/>
              </a:rPr>
              <a:t>SCIP</a:t>
            </a:r>
            <a:r>
              <a:rPr sz="940" i="1" spc="-59" dirty="0">
                <a:solidFill>
                  <a:srgbClr val="465469"/>
                </a:solidFill>
                <a:latin typeface="Times New Roman" panose="02020603050405020304"/>
                <a:cs typeface="Times New Roman" panose="02020603050405020304"/>
              </a:rPr>
              <a:t> </a:t>
            </a:r>
            <a:r>
              <a:rPr sz="1100" spc="-129" dirty="0">
                <a:solidFill>
                  <a:srgbClr val="465469"/>
                </a:solidFill>
                <a:latin typeface="宋体" panose="02010600030101010101" pitchFamily="2" charset="-122"/>
                <a:cs typeface="宋体" panose="02010600030101010101" pitchFamily="2" charset="-122"/>
              </a:rPr>
              <a:t>默认策</a:t>
            </a:r>
            <a:r>
              <a:rPr sz="1100" spc="-102" dirty="0">
                <a:solidFill>
                  <a:srgbClr val="465469"/>
                </a:solidFill>
                <a:latin typeface="宋体" panose="02010600030101010101" pitchFamily="2" charset="-122"/>
                <a:cs typeface="宋体" panose="02010600030101010101" pitchFamily="2" charset="-122"/>
              </a:rPr>
              <a:t>略。</a:t>
            </a:r>
            <a:endParaRPr sz="1100">
              <a:latin typeface="宋体" panose="02010600030101010101" pitchFamily="2" charset="-122"/>
              <a:cs typeface="宋体" panose="02010600030101010101" pitchFamily="2" charset="-122"/>
            </a:endParaRPr>
          </a:p>
        </p:txBody>
      </p:sp>
      <p:sp>
        <p:nvSpPr>
          <p:cNvPr id="30" name="object 30"/>
          <p:cNvSpPr txBox="1"/>
          <p:nvPr/>
        </p:nvSpPr>
        <p:spPr>
          <a:xfrm>
            <a:off x="4858720" y="3724052"/>
            <a:ext cx="1055480" cy="118674"/>
          </a:xfrm>
          <a:prstGeom prst="rect">
            <a:avLst/>
          </a:prstGeom>
        </p:spPr>
        <p:txBody>
          <a:bodyPr vert="horz" wrap="square" lIns="0" tIns="9957" rIns="0" bIns="0" rtlCol="0">
            <a:spAutoFit/>
          </a:bodyPr>
          <a:lstStyle/>
          <a:p>
            <a:pPr marL="10160">
              <a:spcBef>
                <a:spcPts val="80"/>
              </a:spcBef>
            </a:pPr>
            <a:r>
              <a:rPr sz="705" dirty="0">
                <a:solidFill>
                  <a:srgbClr val="94A2B8"/>
                </a:solidFill>
                <a:latin typeface="Times New Roman" panose="02020603050405020304"/>
                <a:cs typeface="Times New Roman" panose="02020603050405020304"/>
              </a:rPr>
              <a:t>Nodes</a:t>
            </a:r>
            <a:r>
              <a:rPr sz="705" spc="-16" dirty="0">
                <a:solidFill>
                  <a:srgbClr val="94A2B8"/>
                </a:solidFill>
                <a:latin typeface="Times New Roman" panose="02020603050405020304"/>
                <a:cs typeface="Times New Roman" panose="02020603050405020304"/>
              </a:rPr>
              <a:t> </a:t>
            </a:r>
            <a:r>
              <a:rPr sz="705" dirty="0">
                <a:solidFill>
                  <a:srgbClr val="94A2B8"/>
                </a:solidFill>
                <a:latin typeface="Times New Roman" panose="02020603050405020304"/>
                <a:cs typeface="Times New Roman" panose="02020603050405020304"/>
              </a:rPr>
              <a:t>Reduction</a:t>
            </a:r>
            <a:r>
              <a:rPr sz="705" spc="-16" dirty="0">
                <a:solidFill>
                  <a:srgbClr val="94A2B8"/>
                </a:solidFill>
                <a:latin typeface="Times New Roman" panose="02020603050405020304"/>
                <a:cs typeface="Times New Roman" panose="02020603050405020304"/>
              </a:rPr>
              <a:t> </a:t>
            </a:r>
            <a:r>
              <a:rPr sz="705" dirty="0">
                <a:solidFill>
                  <a:srgbClr val="94A2B8"/>
                </a:solidFill>
                <a:latin typeface="Times New Roman" panose="02020603050405020304"/>
                <a:cs typeface="Times New Roman" panose="02020603050405020304"/>
              </a:rPr>
              <a:t>vs.</a:t>
            </a:r>
            <a:r>
              <a:rPr sz="705" spc="-16" dirty="0">
                <a:solidFill>
                  <a:srgbClr val="94A2B8"/>
                </a:solidFill>
                <a:latin typeface="Times New Roman" panose="02020603050405020304"/>
                <a:cs typeface="Times New Roman" panose="02020603050405020304"/>
              </a:rPr>
              <a:t> </a:t>
            </a:r>
            <a:r>
              <a:rPr sz="705" spc="-8" dirty="0">
                <a:solidFill>
                  <a:srgbClr val="94A2B8"/>
                </a:solidFill>
                <a:latin typeface="Times New Roman" panose="02020603050405020304"/>
                <a:cs typeface="Times New Roman" panose="02020603050405020304"/>
              </a:rPr>
              <a:t>Default</a:t>
            </a:r>
            <a:endParaRPr sz="705">
              <a:latin typeface="Times New Roman" panose="02020603050405020304"/>
              <a:cs typeface="Times New Roman" panose="02020603050405020304"/>
            </a:endParaRPr>
          </a:p>
        </p:txBody>
      </p:sp>
      <p:grpSp>
        <p:nvGrpSpPr>
          <p:cNvPr id="31" name="object 31"/>
          <p:cNvGrpSpPr/>
          <p:nvPr/>
        </p:nvGrpSpPr>
        <p:grpSpPr>
          <a:xfrm>
            <a:off x="7686689" y="2173193"/>
            <a:ext cx="2830379" cy="1867005"/>
            <a:chOff x="8124825" y="2771774"/>
            <a:chExt cx="3609975" cy="2381250"/>
          </a:xfrm>
        </p:grpSpPr>
        <p:sp>
          <p:nvSpPr>
            <p:cNvPr id="32" name="object 32"/>
            <p:cNvSpPr/>
            <p:nvPr/>
          </p:nvSpPr>
          <p:spPr>
            <a:xfrm>
              <a:off x="8129587" y="2776537"/>
              <a:ext cx="3600450" cy="2371725"/>
            </a:xfrm>
            <a:custGeom>
              <a:avLst/>
              <a:gdLst/>
              <a:ahLst/>
              <a:cxnLst/>
              <a:rect l="l" t="t" r="r" b="b"/>
              <a:pathLst>
                <a:path w="3600450" h="2371725">
                  <a:moveTo>
                    <a:pt x="0" y="22621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90912" y="0"/>
                  </a:lnTo>
                  <a:lnTo>
                    <a:pt x="3498104" y="0"/>
                  </a:lnTo>
                  <a:lnTo>
                    <a:pt x="3505227" y="701"/>
                  </a:lnTo>
                  <a:lnTo>
                    <a:pt x="3512281" y="2104"/>
                  </a:lnTo>
                  <a:lnTo>
                    <a:pt x="3519335" y="3507"/>
                  </a:lnTo>
                  <a:lnTo>
                    <a:pt x="3526185" y="5585"/>
                  </a:lnTo>
                  <a:lnTo>
                    <a:pt x="3532829" y="8338"/>
                  </a:lnTo>
                  <a:lnTo>
                    <a:pt x="3539474" y="11090"/>
                  </a:lnTo>
                  <a:lnTo>
                    <a:pt x="3573452" y="37168"/>
                  </a:lnTo>
                  <a:lnTo>
                    <a:pt x="3592110" y="67619"/>
                  </a:lnTo>
                  <a:lnTo>
                    <a:pt x="3594863" y="74264"/>
                  </a:lnTo>
                  <a:lnTo>
                    <a:pt x="3596941" y="81113"/>
                  </a:lnTo>
                  <a:lnTo>
                    <a:pt x="3598344" y="88167"/>
                  </a:lnTo>
                  <a:lnTo>
                    <a:pt x="3599747" y="95221"/>
                  </a:lnTo>
                  <a:lnTo>
                    <a:pt x="3600449" y="102345"/>
                  </a:lnTo>
                  <a:lnTo>
                    <a:pt x="3600449" y="109537"/>
                  </a:lnTo>
                  <a:lnTo>
                    <a:pt x="3600449" y="2262187"/>
                  </a:lnTo>
                  <a:lnTo>
                    <a:pt x="3600449" y="2269379"/>
                  </a:lnTo>
                  <a:lnTo>
                    <a:pt x="3599747" y="2276502"/>
                  </a:lnTo>
                  <a:lnTo>
                    <a:pt x="3598344" y="2283556"/>
                  </a:lnTo>
                  <a:lnTo>
                    <a:pt x="3596941" y="2290610"/>
                  </a:lnTo>
                  <a:lnTo>
                    <a:pt x="3594863" y="2297460"/>
                  </a:lnTo>
                  <a:lnTo>
                    <a:pt x="3592110" y="2304105"/>
                  </a:lnTo>
                  <a:lnTo>
                    <a:pt x="3589358" y="2310750"/>
                  </a:lnTo>
                  <a:lnTo>
                    <a:pt x="3563280" y="2344727"/>
                  </a:lnTo>
                  <a:lnTo>
                    <a:pt x="3532829" y="2363386"/>
                  </a:lnTo>
                  <a:lnTo>
                    <a:pt x="3526185" y="2366138"/>
                  </a:lnTo>
                  <a:lnTo>
                    <a:pt x="3519335" y="2368216"/>
                  </a:lnTo>
                  <a:lnTo>
                    <a:pt x="3512281" y="2369619"/>
                  </a:lnTo>
                  <a:lnTo>
                    <a:pt x="3505227" y="2371023"/>
                  </a:lnTo>
                  <a:lnTo>
                    <a:pt x="3498104" y="2371724"/>
                  </a:lnTo>
                  <a:lnTo>
                    <a:pt x="3490912" y="2371724"/>
                  </a:lnTo>
                  <a:lnTo>
                    <a:pt x="109537" y="2371724"/>
                  </a:lnTo>
                  <a:lnTo>
                    <a:pt x="102345" y="2371724"/>
                  </a:lnTo>
                  <a:lnTo>
                    <a:pt x="95221" y="2371023"/>
                  </a:lnTo>
                  <a:lnTo>
                    <a:pt x="88167" y="2369619"/>
                  </a:lnTo>
                  <a:lnTo>
                    <a:pt x="81113" y="2368216"/>
                  </a:lnTo>
                  <a:lnTo>
                    <a:pt x="74264" y="2366138"/>
                  </a:lnTo>
                  <a:lnTo>
                    <a:pt x="67619" y="2363386"/>
                  </a:lnTo>
                  <a:lnTo>
                    <a:pt x="60974" y="2360634"/>
                  </a:lnTo>
                  <a:lnTo>
                    <a:pt x="26997" y="2334556"/>
                  </a:lnTo>
                  <a:lnTo>
                    <a:pt x="5585" y="2297460"/>
                  </a:lnTo>
                  <a:lnTo>
                    <a:pt x="0" y="2269379"/>
                  </a:lnTo>
                  <a:lnTo>
                    <a:pt x="0" y="2262187"/>
                  </a:lnTo>
                  <a:close/>
                </a:path>
              </a:pathLst>
            </a:custGeom>
            <a:ln w="9524">
              <a:solidFill>
                <a:srgbClr val="E2E7F0"/>
              </a:solidFill>
            </a:ln>
          </p:spPr>
          <p:txBody>
            <a:bodyPr wrap="square" lIns="0" tIns="0" rIns="0" bIns="0" rtlCol="0"/>
            <a:lstStyle/>
            <a:p/>
          </p:txBody>
        </p:sp>
        <p:sp>
          <p:nvSpPr>
            <p:cNvPr id="33" name="object 33"/>
            <p:cNvSpPr/>
            <p:nvPr/>
          </p:nvSpPr>
          <p:spPr>
            <a:xfrm>
              <a:off x="8362949" y="3009899"/>
              <a:ext cx="381000" cy="381000"/>
            </a:xfrm>
            <a:custGeom>
              <a:avLst/>
              <a:gdLst/>
              <a:ahLst/>
              <a:cxnLst/>
              <a:rect l="l" t="t" r="r" b="b"/>
              <a:pathLst>
                <a:path w="381000" h="381000">
                  <a:moveTo>
                    <a:pt x="190499" y="380999"/>
                  </a:moveTo>
                  <a:lnTo>
                    <a:pt x="144200" y="375289"/>
                  </a:lnTo>
                  <a:lnTo>
                    <a:pt x="100697" y="358507"/>
                  </a:lnTo>
                  <a:lnTo>
                    <a:pt x="62575" y="331659"/>
                  </a:lnTo>
                  <a:lnTo>
                    <a:pt x="32105" y="296336"/>
                  </a:lnTo>
                  <a:lnTo>
                    <a:pt x="11130" y="254667"/>
                  </a:lnTo>
                  <a:lnTo>
                    <a:pt x="915" y="209172"/>
                  </a:lnTo>
                  <a:lnTo>
                    <a:pt x="0" y="190499"/>
                  </a:lnTo>
                  <a:lnTo>
                    <a:pt x="228" y="181141"/>
                  </a:lnTo>
                  <a:lnTo>
                    <a:pt x="8200" y="135200"/>
                  </a:lnTo>
                  <a:lnTo>
                    <a:pt x="27095" y="92572"/>
                  </a:lnTo>
                  <a:lnTo>
                    <a:pt x="55796" y="55796"/>
                  </a:lnTo>
                  <a:lnTo>
                    <a:pt x="92572" y="27095"/>
                  </a:lnTo>
                  <a:lnTo>
                    <a:pt x="135200" y="8200"/>
                  </a:lnTo>
                  <a:lnTo>
                    <a:pt x="181141" y="228"/>
                  </a:lnTo>
                  <a:lnTo>
                    <a:pt x="190499" y="0"/>
                  </a:lnTo>
                  <a:lnTo>
                    <a:pt x="199858" y="228"/>
                  </a:lnTo>
                  <a:lnTo>
                    <a:pt x="245799" y="8200"/>
                  </a:lnTo>
                  <a:lnTo>
                    <a:pt x="288427" y="27095"/>
                  </a:lnTo>
                  <a:lnTo>
                    <a:pt x="325203" y="55796"/>
                  </a:lnTo>
                  <a:lnTo>
                    <a:pt x="353904" y="92572"/>
                  </a:lnTo>
                  <a:lnTo>
                    <a:pt x="372799" y="135200"/>
                  </a:lnTo>
                  <a:lnTo>
                    <a:pt x="380771" y="181141"/>
                  </a:lnTo>
                  <a:lnTo>
                    <a:pt x="380999" y="190499"/>
                  </a:lnTo>
                  <a:lnTo>
                    <a:pt x="380771" y="199858"/>
                  </a:lnTo>
                  <a:lnTo>
                    <a:pt x="372799" y="245799"/>
                  </a:lnTo>
                  <a:lnTo>
                    <a:pt x="353904" y="288427"/>
                  </a:lnTo>
                  <a:lnTo>
                    <a:pt x="325203" y="325203"/>
                  </a:lnTo>
                  <a:lnTo>
                    <a:pt x="288427" y="353904"/>
                  </a:lnTo>
                  <a:lnTo>
                    <a:pt x="245799" y="372799"/>
                  </a:lnTo>
                  <a:lnTo>
                    <a:pt x="199858" y="380771"/>
                  </a:lnTo>
                  <a:lnTo>
                    <a:pt x="190499" y="380999"/>
                  </a:lnTo>
                  <a:close/>
                </a:path>
              </a:pathLst>
            </a:custGeom>
            <a:solidFill>
              <a:srgbClr val="FEF2C7"/>
            </a:solidFill>
          </p:spPr>
          <p:txBody>
            <a:bodyPr wrap="square" lIns="0" tIns="0" rIns="0" bIns="0" rtlCol="0"/>
            <a:lstStyle/>
            <a:p/>
          </p:txBody>
        </p:sp>
        <p:pic>
          <p:nvPicPr>
            <p:cNvPr id="34" name="object 34"/>
            <p:cNvPicPr/>
            <p:nvPr/>
          </p:nvPicPr>
          <p:blipFill>
            <a:blip r:embed="rId3" cstate="print"/>
            <a:stretch>
              <a:fillRect/>
            </a:stretch>
          </p:blipFill>
          <p:spPr>
            <a:xfrm>
              <a:off x="8458199" y="3105149"/>
              <a:ext cx="190499" cy="190499"/>
            </a:xfrm>
            <a:prstGeom prst="rect">
              <a:avLst/>
            </a:prstGeom>
          </p:spPr>
        </p:pic>
      </p:grpSp>
      <p:sp>
        <p:nvSpPr>
          <p:cNvPr id="35" name="object 35"/>
          <p:cNvSpPr txBox="1"/>
          <p:nvPr/>
        </p:nvSpPr>
        <p:spPr>
          <a:xfrm>
            <a:off x="8254218" y="2392206"/>
            <a:ext cx="1319350" cy="193516"/>
          </a:xfrm>
          <a:prstGeom prst="rect">
            <a:avLst/>
          </a:prstGeom>
        </p:spPr>
        <p:txBody>
          <a:bodyPr vert="horz" wrap="square" lIns="0" tIns="12447" rIns="0" bIns="0" rtlCol="0">
            <a:spAutoFit/>
          </a:bodyPr>
          <a:lstStyle/>
          <a:p>
            <a:pPr marL="10160">
              <a:spcBef>
                <a:spcPts val="100"/>
              </a:spcBef>
            </a:pPr>
            <a:r>
              <a:rPr sz="1175" b="1" spc="-110" dirty="0">
                <a:solidFill>
                  <a:srgbClr val="1D293B"/>
                </a:solidFill>
                <a:latin typeface="微软雅黑" panose="020B0503020204020204" charset="-122"/>
                <a:cs typeface="微软雅黑" panose="020B0503020204020204" charset="-122"/>
              </a:rPr>
              <a:t>决策质量 </a:t>
            </a:r>
            <a:r>
              <a:rPr sz="1060" b="1" dirty="0">
                <a:solidFill>
                  <a:srgbClr val="1D293B"/>
                </a:solidFill>
                <a:latin typeface="Calibri" panose="020F0502020204030204"/>
                <a:cs typeface="Calibri" panose="020F0502020204030204"/>
              </a:rPr>
              <a:t>vs</a:t>
            </a:r>
            <a:r>
              <a:rPr sz="1060" b="1" spc="8" dirty="0">
                <a:solidFill>
                  <a:srgbClr val="1D293B"/>
                </a:solidFill>
                <a:latin typeface="Calibri" panose="020F0502020204030204"/>
                <a:cs typeface="Calibri" panose="020F0502020204030204"/>
              </a:rPr>
              <a:t>. </a:t>
            </a:r>
            <a:r>
              <a:rPr sz="1175" b="1" spc="-106" dirty="0">
                <a:solidFill>
                  <a:srgbClr val="1D293B"/>
                </a:solidFill>
                <a:latin typeface="微软雅黑" panose="020B0503020204020204" charset="-122"/>
                <a:cs typeface="微软雅黑" panose="020B0503020204020204" charset="-122"/>
              </a:rPr>
              <a:t>推理开销</a:t>
            </a:r>
            <a:endParaRPr sz="1175">
              <a:latin typeface="微软雅黑" panose="020B0503020204020204" charset="-122"/>
              <a:cs typeface="微软雅黑" panose="020B0503020204020204" charset="-122"/>
            </a:endParaRPr>
          </a:p>
        </p:txBody>
      </p:sp>
      <p:sp>
        <p:nvSpPr>
          <p:cNvPr id="36" name="object 36"/>
          <p:cNvSpPr txBox="1"/>
          <p:nvPr/>
        </p:nvSpPr>
        <p:spPr>
          <a:xfrm>
            <a:off x="7865882" y="2745144"/>
            <a:ext cx="2440051" cy="173359"/>
          </a:xfrm>
          <a:prstGeom prst="rect">
            <a:avLst/>
          </a:prstGeom>
        </p:spPr>
        <p:txBody>
          <a:bodyPr vert="horz" wrap="square" lIns="0" tIns="10455" rIns="0" bIns="0" rtlCol="0">
            <a:spAutoFit/>
          </a:bodyPr>
          <a:lstStyle/>
          <a:p>
            <a:pPr marL="10160">
              <a:spcBef>
                <a:spcPts val="80"/>
              </a:spcBef>
            </a:pPr>
            <a:r>
              <a:rPr sz="1060" spc="-125" dirty="0">
                <a:solidFill>
                  <a:srgbClr val="465469"/>
                </a:solidFill>
                <a:latin typeface="宋体" panose="02010600030101010101" pitchFamily="2" charset="-122"/>
                <a:cs typeface="宋体" panose="02010600030101010101" pitchFamily="2" charset="-122"/>
              </a:rPr>
              <a:t>节点数少不一定时间短。例如，</a:t>
            </a:r>
            <a:r>
              <a:rPr sz="940" spc="-16" dirty="0">
                <a:solidFill>
                  <a:srgbClr val="465469"/>
                </a:solidFill>
                <a:latin typeface="Times New Roman" panose="02020603050405020304"/>
                <a:cs typeface="Times New Roman" panose="02020603050405020304"/>
              </a:rPr>
              <a:t>SVMRANK</a:t>
            </a:r>
            <a:r>
              <a:rPr sz="940" spc="78" dirty="0">
                <a:solidFill>
                  <a:srgbClr val="465469"/>
                </a:solidFill>
                <a:latin typeface="Times New Roman" panose="02020603050405020304"/>
                <a:cs typeface="Times New Roman" panose="02020603050405020304"/>
              </a:rPr>
              <a:t> </a:t>
            </a:r>
            <a:r>
              <a:rPr sz="1060" spc="-39" dirty="0">
                <a:solidFill>
                  <a:srgbClr val="465469"/>
                </a:solidFill>
                <a:latin typeface="宋体" panose="02010600030101010101" pitchFamily="2" charset="-122"/>
                <a:cs typeface="宋体" panose="02010600030101010101" pitchFamily="2" charset="-122"/>
              </a:rPr>
              <a:t>虽</a:t>
            </a:r>
            <a:endParaRPr sz="1060">
              <a:latin typeface="宋体" panose="02010600030101010101" pitchFamily="2" charset="-122"/>
              <a:cs typeface="宋体" panose="02010600030101010101" pitchFamily="2" charset="-122"/>
            </a:endParaRPr>
          </a:p>
        </p:txBody>
      </p:sp>
      <p:sp>
        <p:nvSpPr>
          <p:cNvPr id="37" name="object 37"/>
          <p:cNvSpPr txBox="1"/>
          <p:nvPr/>
        </p:nvSpPr>
        <p:spPr>
          <a:xfrm>
            <a:off x="8500701" y="2957335"/>
            <a:ext cx="657186" cy="128240"/>
          </a:xfrm>
          <a:prstGeom prst="rect">
            <a:avLst/>
          </a:prstGeom>
          <a:solidFill>
            <a:srgbClr val="FFFAEB"/>
          </a:solidFill>
        </p:spPr>
        <p:txBody>
          <a:bodyPr vert="horz" wrap="square" lIns="0" tIns="0" rIns="0" bIns="0" rtlCol="0">
            <a:spAutoFit/>
          </a:bodyPr>
          <a:lstStyle/>
          <a:p>
            <a:pPr marL="31750">
              <a:lnSpc>
                <a:spcPts val="975"/>
              </a:lnSpc>
            </a:pPr>
            <a:r>
              <a:rPr sz="1060" spc="-118" dirty="0">
                <a:solidFill>
                  <a:srgbClr val="91400D"/>
                </a:solidFill>
                <a:latin typeface="宋体" panose="02010600030101010101" pitchFamily="2" charset="-122"/>
                <a:cs typeface="宋体" panose="02010600030101010101" pitchFamily="2" charset="-122"/>
              </a:rPr>
              <a:t>单步推理慢</a:t>
            </a:r>
            <a:endParaRPr sz="1060">
              <a:latin typeface="宋体" panose="02010600030101010101" pitchFamily="2" charset="-122"/>
              <a:cs typeface="宋体" panose="02010600030101010101" pitchFamily="2" charset="-122"/>
            </a:endParaRPr>
          </a:p>
        </p:txBody>
      </p:sp>
      <p:sp>
        <p:nvSpPr>
          <p:cNvPr id="38" name="object 38"/>
          <p:cNvSpPr txBox="1"/>
          <p:nvPr/>
        </p:nvSpPr>
        <p:spPr>
          <a:xfrm>
            <a:off x="7865881" y="2909440"/>
            <a:ext cx="2290193" cy="173359"/>
          </a:xfrm>
          <a:prstGeom prst="rect">
            <a:avLst/>
          </a:prstGeom>
        </p:spPr>
        <p:txBody>
          <a:bodyPr vert="horz" wrap="square" lIns="0" tIns="10455" rIns="0" bIns="0" rtlCol="0">
            <a:spAutoFit/>
          </a:bodyPr>
          <a:lstStyle/>
          <a:p>
            <a:pPr marL="10160">
              <a:spcBef>
                <a:spcPts val="80"/>
              </a:spcBef>
              <a:tabLst>
                <a:tab pos="1323340" algn="l"/>
              </a:tabLst>
            </a:pPr>
            <a:r>
              <a:rPr sz="1060" spc="-133" dirty="0">
                <a:solidFill>
                  <a:srgbClr val="465469"/>
                </a:solidFill>
                <a:latin typeface="宋体" panose="02010600030101010101" pitchFamily="2" charset="-122"/>
                <a:cs typeface="宋体" panose="02010600030101010101" pitchFamily="2" charset="-122"/>
              </a:rPr>
              <a:t>节点少，</a:t>
            </a:r>
            <a:r>
              <a:rPr sz="1060" spc="-39" dirty="0">
                <a:solidFill>
                  <a:srgbClr val="465469"/>
                </a:solidFill>
                <a:latin typeface="宋体" panose="02010600030101010101" pitchFamily="2" charset="-122"/>
                <a:cs typeface="宋体" panose="02010600030101010101" pitchFamily="2" charset="-122"/>
              </a:rPr>
              <a:t>但</a:t>
            </a:r>
            <a:r>
              <a:rPr sz="1060" dirty="0">
                <a:solidFill>
                  <a:srgbClr val="465469"/>
                </a:solidFill>
                <a:latin typeface="宋体" panose="02010600030101010101" pitchFamily="2" charset="-122"/>
                <a:cs typeface="宋体" panose="02010600030101010101" pitchFamily="2" charset="-122"/>
              </a:rPr>
              <a:t>	</a:t>
            </a:r>
            <a:r>
              <a:rPr sz="1060" spc="-133" dirty="0">
                <a:solidFill>
                  <a:srgbClr val="465469"/>
                </a:solidFill>
                <a:latin typeface="宋体" panose="02010600030101010101" pitchFamily="2" charset="-122"/>
                <a:cs typeface="宋体" panose="02010600030101010101" pitchFamily="2" charset="-122"/>
              </a:rPr>
              <a:t>导致总耗时增加</a:t>
            </a:r>
            <a:r>
              <a:rPr sz="1060" spc="-39" dirty="0">
                <a:solidFill>
                  <a:srgbClr val="465469"/>
                </a:solidFill>
                <a:latin typeface="宋体" panose="02010600030101010101" pitchFamily="2" charset="-122"/>
                <a:cs typeface="宋体" panose="02010600030101010101" pitchFamily="2" charset="-122"/>
              </a:rPr>
              <a:t>。</a:t>
            </a:r>
            <a:endParaRPr sz="1060">
              <a:latin typeface="宋体" panose="02010600030101010101" pitchFamily="2" charset="-122"/>
              <a:cs typeface="宋体" panose="02010600030101010101" pitchFamily="2" charset="-122"/>
            </a:endParaRPr>
          </a:p>
        </p:txBody>
      </p:sp>
      <p:grpSp>
        <p:nvGrpSpPr>
          <p:cNvPr id="39" name="object 39"/>
          <p:cNvGrpSpPr/>
          <p:nvPr/>
        </p:nvGrpSpPr>
        <p:grpSpPr>
          <a:xfrm>
            <a:off x="7873389" y="3226184"/>
            <a:ext cx="2456978" cy="492889"/>
            <a:chOff x="8362950" y="4114799"/>
            <a:chExt cx="3133725" cy="628650"/>
          </a:xfrm>
        </p:grpSpPr>
        <p:sp>
          <p:nvSpPr>
            <p:cNvPr id="40" name="object 40"/>
            <p:cNvSpPr/>
            <p:nvPr/>
          </p:nvSpPr>
          <p:spPr>
            <a:xfrm>
              <a:off x="8367712" y="4119562"/>
              <a:ext cx="3124200" cy="619125"/>
            </a:xfrm>
            <a:custGeom>
              <a:avLst/>
              <a:gdLst/>
              <a:ahLst/>
              <a:cxnLst/>
              <a:rect l="l" t="t" r="r" b="b"/>
              <a:pathLst>
                <a:path w="3124200" h="619125">
                  <a:moveTo>
                    <a:pt x="3057452" y="619124"/>
                  </a:moveTo>
                  <a:lnTo>
                    <a:pt x="66746" y="619124"/>
                  </a:lnTo>
                  <a:lnTo>
                    <a:pt x="62101" y="618667"/>
                  </a:lnTo>
                  <a:lnTo>
                    <a:pt x="24240" y="601517"/>
                  </a:lnTo>
                  <a:lnTo>
                    <a:pt x="2287" y="566224"/>
                  </a:lnTo>
                  <a:lnTo>
                    <a:pt x="0" y="552378"/>
                  </a:lnTo>
                  <a:lnTo>
                    <a:pt x="0" y="547687"/>
                  </a:lnTo>
                  <a:lnTo>
                    <a:pt x="0" y="66746"/>
                  </a:lnTo>
                  <a:lnTo>
                    <a:pt x="14645" y="27848"/>
                  </a:lnTo>
                  <a:lnTo>
                    <a:pt x="48433" y="3642"/>
                  </a:lnTo>
                  <a:lnTo>
                    <a:pt x="66746" y="0"/>
                  </a:lnTo>
                  <a:lnTo>
                    <a:pt x="3057452" y="0"/>
                  </a:lnTo>
                  <a:lnTo>
                    <a:pt x="3096350" y="14645"/>
                  </a:lnTo>
                  <a:lnTo>
                    <a:pt x="3120556" y="48432"/>
                  </a:lnTo>
                  <a:lnTo>
                    <a:pt x="3124199" y="66746"/>
                  </a:lnTo>
                  <a:lnTo>
                    <a:pt x="3124199" y="552378"/>
                  </a:lnTo>
                  <a:lnTo>
                    <a:pt x="3109554" y="591275"/>
                  </a:lnTo>
                  <a:lnTo>
                    <a:pt x="3075766" y="615481"/>
                  </a:lnTo>
                  <a:lnTo>
                    <a:pt x="3062098" y="618667"/>
                  </a:lnTo>
                  <a:lnTo>
                    <a:pt x="3057452" y="619124"/>
                  </a:lnTo>
                  <a:close/>
                </a:path>
              </a:pathLst>
            </a:custGeom>
            <a:solidFill>
              <a:srgbClr val="F7FAFB"/>
            </a:solidFill>
          </p:spPr>
          <p:txBody>
            <a:bodyPr wrap="square" lIns="0" tIns="0" rIns="0" bIns="0" rtlCol="0"/>
            <a:lstStyle/>
            <a:p/>
          </p:txBody>
        </p:sp>
        <p:sp>
          <p:nvSpPr>
            <p:cNvPr id="41" name="object 41"/>
            <p:cNvSpPr/>
            <p:nvPr/>
          </p:nvSpPr>
          <p:spPr>
            <a:xfrm>
              <a:off x="8367712" y="4119562"/>
              <a:ext cx="3124200" cy="619125"/>
            </a:xfrm>
            <a:custGeom>
              <a:avLst/>
              <a:gdLst/>
              <a:ahLst/>
              <a:cxnLst/>
              <a:rect l="l" t="t" r="r" b="b"/>
              <a:pathLst>
                <a:path w="3124200" h="619125">
                  <a:moveTo>
                    <a:pt x="0" y="547687"/>
                  </a:moveTo>
                  <a:lnTo>
                    <a:pt x="0" y="71437"/>
                  </a:lnTo>
                  <a:lnTo>
                    <a:pt x="0" y="66746"/>
                  </a:lnTo>
                  <a:lnTo>
                    <a:pt x="457" y="62101"/>
                  </a:lnTo>
                  <a:lnTo>
                    <a:pt x="1372" y="57500"/>
                  </a:lnTo>
                  <a:lnTo>
                    <a:pt x="2287" y="52899"/>
                  </a:lnTo>
                  <a:lnTo>
                    <a:pt x="3642" y="48432"/>
                  </a:lnTo>
                  <a:lnTo>
                    <a:pt x="5437" y="44099"/>
                  </a:lnTo>
                  <a:lnTo>
                    <a:pt x="7232" y="39765"/>
                  </a:lnTo>
                  <a:lnTo>
                    <a:pt x="20923" y="20923"/>
                  </a:lnTo>
                  <a:lnTo>
                    <a:pt x="24240" y="17606"/>
                  </a:lnTo>
                  <a:lnTo>
                    <a:pt x="27848" y="14645"/>
                  </a:lnTo>
                  <a:lnTo>
                    <a:pt x="31748" y="12039"/>
                  </a:lnTo>
                  <a:lnTo>
                    <a:pt x="35649" y="9433"/>
                  </a:lnTo>
                  <a:lnTo>
                    <a:pt x="57500" y="1372"/>
                  </a:lnTo>
                  <a:lnTo>
                    <a:pt x="62101" y="457"/>
                  </a:lnTo>
                  <a:lnTo>
                    <a:pt x="66746" y="0"/>
                  </a:lnTo>
                  <a:lnTo>
                    <a:pt x="71437" y="0"/>
                  </a:lnTo>
                  <a:lnTo>
                    <a:pt x="3052762" y="0"/>
                  </a:lnTo>
                  <a:lnTo>
                    <a:pt x="3057452" y="0"/>
                  </a:lnTo>
                  <a:lnTo>
                    <a:pt x="3062098" y="457"/>
                  </a:lnTo>
                  <a:lnTo>
                    <a:pt x="3066698" y="1372"/>
                  </a:lnTo>
                  <a:lnTo>
                    <a:pt x="3071299" y="2287"/>
                  </a:lnTo>
                  <a:lnTo>
                    <a:pt x="3092450" y="12039"/>
                  </a:lnTo>
                  <a:lnTo>
                    <a:pt x="3096350" y="14645"/>
                  </a:lnTo>
                  <a:lnTo>
                    <a:pt x="3120556" y="48432"/>
                  </a:lnTo>
                  <a:lnTo>
                    <a:pt x="3122826" y="57500"/>
                  </a:lnTo>
                  <a:lnTo>
                    <a:pt x="3123742" y="62101"/>
                  </a:lnTo>
                  <a:lnTo>
                    <a:pt x="3124199" y="66746"/>
                  </a:lnTo>
                  <a:lnTo>
                    <a:pt x="3124199" y="71437"/>
                  </a:lnTo>
                  <a:lnTo>
                    <a:pt x="3124199" y="547687"/>
                  </a:lnTo>
                  <a:lnTo>
                    <a:pt x="3124199" y="552378"/>
                  </a:lnTo>
                  <a:lnTo>
                    <a:pt x="3123742" y="557023"/>
                  </a:lnTo>
                  <a:lnTo>
                    <a:pt x="3122826" y="561624"/>
                  </a:lnTo>
                  <a:lnTo>
                    <a:pt x="3121911" y="566224"/>
                  </a:lnTo>
                  <a:lnTo>
                    <a:pt x="3099959" y="601517"/>
                  </a:lnTo>
                  <a:lnTo>
                    <a:pt x="3092450" y="607085"/>
                  </a:lnTo>
                  <a:lnTo>
                    <a:pt x="3088550" y="609691"/>
                  </a:lnTo>
                  <a:lnTo>
                    <a:pt x="3057452" y="619124"/>
                  </a:lnTo>
                  <a:lnTo>
                    <a:pt x="3052762" y="619124"/>
                  </a:lnTo>
                  <a:lnTo>
                    <a:pt x="71437" y="619124"/>
                  </a:lnTo>
                  <a:lnTo>
                    <a:pt x="66746" y="619124"/>
                  </a:lnTo>
                  <a:lnTo>
                    <a:pt x="62101" y="618667"/>
                  </a:lnTo>
                  <a:lnTo>
                    <a:pt x="57500" y="617752"/>
                  </a:lnTo>
                  <a:lnTo>
                    <a:pt x="52900" y="616837"/>
                  </a:lnTo>
                  <a:lnTo>
                    <a:pt x="20923" y="598201"/>
                  </a:lnTo>
                  <a:lnTo>
                    <a:pt x="17606" y="594884"/>
                  </a:lnTo>
                  <a:lnTo>
                    <a:pt x="457" y="557023"/>
                  </a:lnTo>
                  <a:lnTo>
                    <a:pt x="0" y="552378"/>
                  </a:lnTo>
                  <a:lnTo>
                    <a:pt x="0" y="547687"/>
                  </a:lnTo>
                  <a:close/>
                </a:path>
              </a:pathLst>
            </a:custGeom>
            <a:ln w="9524">
              <a:solidFill>
                <a:srgbClr val="DFE7FF"/>
              </a:solidFill>
            </a:ln>
          </p:spPr>
          <p:txBody>
            <a:bodyPr wrap="square" lIns="0" tIns="0" rIns="0" bIns="0" rtlCol="0"/>
            <a:lstStyle/>
            <a:p/>
          </p:txBody>
        </p:sp>
      </p:grpSp>
      <p:sp>
        <p:nvSpPr>
          <p:cNvPr id="42" name="object 42"/>
          <p:cNvSpPr txBox="1"/>
          <p:nvPr/>
        </p:nvSpPr>
        <p:spPr>
          <a:xfrm>
            <a:off x="7962966" y="3284664"/>
            <a:ext cx="2192610" cy="293423"/>
          </a:xfrm>
          <a:prstGeom prst="rect">
            <a:avLst/>
          </a:prstGeom>
        </p:spPr>
        <p:txBody>
          <a:bodyPr vert="horz" wrap="square" lIns="0" tIns="8962" rIns="0" bIns="0" rtlCol="0">
            <a:spAutoFit/>
          </a:bodyPr>
          <a:lstStyle/>
          <a:p>
            <a:pPr marL="10160" marR="3810">
              <a:lnSpc>
                <a:spcPct val="109000"/>
              </a:lnSpc>
              <a:spcBef>
                <a:spcPts val="70"/>
              </a:spcBef>
            </a:pPr>
            <a:r>
              <a:rPr sz="825" b="1" dirty="0">
                <a:solidFill>
                  <a:srgbClr val="312E81"/>
                </a:solidFill>
                <a:latin typeface="Times New Roman" panose="02020603050405020304"/>
                <a:cs typeface="Times New Roman" panose="02020603050405020304"/>
              </a:rPr>
              <a:t>GCNN</a:t>
            </a:r>
            <a:r>
              <a:rPr sz="825" b="1" spc="-31" dirty="0">
                <a:solidFill>
                  <a:srgbClr val="312E81"/>
                </a:solidFill>
                <a:latin typeface="Times New Roman" panose="02020603050405020304"/>
                <a:cs typeface="Times New Roman" panose="02020603050405020304"/>
              </a:rPr>
              <a:t> </a:t>
            </a:r>
            <a:r>
              <a:rPr sz="900" b="1" spc="-86" dirty="0">
                <a:solidFill>
                  <a:srgbClr val="312E81"/>
                </a:solidFill>
                <a:latin typeface="微软雅黑" panose="020B0503020204020204" charset="-122"/>
                <a:cs typeface="微软雅黑" panose="020B0503020204020204" charset="-122"/>
              </a:rPr>
              <a:t>达到平衡点</a:t>
            </a:r>
            <a:r>
              <a:rPr sz="825" b="1" spc="-16" dirty="0">
                <a:solidFill>
                  <a:srgbClr val="312E81"/>
                </a:solidFill>
                <a:latin typeface="Times New Roman" panose="02020603050405020304"/>
                <a:cs typeface="Times New Roman" panose="02020603050405020304"/>
              </a:rPr>
              <a:t>: </a:t>
            </a:r>
            <a:r>
              <a:rPr sz="900" spc="-86" dirty="0">
                <a:solidFill>
                  <a:srgbClr val="312E81"/>
                </a:solidFill>
                <a:latin typeface="宋体" panose="02010600030101010101" pitchFamily="2" charset="-122"/>
                <a:cs typeface="宋体" panose="02010600030101010101" pitchFamily="2" charset="-122"/>
              </a:rPr>
              <a:t>决策质量与算力成本的最佳</a:t>
            </a:r>
            <a:r>
              <a:rPr sz="900" spc="-71" dirty="0">
                <a:solidFill>
                  <a:srgbClr val="312E81"/>
                </a:solidFill>
                <a:latin typeface="宋体" panose="02010600030101010101" pitchFamily="2" charset="-122"/>
                <a:cs typeface="宋体" panose="02010600030101010101" pitchFamily="2" charset="-122"/>
              </a:rPr>
              <a:t>比例。</a:t>
            </a:r>
            <a:endParaRPr sz="900">
              <a:latin typeface="宋体" panose="02010600030101010101" pitchFamily="2" charset="-122"/>
              <a:cs typeface="宋体" panose="02010600030101010101" pitchFamily="2" charset="-122"/>
            </a:endParaRPr>
          </a:p>
        </p:txBody>
      </p:sp>
      <p:sp>
        <p:nvSpPr>
          <p:cNvPr id="43" name="object 43"/>
          <p:cNvSpPr/>
          <p:nvPr/>
        </p:nvSpPr>
        <p:spPr>
          <a:xfrm>
            <a:off x="1674933" y="4219430"/>
            <a:ext cx="8842135" cy="7468"/>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1F5F9"/>
          </a:solidFill>
        </p:spPr>
        <p:txBody>
          <a:bodyPr wrap="square" lIns="0" tIns="0" rIns="0" bIns="0" rtlCol="0"/>
          <a:lstStyle/>
          <a:p/>
        </p:txBody>
      </p:sp>
      <p:grpSp>
        <p:nvGrpSpPr>
          <p:cNvPr id="44" name="object 44"/>
          <p:cNvGrpSpPr/>
          <p:nvPr/>
        </p:nvGrpSpPr>
        <p:grpSpPr>
          <a:xfrm>
            <a:off x="1674933" y="4346387"/>
            <a:ext cx="8842135" cy="993247"/>
            <a:chOff x="457200" y="5543549"/>
            <a:chExt cx="11277600" cy="1266825"/>
          </a:xfrm>
        </p:grpSpPr>
        <p:sp>
          <p:nvSpPr>
            <p:cNvPr id="45" name="object 45"/>
            <p:cNvSpPr/>
            <p:nvPr/>
          </p:nvSpPr>
          <p:spPr>
            <a:xfrm>
              <a:off x="457200" y="5543549"/>
              <a:ext cx="11277600" cy="1266825"/>
            </a:xfrm>
            <a:custGeom>
              <a:avLst/>
              <a:gdLst/>
              <a:ahLst/>
              <a:cxnLst/>
              <a:rect l="l" t="t" r="r" b="b"/>
              <a:pathLst>
                <a:path w="11277600" h="1266825">
                  <a:moveTo>
                    <a:pt x="11170803" y="1266824"/>
                  </a:moveTo>
                  <a:lnTo>
                    <a:pt x="106794" y="1266824"/>
                  </a:lnTo>
                  <a:lnTo>
                    <a:pt x="99362" y="1266092"/>
                  </a:lnTo>
                  <a:lnTo>
                    <a:pt x="57038" y="1251731"/>
                  </a:lnTo>
                  <a:lnTo>
                    <a:pt x="23432" y="1222266"/>
                  </a:lnTo>
                  <a:lnTo>
                    <a:pt x="3660" y="1182184"/>
                  </a:lnTo>
                  <a:lnTo>
                    <a:pt x="0" y="1160029"/>
                  </a:lnTo>
                  <a:lnTo>
                    <a:pt x="0" y="1152524"/>
                  </a:lnTo>
                  <a:lnTo>
                    <a:pt x="0" y="106794"/>
                  </a:lnTo>
                  <a:lnTo>
                    <a:pt x="11572" y="63625"/>
                  </a:lnTo>
                  <a:lnTo>
                    <a:pt x="38784" y="28170"/>
                  </a:lnTo>
                  <a:lnTo>
                    <a:pt x="77493" y="5828"/>
                  </a:lnTo>
                  <a:lnTo>
                    <a:pt x="106794" y="0"/>
                  </a:lnTo>
                  <a:lnTo>
                    <a:pt x="11170803" y="0"/>
                  </a:lnTo>
                  <a:lnTo>
                    <a:pt x="11213971" y="11572"/>
                  </a:lnTo>
                  <a:lnTo>
                    <a:pt x="11249426" y="38784"/>
                  </a:lnTo>
                  <a:lnTo>
                    <a:pt x="11271768" y="77492"/>
                  </a:lnTo>
                  <a:lnTo>
                    <a:pt x="11277597" y="106794"/>
                  </a:lnTo>
                  <a:lnTo>
                    <a:pt x="11277597" y="1160029"/>
                  </a:lnTo>
                  <a:lnTo>
                    <a:pt x="11266023" y="1203199"/>
                  </a:lnTo>
                  <a:lnTo>
                    <a:pt x="11238811" y="1238653"/>
                  </a:lnTo>
                  <a:lnTo>
                    <a:pt x="11200105" y="1260996"/>
                  </a:lnTo>
                  <a:lnTo>
                    <a:pt x="11178236" y="1266092"/>
                  </a:lnTo>
                  <a:lnTo>
                    <a:pt x="11170803" y="1266824"/>
                  </a:lnTo>
                  <a:close/>
                </a:path>
              </a:pathLst>
            </a:custGeom>
            <a:solidFill>
              <a:srgbClr val="1D293B"/>
            </a:solidFill>
          </p:spPr>
          <p:txBody>
            <a:bodyPr wrap="square" lIns="0" tIns="0" rIns="0" bIns="0" rtlCol="0"/>
            <a:lstStyle/>
            <a:p/>
          </p:txBody>
        </p:sp>
        <p:pic>
          <p:nvPicPr>
            <p:cNvPr id="46" name="object 46"/>
            <p:cNvPicPr/>
            <p:nvPr/>
          </p:nvPicPr>
          <p:blipFill>
            <a:blip r:embed="rId4" cstate="print"/>
            <a:stretch>
              <a:fillRect/>
            </a:stretch>
          </p:blipFill>
          <p:spPr>
            <a:xfrm>
              <a:off x="685799" y="5810249"/>
              <a:ext cx="228599" cy="228599"/>
            </a:xfrm>
            <a:prstGeom prst="rect">
              <a:avLst/>
            </a:prstGeom>
          </p:spPr>
        </p:pic>
      </p:grpSp>
      <p:sp>
        <p:nvSpPr>
          <p:cNvPr id="47" name="object 47"/>
          <p:cNvSpPr txBox="1"/>
          <p:nvPr/>
        </p:nvSpPr>
        <p:spPr>
          <a:xfrm>
            <a:off x="1916320" y="4553002"/>
            <a:ext cx="54765" cy="136692"/>
          </a:xfrm>
          <a:prstGeom prst="rect">
            <a:avLst/>
          </a:prstGeom>
        </p:spPr>
        <p:txBody>
          <a:bodyPr vert="horz" wrap="square" lIns="0" tIns="9957" rIns="0" bIns="0" rtlCol="0">
            <a:spAutoFit/>
          </a:bodyPr>
          <a:lstStyle/>
          <a:p>
            <a:pPr marL="10160">
              <a:spcBef>
                <a:spcPts val="80"/>
              </a:spcBef>
            </a:pPr>
            <a:r>
              <a:rPr sz="825" b="1" spc="-39" dirty="0">
                <a:solidFill>
                  <a:srgbClr val="FFFFFF"/>
                </a:solidFill>
                <a:latin typeface="Times New Roman" panose="02020603050405020304"/>
                <a:cs typeface="Times New Roman" panose="02020603050405020304"/>
              </a:rPr>
              <a:t>!</a:t>
            </a:r>
            <a:endParaRPr sz="825">
              <a:latin typeface="Times New Roman" panose="02020603050405020304"/>
              <a:cs typeface="Times New Roman" panose="02020603050405020304"/>
            </a:endParaRPr>
          </a:p>
        </p:txBody>
      </p:sp>
      <p:sp>
        <p:nvSpPr>
          <p:cNvPr id="48" name="object 48"/>
          <p:cNvSpPr/>
          <p:nvPr/>
        </p:nvSpPr>
        <p:spPr>
          <a:xfrm>
            <a:off x="9770265" y="4346387"/>
            <a:ext cx="746802" cy="522761"/>
          </a:xfrm>
          <a:custGeom>
            <a:avLst/>
            <a:gdLst/>
            <a:ahLst/>
            <a:cxnLst/>
            <a:rect l="l" t="t" r="r" b="b"/>
            <a:pathLst>
              <a:path w="952500" h="666750">
                <a:moveTo>
                  <a:pt x="476249" y="666749"/>
                </a:moveTo>
                <a:lnTo>
                  <a:pt x="429569" y="664456"/>
                </a:lnTo>
                <a:lnTo>
                  <a:pt x="383338" y="657598"/>
                </a:lnTo>
                <a:lnTo>
                  <a:pt x="338001" y="646242"/>
                </a:lnTo>
                <a:lnTo>
                  <a:pt x="293996" y="630497"/>
                </a:lnTo>
                <a:lnTo>
                  <a:pt x="251747" y="610514"/>
                </a:lnTo>
                <a:lnTo>
                  <a:pt x="211659" y="586487"/>
                </a:lnTo>
                <a:lnTo>
                  <a:pt x="174120" y="558646"/>
                </a:lnTo>
                <a:lnTo>
                  <a:pt x="139490" y="527259"/>
                </a:lnTo>
                <a:lnTo>
                  <a:pt x="108103" y="492629"/>
                </a:lnTo>
                <a:lnTo>
                  <a:pt x="80262" y="455090"/>
                </a:lnTo>
                <a:lnTo>
                  <a:pt x="56234" y="415002"/>
                </a:lnTo>
                <a:lnTo>
                  <a:pt x="36252" y="372752"/>
                </a:lnTo>
                <a:lnTo>
                  <a:pt x="20507" y="328747"/>
                </a:lnTo>
                <a:lnTo>
                  <a:pt x="9150" y="283411"/>
                </a:lnTo>
                <a:lnTo>
                  <a:pt x="2293" y="237180"/>
                </a:lnTo>
                <a:lnTo>
                  <a:pt x="0" y="190499"/>
                </a:lnTo>
                <a:lnTo>
                  <a:pt x="143" y="178808"/>
                </a:lnTo>
                <a:lnTo>
                  <a:pt x="3581" y="132198"/>
                </a:lnTo>
                <a:lnTo>
                  <a:pt x="11572" y="86149"/>
                </a:lnTo>
                <a:lnTo>
                  <a:pt x="24038" y="41105"/>
                </a:lnTo>
                <a:lnTo>
                  <a:pt x="39787" y="0"/>
                </a:lnTo>
                <a:lnTo>
                  <a:pt x="838200" y="0"/>
                </a:lnTo>
                <a:lnTo>
                  <a:pt x="881939" y="8700"/>
                </a:lnTo>
                <a:lnTo>
                  <a:pt x="919022" y="33477"/>
                </a:lnTo>
                <a:lnTo>
                  <a:pt x="938227" y="74780"/>
                </a:lnTo>
                <a:lnTo>
                  <a:pt x="947345" y="120619"/>
                </a:lnTo>
                <a:lnTo>
                  <a:pt x="951926" y="167131"/>
                </a:lnTo>
                <a:lnTo>
                  <a:pt x="952500" y="190499"/>
                </a:lnTo>
                <a:lnTo>
                  <a:pt x="952356" y="202191"/>
                </a:lnTo>
                <a:lnTo>
                  <a:pt x="948917" y="248801"/>
                </a:lnTo>
                <a:lnTo>
                  <a:pt x="940927" y="294850"/>
                </a:lnTo>
                <a:lnTo>
                  <a:pt x="928461" y="339894"/>
                </a:lnTo>
                <a:lnTo>
                  <a:pt x="911640" y="383499"/>
                </a:lnTo>
                <a:lnTo>
                  <a:pt x="890627" y="425245"/>
                </a:lnTo>
                <a:lnTo>
                  <a:pt x="865622" y="464731"/>
                </a:lnTo>
                <a:lnTo>
                  <a:pt x="836868" y="501576"/>
                </a:lnTo>
                <a:lnTo>
                  <a:pt x="804641" y="535425"/>
                </a:lnTo>
                <a:lnTo>
                  <a:pt x="769251" y="565952"/>
                </a:lnTo>
                <a:lnTo>
                  <a:pt x="731039" y="592863"/>
                </a:lnTo>
                <a:lnTo>
                  <a:pt x="690374" y="615899"/>
                </a:lnTo>
                <a:lnTo>
                  <a:pt x="647646" y="634839"/>
                </a:lnTo>
                <a:lnTo>
                  <a:pt x="603268" y="649499"/>
                </a:lnTo>
                <a:lnTo>
                  <a:pt x="557667" y="659739"/>
                </a:lnTo>
                <a:lnTo>
                  <a:pt x="511281" y="665459"/>
                </a:lnTo>
                <a:lnTo>
                  <a:pt x="476249" y="666749"/>
                </a:lnTo>
                <a:close/>
              </a:path>
            </a:pathLst>
          </a:custGeom>
          <a:solidFill>
            <a:srgbClr val="FFFFFF">
              <a:alpha val="9999"/>
            </a:srgbClr>
          </a:solidFill>
        </p:spPr>
        <p:txBody>
          <a:bodyPr wrap="square" lIns="0" tIns="0" rIns="0" bIns="0" rtlCol="0"/>
          <a:lstStyle/>
          <a:p/>
        </p:txBody>
      </p:sp>
      <p:sp>
        <p:nvSpPr>
          <p:cNvPr id="49" name="object 49"/>
          <p:cNvSpPr txBox="1"/>
          <p:nvPr/>
        </p:nvSpPr>
        <p:spPr>
          <a:xfrm>
            <a:off x="2142928" y="4491870"/>
            <a:ext cx="8085376" cy="607622"/>
          </a:xfrm>
          <a:prstGeom prst="rect">
            <a:avLst/>
          </a:prstGeom>
        </p:spPr>
        <p:txBody>
          <a:bodyPr vert="horz" wrap="square" lIns="0" tIns="33357" rIns="0" bIns="0" rtlCol="0">
            <a:spAutoFit/>
          </a:bodyPr>
          <a:lstStyle/>
          <a:p>
            <a:pPr marL="10160">
              <a:spcBef>
                <a:spcPts val="265"/>
              </a:spcBef>
            </a:pPr>
            <a:r>
              <a:rPr sz="705" b="1" spc="78" dirty="0">
                <a:solidFill>
                  <a:srgbClr val="60A5FA"/>
                </a:solidFill>
                <a:latin typeface="Calibri" panose="020F0502020204030204"/>
                <a:cs typeface="Calibri" panose="020F0502020204030204"/>
              </a:rPr>
              <a:t>KEY</a:t>
            </a:r>
            <a:r>
              <a:rPr sz="705" b="1" spc="86" dirty="0">
                <a:solidFill>
                  <a:srgbClr val="60A5FA"/>
                </a:solidFill>
                <a:latin typeface="Calibri" panose="020F0502020204030204"/>
                <a:cs typeface="Calibri" panose="020F0502020204030204"/>
              </a:rPr>
              <a:t> </a:t>
            </a:r>
            <a:r>
              <a:rPr sz="705" b="1" spc="51" dirty="0">
                <a:solidFill>
                  <a:srgbClr val="60A5FA"/>
                </a:solidFill>
                <a:latin typeface="Calibri" panose="020F0502020204030204"/>
                <a:cs typeface="Calibri" panose="020F0502020204030204"/>
              </a:rPr>
              <a:t>CO</a:t>
            </a:r>
            <a:r>
              <a:rPr sz="705" b="1" spc="-35" dirty="0">
                <a:solidFill>
                  <a:srgbClr val="60A5FA"/>
                </a:solidFill>
                <a:latin typeface="Calibri" panose="020F0502020204030204"/>
                <a:cs typeface="Calibri" panose="020F0502020204030204"/>
              </a:rPr>
              <a:t> </a:t>
            </a:r>
            <a:r>
              <a:rPr sz="705" b="1" spc="89" dirty="0">
                <a:solidFill>
                  <a:srgbClr val="60A5FA"/>
                </a:solidFill>
                <a:latin typeface="Calibri" panose="020F0502020204030204"/>
                <a:cs typeface="Calibri" panose="020F0502020204030204"/>
              </a:rPr>
              <a:t>NCLUSIO</a:t>
            </a:r>
            <a:r>
              <a:rPr sz="705" b="1" spc="-39" dirty="0">
                <a:solidFill>
                  <a:srgbClr val="60A5FA"/>
                </a:solidFill>
                <a:latin typeface="Calibri" panose="020F0502020204030204"/>
                <a:cs typeface="Calibri" panose="020F0502020204030204"/>
              </a:rPr>
              <a:t> N</a:t>
            </a:r>
            <a:endParaRPr sz="705">
              <a:latin typeface="Calibri" panose="020F0502020204030204"/>
              <a:cs typeface="Calibri" panose="020F0502020204030204"/>
            </a:endParaRPr>
          </a:p>
          <a:p>
            <a:pPr marL="10160" marR="3810">
              <a:lnSpc>
                <a:spcPct val="118000"/>
              </a:lnSpc>
              <a:spcBef>
                <a:spcPts val="70"/>
              </a:spcBef>
            </a:pPr>
            <a:r>
              <a:rPr sz="1175" dirty="0">
                <a:solidFill>
                  <a:srgbClr val="FFFFFF"/>
                </a:solidFill>
                <a:latin typeface="Calibri" panose="020F0502020204030204"/>
                <a:cs typeface="Calibri" panose="020F0502020204030204"/>
              </a:rPr>
              <a:t>GCNN</a:t>
            </a:r>
            <a:r>
              <a:rPr sz="1175" spc="67" dirty="0">
                <a:solidFill>
                  <a:srgbClr val="FFFFFF"/>
                </a:solidFill>
                <a:latin typeface="Calibri" panose="020F0502020204030204"/>
                <a:cs typeface="Calibri" panose="020F0502020204030204"/>
              </a:rPr>
              <a:t> </a:t>
            </a:r>
            <a:r>
              <a:rPr sz="1335" spc="-286" dirty="0">
                <a:solidFill>
                  <a:srgbClr val="FFFFFF"/>
                </a:solidFill>
                <a:latin typeface="宋体" panose="02010600030101010101" pitchFamily="2" charset="-122"/>
                <a:cs typeface="宋体" panose="02010600030101010101" pitchFamily="2" charset="-122"/>
              </a:rPr>
              <a:t>在 </a:t>
            </a:r>
            <a:r>
              <a:rPr sz="1175" dirty="0">
                <a:solidFill>
                  <a:srgbClr val="FFFFFF"/>
                </a:solidFill>
                <a:latin typeface="Calibri" panose="020F0502020204030204"/>
                <a:cs typeface="Calibri" panose="020F0502020204030204"/>
              </a:rPr>
              <a:t>Easy</a:t>
            </a:r>
            <a:r>
              <a:rPr sz="1175" spc="-24" dirty="0">
                <a:solidFill>
                  <a:srgbClr val="FFFFFF"/>
                </a:solidFill>
                <a:latin typeface="Calibri" panose="020F0502020204030204"/>
                <a:cs typeface="Calibri" panose="020F0502020204030204"/>
              </a:rPr>
              <a:t> </a:t>
            </a:r>
            <a:r>
              <a:rPr sz="1335" spc="-192" dirty="0">
                <a:solidFill>
                  <a:srgbClr val="FFFFFF"/>
                </a:solidFill>
                <a:latin typeface="宋体" panose="02010600030101010101" pitchFamily="2" charset="-122"/>
                <a:cs typeface="宋体" panose="02010600030101010101" pitchFamily="2" charset="-122"/>
              </a:rPr>
              <a:t>实例上训练后，在 </a:t>
            </a:r>
            <a:r>
              <a:rPr sz="1175" spc="-24" dirty="0">
                <a:solidFill>
                  <a:srgbClr val="FFFFFF"/>
                </a:solidFill>
                <a:latin typeface="Calibri" panose="020F0502020204030204"/>
                <a:cs typeface="Calibri" panose="020F0502020204030204"/>
              </a:rPr>
              <a:t>Medium </a:t>
            </a:r>
            <a:r>
              <a:rPr sz="1335" spc="-286" dirty="0">
                <a:solidFill>
                  <a:srgbClr val="FFFFFF"/>
                </a:solidFill>
                <a:latin typeface="宋体" panose="02010600030101010101" pitchFamily="2" charset="-122"/>
                <a:cs typeface="宋体" panose="02010600030101010101" pitchFamily="2" charset="-122"/>
              </a:rPr>
              <a:t>和 </a:t>
            </a:r>
            <a:r>
              <a:rPr sz="1175" dirty="0">
                <a:solidFill>
                  <a:srgbClr val="FFFFFF"/>
                </a:solidFill>
                <a:latin typeface="Calibri" panose="020F0502020204030204"/>
                <a:cs typeface="Calibri" panose="020F0502020204030204"/>
              </a:rPr>
              <a:t>Hard</a:t>
            </a:r>
            <a:r>
              <a:rPr sz="1175" spc="-12" dirty="0">
                <a:solidFill>
                  <a:srgbClr val="FFFFFF"/>
                </a:solidFill>
                <a:latin typeface="Calibri" panose="020F0502020204030204"/>
                <a:cs typeface="Calibri" panose="020F0502020204030204"/>
              </a:rPr>
              <a:t> </a:t>
            </a:r>
            <a:r>
              <a:rPr sz="1335" spc="-184" dirty="0">
                <a:solidFill>
                  <a:srgbClr val="FFFFFF"/>
                </a:solidFill>
                <a:latin typeface="宋体" panose="02010600030101010101" pitchFamily="2" charset="-122"/>
                <a:cs typeface="宋体" panose="02010600030101010101" pitchFamily="2" charset="-122"/>
              </a:rPr>
              <a:t>实例上依然保持强性能。尤其在 </a:t>
            </a:r>
            <a:r>
              <a:rPr sz="1175" b="1" spc="59" dirty="0">
                <a:solidFill>
                  <a:srgbClr val="93C4FD"/>
                </a:solidFill>
                <a:latin typeface="Calibri" panose="020F0502020204030204"/>
                <a:cs typeface="Calibri" panose="020F0502020204030204"/>
              </a:rPr>
              <a:t>Set </a:t>
            </a:r>
            <a:r>
              <a:rPr sz="1175" b="1" spc="43" dirty="0">
                <a:solidFill>
                  <a:srgbClr val="93C4FD"/>
                </a:solidFill>
                <a:latin typeface="Calibri" panose="020F0502020204030204"/>
                <a:cs typeface="Calibri" panose="020F0502020204030204"/>
              </a:rPr>
              <a:t>Covering </a:t>
            </a:r>
            <a:r>
              <a:rPr sz="1335" spc="-286" dirty="0">
                <a:solidFill>
                  <a:srgbClr val="FFFFFF"/>
                </a:solidFill>
                <a:latin typeface="宋体" panose="02010600030101010101" pitchFamily="2" charset="-122"/>
                <a:cs typeface="宋体" panose="02010600030101010101" pitchFamily="2" charset="-122"/>
              </a:rPr>
              <a:t>和 </a:t>
            </a:r>
            <a:r>
              <a:rPr sz="1175" b="1" spc="47" dirty="0">
                <a:solidFill>
                  <a:srgbClr val="93C4FD"/>
                </a:solidFill>
                <a:latin typeface="Calibri" panose="020F0502020204030204"/>
                <a:cs typeface="Calibri" panose="020F0502020204030204"/>
              </a:rPr>
              <a:t>Combinatorial</a:t>
            </a:r>
            <a:r>
              <a:rPr sz="1175" b="1" spc="-51" dirty="0">
                <a:solidFill>
                  <a:srgbClr val="93C4FD"/>
                </a:solidFill>
                <a:latin typeface="Calibri" panose="020F0502020204030204"/>
                <a:cs typeface="Calibri" panose="020F0502020204030204"/>
              </a:rPr>
              <a:t> </a:t>
            </a:r>
            <a:r>
              <a:rPr sz="1175" b="1" spc="35" dirty="0">
                <a:solidFill>
                  <a:srgbClr val="93C4FD"/>
                </a:solidFill>
                <a:latin typeface="Calibri" panose="020F0502020204030204"/>
                <a:cs typeface="Calibri" panose="020F0502020204030204"/>
              </a:rPr>
              <a:t>Auction</a:t>
            </a:r>
            <a:r>
              <a:rPr sz="1175" b="1" spc="-35" dirty="0">
                <a:solidFill>
                  <a:srgbClr val="93C4FD"/>
                </a:solidFill>
                <a:latin typeface="Calibri" panose="020F0502020204030204"/>
                <a:cs typeface="Calibri" panose="020F0502020204030204"/>
              </a:rPr>
              <a:t> </a:t>
            </a:r>
            <a:r>
              <a:rPr sz="1335" spc="-39" dirty="0">
                <a:solidFill>
                  <a:srgbClr val="FFFFFF"/>
                </a:solidFill>
                <a:latin typeface="宋体" panose="02010600030101010101" pitchFamily="2" charset="-122"/>
                <a:cs typeface="宋体" panose="02010600030101010101" pitchFamily="2" charset="-122"/>
              </a:rPr>
              <a:t>问</a:t>
            </a:r>
            <a:r>
              <a:rPr sz="1335" spc="-160" dirty="0">
                <a:solidFill>
                  <a:srgbClr val="FFFFFF"/>
                </a:solidFill>
                <a:latin typeface="宋体" panose="02010600030101010101" pitchFamily="2" charset="-122"/>
                <a:cs typeface="宋体" panose="02010600030101010101" pitchFamily="2" charset="-122"/>
              </a:rPr>
              <a:t>题中，搜索节点数的优势极具压倒性。</a:t>
            </a:r>
            <a:endParaRPr sz="1335">
              <a:latin typeface="宋体" panose="02010600030101010101" pitchFamily="2" charset="-122"/>
              <a:cs typeface="宋体" panose="02010600030101010101" pitchFamily="2" charset="-122"/>
            </a:endParaRPr>
          </a:p>
        </p:txBody>
      </p:sp>
      <p:grpSp>
        <p:nvGrpSpPr>
          <p:cNvPr id="50" name="object 50"/>
          <p:cNvGrpSpPr/>
          <p:nvPr/>
        </p:nvGrpSpPr>
        <p:grpSpPr>
          <a:xfrm>
            <a:off x="1316468" y="5227614"/>
            <a:ext cx="9559065" cy="410741"/>
            <a:chOff x="0" y="6667500"/>
            <a:chExt cx="12192000" cy="523875"/>
          </a:xfrm>
        </p:grpSpPr>
        <p:sp>
          <p:nvSpPr>
            <p:cNvPr id="51" name="object 51"/>
            <p:cNvSpPr/>
            <p:nvPr/>
          </p:nvSpPr>
          <p:spPr>
            <a:xfrm>
              <a:off x="0" y="6972299"/>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52" name="object 52"/>
            <p:cNvSpPr/>
            <p:nvPr/>
          </p:nvSpPr>
          <p:spPr>
            <a:xfrm>
              <a:off x="11791937" y="7048500"/>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53" name="object 53"/>
            <p:cNvSpPr/>
            <p:nvPr/>
          </p:nvSpPr>
          <p:spPr>
            <a:xfrm>
              <a:off x="11982447" y="7048499"/>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54" name="object 54"/>
            <p:cNvPicPr/>
            <p:nvPr/>
          </p:nvPicPr>
          <p:blipFill>
            <a:blip r:embed="rId5" cstate="print"/>
            <a:stretch>
              <a:fillRect/>
            </a:stretch>
          </p:blipFill>
          <p:spPr>
            <a:xfrm>
              <a:off x="9896474" y="6667500"/>
              <a:ext cx="342899" cy="342899"/>
            </a:xfrm>
            <a:prstGeom prst="rect">
              <a:avLst/>
            </a:prstGeom>
          </p:spPr>
        </p:pic>
      </p:grpSp>
      <p:sp>
        <p:nvSpPr>
          <p:cNvPr id="55" name="object 55"/>
          <p:cNvSpPr txBox="1"/>
          <p:nvPr/>
        </p:nvSpPr>
        <p:spPr>
          <a:xfrm>
            <a:off x="9412461" y="5273783"/>
            <a:ext cx="1247159" cy="141064"/>
          </a:xfrm>
          <a:prstGeom prst="rect">
            <a:avLst/>
          </a:prstGeom>
        </p:spPr>
        <p:txBody>
          <a:bodyPr vert="horz" wrap="square" lIns="0" tIns="0" rIns="0" bIns="0" rtlCol="0">
            <a:spAutoFit/>
          </a:bodyPr>
          <a:lstStyle/>
          <a:p>
            <a:pPr marL="10160">
              <a:lnSpc>
                <a:spcPts val="1115"/>
              </a:lnSpc>
            </a:pPr>
            <a:r>
              <a:rPr sz="940" b="1" dirty="0">
                <a:latin typeface="Arial" panose="020B0604020202020204"/>
                <a:cs typeface="Arial" panose="020B0604020202020204"/>
              </a:rPr>
              <a:t>Powered</a:t>
            </a:r>
            <a:r>
              <a:rPr sz="940" b="1" spc="78" dirty="0">
                <a:latin typeface="Arial" panose="020B0604020202020204"/>
                <a:cs typeface="Arial" panose="020B0604020202020204"/>
              </a:rPr>
              <a:t> </a:t>
            </a:r>
            <a:r>
              <a:rPr sz="940" b="1" dirty="0">
                <a:latin typeface="Arial" panose="020B0604020202020204"/>
                <a:cs typeface="Arial" panose="020B0604020202020204"/>
              </a:rPr>
              <a:t>By</a:t>
            </a:r>
            <a:r>
              <a:rPr sz="940" b="1" spc="82" dirty="0">
                <a:latin typeface="Arial" panose="020B0604020202020204"/>
                <a:cs typeface="Arial" panose="020B0604020202020204"/>
              </a:rPr>
              <a:t> </a:t>
            </a:r>
            <a:r>
              <a:rPr sz="940" b="1" spc="-8" dirty="0">
                <a:latin typeface="Arial" panose="020B0604020202020204"/>
                <a:cs typeface="Arial" panose="020B0604020202020204"/>
              </a:rPr>
              <a:t>Tosea.ai</a:t>
            </a:r>
            <a:endParaRPr sz="940">
              <a:latin typeface="Arial" panose="020B0604020202020204"/>
              <a:cs typeface="Arial" panose="020B0604020202020204"/>
            </a:endParaRPr>
          </a:p>
        </p:txBody>
      </p:sp>
      <p:sp>
        <p:nvSpPr>
          <p:cNvPr id="56" name="object 56"/>
          <p:cNvSpPr txBox="1"/>
          <p:nvPr/>
        </p:nvSpPr>
        <p:spPr>
          <a:xfrm>
            <a:off x="1425998" y="5494636"/>
            <a:ext cx="231509" cy="91983"/>
          </a:xfrm>
          <a:prstGeom prst="rect">
            <a:avLst/>
          </a:prstGeom>
        </p:spPr>
        <p:txBody>
          <a:bodyPr vert="horz" wrap="square" lIns="0" tIns="1494" rIns="0" bIns="0" rtlCol="0">
            <a:spAutoFit/>
          </a:bodyPr>
          <a:lstStyle/>
          <a:p>
            <a:pPr marL="10160">
              <a:spcBef>
                <a:spcPts val="10"/>
              </a:spcBef>
            </a:pPr>
            <a:r>
              <a:rPr sz="590" spc="-8" dirty="0">
                <a:solidFill>
                  <a:srgbClr val="FFFFFF"/>
                </a:solidFill>
                <a:latin typeface="Times New Roman" panose="02020603050405020304"/>
                <a:cs typeface="Times New Roman" panose="02020603050405020304"/>
              </a:rPr>
              <a:t>Author</a:t>
            </a:r>
            <a:endParaRPr sz="590">
              <a:latin typeface="Times New Roman" panose="02020603050405020304"/>
              <a:cs typeface="Times New Roman" panose="02020603050405020304"/>
            </a:endParaRPr>
          </a:p>
        </p:txBody>
      </p:sp>
      <p:sp>
        <p:nvSpPr>
          <p:cNvPr id="57" name="object 57"/>
          <p:cNvSpPr txBox="1"/>
          <p:nvPr/>
        </p:nvSpPr>
        <p:spPr>
          <a:xfrm>
            <a:off x="1757159" y="5494636"/>
            <a:ext cx="243955" cy="91983"/>
          </a:xfrm>
          <a:prstGeom prst="rect">
            <a:avLst/>
          </a:prstGeom>
        </p:spPr>
        <p:txBody>
          <a:bodyPr vert="horz" wrap="square" lIns="0" tIns="1494" rIns="0" bIns="0" rtlCol="0">
            <a:spAutoFit/>
          </a:bodyPr>
          <a:lstStyle/>
          <a:p>
            <a:pPr marL="10160">
              <a:spcBef>
                <a:spcPts val="10"/>
              </a:spcBef>
            </a:pPr>
            <a:r>
              <a:rPr sz="590" spc="-8" dirty="0">
                <a:solidFill>
                  <a:srgbClr val="FFFFFF"/>
                </a:solidFill>
                <a:latin typeface="Times New Roman" panose="02020603050405020304"/>
                <a:cs typeface="Times New Roman" panose="02020603050405020304"/>
              </a:rPr>
              <a:t>Section</a:t>
            </a:r>
            <a:endParaRPr sz="590">
              <a:latin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783" y="94008"/>
            <a:ext cx="4863411" cy="420524"/>
          </a:xfrm>
          <a:prstGeom prst="rect">
            <a:avLst/>
          </a:prstGeom>
        </p:spPr>
        <p:txBody>
          <a:bodyPr vert="horz" wrap="square" lIns="0" tIns="12470" rIns="0" bIns="0" rtlCol="0">
            <a:spAutoFit/>
          </a:bodyPr>
          <a:lstStyle/>
          <a:p>
            <a:pPr marL="12700">
              <a:spcBef>
                <a:spcPts val="100"/>
              </a:spcBef>
            </a:pPr>
            <a:r>
              <a:rPr spc="-363" dirty="0"/>
              <a:t>分析</a:t>
            </a:r>
            <a:r>
              <a:rPr sz="2650" spc="-88" dirty="0">
                <a:latin typeface="Microsoft PhagsPa" panose="020B0502040204020203"/>
                <a:cs typeface="Microsoft PhagsPa" panose="020B0502040204020203"/>
              </a:rPr>
              <a:t>: </a:t>
            </a:r>
            <a:r>
              <a:rPr spc="-373" dirty="0"/>
              <a:t>消融实验与局限性</a:t>
            </a:r>
            <a:endParaRPr sz="2650">
              <a:latin typeface="Microsoft PhagsPa" panose="020B0502040204020203"/>
              <a:cs typeface="Microsoft PhagsPa" panose="020B0502040204020203"/>
            </a:endParaRPr>
          </a:p>
        </p:txBody>
      </p:sp>
      <p:grpSp>
        <p:nvGrpSpPr>
          <p:cNvPr id="3" name="object 3"/>
          <p:cNvGrpSpPr/>
          <p:nvPr/>
        </p:nvGrpSpPr>
        <p:grpSpPr>
          <a:xfrm>
            <a:off x="559194" y="1131678"/>
            <a:ext cx="11073612" cy="1271969"/>
            <a:chOff x="457200" y="1152525"/>
            <a:chExt cx="11277600" cy="1295400"/>
          </a:xfrm>
        </p:grpSpPr>
        <p:sp>
          <p:nvSpPr>
            <p:cNvPr id="4" name="object 4"/>
            <p:cNvSpPr/>
            <p:nvPr/>
          </p:nvSpPr>
          <p:spPr>
            <a:xfrm>
              <a:off x="476249" y="1152525"/>
              <a:ext cx="11258550" cy="1295400"/>
            </a:xfrm>
            <a:custGeom>
              <a:avLst/>
              <a:gdLst/>
              <a:ahLst/>
              <a:cxnLst/>
              <a:rect l="l" t="t" r="r" b="b"/>
              <a:pathLst>
                <a:path w="11258550" h="1295400">
                  <a:moveTo>
                    <a:pt x="11151753" y="1295399"/>
                  </a:moveTo>
                  <a:lnTo>
                    <a:pt x="0" y="1295399"/>
                  </a:lnTo>
                  <a:lnTo>
                    <a:pt x="0" y="0"/>
                  </a:lnTo>
                  <a:lnTo>
                    <a:pt x="11151753" y="0"/>
                  </a:lnTo>
                  <a:lnTo>
                    <a:pt x="11159186" y="732"/>
                  </a:lnTo>
                  <a:lnTo>
                    <a:pt x="11201508" y="15093"/>
                  </a:lnTo>
                  <a:lnTo>
                    <a:pt x="11235114" y="44558"/>
                  </a:lnTo>
                  <a:lnTo>
                    <a:pt x="11254886" y="84640"/>
                  </a:lnTo>
                  <a:lnTo>
                    <a:pt x="11258547" y="106794"/>
                  </a:lnTo>
                  <a:lnTo>
                    <a:pt x="11258547" y="1188604"/>
                  </a:lnTo>
                  <a:lnTo>
                    <a:pt x="11246973" y="1231774"/>
                  </a:lnTo>
                  <a:lnTo>
                    <a:pt x="11219761" y="1267228"/>
                  </a:lnTo>
                  <a:lnTo>
                    <a:pt x="11181055" y="1289571"/>
                  </a:lnTo>
                  <a:lnTo>
                    <a:pt x="11151753" y="1295399"/>
                  </a:lnTo>
                  <a:close/>
                </a:path>
              </a:pathLst>
            </a:custGeom>
            <a:solidFill>
              <a:srgbClr val="F7FAFB"/>
            </a:solidFill>
          </p:spPr>
          <p:txBody>
            <a:bodyPr wrap="square" lIns="0" tIns="0" rIns="0" bIns="0" rtlCol="0"/>
            <a:lstStyle/>
            <a:p/>
          </p:txBody>
        </p:sp>
        <p:sp>
          <p:nvSpPr>
            <p:cNvPr id="5" name="object 5"/>
            <p:cNvSpPr/>
            <p:nvPr/>
          </p:nvSpPr>
          <p:spPr>
            <a:xfrm>
              <a:off x="457200" y="1152525"/>
              <a:ext cx="38100" cy="1295400"/>
            </a:xfrm>
            <a:custGeom>
              <a:avLst/>
              <a:gdLst/>
              <a:ahLst/>
              <a:cxnLst/>
              <a:rect l="l" t="t" r="r" b="b"/>
              <a:pathLst>
                <a:path w="38100" h="1295400">
                  <a:moveTo>
                    <a:pt x="38099" y="1295399"/>
                  </a:moveTo>
                  <a:lnTo>
                    <a:pt x="0" y="1295399"/>
                  </a:lnTo>
                  <a:lnTo>
                    <a:pt x="0" y="0"/>
                  </a:lnTo>
                  <a:lnTo>
                    <a:pt x="38099" y="0"/>
                  </a:lnTo>
                  <a:lnTo>
                    <a:pt x="38099" y="1295399"/>
                  </a:lnTo>
                  <a:close/>
                </a:path>
              </a:pathLst>
            </a:custGeom>
            <a:solidFill>
              <a:srgbClr val="4237CA"/>
            </a:solidFill>
          </p:spPr>
          <p:txBody>
            <a:bodyPr wrap="square" lIns="0" tIns="0" rIns="0" bIns="0" rtlCol="0"/>
            <a:lstStyle/>
            <a:p/>
          </p:txBody>
        </p:sp>
        <p:pic>
          <p:nvPicPr>
            <p:cNvPr id="6" name="object 6"/>
            <p:cNvPicPr/>
            <p:nvPr/>
          </p:nvPicPr>
          <p:blipFill>
            <a:blip r:embed="rId1" cstate="print"/>
            <a:stretch>
              <a:fillRect/>
            </a:stretch>
          </p:blipFill>
          <p:spPr>
            <a:xfrm>
              <a:off x="685799" y="1762124"/>
              <a:ext cx="190500" cy="190499"/>
            </a:xfrm>
            <a:prstGeom prst="rect">
              <a:avLst/>
            </a:prstGeom>
          </p:spPr>
        </p:pic>
      </p:grpSp>
      <p:sp>
        <p:nvSpPr>
          <p:cNvPr id="7" name="object 7"/>
          <p:cNvSpPr txBox="1"/>
          <p:nvPr/>
        </p:nvSpPr>
        <p:spPr>
          <a:xfrm>
            <a:off x="771188" y="1128636"/>
            <a:ext cx="5047348" cy="1032922"/>
          </a:xfrm>
          <a:prstGeom prst="rect">
            <a:avLst/>
          </a:prstGeom>
        </p:spPr>
        <p:txBody>
          <a:bodyPr vert="horz" wrap="square" lIns="0" tIns="168349" rIns="0" bIns="0" rtlCol="0">
            <a:spAutoFit/>
          </a:bodyPr>
          <a:lstStyle/>
          <a:p>
            <a:pPr marL="12700">
              <a:spcBef>
                <a:spcPts val="1325"/>
              </a:spcBef>
            </a:pPr>
            <a:r>
              <a:rPr sz="1720" spc="103" dirty="0">
                <a:solidFill>
                  <a:srgbClr val="372FA2"/>
                </a:solidFill>
                <a:latin typeface="Segoe UI Symbol" panose="020B0502040204020203"/>
                <a:cs typeface="Segoe UI Symbol" panose="020B0502040204020203"/>
              </a:rPr>
              <a:t>🔬</a:t>
            </a:r>
            <a:r>
              <a:rPr sz="1720" spc="275" dirty="0">
                <a:solidFill>
                  <a:srgbClr val="372FA2"/>
                </a:solidFill>
                <a:latin typeface="Segoe UI Symbol" panose="020B0502040204020203"/>
                <a:cs typeface="Segoe UI Symbol" panose="020B0502040204020203"/>
              </a:rPr>
              <a:t> </a:t>
            </a:r>
            <a:r>
              <a:rPr sz="1670" b="1" spc="-191" dirty="0">
                <a:solidFill>
                  <a:srgbClr val="372FA2"/>
                </a:solidFill>
                <a:latin typeface="微软雅黑" panose="020B0503020204020204" charset="-122"/>
                <a:cs typeface="微软雅黑" panose="020B0503020204020204" charset="-122"/>
              </a:rPr>
              <a:t>消融研究 </a:t>
            </a:r>
            <a:r>
              <a:rPr sz="1475" b="1" dirty="0">
                <a:solidFill>
                  <a:srgbClr val="372FA2"/>
                </a:solidFill>
                <a:latin typeface="Calibri" panose="020F0502020204030204"/>
                <a:cs typeface="Calibri" panose="020F0502020204030204"/>
              </a:rPr>
              <a:t>(Ablation</a:t>
            </a:r>
            <a:r>
              <a:rPr sz="1475" b="1" spc="-5" dirty="0">
                <a:solidFill>
                  <a:srgbClr val="372FA2"/>
                </a:solidFill>
                <a:latin typeface="Calibri" panose="020F0502020204030204"/>
                <a:cs typeface="Calibri" panose="020F0502020204030204"/>
              </a:rPr>
              <a:t> </a:t>
            </a:r>
            <a:r>
              <a:rPr sz="1475" b="1" spc="49" dirty="0">
                <a:solidFill>
                  <a:srgbClr val="372FA2"/>
                </a:solidFill>
                <a:latin typeface="Calibri" panose="020F0502020204030204"/>
                <a:cs typeface="Calibri" panose="020F0502020204030204"/>
              </a:rPr>
              <a:t>Studies</a:t>
            </a:r>
            <a:r>
              <a:rPr sz="1475" b="1" spc="39" dirty="0">
                <a:solidFill>
                  <a:srgbClr val="372FA2"/>
                </a:solidFill>
                <a:latin typeface="Calibri" panose="020F0502020204030204"/>
                <a:cs typeface="Calibri" panose="020F0502020204030204"/>
              </a:rPr>
              <a:t> - </a:t>
            </a:r>
            <a:r>
              <a:rPr sz="1475" b="1" dirty="0">
                <a:solidFill>
                  <a:srgbClr val="372FA2"/>
                </a:solidFill>
                <a:latin typeface="Calibri" panose="020F0502020204030204"/>
                <a:cs typeface="Calibri" panose="020F0502020204030204"/>
              </a:rPr>
              <a:t>Table</a:t>
            </a:r>
            <a:r>
              <a:rPr sz="1475" b="1" spc="98" dirty="0">
                <a:solidFill>
                  <a:srgbClr val="372FA2"/>
                </a:solidFill>
                <a:latin typeface="Calibri" panose="020F0502020204030204"/>
                <a:cs typeface="Calibri" panose="020F0502020204030204"/>
              </a:rPr>
              <a:t> </a:t>
            </a:r>
            <a:r>
              <a:rPr sz="1475" b="1" spc="25" dirty="0">
                <a:solidFill>
                  <a:srgbClr val="372FA2"/>
                </a:solidFill>
                <a:latin typeface="Calibri" panose="020F0502020204030204"/>
                <a:cs typeface="Calibri" panose="020F0502020204030204"/>
              </a:rPr>
              <a:t>3)</a:t>
            </a:r>
            <a:endParaRPr sz="1475">
              <a:latin typeface="Calibri" panose="020F0502020204030204"/>
              <a:cs typeface="Calibri" panose="020F0502020204030204"/>
            </a:endParaRPr>
          </a:p>
          <a:p>
            <a:pPr marL="311150" marR="5080">
              <a:lnSpc>
                <a:spcPct val="117000"/>
              </a:lnSpc>
              <a:spcBef>
                <a:spcPts val="755"/>
              </a:spcBef>
            </a:pPr>
            <a:r>
              <a:rPr sz="1325" b="1" spc="152" dirty="0">
                <a:solidFill>
                  <a:srgbClr val="312E81"/>
                </a:solidFill>
                <a:latin typeface="Calibri" panose="020F0502020204030204"/>
                <a:cs typeface="Calibri" panose="020F0502020204030204"/>
              </a:rPr>
              <a:t>`sum`</a:t>
            </a:r>
            <a:r>
              <a:rPr sz="1325" b="1" spc="5" dirty="0">
                <a:solidFill>
                  <a:srgbClr val="312E81"/>
                </a:solidFill>
                <a:latin typeface="Calibri" panose="020F0502020204030204"/>
                <a:cs typeface="Calibri" panose="020F0502020204030204"/>
              </a:rPr>
              <a:t> </a:t>
            </a:r>
            <a:r>
              <a:rPr sz="1325" b="1" dirty="0">
                <a:solidFill>
                  <a:srgbClr val="312E81"/>
                </a:solidFill>
                <a:latin typeface="Calibri" panose="020F0502020204030204"/>
                <a:cs typeface="Calibri" panose="020F0502020204030204"/>
              </a:rPr>
              <a:t>vs</a:t>
            </a:r>
            <a:r>
              <a:rPr sz="1325" b="1" spc="-15" dirty="0">
                <a:solidFill>
                  <a:srgbClr val="312E81"/>
                </a:solidFill>
                <a:latin typeface="Calibri" panose="020F0502020204030204"/>
                <a:cs typeface="Calibri" panose="020F0502020204030204"/>
              </a:rPr>
              <a:t>. </a:t>
            </a:r>
            <a:r>
              <a:rPr sz="1325" b="1" spc="142" dirty="0">
                <a:solidFill>
                  <a:srgbClr val="312E81"/>
                </a:solidFill>
                <a:latin typeface="Calibri" panose="020F0502020204030204"/>
                <a:cs typeface="Calibri" panose="020F0502020204030204"/>
              </a:rPr>
              <a:t>`mean`</a:t>
            </a:r>
            <a:r>
              <a:rPr sz="1325" b="1" spc="5" dirty="0">
                <a:solidFill>
                  <a:srgbClr val="312E81"/>
                </a:solidFill>
                <a:latin typeface="Calibri" panose="020F0502020204030204"/>
                <a:cs typeface="Calibri" panose="020F0502020204030204"/>
              </a:rPr>
              <a:t> </a:t>
            </a:r>
            <a:r>
              <a:rPr sz="1475" b="1" spc="-147" dirty="0">
                <a:solidFill>
                  <a:srgbClr val="312E81"/>
                </a:solidFill>
                <a:latin typeface="微软雅黑" panose="020B0503020204020204" charset="-122"/>
                <a:cs typeface="微软雅黑" panose="020B0503020204020204" charset="-122"/>
              </a:rPr>
              <a:t>聚合</a:t>
            </a:r>
            <a:r>
              <a:rPr sz="1325" b="1" spc="-15" dirty="0">
                <a:solidFill>
                  <a:srgbClr val="312E81"/>
                </a:solidFill>
                <a:latin typeface="Calibri" panose="020F0502020204030204"/>
                <a:cs typeface="Calibri" panose="020F0502020204030204"/>
              </a:rPr>
              <a:t>: </a:t>
            </a:r>
            <a:r>
              <a:rPr sz="1325" spc="147" dirty="0">
                <a:solidFill>
                  <a:srgbClr val="334054"/>
                </a:solidFill>
                <a:latin typeface="Calibri" panose="020F0502020204030204"/>
                <a:cs typeface="Calibri" panose="020F0502020204030204"/>
              </a:rPr>
              <a:t>`sum`</a:t>
            </a:r>
            <a:r>
              <a:rPr sz="1325" spc="25" dirty="0">
                <a:solidFill>
                  <a:srgbClr val="334054"/>
                </a:solidFill>
                <a:latin typeface="Calibri" panose="020F0502020204030204"/>
                <a:cs typeface="Calibri" panose="020F0502020204030204"/>
              </a:rPr>
              <a:t> </a:t>
            </a:r>
            <a:r>
              <a:rPr sz="1475" spc="-147" dirty="0">
                <a:solidFill>
                  <a:srgbClr val="334054"/>
                </a:solidFill>
                <a:latin typeface="宋体" panose="02010600030101010101" pitchFamily="2" charset="-122"/>
                <a:cs typeface="宋体" panose="02010600030101010101" pitchFamily="2" charset="-122"/>
              </a:rPr>
              <a:t>效果更佳，证明保留节点度（</a:t>
            </a:r>
            <a:r>
              <a:rPr sz="1475" spc="-69" dirty="0">
                <a:solidFill>
                  <a:srgbClr val="334054"/>
                </a:solidFill>
                <a:latin typeface="宋体" panose="02010600030101010101" pitchFamily="2" charset="-122"/>
                <a:cs typeface="宋体" panose="02010600030101010101" pitchFamily="2" charset="-122"/>
              </a:rPr>
              <a:t>连</a:t>
            </a:r>
            <a:r>
              <a:rPr sz="1475" spc="-147" dirty="0">
                <a:solidFill>
                  <a:srgbClr val="334054"/>
                </a:solidFill>
                <a:latin typeface="宋体" panose="02010600030101010101" pitchFamily="2" charset="-122"/>
                <a:cs typeface="宋体" panose="02010600030101010101" pitchFamily="2" charset="-122"/>
              </a:rPr>
              <a:t>接数）</a:t>
            </a:r>
            <a:r>
              <a:rPr sz="1475" spc="-142" dirty="0">
                <a:solidFill>
                  <a:srgbClr val="334054"/>
                </a:solidFill>
                <a:latin typeface="宋体" panose="02010600030101010101" pitchFamily="2" charset="-122"/>
                <a:cs typeface="宋体" panose="02010600030101010101" pitchFamily="2" charset="-122"/>
              </a:rPr>
              <a:t>信息对分支策略至关重要。</a:t>
            </a:r>
            <a:endParaRPr sz="1475">
              <a:latin typeface="宋体" panose="02010600030101010101" pitchFamily="2" charset="-122"/>
              <a:cs typeface="宋体" panose="02010600030101010101" pitchFamily="2" charset="-122"/>
            </a:endParaRPr>
          </a:p>
        </p:txBody>
      </p:sp>
      <p:pic>
        <p:nvPicPr>
          <p:cNvPr id="8" name="object 8"/>
          <p:cNvPicPr/>
          <p:nvPr/>
        </p:nvPicPr>
        <p:blipFill>
          <a:blip r:embed="rId1" cstate="print"/>
          <a:stretch>
            <a:fillRect/>
          </a:stretch>
        </p:blipFill>
        <p:spPr>
          <a:xfrm>
            <a:off x="6264348" y="1730253"/>
            <a:ext cx="187053" cy="187053"/>
          </a:xfrm>
          <a:prstGeom prst="rect">
            <a:avLst/>
          </a:prstGeom>
        </p:spPr>
      </p:pic>
      <p:sp>
        <p:nvSpPr>
          <p:cNvPr id="9" name="object 9"/>
          <p:cNvSpPr txBox="1"/>
          <p:nvPr/>
        </p:nvSpPr>
        <p:spPr>
          <a:xfrm>
            <a:off x="6551165" y="1643595"/>
            <a:ext cx="4850941" cy="507932"/>
          </a:xfrm>
          <a:prstGeom prst="rect">
            <a:avLst/>
          </a:prstGeom>
        </p:spPr>
        <p:txBody>
          <a:bodyPr vert="horz" wrap="square" lIns="0" tIns="11847" rIns="0" bIns="0" rtlCol="0">
            <a:spAutoFit/>
          </a:bodyPr>
          <a:lstStyle/>
          <a:p>
            <a:pPr marL="12700" marR="5080">
              <a:lnSpc>
                <a:spcPct val="117000"/>
              </a:lnSpc>
              <a:spcBef>
                <a:spcPts val="95"/>
              </a:spcBef>
            </a:pPr>
            <a:r>
              <a:rPr sz="1325" b="1" spc="98" dirty="0">
                <a:solidFill>
                  <a:srgbClr val="312E81"/>
                </a:solidFill>
                <a:latin typeface="Calibri" panose="020F0502020204030204"/>
                <a:cs typeface="Calibri" panose="020F0502020204030204"/>
              </a:rPr>
              <a:t>`prenorm`</a:t>
            </a:r>
            <a:r>
              <a:rPr sz="1325" b="1" spc="-49" dirty="0">
                <a:solidFill>
                  <a:srgbClr val="312E81"/>
                </a:solidFill>
                <a:latin typeface="Calibri" panose="020F0502020204030204"/>
                <a:cs typeface="Calibri" panose="020F0502020204030204"/>
              </a:rPr>
              <a:t> </a:t>
            </a:r>
            <a:r>
              <a:rPr sz="1475" b="1" spc="-147" dirty="0">
                <a:solidFill>
                  <a:srgbClr val="312E81"/>
                </a:solidFill>
                <a:latin typeface="微软雅黑" panose="020B0503020204020204" charset="-122"/>
                <a:cs typeface="微软雅黑" panose="020B0503020204020204" charset="-122"/>
              </a:rPr>
              <a:t>的作用</a:t>
            </a:r>
            <a:r>
              <a:rPr sz="1325" b="1" spc="-39" dirty="0">
                <a:solidFill>
                  <a:srgbClr val="312E81"/>
                </a:solidFill>
                <a:latin typeface="Calibri" panose="020F0502020204030204"/>
                <a:cs typeface="Calibri" panose="020F0502020204030204"/>
              </a:rPr>
              <a:t>: </a:t>
            </a:r>
            <a:r>
              <a:rPr sz="1475" spc="-147" dirty="0">
                <a:solidFill>
                  <a:srgbClr val="334054"/>
                </a:solidFill>
                <a:latin typeface="宋体" panose="02010600030101010101" pitchFamily="2" charset="-122"/>
                <a:cs typeface="宋体" panose="02010600030101010101" pitchFamily="2" charset="-122"/>
              </a:rPr>
              <a:t>稳定特征尺度，是模型在大规模问题上泛化能</a:t>
            </a:r>
            <a:r>
              <a:rPr sz="1475" spc="-128" dirty="0">
                <a:solidFill>
                  <a:srgbClr val="334054"/>
                </a:solidFill>
                <a:latin typeface="宋体" panose="02010600030101010101" pitchFamily="2" charset="-122"/>
                <a:cs typeface="宋体" panose="02010600030101010101" pitchFamily="2" charset="-122"/>
              </a:rPr>
              <a:t>力的基石。</a:t>
            </a:r>
            <a:endParaRPr sz="1475">
              <a:latin typeface="宋体" panose="02010600030101010101" pitchFamily="2" charset="-122"/>
              <a:cs typeface="宋体" panose="02010600030101010101" pitchFamily="2" charset="-122"/>
            </a:endParaRPr>
          </a:p>
        </p:txBody>
      </p:sp>
      <p:grpSp>
        <p:nvGrpSpPr>
          <p:cNvPr id="10" name="object 10"/>
          <p:cNvGrpSpPr/>
          <p:nvPr/>
        </p:nvGrpSpPr>
        <p:grpSpPr>
          <a:xfrm>
            <a:off x="559194" y="2628111"/>
            <a:ext cx="5424574" cy="2151124"/>
            <a:chOff x="457200" y="2676524"/>
            <a:chExt cx="5524500" cy="2190750"/>
          </a:xfrm>
        </p:grpSpPr>
        <p:sp>
          <p:nvSpPr>
            <p:cNvPr id="11" name="object 11"/>
            <p:cNvSpPr/>
            <p:nvPr/>
          </p:nvSpPr>
          <p:spPr>
            <a:xfrm>
              <a:off x="461962" y="2681287"/>
              <a:ext cx="5514975" cy="2181225"/>
            </a:xfrm>
            <a:custGeom>
              <a:avLst/>
              <a:gdLst/>
              <a:ahLst/>
              <a:cxnLst/>
              <a:rect l="l" t="t" r="r" b="b"/>
              <a:pathLst>
                <a:path w="5514975" h="2181225">
                  <a:moveTo>
                    <a:pt x="5412629" y="2181224"/>
                  </a:moveTo>
                  <a:lnTo>
                    <a:pt x="102345" y="2181224"/>
                  </a:lnTo>
                  <a:lnTo>
                    <a:pt x="95221" y="2180523"/>
                  </a:lnTo>
                  <a:lnTo>
                    <a:pt x="54661" y="2166759"/>
                  </a:lnTo>
                  <a:lnTo>
                    <a:pt x="22456" y="2138523"/>
                  </a:lnTo>
                  <a:lnTo>
                    <a:pt x="3507" y="2100110"/>
                  </a:lnTo>
                  <a:lnTo>
                    <a:pt x="0" y="2078879"/>
                  </a:lnTo>
                  <a:lnTo>
                    <a:pt x="0" y="2071687"/>
                  </a:lnTo>
                  <a:lnTo>
                    <a:pt x="0" y="102345"/>
                  </a:lnTo>
                  <a:lnTo>
                    <a:pt x="11090" y="60974"/>
                  </a:lnTo>
                  <a:lnTo>
                    <a:pt x="37168" y="26997"/>
                  </a:lnTo>
                  <a:lnTo>
                    <a:pt x="74264" y="5585"/>
                  </a:lnTo>
                  <a:lnTo>
                    <a:pt x="102345" y="0"/>
                  </a:lnTo>
                  <a:lnTo>
                    <a:pt x="5412629" y="0"/>
                  </a:lnTo>
                  <a:lnTo>
                    <a:pt x="5453998" y="11090"/>
                  </a:lnTo>
                  <a:lnTo>
                    <a:pt x="5487976" y="37168"/>
                  </a:lnTo>
                  <a:lnTo>
                    <a:pt x="5509388" y="74264"/>
                  </a:lnTo>
                  <a:lnTo>
                    <a:pt x="5514973" y="102345"/>
                  </a:lnTo>
                  <a:lnTo>
                    <a:pt x="5514973" y="2078879"/>
                  </a:lnTo>
                  <a:lnTo>
                    <a:pt x="5503882" y="2120250"/>
                  </a:lnTo>
                  <a:lnTo>
                    <a:pt x="5477805" y="2154227"/>
                  </a:lnTo>
                  <a:lnTo>
                    <a:pt x="5440709" y="2175638"/>
                  </a:lnTo>
                  <a:lnTo>
                    <a:pt x="5419752" y="2180523"/>
                  </a:lnTo>
                  <a:lnTo>
                    <a:pt x="5412629" y="2181224"/>
                  </a:lnTo>
                  <a:close/>
                </a:path>
              </a:pathLst>
            </a:custGeom>
            <a:solidFill>
              <a:srgbClr val="F0FDF4">
                <a:alpha val="30198"/>
              </a:srgbClr>
            </a:solidFill>
          </p:spPr>
          <p:txBody>
            <a:bodyPr wrap="square" lIns="0" tIns="0" rIns="0" bIns="0" rtlCol="0"/>
            <a:lstStyle/>
            <a:p/>
          </p:txBody>
        </p:sp>
        <p:sp>
          <p:nvSpPr>
            <p:cNvPr id="12" name="object 12"/>
            <p:cNvSpPr/>
            <p:nvPr/>
          </p:nvSpPr>
          <p:spPr>
            <a:xfrm>
              <a:off x="461962" y="2681287"/>
              <a:ext cx="5514975" cy="2181225"/>
            </a:xfrm>
            <a:custGeom>
              <a:avLst/>
              <a:gdLst/>
              <a:ahLst/>
              <a:cxnLst/>
              <a:rect l="l" t="t" r="r" b="b"/>
              <a:pathLst>
                <a:path w="5514975" h="2181225">
                  <a:moveTo>
                    <a:pt x="0" y="20716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5405437" y="0"/>
                  </a:lnTo>
                  <a:lnTo>
                    <a:pt x="5412629" y="0"/>
                  </a:lnTo>
                  <a:lnTo>
                    <a:pt x="5419752" y="701"/>
                  </a:lnTo>
                  <a:lnTo>
                    <a:pt x="5460311" y="14464"/>
                  </a:lnTo>
                  <a:lnTo>
                    <a:pt x="5466292" y="18460"/>
                  </a:lnTo>
                  <a:lnTo>
                    <a:pt x="5472272" y="22456"/>
                  </a:lnTo>
                  <a:lnTo>
                    <a:pt x="5500508" y="54661"/>
                  </a:lnTo>
                  <a:lnTo>
                    <a:pt x="5506635" y="67619"/>
                  </a:lnTo>
                  <a:lnTo>
                    <a:pt x="5509388" y="74264"/>
                  </a:lnTo>
                  <a:lnTo>
                    <a:pt x="5511466" y="81113"/>
                  </a:lnTo>
                  <a:lnTo>
                    <a:pt x="5512868" y="88167"/>
                  </a:lnTo>
                  <a:lnTo>
                    <a:pt x="5514272" y="95221"/>
                  </a:lnTo>
                  <a:lnTo>
                    <a:pt x="5514973" y="102345"/>
                  </a:lnTo>
                  <a:lnTo>
                    <a:pt x="5514974" y="109537"/>
                  </a:lnTo>
                  <a:lnTo>
                    <a:pt x="5514974" y="2071687"/>
                  </a:lnTo>
                  <a:lnTo>
                    <a:pt x="5514973" y="2078879"/>
                  </a:lnTo>
                  <a:lnTo>
                    <a:pt x="5514272" y="2086002"/>
                  </a:lnTo>
                  <a:lnTo>
                    <a:pt x="5512868" y="2093056"/>
                  </a:lnTo>
                  <a:lnTo>
                    <a:pt x="5511466" y="2100110"/>
                  </a:lnTo>
                  <a:lnTo>
                    <a:pt x="5509388" y="2106960"/>
                  </a:lnTo>
                  <a:lnTo>
                    <a:pt x="5506635" y="2113605"/>
                  </a:lnTo>
                  <a:lnTo>
                    <a:pt x="5503882" y="2120250"/>
                  </a:lnTo>
                  <a:lnTo>
                    <a:pt x="5500508" y="2126562"/>
                  </a:lnTo>
                  <a:lnTo>
                    <a:pt x="5496512" y="2132542"/>
                  </a:lnTo>
                  <a:lnTo>
                    <a:pt x="5492517" y="2138523"/>
                  </a:lnTo>
                  <a:lnTo>
                    <a:pt x="5466292" y="2162764"/>
                  </a:lnTo>
                  <a:lnTo>
                    <a:pt x="5460311" y="2166759"/>
                  </a:lnTo>
                  <a:lnTo>
                    <a:pt x="5419752" y="2180523"/>
                  </a:lnTo>
                  <a:lnTo>
                    <a:pt x="5405437" y="2181224"/>
                  </a:lnTo>
                  <a:lnTo>
                    <a:pt x="109537" y="2181224"/>
                  </a:lnTo>
                  <a:lnTo>
                    <a:pt x="67619" y="2172886"/>
                  </a:lnTo>
                  <a:lnTo>
                    <a:pt x="48681" y="2162764"/>
                  </a:lnTo>
                  <a:lnTo>
                    <a:pt x="42701" y="2158768"/>
                  </a:lnTo>
                  <a:lnTo>
                    <a:pt x="18460" y="2132542"/>
                  </a:lnTo>
                  <a:lnTo>
                    <a:pt x="14464" y="2126562"/>
                  </a:lnTo>
                  <a:lnTo>
                    <a:pt x="11090" y="2120250"/>
                  </a:lnTo>
                  <a:lnTo>
                    <a:pt x="8338" y="2113605"/>
                  </a:lnTo>
                  <a:lnTo>
                    <a:pt x="5585" y="2106960"/>
                  </a:lnTo>
                  <a:lnTo>
                    <a:pt x="3507" y="2100110"/>
                  </a:lnTo>
                  <a:lnTo>
                    <a:pt x="2104" y="2093056"/>
                  </a:lnTo>
                  <a:lnTo>
                    <a:pt x="701" y="2086002"/>
                  </a:lnTo>
                  <a:lnTo>
                    <a:pt x="0" y="2078879"/>
                  </a:lnTo>
                  <a:lnTo>
                    <a:pt x="0" y="2071687"/>
                  </a:lnTo>
                  <a:close/>
                </a:path>
              </a:pathLst>
            </a:custGeom>
            <a:ln w="9524">
              <a:solidFill>
                <a:srgbClr val="DBFBE7"/>
              </a:solidFill>
            </a:ln>
          </p:spPr>
          <p:txBody>
            <a:bodyPr wrap="square" lIns="0" tIns="0" rIns="0" bIns="0" rtlCol="0"/>
            <a:lstStyle/>
            <a:p/>
          </p:txBody>
        </p:sp>
        <p:pic>
          <p:nvPicPr>
            <p:cNvPr id="13" name="object 13"/>
            <p:cNvPicPr/>
            <p:nvPr/>
          </p:nvPicPr>
          <p:blipFill>
            <a:blip r:embed="rId2" cstate="print"/>
            <a:stretch>
              <a:fillRect/>
            </a:stretch>
          </p:blipFill>
          <p:spPr>
            <a:xfrm>
              <a:off x="676275" y="2914679"/>
              <a:ext cx="190499" cy="190440"/>
            </a:xfrm>
            <a:prstGeom prst="rect">
              <a:avLst/>
            </a:prstGeom>
          </p:spPr>
        </p:pic>
      </p:grpSp>
      <p:sp>
        <p:nvSpPr>
          <p:cNvPr id="14" name="object 14"/>
          <p:cNvSpPr txBox="1"/>
          <p:nvPr/>
        </p:nvSpPr>
        <p:spPr>
          <a:xfrm>
            <a:off x="1042417" y="2797085"/>
            <a:ext cx="1399166" cy="268828"/>
          </a:xfrm>
          <a:prstGeom prst="rect">
            <a:avLst/>
          </a:prstGeom>
        </p:spPr>
        <p:txBody>
          <a:bodyPr vert="horz" wrap="square" lIns="0" tIns="11847" rIns="0" bIns="0" rtlCol="0">
            <a:spAutoFit/>
          </a:bodyPr>
          <a:lstStyle/>
          <a:p>
            <a:pPr marL="12700">
              <a:spcBef>
                <a:spcPts val="95"/>
              </a:spcBef>
            </a:pPr>
            <a:r>
              <a:rPr sz="1670" b="1" spc="-206" dirty="0">
                <a:solidFill>
                  <a:srgbClr val="15803C"/>
                </a:solidFill>
                <a:latin typeface="微软雅黑" panose="020B0503020204020204" charset="-122"/>
                <a:cs typeface="微软雅黑" panose="020B0503020204020204" charset="-122"/>
              </a:rPr>
              <a:t>优势 </a:t>
            </a:r>
            <a:r>
              <a:rPr sz="1475" b="1" spc="59" dirty="0">
                <a:solidFill>
                  <a:srgbClr val="15803C"/>
                </a:solidFill>
                <a:latin typeface="Calibri" panose="020F0502020204030204"/>
                <a:cs typeface="Calibri" panose="020F0502020204030204"/>
              </a:rPr>
              <a:t>(Strengths)</a:t>
            </a:r>
            <a:endParaRPr sz="1475">
              <a:latin typeface="Calibri" panose="020F0502020204030204"/>
              <a:cs typeface="Calibri" panose="020F0502020204030204"/>
            </a:endParaRPr>
          </a:p>
        </p:txBody>
      </p:sp>
      <p:sp>
        <p:nvSpPr>
          <p:cNvPr id="15" name="object 15"/>
          <p:cNvSpPr txBox="1"/>
          <p:nvPr/>
        </p:nvSpPr>
        <p:spPr>
          <a:xfrm>
            <a:off x="817951" y="3246388"/>
            <a:ext cx="137173" cy="165612"/>
          </a:xfrm>
          <a:prstGeom prst="rect">
            <a:avLst/>
          </a:prstGeom>
        </p:spPr>
        <p:txBody>
          <a:bodyPr vert="horz" wrap="square" lIns="0" tIns="14340" rIns="0" bIns="0" rtlCol="0">
            <a:spAutoFit/>
          </a:bodyPr>
          <a:lstStyle/>
          <a:p>
            <a:pPr marL="12700">
              <a:spcBef>
                <a:spcPts val="110"/>
              </a:spcBef>
            </a:pPr>
            <a:r>
              <a:rPr sz="980" spc="49" dirty="0">
                <a:solidFill>
                  <a:srgbClr val="21C45D"/>
                </a:solidFill>
                <a:latin typeface="Lucida Sans Unicode" panose="020B0602030504020204"/>
                <a:cs typeface="Lucida Sans Unicode" panose="020B0602030504020204"/>
              </a:rPr>
              <a:t>◆</a:t>
            </a:r>
            <a:endParaRPr sz="980">
              <a:latin typeface="Lucida Sans Unicode" panose="020B0602030504020204"/>
              <a:cs typeface="Lucida Sans Unicode" panose="020B0602030504020204"/>
            </a:endParaRPr>
          </a:p>
        </p:txBody>
      </p:sp>
      <p:sp>
        <p:nvSpPr>
          <p:cNvPr id="16" name="object 16"/>
          <p:cNvSpPr txBox="1"/>
          <p:nvPr/>
        </p:nvSpPr>
        <p:spPr>
          <a:xfrm>
            <a:off x="1042417" y="3201683"/>
            <a:ext cx="3055220" cy="242405"/>
          </a:xfrm>
          <a:prstGeom prst="rect">
            <a:avLst/>
          </a:prstGeom>
        </p:spPr>
        <p:txBody>
          <a:bodyPr vert="horz" wrap="square" lIns="0" tIns="15588" rIns="0" bIns="0" rtlCol="0">
            <a:spAutoFit/>
          </a:bodyPr>
          <a:lstStyle/>
          <a:p>
            <a:pPr marL="12700">
              <a:spcBef>
                <a:spcPts val="125"/>
              </a:spcBef>
            </a:pPr>
            <a:r>
              <a:rPr sz="1475" spc="-147" dirty="0">
                <a:solidFill>
                  <a:srgbClr val="334054"/>
                </a:solidFill>
                <a:latin typeface="宋体" panose="02010600030101010101" pitchFamily="2" charset="-122"/>
                <a:cs typeface="宋体" panose="02010600030101010101" pitchFamily="2" charset="-122"/>
              </a:rPr>
              <a:t>自动化特征工程，具备极强的行业泛用性</a:t>
            </a:r>
            <a:endParaRPr sz="1475">
              <a:latin typeface="宋体" panose="02010600030101010101" pitchFamily="2" charset="-122"/>
              <a:cs typeface="宋体" panose="02010600030101010101" pitchFamily="2" charset="-122"/>
            </a:endParaRPr>
          </a:p>
        </p:txBody>
      </p:sp>
      <p:sp>
        <p:nvSpPr>
          <p:cNvPr id="17" name="object 17"/>
          <p:cNvSpPr txBox="1"/>
          <p:nvPr/>
        </p:nvSpPr>
        <p:spPr>
          <a:xfrm>
            <a:off x="817951" y="3629849"/>
            <a:ext cx="137173" cy="165612"/>
          </a:xfrm>
          <a:prstGeom prst="rect">
            <a:avLst/>
          </a:prstGeom>
        </p:spPr>
        <p:txBody>
          <a:bodyPr vert="horz" wrap="square" lIns="0" tIns="14340" rIns="0" bIns="0" rtlCol="0">
            <a:spAutoFit/>
          </a:bodyPr>
          <a:lstStyle/>
          <a:p>
            <a:pPr marL="12700">
              <a:spcBef>
                <a:spcPts val="110"/>
              </a:spcBef>
            </a:pPr>
            <a:r>
              <a:rPr sz="980" spc="49" dirty="0">
                <a:solidFill>
                  <a:srgbClr val="21C45D"/>
                </a:solidFill>
                <a:latin typeface="Lucida Sans Unicode" panose="020B0602030504020204"/>
                <a:cs typeface="Lucida Sans Unicode" panose="020B0602030504020204"/>
              </a:rPr>
              <a:t>◆</a:t>
            </a:r>
            <a:endParaRPr sz="980">
              <a:latin typeface="Lucida Sans Unicode" panose="020B0602030504020204"/>
              <a:cs typeface="Lucida Sans Unicode" panose="020B0602030504020204"/>
            </a:endParaRPr>
          </a:p>
        </p:txBody>
      </p:sp>
      <p:sp>
        <p:nvSpPr>
          <p:cNvPr id="18" name="object 18"/>
          <p:cNvSpPr txBox="1"/>
          <p:nvPr/>
        </p:nvSpPr>
        <p:spPr>
          <a:xfrm>
            <a:off x="1042417" y="3585144"/>
            <a:ext cx="2999103" cy="242405"/>
          </a:xfrm>
          <a:prstGeom prst="rect">
            <a:avLst/>
          </a:prstGeom>
        </p:spPr>
        <p:txBody>
          <a:bodyPr vert="horz" wrap="square" lIns="0" tIns="15588" rIns="0" bIns="0" rtlCol="0">
            <a:spAutoFit/>
          </a:bodyPr>
          <a:lstStyle/>
          <a:p>
            <a:pPr marL="12700">
              <a:spcBef>
                <a:spcPts val="125"/>
              </a:spcBef>
            </a:pPr>
            <a:r>
              <a:rPr sz="1475" spc="-147" dirty="0">
                <a:solidFill>
                  <a:srgbClr val="334054"/>
                </a:solidFill>
                <a:latin typeface="宋体" panose="02010600030101010101" pitchFamily="2" charset="-122"/>
                <a:cs typeface="宋体" panose="02010600030101010101" pitchFamily="2" charset="-122"/>
              </a:rPr>
              <a:t>输出</a:t>
            </a:r>
            <a:r>
              <a:rPr sz="1325" dirty="0">
                <a:solidFill>
                  <a:srgbClr val="334054"/>
                </a:solidFill>
                <a:latin typeface="Calibri" panose="020F0502020204030204"/>
                <a:cs typeface="Calibri" panose="020F0502020204030204"/>
              </a:rPr>
              <a:t>-</a:t>
            </a:r>
            <a:r>
              <a:rPr sz="1475" spc="-147" dirty="0">
                <a:solidFill>
                  <a:srgbClr val="334054"/>
                </a:solidFill>
                <a:latin typeface="宋体" panose="02010600030101010101" pitchFamily="2" charset="-122"/>
                <a:cs typeface="宋体" panose="02010600030101010101" pitchFamily="2" charset="-122"/>
              </a:rPr>
              <a:t>损失</a:t>
            </a:r>
            <a:r>
              <a:rPr sz="1325" dirty="0">
                <a:solidFill>
                  <a:srgbClr val="334054"/>
                </a:solidFill>
                <a:latin typeface="Calibri" panose="020F0502020204030204"/>
                <a:cs typeface="Calibri" panose="020F0502020204030204"/>
              </a:rPr>
              <a:t>-</a:t>
            </a:r>
            <a:r>
              <a:rPr sz="1475" spc="-147" dirty="0">
                <a:solidFill>
                  <a:srgbClr val="334054"/>
                </a:solidFill>
                <a:latin typeface="宋体" panose="02010600030101010101" pitchFamily="2" charset="-122"/>
                <a:cs typeface="宋体" panose="02010600030101010101" pitchFamily="2" charset="-122"/>
              </a:rPr>
              <a:t>推理链条高度对齐，逻辑闭环</a:t>
            </a:r>
            <a:endParaRPr sz="1475">
              <a:latin typeface="宋体" panose="02010600030101010101" pitchFamily="2" charset="-122"/>
              <a:cs typeface="宋体" panose="02010600030101010101" pitchFamily="2" charset="-122"/>
            </a:endParaRPr>
          </a:p>
        </p:txBody>
      </p:sp>
      <p:sp>
        <p:nvSpPr>
          <p:cNvPr id="19" name="object 19"/>
          <p:cNvSpPr txBox="1"/>
          <p:nvPr/>
        </p:nvSpPr>
        <p:spPr>
          <a:xfrm>
            <a:off x="817951" y="4013310"/>
            <a:ext cx="137173" cy="165612"/>
          </a:xfrm>
          <a:prstGeom prst="rect">
            <a:avLst/>
          </a:prstGeom>
        </p:spPr>
        <p:txBody>
          <a:bodyPr vert="horz" wrap="square" lIns="0" tIns="14340" rIns="0" bIns="0" rtlCol="0">
            <a:spAutoFit/>
          </a:bodyPr>
          <a:lstStyle/>
          <a:p>
            <a:pPr marL="12700">
              <a:spcBef>
                <a:spcPts val="110"/>
              </a:spcBef>
            </a:pPr>
            <a:r>
              <a:rPr sz="980" spc="49" dirty="0">
                <a:solidFill>
                  <a:srgbClr val="21C45D"/>
                </a:solidFill>
                <a:latin typeface="Lucida Sans Unicode" panose="020B0602030504020204"/>
                <a:cs typeface="Lucida Sans Unicode" panose="020B0602030504020204"/>
              </a:rPr>
              <a:t>◆</a:t>
            </a:r>
            <a:endParaRPr sz="980">
              <a:latin typeface="Lucida Sans Unicode" panose="020B0602030504020204"/>
              <a:cs typeface="Lucida Sans Unicode" panose="020B0602030504020204"/>
            </a:endParaRPr>
          </a:p>
        </p:txBody>
      </p:sp>
      <p:sp>
        <p:nvSpPr>
          <p:cNvPr id="20" name="object 20"/>
          <p:cNvSpPr txBox="1"/>
          <p:nvPr/>
        </p:nvSpPr>
        <p:spPr>
          <a:xfrm>
            <a:off x="1042418" y="3968606"/>
            <a:ext cx="3223568" cy="242405"/>
          </a:xfrm>
          <a:prstGeom prst="rect">
            <a:avLst/>
          </a:prstGeom>
        </p:spPr>
        <p:txBody>
          <a:bodyPr vert="horz" wrap="square" lIns="0" tIns="15588" rIns="0" bIns="0" rtlCol="0">
            <a:spAutoFit/>
          </a:bodyPr>
          <a:lstStyle/>
          <a:p>
            <a:pPr marL="12700">
              <a:spcBef>
                <a:spcPts val="125"/>
              </a:spcBef>
            </a:pPr>
            <a:r>
              <a:rPr sz="1475" spc="-147" dirty="0">
                <a:solidFill>
                  <a:srgbClr val="334054"/>
                </a:solidFill>
                <a:latin typeface="宋体" panose="02010600030101010101" pitchFamily="2" charset="-122"/>
                <a:cs typeface="宋体" panose="02010600030101010101" pitchFamily="2" charset="-122"/>
              </a:rPr>
              <a:t>在完整求解器中通过大规模实验验证有效性</a:t>
            </a:r>
            <a:endParaRPr sz="1475">
              <a:latin typeface="宋体" panose="02010600030101010101" pitchFamily="2" charset="-122"/>
              <a:cs typeface="宋体" panose="02010600030101010101" pitchFamily="2" charset="-122"/>
            </a:endParaRPr>
          </a:p>
        </p:txBody>
      </p:sp>
      <p:grpSp>
        <p:nvGrpSpPr>
          <p:cNvPr id="21" name="object 21"/>
          <p:cNvGrpSpPr/>
          <p:nvPr/>
        </p:nvGrpSpPr>
        <p:grpSpPr>
          <a:xfrm>
            <a:off x="6208231" y="2628111"/>
            <a:ext cx="5424574" cy="2151124"/>
            <a:chOff x="6210299" y="2676524"/>
            <a:chExt cx="5524500" cy="2190750"/>
          </a:xfrm>
        </p:grpSpPr>
        <p:sp>
          <p:nvSpPr>
            <p:cNvPr id="22" name="object 22"/>
            <p:cNvSpPr/>
            <p:nvPr/>
          </p:nvSpPr>
          <p:spPr>
            <a:xfrm>
              <a:off x="6215062" y="2681287"/>
              <a:ext cx="5514975" cy="2181225"/>
            </a:xfrm>
            <a:custGeom>
              <a:avLst/>
              <a:gdLst/>
              <a:ahLst/>
              <a:cxnLst/>
              <a:rect l="l" t="t" r="r" b="b"/>
              <a:pathLst>
                <a:path w="5514975" h="2181225">
                  <a:moveTo>
                    <a:pt x="5412629" y="2181224"/>
                  </a:moveTo>
                  <a:lnTo>
                    <a:pt x="102345" y="2181224"/>
                  </a:lnTo>
                  <a:lnTo>
                    <a:pt x="95221" y="2180523"/>
                  </a:lnTo>
                  <a:lnTo>
                    <a:pt x="54661" y="2166759"/>
                  </a:lnTo>
                  <a:lnTo>
                    <a:pt x="22456" y="2138523"/>
                  </a:lnTo>
                  <a:lnTo>
                    <a:pt x="3507" y="2100110"/>
                  </a:lnTo>
                  <a:lnTo>
                    <a:pt x="0" y="2078879"/>
                  </a:lnTo>
                  <a:lnTo>
                    <a:pt x="0" y="2071687"/>
                  </a:lnTo>
                  <a:lnTo>
                    <a:pt x="0" y="102345"/>
                  </a:lnTo>
                  <a:lnTo>
                    <a:pt x="11090" y="60974"/>
                  </a:lnTo>
                  <a:lnTo>
                    <a:pt x="37168" y="26997"/>
                  </a:lnTo>
                  <a:lnTo>
                    <a:pt x="74264" y="5585"/>
                  </a:lnTo>
                  <a:lnTo>
                    <a:pt x="102345" y="0"/>
                  </a:lnTo>
                  <a:lnTo>
                    <a:pt x="5412629" y="0"/>
                  </a:lnTo>
                  <a:lnTo>
                    <a:pt x="5453998" y="11090"/>
                  </a:lnTo>
                  <a:lnTo>
                    <a:pt x="5487976" y="37168"/>
                  </a:lnTo>
                  <a:lnTo>
                    <a:pt x="5509388" y="74264"/>
                  </a:lnTo>
                  <a:lnTo>
                    <a:pt x="5514973" y="102345"/>
                  </a:lnTo>
                  <a:lnTo>
                    <a:pt x="5514973" y="2078879"/>
                  </a:lnTo>
                  <a:lnTo>
                    <a:pt x="5503882" y="2120250"/>
                  </a:lnTo>
                  <a:lnTo>
                    <a:pt x="5477805" y="2154227"/>
                  </a:lnTo>
                  <a:lnTo>
                    <a:pt x="5440709" y="2175638"/>
                  </a:lnTo>
                  <a:lnTo>
                    <a:pt x="5419752" y="2180523"/>
                  </a:lnTo>
                  <a:lnTo>
                    <a:pt x="5412629" y="2181224"/>
                  </a:lnTo>
                  <a:close/>
                </a:path>
              </a:pathLst>
            </a:custGeom>
            <a:solidFill>
              <a:srgbClr val="FFFAEB">
                <a:alpha val="30198"/>
              </a:srgbClr>
            </a:solidFill>
          </p:spPr>
          <p:txBody>
            <a:bodyPr wrap="square" lIns="0" tIns="0" rIns="0" bIns="0" rtlCol="0"/>
            <a:lstStyle/>
            <a:p/>
          </p:txBody>
        </p:sp>
        <p:sp>
          <p:nvSpPr>
            <p:cNvPr id="23" name="object 23"/>
            <p:cNvSpPr/>
            <p:nvPr/>
          </p:nvSpPr>
          <p:spPr>
            <a:xfrm>
              <a:off x="6215062" y="2681287"/>
              <a:ext cx="5514975" cy="2181225"/>
            </a:xfrm>
            <a:custGeom>
              <a:avLst/>
              <a:gdLst/>
              <a:ahLst/>
              <a:cxnLst/>
              <a:rect l="l" t="t" r="r" b="b"/>
              <a:pathLst>
                <a:path w="5514975" h="2181225">
                  <a:moveTo>
                    <a:pt x="0" y="20716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5405437" y="0"/>
                  </a:lnTo>
                  <a:lnTo>
                    <a:pt x="5412629" y="0"/>
                  </a:lnTo>
                  <a:lnTo>
                    <a:pt x="5419752" y="701"/>
                  </a:lnTo>
                  <a:lnTo>
                    <a:pt x="5460311" y="14464"/>
                  </a:lnTo>
                  <a:lnTo>
                    <a:pt x="5466292" y="18460"/>
                  </a:lnTo>
                  <a:lnTo>
                    <a:pt x="5472272" y="22456"/>
                  </a:lnTo>
                  <a:lnTo>
                    <a:pt x="5500508" y="54661"/>
                  </a:lnTo>
                  <a:lnTo>
                    <a:pt x="5506635" y="67619"/>
                  </a:lnTo>
                  <a:lnTo>
                    <a:pt x="5509388" y="74264"/>
                  </a:lnTo>
                  <a:lnTo>
                    <a:pt x="5511466" y="81113"/>
                  </a:lnTo>
                  <a:lnTo>
                    <a:pt x="5512868" y="88167"/>
                  </a:lnTo>
                  <a:lnTo>
                    <a:pt x="5514272" y="95221"/>
                  </a:lnTo>
                  <a:lnTo>
                    <a:pt x="5514973" y="102345"/>
                  </a:lnTo>
                  <a:lnTo>
                    <a:pt x="5514974" y="109537"/>
                  </a:lnTo>
                  <a:lnTo>
                    <a:pt x="5514974" y="2071687"/>
                  </a:lnTo>
                  <a:lnTo>
                    <a:pt x="5514973" y="2078879"/>
                  </a:lnTo>
                  <a:lnTo>
                    <a:pt x="5514272" y="2086002"/>
                  </a:lnTo>
                  <a:lnTo>
                    <a:pt x="5512868" y="2093056"/>
                  </a:lnTo>
                  <a:lnTo>
                    <a:pt x="5511466" y="2100110"/>
                  </a:lnTo>
                  <a:lnTo>
                    <a:pt x="5509388" y="2106960"/>
                  </a:lnTo>
                  <a:lnTo>
                    <a:pt x="5506635" y="2113605"/>
                  </a:lnTo>
                  <a:lnTo>
                    <a:pt x="5503882" y="2120250"/>
                  </a:lnTo>
                  <a:lnTo>
                    <a:pt x="5500508" y="2126562"/>
                  </a:lnTo>
                  <a:lnTo>
                    <a:pt x="5496512" y="2132542"/>
                  </a:lnTo>
                  <a:lnTo>
                    <a:pt x="5492517" y="2138523"/>
                  </a:lnTo>
                  <a:lnTo>
                    <a:pt x="5466292" y="2162764"/>
                  </a:lnTo>
                  <a:lnTo>
                    <a:pt x="5460311" y="2166759"/>
                  </a:lnTo>
                  <a:lnTo>
                    <a:pt x="5419752" y="2180523"/>
                  </a:lnTo>
                  <a:lnTo>
                    <a:pt x="5405437" y="2181224"/>
                  </a:lnTo>
                  <a:lnTo>
                    <a:pt x="109537" y="2181224"/>
                  </a:lnTo>
                  <a:lnTo>
                    <a:pt x="67619" y="2172886"/>
                  </a:lnTo>
                  <a:lnTo>
                    <a:pt x="48681" y="2162764"/>
                  </a:lnTo>
                  <a:lnTo>
                    <a:pt x="42701" y="2158768"/>
                  </a:lnTo>
                  <a:lnTo>
                    <a:pt x="18460" y="2132542"/>
                  </a:lnTo>
                  <a:lnTo>
                    <a:pt x="14464" y="2126562"/>
                  </a:lnTo>
                  <a:lnTo>
                    <a:pt x="11090" y="2120250"/>
                  </a:lnTo>
                  <a:lnTo>
                    <a:pt x="8338" y="2113605"/>
                  </a:lnTo>
                  <a:lnTo>
                    <a:pt x="5585" y="2106960"/>
                  </a:lnTo>
                  <a:lnTo>
                    <a:pt x="3507" y="2100110"/>
                  </a:lnTo>
                  <a:lnTo>
                    <a:pt x="2104" y="2093056"/>
                  </a:lnTo>
                  <a:lnTo>
                    <a:pt x="701" y="2086002"/>
                  </a:lnTo>
                  <a:lnTo>
                    <a:pt x="0" y="2078879"/>
                  </a:lnTo>
                  <a:lnTo>
                    <a:pt x="0" y="2071687"/>
                  </a:lnTo>
                  <a:close/>
                </a:path>
              </a:pathLst>
            </a:custGeom>
            <a:ln w="9524">
              <a:solidFill>
                <a:srgbClr val="FEF2C7"/>
              </a:solidFill>
            </a:ln>
          </p:spPr>
          <p:txBody>
            <a:bodyPr wrap="square" lIns="0" tIns="0" rIns="0" bIns="0" rtlCol="0"/>
            <a:lstStyle/>
            <a:p/>
          </p:txBody>
        </p:sp>
        <p:pic>
          <p:nvPicPr>
            <p:cNvPr id="24" name="object 24"/>
            <p:cNvPicPr/>
            <p:nvPr/>
          </p:nvPicPr>
          <p:blipFill>
            <a:blip r:embed="rId3" cstate="print"/>
            <a:stretch>
              <a:fillRect/>
            </a:stretch>
          </p:blipFill>
          <p:spPr>
            <a:xfrm>
              <a:off x="6430033" y="2914652"/>
              <a:ext cx="189181" cy="171447"/>
            </a:xfrm>
            <a:prstGeom prst="rect">
              <a:avLst/>
            </a:prstGeom>
          </p:spPr>
        </p:pic>
      </p:grpSp>
      <p:sp>
        <p:nvSpPr>
          <p:cNvPr id="25" name="object 25"/>
          <p:cNvSpPr txBox="1"/>
          <p:nvPr/>
        </p:nvSpPr>
        <p:spPr>
          <a:xfrm>
            <a:off x="6691457" y="2797085"/>
            <a:ext cx="1717157" cy="268828"/>
          </a:xfrm>
          <a:prstGeom prst="rect">
            <a:avLst/>
          </a:prstGeom>
        </p:spPr>
        <p:txBody>
          <a:bodyPr vert="horz" wrap="square" lIns="0" tIns="11847" rIns="0" bIns="0" rtlCol="0">
            <a:spAutoFit/>
          </a:bodyPr>
          <a:lstStyle/>
          <a:p>
            <a:pPr marL="12700">
              <a:spcBef>
                <a:spcPts val="95"/>
              </a:spcBef>
            </a:pPr>
            <a:r>
              <a:rPr sz="1670" b="1" spc="-206" dirty="0">
                <a:solidFill>
                  <a:srgbClr val="B45309"/>
                </a:solidFill>
                <a:latin typeface="微软雅黑" panose="020B0503020204020204" charset="-122"/>
                <a:cs typeface="微软雅黑" panose="020B0503020204020204" charset="-122"/>
              </a:rPr>
              <a:t>局限性 </a:t>
            </a:r>
            <a:r>
              <a:rPr sz="1475" b="1" spc="49" dirty="0">
                <a:solidFill>
                  <a:srgbClr val="B45309"/>
                </a:solidFill>
                <a:latin typeface="Calibri" panose="020F0502020204030204"/>
                <a:cs typeface="Calibri" panose="020F0502020204030204"/>
              </a:rPr>
              <a:t>(Limitations)</a:t>
            </a:r>
            <a:endParaRPr sz="1475">
              <a:latin typeface="Calibri" panose="020F0502020204030204"/>
              <a:cs typeface="Calibri" panose="020F0502020204030204"/>
            </a:endParaRPr>
          </a:p>
        </p:txBody>
      </p:sp>
      <p:sp>
        <p:nvSpPr>
          <p:cNvPr id="26" name="object 26"/>
          <p:cNvSpPr txBox="1"/>
          <p:nvPr/>
        </p:nvSpPr>
        <p:spPr>
          <a:xfrm>
            <a:off x="6466990" y="3246388"/>
            <a:ext cx="137173" cy="165612"/>
          </a:xfrm>
          <a:prstGeom prst="rect">
            <a:avLst/>
          </a:prstGeom>
        </p:spPr>
        <p:txBody>
          <a:bodyPr vert="horz" wrap="square" lIns="0" tIns="14340" rIns="0" bIns="0" rtlCol="0">
            <a:spAutoFit/>
          </a:bodyPr>
          <a:lstStyle/>
          <a:p>
            <a:pPr marL="12700">
              <a:spcBef>
                <a:spcPts val="110"/>
              </a:spcBef>
            </a:pPr>
            <a:r>
              <a:rPr sz="980" spc="49" dirty="0">
                <a:solidFill>
                  <a:srgbClr val="F59D0A"/>
                </a:solidFill>
                <a:latin typeface="Lucida Sans Unicode" panose="020B0602030504020204"/>
                <a:cs typeface="Lucida Sans Unicode" panose="020B0602030504020204"/>
              </a:rPr>
              <a:t>◆</a:t>
            </a:r>
            <a:endParaRPr sz="980">
              <a:latin typeface="Lucida Sans Unicode" panose="020B0602030504020204"/>
              <a:cs typeface="Lucida Sans Unicode" panose="020B0602030504020204"/>
            </a:endParaRPr>
          </a:p>
        </p:txBody>
      </p:sp>
      <p:sp>
        <p:nvSpPr>
          <p:cNvPr id="27" name="object 27"/>
          <p:cNvSpPr txBox="1"/>
          <p:nvPr/>
        </p:nvSpPr>
        <p:spPr>
          <a:xfrm>
            <a:off x="6691456" y="3201683"/>
            <a:ext cx="3859553" cy="242405"/>
          </a:xfrm>
          <a:prstGeom prst="rect">
            <a:avLst/>
          </a:prstGeom>
        </p:spPr>
        <p:txBody>
          <a:bodyPr vert="horz" wrap="square" lIns="0" tIns="15588" rIns="0" bIns="0" rtlCol="0">
            <a:spAutoFit/>
          </a:bodyPr>
          <a:lstStyle/>
          <a:p>
            <a:pPr marL="12700">
              <a:spcBef>
                <a:spcPts val="125"/>
              </a:spcBef>
            </a:pPr>
            <a:r>
              <a:rPr sz="1325" b="1" spc="-167" dirty="0">
                <a:solidFill>
                  <a:srgbClr val="0E1729"/>
                </a:solidFill>
                <a:latin typeface="微软雅黑" panose="020B0503020204020204" charset="-122"/>
                <a:cs typeface="微软雅黑" panose="020B0503020204020204" charset="-122"/>
              </a:rPr>
              <a:t>代理目标间隔</a:t>
            </a:r>
            <a:r>
              <a:rPr sz="1180" b="1" spc="20" dirty="0">
                <a:solidFill>
                  <a:srgbClr val="0E1729"/>
                </a:solidFill>
                <a:latin typeface="Calibri" panose="020F0502020204030204"/>
                <a:cs typeface="Calibri" panose="020F0502020204030204"/>
              </a:rPr>
              <a:t>: </a:t>
            </a:r>
            <a:r>
              <a:rPr sz="1475" spc="-142" dirty="0">
                <a:solidFill>
                  <a:srgbClr val="334054"/>
                </a:solidFill>
                <a:latin typeface="宋体" panose="02010600030101010101" pitchFamily="2" charset="-122"/>
                <a:cs typeface="宋体" panose="02010600030101010101" pitchFamily="2" charset="-122"/>
              </a:rPr>
              <a:t>模仿学习无法完全等同于最终性能优化</a:t>
            </a:r>
            <a:endParaRPr sz="1475">
              <a:latin typeface="宋体" panose="02010600030101010101" pitchFamily="2" charset="-122"/>
              <a:cs typeface="宋体" panose="02010600030101010101" pitchFamily="2" charset="-122"/>
            </a:endParaRPr>
          </a:p>
        </p:txBody>
      </p:sp>
      <p:sp>
        <p:nvSpPr>
          <p:cNvPr id="28" name="object 28"/>
          <p:cNvSpPr txBox="1"/>
          <p:nvPr/>
        </p:nvSpPr>
        <p:spPr>
          <a:xfrm>
            <a:off x="6466990" y="3629849"/>
            <a:ext cx="137173" cy="165612"/>
          </a:xfrm>
          <a:prstGeom prst="rect">
            <a:avLst/>
          </a:prstGeom>
        </p:spPr>
        <p:txBody>
          <a:bodyPr vert="horz" wrap="square" lIns="0" tIns="14340" rIns="0" bIns="0" rtlCol="0">
            <a:spAutoFit/>
          </a:bodyPr>
          <a:lstStyle/>
          <a:p>
            <a:pPr marL="12700">
              <a:spcBef>
                <a:spcPts val="110"/>
              </a:spcBef>
            </a:pPr>
            <a:r>
              <a:rPr sz="980" spc="49" dirty="0">
                <a:solidFill>
                  <a:srgbClr val="F59D0A"/>
                </a:solidFill>
                <a:latin typeface="Lucida Sans Unicode" panose="020B0602030504020204"/>
                <a:cs typeface="Lucida Sans Unicode" panose="020B0602030504020204"/>
              </a:rPr>
              <a:t>◆</a:t>
            </a:r>
            <a:endParaRPr sz="980">
              <a:latin typeface="Lucida Sans Unicode" panose="020B0602030504020204"/>
              <a:cs typeface="Lucida Sans Unicode" panose="020B0602030504020204"/>
            </a:endParaRPr>
          </a:p>
        </p:txBody>
      </p:sp>
      <p:sp>
        <p:nvSpPr>
          <p:cNvPr id="29" name="object 29"/>
          <p:cNvSpPr txBox="1"/>
          <p:nvPr/>
        </p:nvSpPr>
        <p:spPr>
          <a:xfrm>
            <a:off x="6691456" y="3585144"/>
            <a:ext cx="3223568" cy="242405"/>
          </a:xfrm>
          <a:prstGeom prst="rect">
            <a:avLst/>
          </a:prstGeom>
        </p:spPr>
        <p:txBody>
          <a:bodyPr vert="horz" wrap="square" lIns="0" tIns="15588" rIns="0" bIns="0" rtlCol="0">
            <a:spAutoFit/>
          </a:bodyPr>
          <a:lstStyle/>
          <a:p>
            <a:pPr marL="12700">
              <a:spcBef>
                <a:spcPts val="125"/>
              </a:spcBef>
            </a:pPr>
            <a:r>
              <a:rPr sz="1325" b="1" spc="-167" dirty="0">
                <a:solidFill>
                  <a:srgbClr val="0E1729"/>
                </a:solidFill>
                <a:latin typeface="微软雅黑" panose="020B0503020204020204" charset="-122"/>
                <a:cs typeface="微软雅黑" panose="020B0503020204020204" charset="-122"/>
              </a:rPr>
              <a:t>推理成本</a:t>
            </a:r>
            <a:r>
              <a:rPr sz="1180" b="1" spc="10" dirty="0">
                <a:solidFill>
                  <a:srgbClr val="0E1729"/>
                </a:solidFill>
                <a:latin typeface="Calibri" panose="020F0502020204030204"/>
                <a:cs typeface="Calibri" panose="020F0502020204030204"/>
              </a:rPr>
              <a:t>: </a:t>
            </a:r>
            <a:r>
              <a:rPr sz="1475" spc="-142" dirty="0">
                <a:solidFill>
                  <a:srgbClr val="334054"/>
                </a:solidFill>
                <a:latin typeface="宋体" panose="02010600030101010101" pitchFamily="2" charset="-122"/>
                <a:cs typeface="宋体" panose="02010600030101010101" pitchFamily="2" charset="-122"/>
              </a:rPr>
              <a:t>模型复杂度与单步推理速度的博弈</a:t>
            </a:r>
            <a:endParaRPr sz="1475">
              <a:latin typeface="宋体" panose="02010600030101010101" pitchFamily="2" charset="-122"/>
              <a:cs typeface="宋体" panose="02010600030101010101" pitchFamily="2" charset="-122"/>
            </a:endParaRPr>
          </a:p>
        </p:txBody>
      </p:sp>
      <p:sp>
        <p:nvSpPr>
          <p:cNvPr id="30" name="object 30"/>
          <p:cNvSpPr txBox="1"/>
          <p:nvPr/>
        </p:nvSpPr>
        <p:spPr>
          <a:xfrm>
            <a:off x="6466990" y="4013310"/>
            <a:ext cx="137173" cy="165612"/>
          </a:xfrm>
          <a:prstGeom prst="rect">
            <a:avLst/>
          </a:prstGeom>
        </p:spPr>
        <p:txBody>
          <a:bodyPr vert="horz" wrap="square" lIns="0" tIns="14340" rIns="0" bIns="0" rtlCol="0">
            <a:spAutoFit/>
          </a:bodyPr>
          <a:lstStyle/>
          <a:p>
            <a:pPr marL="12700">
              <a:spcBef>
                <a:spcPts val="110"/>
              </a:spcBef>
            </a:pPr>
            <a:r>
              <a:rPr sz="980" spc="49" dirty="0">
                <a:solidFill>
                  <a:srgbClr val="F59D0A"/>
                </a:solidFill>
                <a:latin typeface="Lucida Sans Unicode" panose="020B0602030504020204"/>
                <a:cs typeface="Lucida Sans Unicode" panose="020B0602030504020204"/>
              </a:rPr>
              <a:t>◆</a:t>
            </a:r>
            <a:endParaRPr sz="980">
              <a:latin typeface="Lucida Sans Unicode" panose="020B0602030504020204"/>
              <a:cs typeface="Lucida Sans Unicode" panose="020B0602030504020204"/>
            </a:endParaRPr>
          </a:p>
        </p:txBody>
      </p:sp>
      <p:sp>
        <p:nvSpPr>
          <p:cNvPr id="31" name="object 31"/>
          <p:cNvSpPr txBox="1"/>
          <p:nvPr/>
        </p:nvSpPr>
        <p:spPr>
          <a:xfrm>
            <a:off x="6691457" y="3968606"/>
            <a:ext cx="4243014" cy="242405"/>
          </a:xfrm>
          <a:prstGeom prst="rect">
            <a:avLst/>
          </a:prstGeom>
        </p:spPr>
        <p:txBody>
          <a:bodyPr vert="horz" wrap="square" lIns="0" tIns="15588" rIns="0" bIns="0" rtlCol="0">
            <a:spAutoFit/>
          </a:bodyPr>
          <a:lstStyle/>
          <a:p>
            <a:pPr marL="12700">
              <a:spcBef>
                <a:spcPts val="125"/>
              </a:spcBef>
            </a:pPr>
            <a:r>
              <a:rPr sz="1325" b="1" spc="-167" dirty="0">
                <a:solidFill>
                  <a:srgbClr val="0E1729"/>
                </a:solidFill>
                <a:latin typeface="微软雅黑" panose="020B0503020204020204" charset="-122"/>
                <a:cs typeface="微软雅黑" panose="020B0503020204020204" charset="-122"/>
              </a:rPr>
              <a:t>泛化边界</a:t>
            </a:r>
            <a:r>
              <a:rPr sz="1180" b="1" spc="15" dirty="0">
                <a:solidFill>
                  <a:srgbClr val="0E1729"/>
                </a:solidFill>
                <a:latin typeface="Calibri" panose="020F0502020204030204"/>
                <a:cs typeface="Calibri" panose="020F0502020204030204"/>
              </a:rPr>
              <a:t>: </a:t>
            </a:r>
            <a:r>
              <a:rPr sz="1475" spc="-216" dirty="0">
                <a:solidFill>
                  <a:srgbClr val="334054"/>
                </a:solidFill>
                <a:latin typeface="宋体" panose="02010600030101010101" pitchFamily="2" charset="-122"/>
                <a:cs typeface="宋体" panose="02010600030101010101" pitchFamily="2" charset="-122"/>
              </a:rPr>
              <a:t>特定 </a:t>
            </a:r>
            <a:r>
              <a:rPr sz="1325" dirty="0">
                <a:solidFill>
                  <a:srgbClr val="334054"/>
                </a:solidFill>
                <a:latin typeface="Calibri" panose="020F0502020204030204"/>
                <a:cs typeface="Calibri" panose="020F0502020204030204"/>
              </a:rPr>
              <a:t>NP-Hard</a:t>
            </a:r>
            <a:r>
              <a:rPr sz="1325" spc="79" dirty="0">
                <a:solidFill>
                  <a:srgbClr val="334054"/>
                </a:solidFill>
                <a:latin typeface="Calibri" panose="020F0502020204030204"/>
                <a:cs typeface="Calibri" panose="020F0502020204030204"/>
              </a:rPr>
              <a:t> </a:t>
            </a:r>
            <a:r>
              <a:rPr sz="1475" spc="-142" dirty="0">
                <a:solidFill>
                  <a:srgbClr val="334054"/>
                </a:solidFill>
                <a:latin typeface="宋体" panose="02010600030101010101" pitchFamily="2" charset="-122"/>
                <a:cs typeface="宋体" panose="02010600030101010101" pitchFamily="2" charset="-122"/>
              </a:rPr>
              <a:t>问题规模差距过大时存在性能衰减</a:t>
            </a:r>
            <a:endParaRPr sz="1475">
              <a:latin typeface="宋体" panose="02010600030101010101" pitchFamily="2" charset="-122"/>
              <a:cs typeface="宋体" panose="02010600030101010101" pitchFamily="2" charset="-122"/>
            </a:endParaRPr>
          </a:p>
        </p:txBody>
      </p:sp>
      <p:grpSp>
        <p:nvGrpSpPr>
          <p:cNvPr id="32" name="object 32"/>
          <p:cNvGrpSpPr/>
          <p:nvPr/>
        </p:nvGrpSpPr>
        <p:grpSpPr>
          <a:xfrm>
            <a:off x="559194" y="5003701"/>
            <a:ext cx="11073612" cy="1356143"/>
            <a:chOff x="457200" y="5095874"/>
            <a:chExt cx="11277600" cy="1381125"/>
          </a:xfrm>
        </p:grpSpPr>
        <p:sp>
          <p:nvSpPr>
            <p:cNvPr id="33" name="object 33"/>
            <p:cNvSpPr/>
            <p:nvPr/>
          </p:nvSpPr>
          <p:spPr>
            <a:xfrm>
              <a:off x="457200" y="5095874"/>
              <a:ext cx="11277600" cy="1381125"/>
            </a:xfrm>
            <a:custGeom>
              <a:avLst/>
              <a:gdLst/>
              <a:ahLst/>
              <a:cxnLst/>
              <a:rect l="l" t="t" r="r" b="b"/>
              <a:pathLst>
                <a:path w="11277600" h="1381125">
                  <a:moveTo>
                    <a:pt x="11170803" y="1381124"/>
                  </a:moveTo>
                  <a:lnTo>
                    <a:pt x="106794" y="1381124"/>
                  </a:lnTo>
                  <a:lnTo>
                    <a:pt x="99362" y="1380392"/>
                  </a:lnTo>
                  <a:lnTo>
                    <a:pt x="57038" y="1366031"/>
                  </a:lnTo>
                  <a:lnTo>
                    <a:pt x="23432" y="1336566"/>
                  </a:lnTo>
                  <a:lnTo>
                    <a:pt x="3660" y="1296484"/>
                  </a:lnTo>
                  <a:lnTo>
                    <a:pt x="0" y="1274329"/>
                  </a:lnTo>
                  <a:lnTo>
                    <a:pt x="0" y="1266824"/>
                  </a:lnTo>
                  <a:lnTo>
                    <a:pt x="0" y="106794"/>
                  </a:lnTo>
                  <a:lnTo>
                    <a:pt x="11572" y="63625"/>
                  </a:lnTo>
                  <a:lnTo>
                    <a:pt x="38784" y="28170"/>
                  </a:lnTo>
                  <a:lnTo>
                    <a:pt x="77493" y="5828"/>
                  </a:lnTo>
                  <a:lnTo>
                    <a:pt x="106794" y="0"/>
                  </a:lnTo>
                  <a:lnTo>
                    <a:pt x="11170803" y="0"/>
                  </a:lnTo>
                  <a:lnTo>
                    <a:pt x="11213971" y="11572"/>
                  </a:lnTo>
                  <a:lnTo>
                    <a:pt x="11249426" y="38784"/>
                  </a:lnTo>
                  <a:lnTo>
                    <a:pt x="11271768" y="77493"/>
                  </a:lnTo>
                  <a:lnTo>
                    <a:pt x="11277597" y="106794"/>
                  </a:lnTo>
                  <a:lnTo>
                    <a:pt x="11277597" y="1274329"/>
                  </a:lnTo>
                  <a:lnTo>
                    <a:pt x="11266023" y="1317499"/>
                  </a:lnTo>
                  <a:lnTo>
                    <a:pt x="11238811" y="1352953"/>
                  </a:lnTo>
                  <a:lnTo>
                    <a:pt x="11200105" y="1375296"/>
                  </a:lnTo>
                  <a:lnTo>
                    <a:pt x="11178236" y="1380392"/>
                  </a:lnTo>
                  <a:lnTo>
                    <a:pt x="11170803" y="1381124"/>
                  </a:lnTo>
                  <a:close/>
                </a:path>
              </a:pathLst>
            </a:custGeom>
            <a:solidFill>
              <a:srgbClr val="312E81"/>
            </a:solidFill>
          </p:spPr>
          <p:txBody>
            <a:bodyPr wrap="square" lIns="0" tIns="0" rIns="0" bIns="0" rtlCol="0"/>
            <a:lstStyle/>
            <a:p/>
          </p:txBody>
        </p:sp>
        <p:sp>
          <p:nvSpPr>
            <p:cNvPr id="34" name="object 34"/>
            <p:cNvSpPr/>
            <p:nvPr/>
          </p:nvSpPr>
          <p:spPr>
            <a:xfrm>
              <a:off x="2543174" y="5572124"/>
              <a:ext cx="9525" cy="419100"/>
            </a:xfrm>
            <a:custGeom>
              <a:avLst/>
              <a:gdLst/>
              <a:ahLst/>
              <a:cxnLst/>
              <a:rect l="l" t="t" r="r" b="b"/>
              <a:pathLst>
                <a:path w="9525" h="419100">
                  <a:moveTo>
                    <a:pt x="9524" y="419099"/>
                  </a:moveTo>
                  <a:lnTo>
                    <a:pt x="0" y="419099"/>
                  </a:lnTo>
                  <a:lnTo>
                    <a:pt x="0" y="0"/>
                  </a:lnTo>
                  <a:lnTo>
                    <a:pt x="9524" y="0"/>
                  </a:lnTo>
                  <a:lnTo>
                    <a:pt x="9524" y="419099"/>
                  </a:lnTo>
                  <a:close/>
                </a:path>
              </a:pathLst>
            </a:custGeom>
            <a:solidFill>
              <a:srgbClr val="6266F1">
                <a:alpha val="50199"/>
              </a:srgbClr>
            </a:solidFill>
          </p:spPr>
          <p:txBody>
            <a:bodyPr wrap="square" lIns="0" tIns="0" rIns="0" bIns="0" rtlCol="0"/>
            <a:lstStyle/>
            <a:p/>
          </p:txBody>
        </p:sp>
      </p:grpSp>
      <p:sp>
        <p:nvSpPr>
          <p:cNvPr id="35" name="object 35"/>
          <p:cNvSpPr txBox="1"/>
          <p:nvPr/>
        </p:nvSpPr>
        <p:spPr>
          <a:xfrm>
            <a:off x="920832" y="5451914"/>
            <a:ext cx="1464011" cy="395070"/>
          </a:xfrm>
          <a:prstGeom prst="rect">
            <a:avLst/>
          </a:prstGeom>
        </p:spPr>
        <p:txBody>
          <a:bodyPr vert="horz" wrap="square" lIns="0" tIns="19329" rIns="0" bIns="0" rtlCol="0">
            <a:spAutoFit/>
          </a:bodyPr>
          <a:lstStyle/>
          <a:p>
            <a:pPr marL="12700">
              <a:spcBef>
                <a:spcPts val="150"/>
              </a:spcBef>
            </a:pPr>
            <a:r>
              <a:rPr sz="885" dirty="0">
                <a:solidFill>
                  <a:srgbClr val="A5B4FB"/>
                </a:solidFill>
                <a:latin typeface="Calibri" panose="020F0502020204030204"/>
                <a:cs typeface="Calibri" panose="020F0502020204030204"/>
              </a:rPr>
              <a:t>MAT</a:t>
            </a:r>
            <a:r>
              <a:rPr sz="885" spc="-64" dirty="0">
                <a:solidFill>
                  <a:srgbClr val="A5B4FB"/>
                </a:solidFill>
                <a:latin typeface="Calibri" panose="020F0502020204030204"/>
                <a:cs typeface="Calibri" panose="020F0502020204030204"/>
              </a:rPr>
              <a:t> </a:t>
            </a:r>
            <a:r>
              <a:rPr sz="885" spc="49" dirty="0">
                <a:solidFill>
                  <a:srgbClr val="A5B4FB"/>
                </a:solidFill>
                <a:latin typeface="Calibri" panose="020F0502020204030204"/>
                <a:cs typeface="Calibri" panose="020F0502020204030204"/>
              </a:rPr>
              <a:t>HEMAT</a:t>
            </a:r>
            <a:r>
              <a:rPr sz="885" spc="-59" dirty="0">
                <a:solidFill>
                  <a:srgbClr val="A5B4FB"/>
                </a:solidFill>
                <a:latin typeface="Calibri" panose="020F0502020204030204"/>
                <a:cs typeface="Calibri" panose="020F0502020204030204"/>
              </a:rPr>
              <a:t> </a:t>
            </a:r>
            <a:r>
              <a:rPr sz="885" spc="59" dirty="0">
                <a:solidFill>
                  <a:srgbClr val="A5B4FB"/>
                </a:solidFill>
                <a:latin typeface="Calibri" panose="020F0502020204030204"/>
                <a:cs typeface="Calibri" panose="020F0502020204030204"/>
              </a:rPr>
              <a:t>ICA</a:t>
            </a:r>
            <a:r>
              <a:rPr sz="885" spc="-69" dirty="0">
                <a:solidFill>
                  <a:srgbClr val="A5B4FB"/>
                </a:solidFill>
                <a:latin typeface="Calibri" panose="020F0502020204030204"/>
                <a:cs typeface="Calibri" panose="020F0502020204030204"/>
              </a:rPr>
              <a:t> </a:t>
            </a:r>
            <a:r>
              <a:rPr sz="885" spc="59" dirty="0">
                <a:solidFill>
                  <a:srgbClr val="A5B4FB"/>
                </a:solidFill>
                <a:latin typeface="Calibri" panose="020F0502020204030204"/>
                <a:cs typeface="Calibri" panose="020F0502020204030204"/>
              </a:rPr>
              <a:t>L</a:t>
            </a:r>
            <a:r>
              <a:rPr sz="885" spc="167" dirty="0">
                <a:solidFill>
                  <a:srgbClr val="A5B4FB"/>
                </a:solidFill>
                <a:latin typeface="Calibri" panose="020F0502020204030204"/>
                <a:cs typeface="Calibri" panose="020F0502020204030204"/>
              </a:rPr>
              <a:t> </a:t>
            </a:r>
            <a:r>
              <a:rPr sz="885" spc="74" dirty="0">
                <a:solidFill>
                  <a:srgbClr val="A5B4FB"/>
                </a:solidFill>
                <a:latin typeface="Calibri" panose="020F0502020204030204"/>
                <a:cs typeface="Calibri" panose="020F0502020204030204"/>
              </a:rPr>
              <a:t>INSIG</a:t>
            </a:r>
            <a:r>
              <a:rPr sz="885" spc="-59" dirty="0">
                <a:solidFill>
                  <a:srgbClr val="A5B4FB"/>
                </a:solidFill>
                <a:latin typeface="Calibri" panose="020F0502020204030204"/>
                <a:cs typeface="Calibri" panose="020F0502020204030204"/>
              </a:rPr>
              <a:t> </a:t>
            </a:r>
            <a:r>
              <a:rPr sz="885" spc="54" dirty="0">
                <a:solidFill>
                  <a:srgbClr val="A5B4FB"/>
                </a:solidFill>
                <a:latin typeface="Calibri" panose="020F0502020204030204"/>
                <a:cs typeface="Calibri" panose="020F0502020204030204"/>
              </a:rPr>
              <a:t>HT</a:t>
            </a:r>
            <a:endParaRPr sz="885">
              <a:latin typeface="Calibri" panose="020F0502020204030204"/>
              <a:cs typeface="Calibri" panose="020F0502020204030204"/>
            </a:endParaRPr>
          </a:p>
          <a:p>
            <a:pPr marL="12700">
              <a:spcBef>
                <a:spcPts val="120"/>
              </a:spcBef>
            </a:pPr>
            <a:r>
              <a:rPr sz="1475" b="1" spc="-147" dirty="0">
                <a:solidFill>
                  <a:srgbClr val="FFFFFF"/>
                </a:solidFill>
                <a:latin typeface="微软雅黑" panose="020B0503020204020204" charset="-122"/>
                <a:cs typeface="微软雅黑" panose="020B0503020204020204" charset="-122"/>
              </a:rPr>
              <a:t>预归</a:t>
            </a:r>
            <a:r>
              <a:rPr sz="1475" b="1" spc="-137" dirty="0">
                <a:solidFill>
                  <a:srgbClr val="FFFFFF"/>
                </a:solidFill>
                <a:latin typeface="Yu Gothic UI Semibold" panose="020B0700000000000000" charset="-128"/>
                <a:cs typeface="Yu Gothic UI Semibold" panose="020B0700000000000000" charset="-128"/>
              </a:rPr>
              <a:t>一化 </a:t>
            </a:r>
            <a:r>
              <a:rPr sz="1325" b="1" spc="-10" dirty="0">
                <a:solidFill>
                  <a:srgbClr val="FFFFFF"/>
                </a:solidFill>
                <a:latin typeface="Calibri" panose="020F0502020204030204"/>
                <a:cs typeface="Calibri" panose="020F0502020204030204"/>
              </a:rPr>
              <a:t>(Prenorm)</a:t>
            </a:r>
            <a:endParaRPr sz="1325">
              <a:latin typeface="Calibri" panose="020F0502020204030204"/>
              <a:cs typeface="Calibri" panose="020F0502020204030204"/>
            </a:endParaRPr>
          </a:p>
        </p:txBody>
      </p:sp>
      <p:sp>
        <p:nvSpPr>
          <p:cNvPr id="36" name="object 36"/>
          <p:cNvSpPr txBox="1"/>
          <p:nvPr/>
        </p:nvSpPr>
        <p:spPr>
          <a:xfrm>
            <a:off x="6929804" y="5563430"/>
            <a:ext cx="1624255" cy="190765"/>
          </a:xfrm>
          <a:prstGeom prst="rect">
            <a:avLst/>
          </a:prstGeom>
        </p:spPr>
        <p:txBody>
          <a:bodyPr vert="horz" wrap="square" lIns="0" tIns="16835" rIns="0" bIns="0" rtlCol="0">
            <a:spAutoFit/>
          </a:bodyPr>
          <a:lstStyle/>
          <a:p>
            <a:pPr marL="12700">
              <a:spcBef>
                <a:spcPts val="135"/>
              </a:spcBef>
            </a:pPr>
            <a:r>
              <a:rPr sz="1130" spc="-187" dirty="0">
                <a:solidFill>
                  <a:srgbClr val="C7D1FE"/>
                </a:solidFill>
                <a:latin typeface="宋体" panose="02010600030101010101" pitchFamily="2" charset="-122"/>
                <a:cs typeface="宋体" panose="02010600030101010101" pitchFamily="2" charset="-122"/>
              </a:rPr>
              <a:t>在 </a:t>
            </a:r>
            <a:r>
              <a:rPr sz="1030" dirty="0">
                <a:solidFill>
                  <a:srgbClr val="C7D1FE"/>
                </a:solidFill>
                <a:latin typeface="Calibri" panose="020F0502020204030204"/>
                <a:cs typeface="Calibri" panose="020F0502020204030204"/>
              </a:rPr>
              <a:t>sum</a:t>
            </a:r>
            <a:r>
              <a:rPr sz="1030" spc="10" dirty="0">
                <a:solidFill>
                  <a:srgbClr val="C7D1FE"/>
                </a:solidFill>
                <a:latin typeface="Calibri" panose="020F0502020204030204"/>
                <a:cs typeface="Calibri" panose="020F0502020204030204"/>
              </a:rPr>
              <a:t> </a:t>
            </a:r>
            <a:r>
              <a:rPr sz="1130" spc="-103" dirty="0">
                <a:solidFill>
                  <a:srgbClr val="C7D1FE"/>
                </a:solidFill>
                <a:latin typeface="宋体" panose="02010600030101010101" pitchFamily="2" charset="-122"/>
                <a:cs typeface="宋体" panose="02010600030101010101" pitchFamily="2" charset="-122"/>
              </a:rPr>
              <a:t>聚合后稳定特征尺度</a:t>
            </a:r>
            <a:endParaRPr sz="1130">
              <a:latin typeface="宋体" panose="02010600030101010101" pitchFamily="2" charset="-122"/>
              <a:cs typeface="宋体" panose="02010600030101010101" pitchFamily="2" charset="-122"/>
            </a:endParaRPr>
          </a:p>
        </p:txBody>
      </p:sp>
      <p:sp>
        <p:nvSpPr>
          <p:cNvPr id="37" name="object 37"/>
          <p:cNvSpPr txBox="1"/>
          <p:nvPr/>
        </p:nvSpPr>
        <p:spPr>
          <a:xfrm>
            <a:off x="5545748" y="5524335"/>
            <a:ext cx="442695" cy="284526"/>
          </a:xfrm>
          <a:prstGeom prst="rect">
            <a:avLst/>
          </a:prstGeom>
        </p:spPr>
        <p:txBody>
          <a:bodyPr vert="horz" wrap="square" lIns="0" tIns="12470" rIns="0" bIns="0" rtlCol="0">
            <a:spAutoFit/>
          </a:bodyPr>
          <a:lstStyle/>
          <a:p>
            <a:pPr marL="12700">
              <a:spcBef>
                <a:spcPts val="100"/>
              </a:spcBef>
            </a:pPr>
            <a:r>
              <a:rPr sz="1765" i="1" spc="123" dirty="0">
                <a:solidFill>
                  <a:srgbClr val="FFFFFF"/>
                </a:solidFill>
                <a:latin typeface="Arial" panose="020B0604020202020204"/>
                <a:cs typeface="Arial" panose="020B0604020202020204"/>
              </a:rPr>
              <a:t>x</a:t>
            </a:r>
            <a:r>
              <a:rPr sz="1765" i="1" spc="15" dirty="0">
                <a:solidFill>
                  <a:srgbClr val="FFFFFF"/>
                </a:solidFill>
                <a:latin typeface="Arial" panose="020B0604020202020204"/>
                <a:cs typeface="Arial" panose="020B0604020202020204"/>
              </a:rPr>
              <a:t> </a:t>
            </a:r>
            <a:r>
              <a:rPr sz="1765" spc="49" dirty="0">
                <a:solidFill>
                  <a:srgbClr val="FFFFFF"/>
                </a:solidFill>
                <a:latin typeface="Lucida Sans Unicode" panose="020B0602030504020204"/>
                <a:cs typeface="Lucida Sans Unicode" panose="020B0602030504020204"/>
              </a:rPr>
              <a:t>←</a:t>
            </a:r>
            <a:endParaRPr sz="1765">
              <a:latin typeface="Lucida Sans Unicode" panose="020B0602030504020204"/>
              <a:cs typeface="Lucida Sans Unicode" panose="020B0602030504020204"/>
            </a:endParaRPr>
          </a:p>
        </p:txBody>
      </p:sp>
      <p:sp>
        <p:nvSpPr>
          <p:cNvPr id="38" name="object 38"/>
          <p:cNvSpPr txBox="1"/>
          <p:nvPr/>
        </p:nvSpPr>
        <p:spPr>
          <a:xfrm>
            <a:off x="6258600" y="5673979"/>
            <a:ext cx="153384" cy="284526"/>
          </a:xfrm>
          <a:prstGeom prst="rect">
            <a:avLst/>
          </a:prstGeom>
        </p:spPr>
        <p:txBody>
          <a:bodyPr vert="horz" wrap="square" lIns="0" tIns="12470" rIns="0" bIns="0" rtlCol="0">
            <a:spAutoFit/>
          </a:bodyPr>
          <a:lstStyle/>
          <a:p>
            <a:pPr marL="12700">
              <a:spcBef>
                <a:spcPts val="100"/>
              </a:spcBef>
            </a:pPr>
            <a:r>
              <a:rPr sz="1765" i="1" spc="-49" dirty="0">
                <a:solidFill>
                  <a:srgbClr val="FFFFFF"/>
                </a:solidFill>
                <a:latin typeface="Arial" panose="020B0604020202020204"/>
                <a:cs typeface="Arial" panose="020B0604020202020204"/>
              </a:rPr>
              <a:t>σ</a:t>
            </a:r>
            <a:endParaRPr sz="1765">
              <a:latin typeface="Arial" panose="020B0604020202020204"/>
              <a:cs typeface="Arial" panose="020B0604020202020204"/>
            </a:endParaRPr>
          </a:p>
        </p:txBody>
      </p:sp>
      <p:sp>
        <p:nvSpPr>
          <p:cNvPr id="39" name="object 39"/>
          <p:cNvSpPr/>
          <p:nvPr/>
        </p:nvSpPr>
        <p:spPr>
          <a:xfrm>
            <a:off x="6067941" y="5695802"/>
            <a:ext cx="551810" cy="9353"/>
          </a:xfrm>
          <a:custGeom>
            <a:avLst/>
            <a:gdLst/>
            <a:ahLst/>
            <a:cxnLst/>
            <a:rect l="l" t="t" r="r" b="b"/>
            <a:pathLst>
              <a:path w="561975" h="9525">
                <a:moveTo>
                  <a:pt x="561974" y="9524"/>
                </a:moveTo>
                <a:lnTo>
                  <a:pt x="0" y="9524"/>
                </a:lnTo>
                <a:lnTo>
                  <a:pt x="0" y="0"/>
                </a:lnTo>
                <a:lnTo>
                  <a:pt x="561974" y="0"/>
                </a:lnTo>
                <a:lnTo>
                  <a:pt x="561974" y="9524"/>
                </a:lnTo>
                <a:close/>
              </a:path>
            </a:pathLst>
          </a:custGeom>
          <a:solidFill>
            <a:srgbClr val="FFFFFF"/>
          </a:solidFill>
        </p:spPr>
        <p:txBody>
          <a:bodyPr wrap="square" lIns="0" tIns="0" rIns="0" bIns="0" rtlCol="0"/>
          <a:lstStyle/>
          <a:p/>
        </p:txBody>
      </p:sp>
      <p:sp>
        <p:nvSpPr>
          <p:cNvPr id="40" name="object 40"/>
          <p:cNvSpPr txBox="1"/>
          <p:nvPr/>
        </p:nvSpPr>
        <p:spPr>
          <a:xfrm>
            <a:off x="6052549" y="5365340"/>
            <a:ext cx="560539" cy="284526"/>
          </a:xfrm>
          <a:prstGeom prst="rect">
            <a:avLst/>
          </a:prstGeom>
        </p:spPr>
        <p:txBody>
          <a:bodyPr vert="horz" wrap="square" lIns="0" tIns="12470" rIns="0" bIns="0" rtlCol="0">
            <a:spAutoFit/>
          </a:bodyPr>
          <a:lstStyle/>
          <a:p>
            <a:pPr marL="12700">
              <a:spcBef>
                <a:spcPts val="100"/>
              </a:spcBef>
            </a:pPr>
            <a:r>
              <a:rPr sz="1765" i="1" spc="123" dirty="0">
                <a:solidFill>
                  <a:srgbClr val="FFFFFF"/>
                </a:solidFill>
                <a:latin typeface="Arial" panose="020B0604020202020204"/>
                <a:cs typeface="Arial" panose="020B0604020202020204"/>
              </a:rPr>
              <a:t>x</a:t>
            </a:r>
            <a:r>
              <a:rPr sz="1765" i="1" spc="-83" dirty="0">
                <a:solidFill>
                  <a:srgbClr val="FFFFFF"/>
                </a:solidFill>
                <a:latin typeface="Arial" panose="020B0604020202020204"/>
                <a:cs typeface="Arial" panose="020B0604020202020204"/>
              </a:rPr>
              <a:t> </a:t>
            </a:r>
            <a:r>
              <a:rPr sz="1765" spc="-34" dirty="0">
                <a:solidFill>
                  <a:srgbClr val="FFFFFF"/>
                </a:solidFill>
                <a:latin typeface="Lucida Sans Unicode" panose="020B0602030504020204"/>
                <a:cs typeface="Lucida Sans Unicode" panose="020B0602030504020204"/>
              </a:rPr>
              <a:t>−</a:t>
            </a:r>
            <a:r>
              <a:rPr sz="1765" spc="-142" dirty="0">
                <a:solidFill>
                  <a:srgbClr val="FFFFFF"/>
                </a:solidFill>
                <a:latin typeface="Lucida Sans Unicode" panose="020B0602030504020204"/>
                <a:cs typeface="Lucida Sans Unicode" panose="020B0602030504020204"/>
              </a:rPr>
              <a:t> </a:t>
            </a:r>
            <a:r>
              <a:rPr sz="1765" i="1" spc="-49" dirty="0">
                <a:solidFill>
                  <a:srgbClr val="FFFFFF"/>
                </a:solidFill>
                <a:latin typeface="Arial" panose="020B0604020202020204"/>
                <a:cs typeface="Arial" panose="020B0604020202020204"/>
              </a:rPr>
              <a:t>β</a:t>
            </a:r>
            <a:endParaRPr sz="1765">
              <a:latin typeface="Arial" panose="020B0604020202020204"/>
              <a:cs typeface="Arial" panose="020B0604020202020204"/>
            </a:endParaRPr>
          </a:p>
        </p:txBody>
      </p:sp>
      <p:grpSp>
        <p:nvGrpSpPr>
          <p:cNvPr id="41" name="object 41"/>
          <p:cNvGrpSpPr/>
          <p:nvPr/>
        </p:nvGrpSpPr>
        <p:grpSpPr>
          <a:xfrm>
            <a:off x="110264" y="6210201"/>
            <a:ext cx="11971473" cy="523752"/>
            <a:chOff x="0" y="6324599"/>
            <a:chExt cx="12192000" cy="533400"/>
          </a:xfrm>
        </p:grpSpPr>
        <p:sp>
          <p:nvSpPr>
            <p:cNvPr id="42" name="object 42"/>
            <p:cNvSpPr/>
            <p:nvPr/>
          </p:nvSpPr>
          <p:spPr>
            <a:xfrm>
              <a:off x="0" y="6638924"/>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43" name="object 43"/>
            <p:cNvSpPr/>
            <p:nvPr/>
          </p:nvSpPr>
          <p:spPr>
            <a:xfrm>
              <a:off x="11791937" y="6724649"/>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44" name="object 44"/>
            <p:cNvSpPr/>
            <p:nvPr/>
          </p:nvSpPr>
          <p:spPr>
            <a:xfrm>
              <a:off x="11982447" y="6724649"/>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45" name="object 45"/>
            <p:cNvPicPr/>
            <p:nvPr/>
          </p:nvPicPr>
          <p:blipFill>
            <a:blip r:embed="rId4" cstate="print"/>
            <a:stretch>
              <a:fillRect/>
            </a:stretch>
          </p:blipFill>
          <p:spPr>
            <a:xfrm>
              <a:off x="9896474" y="6324599"/>
              <a:ext cx="342899" cy="342899"/>
            </a:xfrm>
            <a:prstGeom prst="rect">
              <a:avLst/>
            </a:prstGeom>
          </p:spPr>
        </p:pic>
      </p:grpSp>
      <p:sp>
        <p:nvSpPr>
          <p:cNvPr id="46" name="object 46"/>
          <p:cNvSpPr txBox="1"/>
          <p:nvPr/>
        </p:nvSpPr>
        <p:spPr>
          <a:xfrm>
            <a:off x="10249432" y="6253847"/>
            <a:ext cx="1561903" cy="193860"/>
          </a:xfrm>
          <a:prstGeom prst="rect">
            <a:avLst/>
          </a:prstGeom>
        </p:spPr>
        <p:txBody>
          <a:bodyPr vert="horz" wrap="square" lIns="0" tIns="12470" rIns="0" bIns="0" rtlCol="0">
            <a:spAutoFit/>
          </a:bodyPr>
          <a:lstStyle/>
          <a:p>
            <a:pPr marL="12700">
              <a:spcBef>
                <a:spcPts val="100"/>
              </a:spcBef>
            </a:pPr>
            <a:r>
              <a:rPr sz="1180" b="1" dirty="0">
                <a:latin typeface="Arial" panose="020B0604020202020204"/>
                <a:cs typeface="Arial" panose="020B0604020202020204"/>
              </a:rPr>
              <a:t>Powered</a:t>
            </a:r>
            <a:r>
              <a:rPr sz="1180" b="1" spc="98" dirty="0">
                <a:latin typeface="Arial" panose="020B0604020202020204"/>
                <a:cs typeface="Arial" panose="020B0604020202020204"/>
              </a:rPr>
              <a:t> </a:t>
            </a:r>
            <a:r>
              <a:rPr sz="1180" b="1" dirty="0">
                <a:latin typeface="Arial" panose="020B0604020202020204"/>
                <a:cs typeface="Arial" panose="020B0604020202020204"/>
              </a:rPr>
              <a:t>By</a:t>
            </a:r>
            <a:r>
              <a:rPr sz="1180" b="1" spc="103" dirty="0">
                <a:latin typeface="Arial" panose="020B0604020202020204"/>
                <a:cs typeface="Arial" panose="020B0604020202020204"/>
              </a:rPr>
              <a:t> </a:t>
            </a:r>
            <a:r>
              <a:rPr sz="1180" b="1" spc="-10" dirty="0">
                <a:latin typeface="Arial" panose="020B0604020202020204"/>
                <a:cs typeface="Arial" panose="020B0604020202020204"/>
              </a:rPr>
              <a:t>Tosea.ai</a:t>
            </a:r>
            <a:endParaRPr sz="1180">
              <a:latin typeface="Arial" panose="020B0604020202020204"/>
              <a:cs typeface="Arial" panose="020B0604020202020204"/>
            </a:endParaRPr>
          </a:p>
        </p:txBody>
      </p:sp>
      <p:sp>
        <p:nvSpPr>
          <p:cNvPr id="47" name="object 47"/>
          <p:cNvSpPr txBox="1"/>
          <p:nvPr/>
        </p:nvSpPr>
        <p:spPr>
          <a:xfrm>
            <a:off x="247436" y="6553965"/>
            <a:ext cx="289934" cy="115125"/>
          </a:xfrm>
          <a:prstGeom prst="rect">
            <a:avLst/>
          </a:prstGeom>
        </p:spPr>
        <p:txBody>
          <a:bodyPr vert="horz" wrap="square" lIns="0" tIns="1871" rIns="0" bIns="0" rtlCol="0">
            <a:spAutoFit/>
          </a:bodyPr>
          <a:lstStyle/>
          <a:p>
            <a:pPr marL="12700">
              <a:spcBef>
                <a:spcPts val="15"/>
              </a:spcBef>
            </a:pPr>
            <a:r>
              <a:rPr sz="735" spc="-10" dirty="0">
                <a:solidFill>
                  <a:srgbClr val="FFFFFF"/>
                </a:solidFill>
                <a:latin typeface="Times New Roman" panose="02020603050405020304"/>
                <a:cs typeface="Times New Roman" panose="02020603050405020304"/>
              </a:rPr>
              <a:t>Author</a:t>
            </a:r>
            <a:endParaRPr sz="735">
              <a:latin typeface="Times New Roman" panose="02020603050405020304"/>
              <a:cs typeface="Times New Roman" panose="02020603050405020304"/>
            </a:endParaRPr>
          </a:p>
        </p:txBody>
      </p:sp>
      <p:sp>
        <p:nvSpPr>
          <p:cNvPr id="48" name="object 48"/>
          <p:cNvSpPr txBox="1"/>
          <p:nvPr/>
        </p:nvSpPr>
        <p:spPr>
          <a:xfrm>
            <a:off x="662171" y="6553965"/>
            <a:ext cx="305522" cy="115125"/>
          </a:xfrm>
          <a:prstGeom prst="rect">
            <a:avLst/>
          </a:prstGeom>
        </p:spPr>
        <p:txBody>
          <a:bodyPr vert="horz" wrap="square" lIns="0" tIns="1871" rIns="0" bIns="0" rtlCol="0">
            <a:spAutoFit/>
          </a:bodyPr>
          <a:lstStyle/>
          <a:p>
            <a:pPr marL="12700">
              <a:spcBef>
                <a:spcPts val="15"/>
              </a:spcBef>
            </a:pPr>
            <a:r>
              <a:rPr sz="735" spc="-10" dirty="0">
                <a:solidFill>
                  <a:srgbClr val="FFFFFF"/>
                </a:solidFill>
                <a:latin typeface="Times New Roman" panose="02020603050405020304"/>
                <a:cs typeface="Times New Roman" panose="02020603050405020304"/>
              </a:rPr>
              <a:t>Section</a:t>
            </a:r>
            <a:endParaRPr sz="735">
              <a:latin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783" y="94008"/>
            <a:ext cx="4863411" cy="420524"/>
          </a:xfrm>
          <a:prstGeom prst="rect">
            <a:avLst/>
          </a:prstGeom>
        </p:spPr>
        <p:txBody>
          <a:bodyPr vert="horz" wrap="square" lIns="0" tIns="12470" rIns="0" bIns="0" rtlCol="0">
            <a:spAutoFit/>
          </a:bodyPr>
          <a:lstStyle/>
          <a:p>
            <a:pPr marL="12700">
              <a:spcBef>
                <a:spcPts val="100"/>
              </a:spcBef>
            </a:pPr>
            <a:r>
              <a:rPr spc="-363" dirty="0"/>
              <a:t>结论</a:t>
            </a:r>
            <a:r>
              <a:rPr sz="2650" spc="-88" dirty="0">
                <a:latin typeface="Microsoft PhagsPa" panose="020B0502040204020203"/>
                <a:cs typeface="Microsoft PhagsPa" panose="020B0502040204020203"/>
              </a:rPr>
              <a:t>: </a:t>
            </a:r>
            <a:r>
              <a:rPr spc="-363" dirty="0"/>
              <a:t>贡献</a:t>
            </a:r>
            <a:r>
              <a:rPr spc="-363" dirty="0">
                <a:latin typeface="Microsoft New Tai Lue" panose="020B0502040204020203"/>
                <a:cs typeface="Microsoft New Tai Lue" panose="020B0502040204020203"/>
              </a:rPr>
              <a:t>、</a:t>
            </a:r>
            <a:r>
              <a:rPr spc="-373" dirty="0"/>
              <a:t>局限与展望</a:t>
            </a:r>
            <a:endParaRPr sz="2650">
              <a:latin typeface="Microsoft New Tai Lue" panose="020B0502040204020203"/>
              <a:cs typeface="Microsoft New Tai Lue" panose="020B0502040204020203"/>
            </a:endParaRPr>
          </a:p>
        </p:txBody>
      </p:sp>
      <p:sp>
        <p:nvSpPr>
          <p:cNvPr id="47" name="object 47"/>
          <p:cNvSpPr txBox="1">
            <a:spLocks noGrp="1"/>
          </p:cNvSpPr>
          <p:nvPr>
            <p:ph type="ftr" sz="quarter" idx="5"/>
          </p:nvPr>
        </p:nvSpPr>
        <p:spPr>
          <a:xfrm>
            <a:off x="247437" y="5138597"/>
            <a:ext cx="289934" cy="92363"/>
          </a:xfrm>
          <a:prstGeom prst="rect">
            <a:avLst/>
          </a:prstGeom>
        </p:spPr>
        <p:txBody>
          <a:bodyPr vert="horz" wrap="square" lIns="0" tIns="1871" rIns="0" bIns="0" rtlCol="0">
            <a:spAutoFit/>
          </a:bodyPr>
          <a:lstStyle/>
          <a:p>
            <a:pPr marL="12700">
              <a:spcBef>
                <a:spcPts val="15"/>
              </a:spcBef>
            </a:pPr>
            <a:r>
              <a:rPr spc="-10" dirty="0"/>
              <a:t>Author</a:t>
            </a:r>
            <a:endParaRPr spc="-10" dirty="0"/>
          </a:p>
        </p:txBody>
      </p:sp>
      <p:sp>
        <p:nvSpPr>
          <p:cNvPr id="48" name="object 48"/>
          <p:cNvSpPr txBox="1">
            <a:spLocks noGrp="1"/>
          </p:cNvSpPr>
          <p:nvPr>
            <p:ph type="dt" sz="half" idx="6"/>
          </p:nvPr>
        </p:nvSpPr>
        <p:spPr>
          <a:xfrm>
            <a:off x="662171" y="5138597"/>
            <a:ext cx="305522" cy="92363"/>
          </a:xfrm>
          <a:prstGeom prst="rect">
            <a:avLst/>
          </a:prstGeom>
        </p:spPr>
        <p:txBody>
          <a:bodyPr vert="horz" wrap="square" lIns="0" tIns="1871" rIns="0" bIns="0" rtlCol="0">
            <a:spAutoFit/>
          </a:bodyPr>
          <a:lstStyle/>
          <a:p>
            <a:pPr marL="12700">
              <a:spcBef>
                <a:spcPts val="15"/>
              </a:spcBef>
            </a:pPr>
            <a:r>
              <a:rPr spc="-10" dirty="0"/>
              <a:t>Section</a:t>
            </a:r>
            <a:endParaRPr spc="-10" dirty="0"/>
          </a:p>
        </p:txBody>
      </p:sp>
      <p:sp>
        <p:nvSpPr>
          <p:cNvPr id="3" name="object 3"/>
          <p:cNvSpPr/>
          <p:nvPr/>
        </p:nvSpPr>
        <p:spPr>
          <a:xfrm>
            <a:off x="559193" y="6621720"/>
            <a:ext cx="11073612" cy="9353"/>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1F5F9"/>
          </a:solidFill>
        </p:spPr>
        <p:txBody>
          <a:bodyPr wrap="square" lIns="0" tIns="0" rIns="0" bIns="0" rtlCol="0"/>
          <a:lstStyle/>
          <a:p/>
        </p:txBody>
      </p:sp>
      <p:sp>
        <p:nvSpPr>
          <p:cNvPr id="4" name="object 4"/>
          <p:cNvSpPr txBox="1"/>
          <p:nvPr/>
        </p:nvSpPr>
        <p:spPr>
          <a:xfrm>
            <a:off x="546723" y="6685233"/>
            <a:ext cx="2972916" cy="158045"/>
          </a:xfrm>
          <a:prstGeom prst="rect">
            <a:avLst/>
          </a:prstGeom>
        </p:spPr>
        <p:txBody>
          <a:bodyPr vert="horz" wrap="square" lIns="0" tIns="14340" rIns="0" bIns="0" rtlCol="0">
            <a:spAutoFit/>
          </a:bodyPr>
          <a:lstStyle/>
          <a:p>
            <a:pPr marL="12700">
              <a:spcBef>
                <a:spcPts val="110"/>
              </a:spcBef>
            </a:pPr>
            <a:r>
              <a:rPr sz="935" spc="-44" dirty="0">
                <a:solidFill>
                  <a:srgbClr val="94A2B8"/>
                </a:solidFill>
                <a:latin typeface="Courier New" panose="02070309020205020404"/>
                <a:cs typeface="Courier New" panose="02070309020205020404"/>
              </a:rPr>
              <a:t>International</a:t>
            </a:r>
            <a:r>
              <a:rPr sz="935" spc="-88" dirty="0">
                <a:solidFill>
                  <a:srgbClr val="94A2B8"/>
                </a:solidFill>
                <a:latin typeface="Courier New" panose="02070309020205020404"/>
                <a:cs typeface="Courier New" panose="02070309020205020404"/>
              </a:rPr>
              <a:t> </a:t>
            </a:r>
            <a:r>
              <a:rPr sz="935" spc="-39" dirty="0">
                <a:solidFill>
                  <a:srgbClr val="94A2B8"/>
                </a:solidFill>
                <a:latin typeface="Courier New" panose="02070309020205020404"/>
                <a:cs typeface="Courier New" panose="02070309020205020404"/>
              </a:rPr>
              <a:t>Conference</a:t>
            </a:r>
            <a:r>
              <a:rPr sz="935" spc="-88" dirty="0">
                <a:solidFill>
                  <a:srgbClr val="94A2B8"/>
                </a:solidFill>
                <a:latin typeface="Courier New" panose="02070309020205020404"/>
                <a:cs typeface="Courier New" panose="02070309020205020404"/>
              </a:rPr>
              <a:t> </a:t>
            </a:r>
            <a:r>
              <a:rPr sz="935" dirty="0">
                <a:solidFill>
                  <a:srgbClr val="94A2B8"/>
                </a:solidFill>
                <a:latin typeface="Courier New" panose="02070309020205020404"/>
                <a:cs typeface="Courier New" panose="02070309020205020404"/>
              </a:rPr>
              <a:t>on</a:t>
            </a:r>
            <a:r>
              <a:rPr sz="935" spc="-88" dirty="0">
                <a:solidFill>
                  <a:srgbClr val="94A2B8"/>
                </a:solidFill>
                <a:latin typeface="Courier New" panose="02070309020205020404"/>
                <a:cs typeface="Courier New" panose="02070309020205020404"/>
              </a:rPr>
              <a:t> </a:t>
            </a:r>
            <a:r>
              <a:rPr sz="935" spc="-29" dirty="0">
                <a:solidFill>
                  <a:srgbClr val="94A2B8"/>
                </a:solidFill>
                <a:latin typeface="Courier New" panose="02070309020205020404"/>
                <a:cs typeface="Courier New" panose="02070309020205020404"/>
              </a:rPr>
              <a:t>MILP</a:t>
            </a:r>
            <a:r>
              <a:rPr sz="935" spc="-88" dirty="0">
                <a:solidFill>
                  <a:srgbClr val="94A2B8"/>
                </a:solidFill>
                <a:latin typeface="Courier New" panose="02070309020205020404"/>
                <a:cs typeface="Courier New" panose="02070309020205020404"/>
              </a:rPr>
              <a:t> </a:t>
            </a:r>
            <a:r>
              <a:rPr sz="935" spc="-39" dirty="0">
                <a:solidFill>
                  <a:srgbClr val="94A2B8"/>
                </a:solidFill>
                <a:latin typeface="Courier New" panose="02070309020205020404"/>
                <a:cs typeface="Courier New" panose="02070309020205020404"/>
              </a:rPr>
              <a:t>Solvers</a:t>
            </a:r>
            <a:r>
              <a:rPr sz="935" spc="-83" dirty="0">
                <a:solidFill>
                  <a:srgbClr val="94A2B8"/>
                </a:solidFill>
                <a:latin typeface="Courier New" panose="02070309020205020404"/>
                <a:cs typeface="Courier New" panose="02070309020205020404"/>
              </a:rPr>
              <a:t> </a:t>
            </a:r>
            <a:r>
              <a:rPr sz="935" dirty="0">
                <a:solidFill>
                  <a:srgbClr val="94A2B8"/>
                </a:solidFill>
                <a:latin typeface="Courier New" panose="02070309020205020404"/>
                <a:cs typeface="Courier New" panose="02070309020205020404"/>
              </a:rPr>
              <a:t>&amp;</a:t>
            </a:r>
            <a:r>
              <a:rPr sz="935" spc="-88" dirty="0">
                <a:solidFill>
                  <a:srgbClr val="94A2B8"/>
                </a:solidFill>
                <a:latin typeface="Courier New" panose="02070309020205020404"/>
                <a:cs typeface="Courier New" panose="02070309020205020404"/>
              </a:rPr>
              <a:t> </a:t>
            </a:r>
            <a:r>
              <a:rPr sz="935" spc="-137" dirty="0">
                <a:solidFill>
                  <a:srgbClr val="94A2B8"/>
                </a:solidFill>
                <a:latin typeface="Courier New" panose="02070309020205020404"/>
                <a:cs typeface="Courier New" panose="02070309020205020404"/>
              </a:rPr>
              <a:t>AI</a:t>
            </a:r>
            <a:endParaRPr sz="935">
              <a:latin typeface="Courier New" panose="02070309020205020404"/>
              <a:cs typeface="Courier New" panose="02070309020205020404"/>
            </a:endParaRPr>
          </a:p>
        </p:txBody>
      </p:sp>
      <p:grpSp>
        <p:nvGrpSpPr>
          <p:cNvPr id="5" name="object 5"/>
          <p:cNvGrpSpPr/>
          <p:nvPr/>
        </p:nvGrpSpPr>
        <p:grpSpPr>
          <a:xfrm>
            <a:off x="559194" y="1131678"/>
            <a:ext cx="4292895" cy="3151864"/>
            <a:chOff x="457200" y="1152524"/>
            <a:chExt cx="4371975" cy="3209925"/>
          </a:xfrm>
        </p:grpSpPr>
        <p:sp>
          <p:nvSpPr>
            <p:cNvPr id="6" name="object 6"/>
            <p:cNvSpPr/>
            <p:nvPr/>
          </p:nvSpPr>
          <p:spPr>
            <a:xfrm>
              <a:off x="476249" y="1152524"/>
              <a:ext cx="4352925" cy="3209925"/>
            </a:xfrm>
            <a:custGeom>
              <a:avLst/>
              <a:gdLst/>
              <a:ahLst/>
              <a:cxnLst/>
              <a:rect l="l" t="t" r="r" b="b"/>
              <a:pathLst>
                <a:path w="4352925" h="3209925">
                  <a:moveTo>
                    <a:pt x="4246129" y="3209924"/>
                  </a:moveTo>
                  <a:lnTo>
                    <a:pt x="0" y="3209924"/>
                  </a:lnTo>
                  <a:lnTo>
                    <a:pt x="0" y="0"/>
                  </a:lnTo>
                  <a:lnTo>
                    <a:pt x="4246129" y="0"/>
                  </a:lnTo>
                  <a:lnTo>
                    <a:pt x="4253562" y="732"/>
                  </a:lnTo>
                  <a:lnTo>
                    <a:pt x="4295885" y="15093"/>
                  </a:lnTo>
                  <a:lnTo>
                    <a:pt x="4329491" y="44558"/>
                  </a:lnTo>
                  <a:lnTo>
                    <a:pt x="4349263" y="84640"/>
                  </a:lnTo>
                  <a:lnTo>
                    <a:pt x="4352924" y="106794"/>
                  </a:lnTo>
                  <a:lnTo>
                    <a:pt x="4352924" y="3103129"/>
                  </a:lnTo>
                  <a:lnTo>
                    <a:pt x="4341351" y="3146298"/>
                  </a:lnTo>
                  <a:lnTo>
                    <a:pt x="4314139" y="3181753"/>
                  </a:lnTo>
                  <a:lnTo>
                    <a:pt x="4275430" y="3204096"/>
                  </a:lnTo>
                  <a:lnTo>
                    <a:pt x="4246129" y="3209924"/>
                  </a:lnTo>
                  <a:close/>
                </a:path>
              </a:pathLst>
            </a:custGeom>
            <a:solidFill>
              <a:srgbClr val="F7FAFB"/>
            </a:solidFill>
          </p:spPr>
          <p:txBody>
            <a:bodyPr wrap="square" lIns="0" tIns="0" rIns="0" bIns="0" rtlCol="0"/>
            <a:lstStyle/>
            <a:p/>
          </p:txBody>
        </p:sp>
        <p:sp>
          <p:nvSpPr>
            <p:cNvPr id="7" name="object 7"/>
            <p:cNvSpPr/>
            <p:nvPr/>
          </p:nvSpPr>
          <p:spPr>
            <a:xfrm>
              <a:off x="457200" y="1152524"/>
              <a:ext cx="38100" cy="3209925"/>
            </a:xfrm>
            <a:custGeom>
              <a:avLst/>
              <a:gdLst/>
              <a:ahLst/>
              <a:cxnLst/>
              <a:rect l="l" t="t" r="r" b="b"/>
              <a:pathLst>
                <a:path w="38100" h="3209925">
                  <a:moveTo>
                    <a:pt x="38099" y="3209924"/>
                  </a:moveTo>
                  <a:lnTo>
                    <a:pt x="0" y="3209924"/>
                  </a:lnTo>
                  <a:lnTo>
                    <a:pt x="0" y="0"/>
                  </a:lnTo>
                  <a:lnTo>
                    <a:pt x="38099" y="0"/>
                  </a:lnTo>
                  <a:lnTo>
                    <a:pt x="38099" y="3209924"/>
                  </a:lnTo>
                  <a:close/>
                </a:path>
              </a:pathLst>
            </a:custGeom>
            <a:solidFill>
              <a:srgbClr val="4237CA"/>
            </a:solidFill>
          </p:spPr>
          <p:txBody>
            <a:bodyPr wrap="square" lIns="0" tIns="0" rIns="0" bIns="0" rtlCol="0"/>
            <a:lstStyle/>
            <a:p/>
          </p:txBody>
        </p:sp>
        <p:sp>
          <p:nvSpPr>
            <p:cNvPr id="8" name="object 8"/>
            <p:cNvSpPr/>
            <p:nvPr/>
          </p:nvSpPr>
          <p:spPr>
            <a:xfrm>
              <a:off x="690562" y="2443162"/>
              <a:ext cx="3943350" cy="619125"/>
            </a:xfrm>
            <a:custGeom>
              <a:avLst/>
              <a:gdLst/>
              <a:ahLst/>
              <a:cxnLst/>
              <a:rect l="l" t="t" r="r" b="b"/>
              <a:pathLst>
                <a:path w="3943350" h="619125">
                  <a:moveTo>
                    <a:pt x="3876602" y="619124"/>
                  </a:moveTo>
                  <a:lnTo>
                    <a:pt x="66746" y="619124"/>
                  </a:lnTo>
                  <a:lnTo>
                    <a:pt x="62101" y="618667"/>
                  </a:lnTo>
                  <a:lnTo>
                    <a:pt x="24240" y="601517"/>
                  </a:lnTo>
                  <a:lnTo>
                    <a:pt x="2287" y="566224"/>
                  </a:lnTo>
                  <a:lnTo>
                    <a:pt x="0" y="552378"/>
                  </a:lnTo>
                  <a:lnTo>
                    <a:pt x="0" y="547687"/>
                  </a:lnTo>
                  <a:lnTo>
                    <a:pt x="0" y="66746"/>
                  </a:lnTo>
                  <a:lnTo>
                    <a:pt x="14645" y="27848"/>
                  </a:lnTo>
                  <a:lnTo>
                    <a:pt x="48433" y="3642"/>
                  </a:lnTo>
                  <a:lnTo>
                    <a:pt x="66746" y="0"/>
                  </a:lnTo>
                  <a:lnTo>
                    <a:pt x="3876602" y="0"/>
                  </a:lnTo>
                  <a:lnTo>
                    <a:pt x="3915500" y="14645"/>
                  </a:lnTo>
                  <a:lnTo>
                    <a:pt x="3939706" y="48432"/>
                  </a:lnTo>
                  <a:lnTo>
                    <a:pt x="3943349" y="66746"/>
                  </a:lnTo>
                  <a:lnTo>
                    <a:pt x="3943349" y="552378"/>
                  </a:lnTo>
                  <a:lnTo>
                    <a:pt x="3928703" y="591275"/>
                  </a:lnTo>
                  <a:lnTo>
                    <a:pt x="3894915" y="615481"/>
                  </a:lnTo>
                  <a:lnTo>
                    <a:pt x="3881248" y="618667"/>
                  </a:lnTo>
                  <a:lnTo>
                    <a:pt x="3876602" y="619124"/>
                  </a:lnTo>
                  <a:close/>
                </a:path>
              </a:pathLst>
            </a:custGeom>
            <a:solidFill>
              <a:srgbClr val="FFFFFF">
                <a:alpha val="59999"/>
              </a:srgbClr>
            </a:solidFill>
          </p:spPr>
          <p:txBody>
            <a:bodyPr wrap="square" lIns="0" tIns="0" rIns="0" bIns="0" rtlCol="0"/>
            <a:lstStyle/>
            <a:p/>
          </p:txBody>
        </p:sp>
        <p:sp>
          <p:nvSpPr>
            <p:cNvPr id="9" name="object 9"/>
            <p:cNvSpPr/>
            <p:nvPr/>
          </p:nvSpPr>
          <p:spPr>
            <a:xfrm>
              <a:off x="690562" y="2443162"/>
              <a:ext cx="3943350" cy="619125"/>
            </a:xfrm>
            <a:custGeom>
              <a:avLst/>
              <a:gdLst/>
              <a:ahLst/>
              <a:cxnLst/>
              <a:rect l="l" t="t" r="r" b="b"/>
              <a:pathLst>
                <a:path w="3943350" h="619125">
                  <a:moveTo>
                    <a:pt x="0" y="547687"/>
                  </a:moveTo>
                  <a:lnTo>
                    <a:pt x="0" y="71437"/>
                  </a:lnTo>
                  <a:lnTo>
                    <a:pt x="0" y="66746"/>
                  </a:lnTo>
                  <a:lnTo>
                    <a:pt x="457" y="62101"/>
                  </a:lnTo>
                  <a:lnTo>
                    <a:pt x="1372" y="57500"/>
                  </a:lnTo>
                  <a:lnTo>
                    <a:pt x="2287" y="52899"/>
                  </a:lnTo>
                  <a:lnTo>
                    <a:pt x="3642" y="48432"/>
                  </a:lnTo>
                  <a:lnTo>
                    <a:pt x="5437" y="44099"/>
                  </a:lnTo>
                  <a:lnTo>
                    <a:pt x="7232" y="39765"/>
                  </a:lnTo>
                  <a:lnTo>
                    <a:pt x="20923" y="20923"/>
                  </a:lnTo>
                  <a:lnTo>
                    <a:pt x="24240" y="17606"/>
                  </a:lnTo>
                  <a:lnTo>
                    <a:pt x="57500" y="1372"/>
                  </a:lnTo>
                  <a:lnTo>
                    <a:pt x="62101" y="457"/>
                  </a:lnTo>
                  <a:lnTo>
                    <a:pt x="66746" y="0"/>
                  </a:lnTo>
                  <a:lnTo>
                    <a:pt x="71437" y="0"/>
                  </a:lnTo>
                  <a:lnTo>
                    <a:pt x="3871912" y="0"/>
                  </a:lnTo>
                  <a:lnTo>
                    <a:pt x="3876602" y="0"/>
                  </a:lnTo>
                  <a:lnTo>
                    <a:pt x="3881248" y="457"/>
                  </a:lnTo>
                  <a:lnTo>
                    <a:pt x="3911599" y="12039"/>
                  </a:lnTo>
                  <a:lnTo>
                    <a:pt x="3915500" y="14645"/>
                  </a:lnTo>
                  <a:lnTo>
                    <a:pt x="3919109" y="17606"/>
                  </a:lnTo>
                  <a:lnTo>
                    <a:pt x="3922425" y="20923"/>
                  </a:lnTo>
                  <a:lnTo>
                    <a:pt x="3925742" y="24240"/>
                  </a:lnTo>
                  <a:lnTo>
                    <a:pt x="3941976" y="57500"/>
                  </a:lnTo>
                  <a:lnTo>
                    <a:pt x="3942891" y="62101"/>
                  </a:lnTo>
                  <a:lnTo>
                    <a:pt x="3943349" y="66746"/>
                  </a:lnTo>
                  <a:lnTo>
                    <a:pt x="3943349" y="71437"/>
                  </a:lnTo>
                  <a:lnTo>
                    <a:pt x="3943349" y="547687"/>
                  </a:lnTo>
                  <a:lnTo>
                    <a:pt x="3943349" y="552378"/>
                  </a:lnTo>
                  <a:lnTo>
                    <a:pt x="3942891" y="557023"/>
                  </a:lnTo>
                  <a:lnTo>
                    <a:pt x="3941976" y="561623"/>
                  </a:lnTo>
                  <a:lnTo>
                    <a:pt x="3941061" y="566224"/>
                  </a:lnTo>
                  <a:lnTo>
                    <a:pt x="3939706" y="570691"/>
                  </a:lnTo>
                  <a:lnTo>
                    <a:pt x="3937910" y="575025"/>
                  </a:lnTo>
                  <a:lnTo>
                    <a:pt x="3936115" y="579358"/>
                  </a:lnTo>
                  <a:lnTo>
                    <a:pt x="3933915" y="583475"/>
                  </a:lnTo>
                  <a:lnTo>
                    <a:pt x="3931309" y="587375"/>
                  </a:lnTo>
                  <a:lnTo>
                    <a:pt x="3928703" y="591275"/>
                  </a:lnTo>
                  <a:lnTo>
                    <a:pt x="3925742" y="594884"/>
                  </a:lnTo>
                  <a:lnTo>
                    <a:pt x="3922425" y="598201"/>
                  </a:lnTo>
                  <a:lnTo>
                    <a:pt x="3919109" y="601517"/>
                  </a:lnTo>
                  <a:lnTo>
                    <a:pt x="3915500" y="604479"/>
                  </a:lnTo>
                  <a:lnTo>
                    <a:pt x="3911599" y="607085"/>
                  </a:lnTo>
                  <a:lnTo>
                    <a:pt x="3907699" y="609691"/>
                  </a:lnTo>
                  <a:lnTo>
                    <a:pt x="3885848" y="617752"/>
                  </a:lnTo>
                  <a:lnTo>
                    <a:pt x="3881248" y="618667"/>
                  </a:lnTo>
                  <a:lnTo>
                    <a:pt x="3876602" y="619124"/>
                  </a:lnTo>
                  <a:lnTo>
                    <a:pt x="3871912" y="619124"/>
                  </a:lnTo>
                  <a:lnTo>
                    <a:pt x="71437" y="619124"/>
                  </a:lnTo>
                  <a:lnTo>
                    <a:pt x="66746" y="619124"/>
                  </a:lnTo>
                  <a:lnTo>
                    <a:pt x="62101" y="618667"/>
                  </a:lnTo>
                  <a:lnTo>
                    <a:pt x="57500" y="617752"/>
                  </a:lnTo>
                  <a:lnTo>
                    <a:pt x="52900" y="616837"/>
                  </a:lnTo>
                  <a:lnTo>
                    <a:pt x="31748" y="607085"/>
                  </a:lnTo>
                  <a:lnTo>
                    <a:pt x="27848" y="604479"/>
                  </a:lnTo>
                  <a:lnTo>
                    <a:pt x="24240" y="601517"/>
                  </a:lnTo>
                  <a:lnTo>
                    <a:pt x="20923" y="598201"/>
                  </a:lnTo>
                  <a:lnTo>
                    <a:pt x="17606" y="594884"/>
                  </a:lnTo>
                  <a:lnTo>
                    <a:pt x="14645" y="591275"/>
                  </a:lnTo>
                  <a:lnTo>
                    <a:pt x="12039" y="587375"/>
                  </a:lnTo>
                  <a:lnTo>
                    <a:pt x="9433" y="583475"/>
                  </a:lnTo>
                  <a:lnTo>
                    <a:pt x="7232" y="579358"/>
                  </a:lnTo>
                  <a:lnTo>
                    <a:pt x="5437" y="575025"/>
                  </a:lnTo>
                  <a:lnTo>
                    <a:pt x="3642" y="570691"/>
                  </a:lnTo>
                  <a:lnTo>
                    <a:pt x="2287" y="566224"/>
                  </a:lnTo>
                  <a:lnTo>
                    <a:pt x="1372" y="561623"/>
                  </a:lnTo>
                  <a:lnTo>
                    <a:pt x="457" y="557023"/>
                  </a:lnTo>
                  <a:lnTo>
                    <a:pt x="0" y="552378"/>
                  </a:lnTo>
                  <a:lnTo>
                    <a:pt x="0" y="547687"/>
                  </a:lnTo>
                  <a:close/>
                </a:path>
              </a:pathLst>
            </a:custGeom>
            <a:ln w="9524">
              <a:solidFill>
                <a:srgbClr val="DFE7FF"/>
              </a:solidFill>
            </a:ln>
          </p:spPr>
          <p:txBody>
            <a:bodyPr wrap="square" lIns="0" tIns="0" rIns="0" bIns="0" rtlCol="0"/>
            <a:lstStyle/>
            <a:p/>
          </p:txBody>
        </p:sp>
      </p:grpSp>
      <p:sp>
        <p:nvSpPr>
          <p:cNvPr id="10" name="object 10"/>
          <p:cNvSpPr txBox="1"/>
          <p:nvPr/>
        </p:nvSpPr>
        <p:spPr>
          <a:xfrm>
            <a:off x="771188" y="1280543"/>
            <a:ext cx="3822142" cy="905715"/>
          </a:xfrm>
          <a:prstGeom prst="rect">
            <a:avLst/>
          </a:prstGeom>
        </p:spPr>
        <p:txBody>
          <a:bodyPr vert="horz" wrap="square" lIns="0" tIns="16211" rIns="0" bIns="0" rtlCol="0">
            <a:spAutoFit/>
          </a:bodyPr>
          <a:lstStyle/>
          <a:p>
            <a:pPr marL="12700">
              <a:spcBef>
                <a:spcPts val="130"/>
              </a:spcBef>
            </a:pPr>
            <a:r>
              <a:rPr sz="1720" spc="103" dirty="0">
                <a:solidFill>
                  <a:srgbClr val="372FA2"/>
                </a:solidFill>
                <a:latin typeface="Segoe UI Symbol" panose="020B0502040204020203"/>
                <a:cs typeface="Segoe UI Symbol" panose="020B0502040204020203"/>
              </a:rPr>
              <a:t>🏆</a:t>
            </a:r>
            <a:r>
              <a:rPr sz="1720" spc="152" dirty="0">
                <a:solidFill>
                  <a:srgbClr val="372FA2"/>
                </a:solidFill>
                <a:latin typeface="Segoe UI Symbol" panose="020B0502040204020203"/>
                <a:cs typeface="Segoe UI Symbol" panose="020B0502040204020203"/>
              </a:rPr>
              <a:t> </a:t>
            </a:r>
            <a:r>
              <a:rPr sz="1670" b="1" spc="-187" dirty="0">
                <a:solidFill>
                  <a:srgbClr val="372FA2"/>
                </a:solidFill>
                <a:latin typeface="微软雅黑" panose="020B0503020204020204" charset="-122"/>
                <a:cs typeface="微软雅黑" panose="020B0503020204020204" charset="-122"/>
              </a:rPr>
              <a:t>核心贡献与启示</a:t>
            </a:r>
            <a:endParaRPr sz="1670">
              <a:latin typeface="微软雅黑" panose="020B0503020204020204" charset="-122"/>
              <a:cs typeface="微软雅黑" panose="020B0503020204020204" charset="-122"/>
            </a:endParaRPr>
          </a:p>
          <a:p>
            <a:pPr marL="12700" marR="5080">
              <a:lnSpc>
                <a:spcPct val="121000"/>
              </a:lnSpc>
              <a:spcBef>
                <a:spcPts val="760"/>
              </a:spcBef>
            </a:pPr>
            <a:r>
              <a:rPr sz="1475" spc="-221" dirty="0">
                <a:solidFill>
                  <a:srgbClr val="334054"/>
                </a:solidFill>
                <a:latin typeface="宋体" panose="02010600030101010101" pitchFamily="2" charset="-122"/>
                <a:cs typeface="宋体" panose="02010600030101010101" pitchFamily="2" charset="-122"/>
              </a:rPr>
              <a:t>证明了 </a:t>
            </a:r>
            <a:r>
              <a:rPr sz="1475" b="1" spc="-147" dirty="0">
                <a:solidFill>
                  <a:srgbClr val="4237CA"/>
                </a:solidFill>
                <a:latin typeface="微软雅黑" panose="020B0503020204020204" charset="-122"/>
                <a:cs typeface="微软雅黑" panose="020B0503020204020204" charset="-122"/>
              </a:rPr>
              <a:t>结构化状态 </a:t>
            </a:r>
            <a:r>
              <a:rPr sz="1325" b="1" dirty="0">
                <a:solidFill>
                  <a:srgbClr val="4237CA"/>
                </a:solidFill>
                <a:latin typeface="Calibri" panose="020F0502020204030204"/>
                <a:cs typeface="Calibri" panose="020F0502020204030204"/>
              </a:rPr>
              <a:t>+ GCNN</a:t>
            </a:r>
            <a:r>
              <a:rPr sz="1325" b="1" spc="-29" dirty="0">
                <a:solidFill>
                  <a:srgbClr val="4237CA"/>
                </a:solidFill>
                <a:latin typeface="Calibri" panose="020F0502020204030204"/>
                <a:cs typeface="Calibri" panose="020F0502020204030204"/>
              </a:rPr>
              <a:t> + </a:t>
            </a:r>
            <a:r>
              <a:rPr sz="1475" b="1" spc="-147" dirty="0">
                <a:solidFill>
                  <a:srgbClr val="4237CA"/>
                </a:solidFill>
                <a:latin typeface="微软雅黑" panose="020B0503020204020204" charset="-122"/>
                <a:cs typeface="微软雅黑" panose="020B0503020204020204" charset="-122"/>
              </a:rPr>
              <a:t>模仿学习 </a:t>
            </a:r>
            <a:r>
              <a:rPr sz="1475" spc="-290" dirty="0">
                <a:solidFill>
                  <a:srgbClr val="334054"/>
                </a:solidFill>
                <a:latin typeface="宋体" panose="02010600030101010101" pitchFamily="2" charset="-122"/>
                <a:cs typeface="宋体" panose="02010600030101010101" pitchFamily="2" charset="-122"/>
              </a:rPr>
              <a:t>是 </a:t>
            </a:r>
            <a:r>
              <a:rPr sz="1325" dirty="0">
                <a:solidFill>
                  <a:srgbClr val="334054"/>
                </a:solidFill>
                <a:latin typeface="Calibri" panose="020F0502020204030204"/>
                <a:cs typeface="Calibri" panose="020F0502020204030204"/>
              </a:rPr>
              <a:t>MILP</a:t>
            </a:r>
            <a:r>
              <a:rPr sz="1325" spc="64" dirty="0">
                <a:solidFill>
                  <a:srgbClr val="334054"/>
                </a:solidFill>
                <a:latin typeface="Calibri" panose="020F0502020204030204"/>
                <a:cs typeface="Calibri" panose="020F0502020204030204"/>
              </a:rPr>
              <a:t> </a:t>
            </a:r>
            <a:r>
              <a:rPr sz="1475" spc="-133" dirty="0">
                <a:solidFill>
                  <a:srgbClr val="334054"/>
                </a:solidFill>
                <a:latin typeface="宋体" panose="02010600030101010101" pitchFamily="2" charset="-122"/>
                <a:cs typeface="宋体" panose="02010600030101010101" pitchFamily="2" charset="-122"/>
              </a:rPr>
              <a:t>精确</a:t>
            </a:r>
            <a:r>
              <a:rPr sz="1475" spc="-191" dirty="0">
                <a:solidFill>
                  <a:srgbClr val="334054"/>
                </a:solidFill>
                <a:latin typeface="宋体" panose="02010600030101010101" pitchFamily="2" charset="-122"/>
                <a:cs typeface="宋体" panose="02010600030101010101" pitchFamily="2" charset="-122"/>
              </a:rPr>
              <a:t>求解器中高效 </a:t>
            </a:r>
            <a:r>
              <a:rPr sz="1325" dirty="0">
                <a:solidFill>
                  <a:srgbClr val="334054"/>
                </a:solidFill>
                <a:latin typeface="Calibri" panose="020F0502020204030204"/>
                <a:cs typeface="Calibri" panose="020F0502020204030204"/>
              </a:rPr>
              <a:t>Learned</a:t>
            </a:r>
            <a:r>
              <a:rPr sz="1325" spc="15" dirty="0">
                <a:solidFill>
                  <a:srgbClr val="334054"/>
                </a:solidFill>
                <a:latin typeface="Calibri" panose="020F0502020204030204"/>
                <a:cs typeface="Calibri" panose="020F0502020204030204"/>
              </a:rPr>
              <a:t> </a:t>
            </a:r>
            <a:r>
              <a:rPr sz="1325" dirty="0">
                <a:solidFill>
                  <a:srgbClr val="334054"/>
                </a:solidFill>
                <a:latin typeface="Calibri" panose="020F0502020204030204"/>
                <a:cs typeface="Calibri" panose="020F0502020204030204"/>
              </a:rPr>
              <a:t>Branching</a:t>
            </a:r>
            <a:r>
              <a:rPr sz="1325" spc="79" dirty="0">
                <a:solidFill>
                  <a:srgbClr val="334054"/>
                </a:solidFill>
                <a:latin typeface="Calibri" panose="020F0502020204030204"/>
                <a:cs typeface="Calibri" panose="020F0502020204030204"/>
              </a:rPr>
              <a:t> </a:t>
            </a:r>
            <a:r>
              <a:rPr sz="1475" spc="-133" dirty="0">
                <a:solidFill>
                  <a:srgbClr val="334054"/>
                </a:solidFill>
                <a:latin typeface="宋体" panose="02010600030101010101" pitchFamily="2" charset="-122"/>
                <a:cs typeface="宋体" panose="02010600030101010101" pitchFamily="2" charset="-122"/>
              </a:rPr>
              <a:t>的可行路径。</a:t>
            </a:r>
            <a:endParaRPr sz="1475">
              <a:latin typeface="宋体" panose="02010600030101010101" pitchFamily="2" charset="-122"/>
              <a:cs typeface="宋体" panose="02010600030101010101" pitchFamily="2" charset="-122"/>
            </a:endParaRPr>
          </a:p>
        </p:txBody>
      </p:sp>
      <p:sp>
        <p:nvSpPr>
          <p:cNvPr id="11" name="object 11"/>
          <p:cNvSpPr txBox="1"/>
          <p:nvPr/>
        </p:nvSpPr>
        <p:spPr>
          <a:xfrm>
            <a:off x="892773" y="2472481"/>
            <a:ext cx="3615759" cy="196378"/>
          </a:xfrm>
          <a:prstGeom prst="rect">
            <a:avLst/>
          </a:prstGeom>
        </p:spPr>
        <p:txBody>
          <a:bodyPr vert="horz" wrap="square" lIns="0" tIns="14964" rIns="0" bIns="0" rtlCol="0">
            <a:spAutoFit/>
          </a:bodyPr>
          <a:lstStyle/>
          <a:p>
            <a:pPr marL="12700">
              <a:spcBef>
                <a:spcPts val="120"/>
              </a:spcBef>
            </a:pPr>
            <a:r>
              <a:rPr sz="1030" i="1" dirty="0">
                <a:solidFill>
                  <a:srgbClr val="465469"/>
                </a:solidFill>
                <a:latin typeface="Times New Roman" panose="02020603050405020304"/>
                <a:cs typeface="Times New Roman" panose="02020603050405020304"/>
              </a:rPr>
              <a:t>"</a:t>
            </a:r>
            <a:r>
              <a:rPr sz="1180" spc="-162" dirty="0">
                <a:solidFill>
                  <a:srgbClr val="465469"/>
                </a:solidFill>
                <a:latin typeface="宋体" panose="02010600030101010101" pitchFamily="2" charset="-122"/>
                <a:cs typeface="宋体" panose="02010600030101010101" pitchFamily="2" charset="-122"/>
              </a:rPr>
              <a:t>学习方法的价值在于</a:t>
            </a:r>
            <a:r>
              <a:rPr sz="1180" b="1" spc="-162" dirty="0">
                <a:solidFill>
                  <a:srgbClr val="465469"/>
                </a:solidFill>
                <a:latin typeface="微软雅黑" panose="020B0503020204020204" charset="-122"/>
                <a:cs typeface="微软雅黑" panose="020B0503020204020204" charset="-122"/>
              </a:rPr>
              <a:t>改造与增强</a:t>
            </a:r>
            <a:r>
              <a:rPr sz="1180" spc="-157" dirty="0">
                <a:solidFill>
                  <a:srgbClr val="465469"/>
                </a:solidFill>
                <a:latin typeface="宋体" panose="02010600030101010101" pitchFamily="2" charset="-122"/>
                <a:cs typeface="宋体" panose="02010600030101010101" pitchFamily="2" charset="-122"/>
              </a:rPr>
              <a:t>而非简单替代，专注于优化最</a:t>
            </a:r>
            <a:endParaRPr sz="1180">
              <a:latin typeface="宋体" panose="02010600030101010101" pitchFamily="2" charset="-122"/>
              <a:cs typeface="宋体" panose="02010600030101010101" pitchFamily="2" charset="-122"/>
            </a:endParaRPr>
          </a:p>
        </p:txBody>
      </p:sp>
      <p:sp>
        <p:nvSpPr>
          <p:cNvPr id="12" name="object 12"/>
          <p:cNvSpPr txBox="1"/>
          <p:nvPr/>
        </p:nvSpPr>
        <p:spPr>
          <a:xfrm>
            <a:off x="892774" y="2659535"/>
            <a:ext cx="1127937" cy="196378"/>
          </a:xfrm>
          <a:prstGeom prst="rect">
            <a:avLst/>
          </a:prstGeom>
        </p:spPr>
        <p:txBody>
          <a:bodyPr vert="horz" wrap="square" lIns="0" tIns="14964" rIns="0" bIns="0" rtlCol="0">
            <a:spAutoFit/>
          </a:bodyPr>
          <a:lstStyle/>
          <a:p>
            <a:pPr marL="12700">
              <a:spcBef>
                <a:spcPts val="120"/>
              </a:spcBef>
            </a:pPr>
            <a:r>
              <a:rPr sz="1180" spc="-162" dirty="0">
                <a:solidFill>
                  <a:srgbClr val="465469"/>
                </a:solidFill>
                <a:latin typeface="宋体" panose="02010600030101010101" pitchFamily="2" charset="-122"/>
                <a:cs typeface="宋体" panose="02010600030101010101" pitchFamily="2" charset="-122"/>
              </a:rPr>
              <a:t>昂贵的局部决策。</a:t>
            </a:r>
            <a:r>
              <a:rPr sz="1030" i="1" spc="-49" dirty="0">
                <a:solidFill>
                  <a:srgbClr val="465469"/>
                </a:solidFill>
                <a:latin typeface="Times New Roman" panose="02020603050405020304"/>
                <a:cs typeface="Times New Roman" panose="02020603050405020304"/>
              </a:rPr>
              <a:t>"</a:t>
            </a:r>
            <a:endParaRPr sz="1030">
              <a:latin typeface="Times New Roman" panose="02020603050405020304"/>
              <a:cs typeface="Times New Roman" panose="02020603050405020304"/>
            </a:endParaRPr>
          </a:p>
        </p:txBody>
      </p:sp>
      <p:sp>
        <p:nvSpPr>
          <p:cNvPr id="13" name="object 13"/>
          <p:cNvSpPr/>
          <p:nvPr/>
        </p:nvSpPr>
        <p:spPr>
          <a:xfrm>
            <a:off x="5081230" y="1136354"/>
            <a:ext cx="6546899" cy="3142512"/>
          </a:xfrm>
          <a:custGeom>
            <a:avLst/>
            <a:gdLst/>
            <a:ahLst/>
            <a:cxnLst/>
            <a:rect l="l" t="t" r="r" b="b"/>
            <a:pathLst>
              <a:path w="6667500" h="3200400">
                <a:moveTo>
                  <a:pt x="0" y="30908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57961" y="0"/>
                </a:lnTo>
                <a:lnTo>
                  <a:pt x="6565154" y="0"/>
                </a:lnTo>
                <a:lnTo>
                  <a:pt x="6572276" y="701"/>
                </a:lnTo>
                <a:lnTo>
                  <a:pt x="6579330" y="2104"/>
                </a:lnTo>
                <a:lnTo>
                  <a:pt x="6586384" y="3507"/>
                </a:lnTo>
                <a:lnTo>
                  <a:pt x="6593234" y="5585"/>
                </a:lnTo>
                <a:lnTo>
                  <a:pt x="6599879" y="8338"/>
                </a:lnTo>
                <a:lnTo>
                  <a:pt x="6606524" y="11090"/>
                </a:lnTo>
                <a:lnTo>
                  <a:pt x="6612836" y="14464"/>
                </a:lnTo>
                <a:lnTo>
                  <a:pt x="6618816" y="18460"/>
                </a:lnTo>
                <a:lnTo>
                  <a:pt x="6624796" y="22456"/>
                </a:lnTo>
                <a:lnTo>
                  <a:pt x="6653033" y="54661"/>
                </a:lnTo>
                <a:lnTo>
                  <a:pt x="6659160" y="67619"/>
                </a:lnTo>
                <a:lnTo>
                  <a:pt x="6661913" y="74264"/>
                </a:lnTo>
                <a:lnTo>
                  <a:pt x="6667499" y="109537"/>
                </a:lnTo>
                <a:lnTo>
                  <a:pt x="6667499" y="3090862"/>
                </a:lnTo>
                <a:lnTo>
                  <a:pt x="6659160" y="3132780"/>
                </a:lnTo>
                <a:lnTo>
                  <a:pt x="6635415" y="3168316"/>
                </a:lnTo>
                <a:lnTo>
                  <a:pt x="6599879" y="3192061"/>
                </a:lnTo>
                <a:lnTo>
                  <a:pt x="6593234" y="3194813"/>
                </a:lnTo>
                <a:lnTo>
                  <a:pt x="6586384" y="3196891"/>
                </a:lnTo>
                <a:lnTo>
                  <a:pt x="6579330" y="3198294"/>
                </a:lnTo>
                <a:lnTo>
                  <a:pt x="6572276" y="3199698"/>
                </a:lnTo>
                <a:lnTo>
                  <a:pt x="6565154" y="3200399"/>
                </a:lnTo>
                <a:lnTo>
                  <a:pt x="6557961" y="3200399"/>
                </a:lnTo>
                <a:lnTo>
                  <a:pt x="109537" y="3200399"/>
                </a:lnTo>
                <a:lnTo>
                  <a:pt x="102345" y="3200399"/>
                </a:lnTo>
                <a:lnTo>
                  <a:pt x="95221" y="3199698"/>
                </a:lnTo>
                <a:lnTo>
                  <a:pt x="88167" y="3198294"/>
                </a:lnTo>
                <a:lnTo>
                  <a:pt x="81113" y="3196891"/>
                </a:lnTo>
                <a:lnTo>
                  <a:pt x="74264" y="3194813"/>
                </a:lnTo>
                <a:lnTo>
                  <a:pt x="67619" y="3192061"/>
                </a:lnTo>
                <a:lnTo>
                  <a:pt x="60974" y="3189308"/>
                </a:lnTo>
                <a:lnTo>
                  <a:pt x="26997" y="3163230"/>
                </a:lnTo>
                <a:lnTo>
                  <a:pt x="5585" y="3126135"/>
                </a:lnTo>
                <a:lnTo>
                  <a:pt x="2104" y="3112231"/>
                </a:lnTo>
                <a:lnTo>
                  <a:pt x="701" y="3105177"/>
                </a:lnTo>
                <a:lnTo>
                  <a:pt x="0" y="3098054"/>
                </a:lnTo>
                <a:lnTo>
                  <a:pt x="0" y="3090862"/>
                </a:lnTo>
                <a:close/>
              </a:path>
            </a:pathLst>
          </a:custGeom>
          <a:ln w="9524">
            <a:solidFill>
              <a:srgbClr val="E2E7F0"/>
            </a:solidFill>
          </a:ln>
        </p:spPr>
        <p:txBody>
          <a:bodyPr wrap="square" lIns="0" tIns="0" rIns="0" bIns="0" rtlCol="0"/>
          <a:lstStyle/>
          <a:p/>
        </p:txBody>
      </p:sp>
      <p:sp>
        <p:nvSpPr>
          <p:cNvPr id="14" name="object 14"/>
          <p:cNvSpPr txBox="1"/>
          <p:nvPr/>
        </p:nvSpPr>
        <p:spPr>
          <a:xfrm>
            <a:off x="5262244" y="1289895"/>
            <a:ext cx="2017068" cy="280737"/>
          </a:xfrm>
          <a:prstGeom prst="rect">
            <a:avLst/>
          </a:prstGeom>
        </p:spPr>
        <p:txBody>
          <a:bodyPr vert="horz" wrap="square" lIns="0" tIns="16211" rIns="0" bIns="0" rtlCol="0">
            <a:spAutoFit/>
          </a:bodyPr>
          <a:lstStyle/>
          <a:p>
            <a:pPr marL="12700">
              <a:spcBef>
                <a:spcPts val="130"/>
              </a:spcBef>
            </a:pPr>
            <a:r>
              <a:rPr sz="1720" spc="103" dirty="0">
                <a:solidFill>
                  <a:srgbClr val="1C4ED8"/>
                </a:solidFill>
                <a:latin typeface="Segoe UI Symbol" panose="020B0502040204020203"/>
                <a:cs typeface="Segoe UI Symbol" panose="020B0502040204020203"/>
              </a:rPr>
              <a:t>🚀</a:t>
            </a:r>
            <a:r>
              <a:rPr sz="1720" spc="162" dirty="0">
                <a:solidFill>
                  <a:srgbClr val="1C4ED8"/>
                </a:solidFill>
                <a:latin typeface="Segoe UI Symbol" panose="020B0502040204020203"/>
                <a:cs typeface="Segoe UI Symbol" panose="020B0502040204020203"/>
              </a:rPr>
              <a:t> </a:t>
            </a:r>
            <a:r>
              <a:rPr sz="1670" b="1" spc="-196" dirty="0">
                <a:solidFill>
                  <a:srgbClr val="1C4ED8"/>
                </a:solidFill>
                <a:latin typeface="微软雅黑" panose="020B0503020204020204" charset="-122"/>
                <a:cs typeface="微软雅黑" panose="020B0503020204020204" charset="-122"/>
              </a:rPr>
              <a:t>未来工作与技术演进</a:t>
            </a:r>
            <a:endParaRPr sz="1670">
              <a:latin typeface="微软雅黑" panose="020B0503020204020204" charset="-122"/>
              <a:cs typeface="微软雅黑" panose="020B0503020204020204" charset="-122"/>
            </a:endParaRPr>
          </a:p>
        </p:txBody>
      </p:sp>
      <p:grpSp>
        <p:nvGrpSpPr>
          <p:cNvPr id="15" name="object 15"/>
          <p:cNvGrpSpPr/>
          <p:nvPr/>
        </p:nvGrpSpPr>
        <p:grpSpPr>
          <a:xfrm>
            <a:off x="5272961" y="1739604"/>
            <a:ext cx="6163438" cy="682748"/>
            <a:chOff x="5257799" y="1771649"/>
            <a:chExt cx="6276975" cy="695325"/>
          </a:xfrm>
        </p:grpSpPr>
        <p:sp>
          <p:nvSpPr>
            <p:cNvPr id="16" name="object 16"/>
            <p:cNvSpPr/>
            <p:nvPr/>
          </p:nvSpPr>
          <p:spPr>
            <a:xfrm>
              <a:off x="5257799" y="1771649"/>
              <a:ext cx="6276975" cy="690880"/>
            </a:xfrm>
            <a:custGeom>
              <a:avLst/>
              <a:gdLst/>
              <a:ahLst/>
              <a:cxnLst/>
              <a:rect l="l" t="t" r="r" b="b"/>
              <a:pathLst>
                <a:path w="6276975" h="690880">
                  <a:moveTo>
                    <a:pt x="6205777" y="690562"/>
                  </a:moveTo>
                  <a:lnTo>
                    <a:pt x="71196" y="690562"/>
                  </a:lnTo>
                  <a:lnTo>
                    <a:pt x="66241" y="690104"/>
                  </a:lnTo>
                  <a:lnTo>
                    <a:pt x="29705" y="675916"/>
                  </a:lnTo>
                  <a:lnTo>
                    <a:pt x="3885" y="642129"/>
                  </a:lnTo>
                  <a:lnTo>
                    <a:pt x="0" y="623815"/>
                  </a:lnTo>
                  <a:lnTo>
                    <a:pt x="0" y="619124"/>
                  </a:lnTo>
                  <a:lnTo>
                    <a:pt x="0" y="71196"/>
                  </a:lnTo>
                  <a:lnTo>
                    <a:pt x="15621" y="29705"/>
                  </a:lnTo>
                  <a:lnTo>
                    <a:pt x="51662" y="3885"/>
                  </a:lnTo>
                  <a:lnTo>
                    <a:pt x="71196" y="0"/>
                  </a:lnTo>
                  <a:lnTo>
                    <a:pt x="6205777" y="0"/>
                  </a:lnTo>
                  <a:lnTo>
                    <a:pt x="6247269" y="15621"/>
                  </a:lnTo>
                  <a:lnTo>
                    <a:pt x="6273088" y="51661"/>
                  </a:lnTo>
                  <a:lnTo>
                    <a:pt x="6276974" y="71196"/>
                  </a:lnTo>
                  <a:lnTo>
                    <a:pt x="6276974" y="623815"/>
                  </a:lnTo>
                  <a:lnTo>
                    <a:pt x="6261352" y="662713"/>
                  </a:lnTo>
                  <a:lnTo>
                    <a:pt x="6225311" y="686919"/>
                  </a:lnTo>
                  <a:lnTo>
                    <a:pt x="6210732" y="690104"/>
                  </a:lnTo>
                  <a:lnTo>
                    <a:pt x="6205777" y="690562"/>
                  </a:lnTo>
                  <a:close/>
                </a:path>
              </a:pathLst>
            </a:custGeom>
            <a:solidFill>
              <a:srgbClr val="F7FAFB"/>
            </a:solidFill>
          </p:spPr>
          <p:txBody>
            <a:bodyPr wrap="square" lIns="0" tIns="0" rIns="0" bIns="0" rtlCol="0"/>
            <a:lstStyle/>
            <a:p/>
          </p:txBody>
        </p:sp>
        <p:sp>
          <p:nvSpPr>
            <p:cNvPr id="17" name="object 17"/>
            <p:cNvSpPr/>
            <p:nvPr/>
          </p:nvSpPr>
          <p:spPr>
            <a:xfrm>
              <a:off x="5258162" y="2398281"/>
              <a:ext cx="6276340" cy="69215"/>
            </a:xfrm>
            <a:custGeom>
              <a:avLst/>
              <a:gdLst/>
              <a:ahLst/>
              <a:cxnLst/>
              <a:rect l="l" t="t" r="r" b="b"/>
              <a:pathLst>
                <a:path w="6276340" h="69214">
                  <a:moveTo>
                    <a:pt x="6200412" y="68693"/>
                  </a:moveTo>
                  <a:lnTo>
                    <a:pt x="75837" y="68693"/>
                  </a:lnTo>
                  <a:lnTo>
                    <a:pt x="68330" y="68331"/>
                  </a:lnTo>
                  <a:lnTo>
                    <a:pt x="27519" y="51426"/>
                  </a:lnTo>
                  <a:lnTo>
                    <a:pt x="2900" y="14579"/>
                  </a:lnTo>
                  <a:lnTo>
                    <a:pt x="0" y="0"/>
                  </a:lnTo>
                  <a:lnTo>
                    <a:pt x="1087" y="5503"/>
                  </a:lnTo>
                  <a:lnTo>
                    <a:pt x="2900" y="11819"/>
                  </a:lnTo>
                  <a:lnTo>
                    <a:pt x="27519" y="44059"/>
                  </a:lnTo>
                  <a:lnTo>
                    <a:pt x="68330" y="58851"/>
                  </a:lnTo>
                  <a:lnTo>
                    <a:pt x="75837" y="59168"/>
                  </a:lnTo>
                  <a:lnTo>
                    <a:pt x="6237230" y="59168"/>
                  </a:lnTo>
                  <a:lnTo>
                    <a:pt x="6236367" y="59685"/>
                  </a:lnTo>
                  <a:lnTo>
                    <a:pt x="6229571" y="62892"/>
                  </a:lnTo>
                  <a:lnTo>
                    <a:pt x="6222497" y="65430"/>
                  </a:lnTo>
                  <a:lnTo>
                    <a:pt x="6215280" y="67243"/>
                  </a:lnTo>
                  <a:lnTo>
                    <a:pt x="6207918" y="68331"/>
                  </a:lnTo>
                  <a:lnTo>
                    <a:pt x="6200412" y="68693"/>
                  </a:lnTo>
                  <a:close/>
                </a:path>
                <a:path w="6276340" h="69214">
                  <a:moveTo>
                    <a:pt x="6237230" y="59168"/>
                  </a:moveTo>
                  <a:lnTo>
                    <a:pt x="6200412" y="59168"/>
                  </a:lnTo>
                  <a:lnTo>
                    <a:pt x="6207918" y="58851"/>
                  </a:lnTo>
                  <a:lnTo>
                    <a:pt x="6215280" y="57899"/>
                  </a:lnTo>
                  <a:lnTo>
                    <a:pt x="6254292" y="39639"/>
                  </a:lnTo>
                  <a:lnTo>
                    <a:pt x="6275161" y="5503"/>
                  </a:lnTo>
                  <a:lnTo>
                    <a:pt x="6276130" y="0"/>
                  </a:lnTo>
                  <a:lnTo>
                    <a:pt x="6275436" y="5503"/>
                  </a:lnTo>
                  <a:lnTo>
                    <a:pt x="6259343" y="40810"/>
                  </a:lnTo>
                  <a:lnTo>
                    <a:pt x="6242753" y="55863"/>
                  </a:lnTo>
                  <a:lnTo>
                    <a:pt x="6237230" y="59168"/>
                  </a:lnTo>
                  <a:close/>
                </a:path>
              </a:pathLst>
            </a:custGeom>
            <a:solidFill>
              <a:srgbClr val="FFFFFF"/>
            </a:solidFill>
          </p:spPr>
          <p:txBody>
            <a:bodyPr wrap="square" lIns="0" tIns="0" rIns="0" bIns="0" rtlCol="0"/>
            <a:lstStyle/>
            <a:p/>
          </p:txBody>
        </p:sp>
        <p:pic>
          <p:nvPicPr>
            <p:cNvPr id="18" name="object 18"/>
            <p:cNvPicPr/>
            <p:nvPr/>
          </p:nvPicPr>
          <p:blipFill>
            <a:blip r:embed="rId1" cstate="print"/>
            <a:stretch>
              <a:fillRect/>
            </a:stretch>
          </p:blipFill>
          <p:spPr>
            <a:xfrm>
              <a:off x="5372099" y="1924049"/>
              <a:ext cx="228599" cy="228599"/>
            </a:xfrm>
            <a:prstGeom prst="rect">
              <a:avLst/>
            </a:prstGeom>
          </p:spPr>
        </p:pic>
      </p:grpSp>
      <p:sp>
        <p:nvSpPr>
          <p:cNvPr id="19" name="object 19"/>
          <p:cNvSpPr txBox="1"/>
          <p:nvPr/>
        </p:nvSpPr>
        <p:spPr>
          <a:xfrm>
            <a:off x="5421240" y="1914495"/>
            <a:ext cx="157749" cy="148026"/>
          </a:xfrm>
          <a:prstGeom prst="rect">
            <a:avLst/>
          </a:prstGeom>
        </p:spPr>
        <p:txBody>
          <a:bodyPr vert="horz" wrap="square" lIns="0" tIns="11847" rIns="0" bIns="0" rtlCol="0">
            <a:spAutoFit/>
          </a:bodyPr>
          <a:lstStyle/>
          <a:p>
            <a:pPr marL="12700">
              <a:spcBef>
                <a:spcPts val="95"/>
              </a:spcBef>
            </a:pPr>
            <a:r>
              <a:rPr sz="885" spc="-25" dirty="0">
                <a:solidFill>
                  <a:srgbClr val="FFFFFF"/>
                </a:solidFill>
                <a:latin typeface="Courier New" panose="02070309020205020404"/>
                <a:cs typeface="Courier New" panose="02070309020205020404"/>
              </a:rPr>
              <a:t>01</a:t>
            </a:r>
            <a:endParaRPr sz="885">
              <a:latin typeface="Courier New" panose="02070309020205020404"/>
              <a:cs typeface="Courier New" panose="02070309020205020404"/>
            </a:endParaRPr>
          </a:p>
        </p:txBody>
      </p:sp>
      <p:sp>
        <p:nvSpPr>
          <p:cNvPr id="20" name="object 20"/>
          <p:cNvSpPr txBox="1"/>
          <p:nvPr/>
        </p:nvSpPr>
        <p:spPr>
          <a:xfrm>
            <a:off x="5711174" y="1771129"/>
            <a:ext cx="2905576" cy="496941"/>
          </a:xfrm>
          <a:prstGeom prst="rect">
            <a:avLst/>
          </a:prstGeom>
        </p:spPr>
        <p:txBody>
          <a:bodyPr vert="horz" wrap="square" lIns="0" tIns="61728" rIns="0" bIns="0" rtlCol="0">
            <a:spAutoFit/>
          </a:bodyPr>
          <a:lstStyle/>
          <a:p>
            <a:pPr marL="12700">
              <a:spcBef>
                <a:spcPts val="485"/>
              </a:spcBef>
            </a:pPr>
            <a:r>
              <a:rPr sz="1325" b="1" spc="-133" dirty="0">
                <a:solidFill>
                  <a:srgbClr val="1D293B"/>
                </a:solidFill>
                <a:latin typeface="微软雅黑" panose="020B0503020204020204" charset="-122"/>
                <a:cs typeface="微软雅黑" panose="020B0503020204020204" charset="-122"/>
              </a:rPr>
              <a:t>从 </a:t>
            </a:r>
            <a:r>
              <a:rPr sz="1180" b="1" dirty="0">
                <a:solidFill>
                  <a:srgbClr val="1D293B"/>
                </a:solidFill>
                <a:latin typeface="Times New Roman" panose="02020603050405020304"/>
                <a:cs typeface="Times New Roman" panose="02020603050405020304"/>
              </a:rPr>
              <a:t>IL</a:t>
            </a:r>
            <a:r>
              <a:rPr sz="1180" b="1" spc="-54" dirty="0">
                <a:solidFill>
                  <a:srgbClr val="1D293B"/>
                </a:solidFill>
                <a:latin typeface="Times New Roman" panose="02020603050405020304"/>
                <a:cs typeface="Times New Roman" panose="02020603050405020304"/>
              </a:rPr>
              <a:t> </a:t>
            </a:r>
            <a:r>
              <a:rPr sz="1325" b="1" spc="-152" dirty="0">
                <a:solidFill>
                  <a:srgbClr val="1D293B"/>
                </a:solidFill>
                <a:latin typeface="微软雅黑" panose="020B0503020204020204" charset="-122"/>
                <a:cs typeface="微软雅黑" panose="020B0503020204020204" charset="-122"/>
              </a:rPr>
              <a:t>走向并行 </a:t>
            </a:r>
            <a:r>
              <a:rPr sz="1180" b="1" spc="-25" dirty="0">
                <a:solidFill>
                  <a:srgbClr val="1D293B"/>
                </a:solidFill>
                <a:latin typeface="Times New Roman" panose="02020603050405020304"/>
                <a:cs typeface="Times New Roman" panose="02020603050405020304"/>
              </a:rPr>
              <a:t>RL</a:t>
            </a:r>
            <a:endParaRPr sz="1180">
              <a:latin typeface="Times New Roman" panose="02020603050405020304"/>
              <a:cs typeface="Times New Roman" panose="02020603050405020304"/>
            </a:endParaRPr>
          </a:p>
          <a:p>
            <a:pPr marL="12700">
              <a:spcBef>
                <a:spcPts val="375"/>
              </a:spcBef>
            </a:pPr>
            <a:r>
              <a:rPr sz="1130" spc="-108" dirty="0">
                <a:solidFill>
                  <a:srgbClr val="64738B"/>
                </a:solidFill>
                <a:latin typeface="宋体" panose="02010600030101010101" pitchFamily="2" charset="-122"/>
                <a:cs typeface="宋体" panose="02010600030101010101" pitchFamily="2" charset="-122"/>
              </a:rPr>
              <a:t>直接针对求解速度与节点数进行端到端指标优化。</a:t>
            </a:r>
            <a:endParaRPr sz="1130">
              <a:latin typeface="宋体" panose="02010600030101010101" pitchFamily="2" charset="-122"/>
              <a:cs typeface="宋体" panose="02010600030101010101" pitchFamily="2" charset="-122"/>
            </a:endParaRPr>
          </a:p>
        </p:txBody>
      </p:sp>
      <p:grpSp>
        <p:nvGrpSpPr>
          <p:cNvPr id="21" name="object 21"/>
          <p:cNvGrpSpPr/>
          <p:nvPr/>
        </p:nvGrpSpPr>
        <p:grpSpPr>
          <a:xfrm>
            <a:off x="5272961" y="2571997"/>
            <a:ext cx="6163438" cy="682748"/>
            <a:chOff x="5257799" y="2619375"/>
            <a:chExt cx="6276975" cy="695325"/>
          </a:xfrm>
        </p:grpSpPr>
        <p:sp>
          <p:nvSpPr>
            <p:cNvPr id="22" name="object 22"/>
            <p:cNvSpPr/>
            <p:nvPr/>
          </p:nvSpPr>
          <p:spPr>
            <a:xfrm>
              <a:off x="5257799" y="2619375"/>
              <a:ext cx="6276975" cy="690880"/>
            </a:xfrm>
            <a:custGeom>
              <a:avLst/>
              <a:gdLst/>
              <a:ahLst/>
              <a:cxnLst/>
              <a:rect l="l" t="t" r="r" b="b"/>
              <a:pathLst>
                <a:path w="6276975" h="690879">
                  <a:moveTo>
                    <a:pt x="6205777" y="690562"/>
                  </a:moveTo>
                  <a:lnTo>
                    <a:pt x="71196" y="690562"/>
                  </a:lnTo>
                  <a:lnTo>
                    <a:pt x="66241" y="690104"/>
                  </a:lnTo>
                  <a:lnTo>
                    <a:pt x="29705" y="675916"/>
                  </a:lnTo>
                  <a:lnTo>
                    <a:pt x="3885" y="642128"/>
                  </a:lnTo>
                  <a:lnTo>
                    <a:pt x="0" y="623815"/>
                  </a:lnTo>
                  <a:lnTo>
                    <a:pt x="0" y="619124"/>
                  </a:lnTo>
                  <a:lnTo>
                    <a:pt x="0" y="71196"/>
                  </a:lnTo>
                  <a:lnTo>
                    <a:pt x="15621" y="29705"/>
                  </a:lnTo>
                  <a:lnTo>
                    <a:pt x="51662" y="3885"/>
                  </a:lnTo>
                  <a:lnTo>
                    <a:pt x="71196" y="0"/>
                  </a:lnTo>
                  <a:lnTo>
                    <a:pt x="6205777" y="0"/>
                  </a:lnTo>
                  <a:lnTo>
                    <a:pt x="6247269" y="15621"/>
                  </a:lnTo>
                  <a:lnTo>
                    <a:pt x="6273088" y="51661"/>
                  </a:lnTo>
                  <a:lnTo>
                    <a:pt x="6276974" y="71196"/>
                  </a:lnTo>
                  <a:lnTo>
                    <a:pt x="6276974" y="623815"/>
                  </a:lnTo>
                  <a:lnTo>
                    <a:pt x="6261352" y="662713"/>
                  </a:lnTo>
                  <a:lnTo>
                    <a:pt x="6225311" y="686919"/>
                  </a:lnTo>
                  <a:lnTo>
                    <a:pt x="6210732" y="690104"/>
                  </a:lnTo>
                  <a:lnTo>
                    <a:pt x="6205777" y="690562"/>
                  </a:lnTo>
                  <a:close/>
                </a:path>
              </a:pathLst>
            </a:custGeom>
            <a:solidFill>
              <a:srgbClr val="F7FAFB"/>
            </a:solidFill>
          </p:spPr>
          <p:txBody>
            <a:bodyPr wrap="square" lIns="0" tIns="0" rIns="0" bIns="0" rtlCol="0"/>
            <a:lstStyle/>
            <a:p/>
          </p:txBody>
        </p:sp>
        <p:sp>
          <p:nvSpPr>
            <p:cNvPr id="23" name="object 23"/>
            <p:cNvSpPr/>
            <p:nvPr/>
          </p:nvSpPr>
          <p:spPr>
            <a:xfrm>
              <a:off x="5258162" y="3246006"/>
              <a:ext cx="6276340" cy="69215"/>
            </a:xfrm>
            <a:custGeom>
              <a:avLst/>
              <a:gdLst/>
              <a:ahLst/>
              <a:cxnLst/>
              <a:rect l="l" t="t" r="r" b="b"/>
              <a:pathLst>
                <a:path w="6276340" h="69214">
                  <a:moveTo>
                    <a:pt x="6200412" y="68693"/>
                  </a:moveTo>
                  <a:lnTo>
                    <a:pt x="75837" y="68693"/>
                  </a:lnTo>
                  <a:lnTo>
                    <a:pt x="68330" y="68331"/>
                  </a:lnTo>
                  <a:lnTo>
                    <a:pt x="27519" y="51426"/>
                  </a:lnTo>
                  <a:lnTo>
                    <a:pt x="2900" y="14579"/>
                  </a:lnTo>
                  <a:lnTo>
                    <a:pt x="0" y="0"/>
                  </a:lnTo>
                  <a:lnTo>
                    <a:pt x="1087" y="5503"/>
                  </a:lnTo>
                  <a:lnTo>
                    <a:pt x="2900" y="11819"/>
                  </a:lnTo>
                  <a:lnTo>
                    <a:pt x="27519" y="44060"/>
                  </a:lnTo>
                  <a:lnTo>
                    <a:pt x="68330" y="58851"/>
                  </a:lnTo>
                  <a:lnTo>
                    <a:pt x="75837" y="59168"/>
                  </a:lnTo>
                  <a:lnTo>
                    <a:pt x="6237231" y="59168"/>
                  </a:lnTo>
                  <a:lnTo>
                    <a:pt x="6236367" y="59685"/>
                  </a:lnTo>
                  <a:lnTo>
                    <a:pt x="6229571" y="62893"/>
                  </a:lnTo>
                  <a:lnTo>
                    <a:pt x="6222497" y="65430"/>
                  </a:lnTo>
                  <a:lnTo>
                    <a:pt x="6215280" y="67243"/>
                  </a:lnTo>
                  <a:lnTo>
                    <a:pt x="6207918" y="68331"/>
                  </a:lnTo>
                  <a:lnTo>
                    <a:pt x="6200412" y="68693"/>
                  </a:lnTo>
                  <a:close/>
                </a:path>
                <a:path w="6276340" h="69214">
                  <a:moveTo>
                    <a:pt x="6237231" y="59168"/>
                  </a:moveTo>
                  <a:lnTo>
                    <a:pt x="6200412" y="59168"/>
                  </a:lnTo>
                  <a:lnTo>
                    <a:pt x="6207918" y="58851"/>
                  </a:lnTo>
                  <a:lnTo>
                    <a:pt x="6215280" y="57899"/>
                  </a:lnTo>
                  <a:lnTo>
                    <a:pt x="6254292" y="39639"/>
                  </a:lnTo>
                  <a:lnTo>
                    <a:pt x="6275161" y="5503"/>
                  </a:lnTo>
                  <a:lnTo>
                    <a:pt x="6276129" y="0"/>
                  </a:lnTo>
                  <a:lnTo>
                    <a:pt x="6275436" y="5503"/>
                  </a:lnTo>
                  <a:lnTo>
                    <a:pt x="6259343" y="40810"/>
                  </a:lnTo>
                  <a:lnTo>
                    <a:pt x="6242753" y="55863"/>
                  </a:lnTo>
                  <a:lnTo>
                    <a:pt x="6237231" y="59168"/>
                  </a:lnTo>
                  <a:close/>
                </a:path>
              </a:pathLst>
            </a:custGeom>
            <a:solidFill>
              <a:srgbClr val="FFFFFF"/>
            </a:solidFill>
          </p:spPr>
          <p:txBody>
            <a:bodyPr wrap="square" lIns="0" tIns="0" rIns="0" bIns="0" rtlCol="0"/>
            <a:lstStyle/>
            <a:p/>
          </p:txBody>
        </p:sp>
        <p:pic>
          <p:nvPicPr>
            <p:cNvPr id="24" name="object 24"/>
            <p:cNvPicPr/>
            <p:nvPr/>
          </p:nvPicPr>
          <p:blipFill>
            <a:blip r:embed="rId2" cstate="print"/>
            <a:stretch>
              <a:fillRect/>
            </a:stretch>
          </p:blipFill>
          <p:spPr>
            <a:xfrm>
              <a:off x="5372099" y="2771775"/>
              <a:ext cx="228599" cy="228599"/>
            </a:xfrm>
            <a:prstGeom prst="rect">
              <a:avLst/>
            </a:prstGeom>
          </p:spPr>
        </p:pic>
      </p:grpSp>
      <p:sp>
        <p:nvSpPr>
          <p:cNvPr id="25" name="object 25"/>
          <p:cNvSpPr txBox="1"/>
          <p:nvPr/>
        </p:nvSpPr>
        <p:spPr>
          <a:xfrm>
            <a:off x="5421240" y="2746886"/>
            <a:ext cx="157749" cy="148026"/>
          </a:xfrm>
          <a:prstGeom prst="rect">
            <a:avLst/>
          </a:prstGeom>
        </p:spPr>
        <p:txBody>
          <a:bodyPr vert="horz" wrap="square" lIns="0" tIns="11847" rIns="0" bIns="0" rtlCol="0">
            <a:spAutoFit/>
          </a:bodyPr>
          <a:lstStyle/>
          <a:p>
            <a:pPr marL="12700">
              <a:spcBef>
                <a:spcPts val="95"/>
              </a:spcBef>
            </a:pPr>
            <a:r>
              <a:rPr sz="885" spc="-25" dirty="0">
                <a:solidFill>
                  <a:srgbClr val="FFFFFF"/>
                </a:solidFill>
                <a:latin typeface="Courier New" panose="02070309020205020404"/>
                <a:cs typeface="Courier New" panose="02070309020205020404"/>
              </a:rPr>
              <a:t>02</a:t>
            </a:r>
            <a:endParaRPr sz="885">
              <a:latin typeface="Courier New" panose="02070309020205020404"/>
              <a:cs typeface="Courier New" panose="02070309020205020404"/>
            </a:endParaRPr>
          </a:p>
        </p:txBody>
      </p:sp>
      <p:sp>
        <p:nvSpPr>
          <p:cNvPr id="26" name="object 26"/>
          <p:cNvSpPr txBox="1"/>
          <p:nvPr/>
        </p:nvSpPr>
        <p:spPr>
          <a:xfrm>
            <a:off x="5711174" y="2603521"/>
            <a:ext cx="3560266" cy="496941"/>
          </a:xfrm>
          <a:prstGeom prst="rect">
            <a:avLst/>
          </a:prstGeom>
        </p:spPr>
        <p:txBody>
          <a:bodyPr vert="horz" wrap="square" lIns="0" tIns="61728" rIns="0" bIns="0" rtlCol="0">
            <a:spAutoFit/>
          </a:bodyPr>
          <a:lstStyle/>
          <a:p>
            <a:pPr marL="12700">
              <a:spcBef>
                <a:spcPts val="485"/>
              </a:spcBef>
            </a:pPr>
            <a:r>
              <a:rPr sz="1325" b="1" spc="-152" dirty="0">
                <a:solidFill>
                  <a:srgbClr val="1D293B"/>
                </a:solidFill>
                <a:latin typeface="微软雅黑" panose="020B0503020204020204" charset="-122"/>
                <a:cs typeface="微软雅黑" panose="020B0503020204020204" charset="-122"/>
              </a:rPr>
              <a:t>丰富状态表示层</a:t>
            </a:r>
            <a:endParaRPr sz="1325">
              <a:latin typeface="微软雅黑" panose="020B0503020204020204" charset="-122"/>
              <a:cs typeface="微软雅黑" panose="020B0503020204020204" charset="-122"/>
            </a:endParaRPr>
          </a:p>
          <a:p>
            <a:pPr marL="12700">
              <a:spcBef>
                <a:spcPts val="375"/>
              </a:spcBef>
            </a:pPr>
            <a:r>
              <a:rPr sz="1130" spc="-108" dirty="0">
                <a:solidFill>
                  <a:srgbClr val="64738B"/>
                </a:solidFill>
                <a:latin typeface="宋体" panose="02010600030101010101" pitchFamily="2" charset="-122"/>
                <a:cs typeface="宋体" panose="02010600030101010101" pitchFamily="2" charset="-122"/>
              </a:rPr>
              <a:t>引入割平面信息、原问题启发式等更多求解器内部动态特征。</a:t>
            </a:r>
            <a:endParaRPr sz="1130">
              <a:latin typeface="宋体" panose="02010600030101010101" pitchFamily="2" charset="-122"/>
              <a:cs typeface="宋体" panose="02010600030101010101" pitchFamily="2" charset="-122"/>
            </a:endParaRPr>
          </a:p>
        </p:txBody>
      </p:sp>
      <p:grpSp>
        <p:nvGrpSpPr>
          <p:cNvPr id="27" name="object 27"/>
          <p:cNvGrpSpPr/>
          <p:nvPr/>
        </p:nvGrpSpPr>
        <p:grpSpPr>
          <a:xfrm>
            <a:off x="5272961" y="3404387"/>
            <a:ext cx="6163438" cy="682748"/>
            <a:chOff x="5257799" y="3467099"/>
            <a:chExt cx="6276975" cy="695325"/>
          </a:xfrm>
        </p:grpSpPr>
        <p:sp>
          <p:nvSpPr>
            <p:cNvPr id="28" name="object 28"/>
            <p:cNvSpPr/>
            <p:nvPr/>
          </p:nvSpPr>
          <p:spPr>
            <a:xfrm>
              <a:off x="5257799" y="3467099"/>
              <a:ext cx="6276975" cy="690880"/>
            </a:xfrm>
            <a:custGeom>
              <a:avLst/>
              <a:gdLst/>
              <a:ahLst/>
              <a:cxnLst/>
              <a:rect l="l" t="t" r="r" b="b"/>
              <a:pathLst>
                <a:path w="6276975" h="690879">
                  <a:moveTo>
                    <a:pt x="6205777" y="690562"/>
                  </a:moveTo>
                  <a:lnTo>
                    <a:pt x="71196" y="690562"/>
                  </a:lnTo>
                  <a:lnTo>
                    <a:pt x="66241" y="690104"/>
                  </a:lnTo>
                  <a:lnTo>
                    <a:pt x="29705" y="675916"/>
                  </a:lnTo>
                  <a:lnTo>
                    <a:pt x="3885" y="642128"/>
                  </a:lnTo>
                  <a:lnTo>
                    <a:pt x="0" y="623815"/>
                  </a:lnTo>
                  <a:lnTo>
                    <a:pt x="0" y="619124"/>
                  </a:lnTo>
                  <a:lnTo>
                    <a:pt x="0" y="71196"/>
                  </a:lnTo>
                  <a:lnTo>
                    <a:pt x="15621" y="29705"/>
                  </a:lnTo>
                  <a:lnTo>
                    <a:pt x="51662" y="3885"/>
                  </a:lnTo>
                  <a:lnTo>
                    <a:pt x="71196" y="0"/>
                  </a:lnTo>
                  <a:lnTo>
                    <a:pt x="6205777" y="0"/>
                  </a:lnTo>
                  <a:lnTo>
                    <a:pt x="6247269" y="15621"/>
                  </a:lnTo>
                  <a:lnTo>
                    <a:pt x="6273088" y="51661"/>
                  </a:lnTo>
                  <a:lnTo>
                    <a:pt x="6276974" y="71196"/>
                  </a:lnTo>
                  <a:lnTo>
                    <a:pt x="6276974" y="623815"/>
                  </a:lnTo>
                  <a:lnTo>
                    <a:pt x="6261352" y="662713"/>
                  </a:lnTo>
                  <a:lnTo>
                    <a:pt x="6225311" y="686919"/>
                  </a:lnTo>
                  <a:lnTo>
                    <a:pt x="6210732" y="690104"/>
                  </a:lnTo>
                  <a:lnTo>
                    <a:pt x="6205777" y="690562"/>
                  </a:lnTo>
                  <a:close/>
                </a:path>
              </a:pathLst>
            </a:custGeom>
            <a:solidFill>
              <a:srgbClr val="F7FAFB"/>
            </a:solidFill>
          </p:spPr>
          <p:txBody>
            <a:bodyPr wrap="square" lIns="0" tIns="0" rIns="0" bIns="0" rtlCol="0"/>
            <a:lstStyle/>
            <a:p/>
          </p:txBody>
        </p:sp>
        <p:sp>
          <p:nvSpPr>
            <p:cNvPr id="29" name="object 29"/>
            <p:cNvSpPr/>
            <p:nvPr/>
          </p:nvSpPr>
          <p:spPr>
            <a:xfrm>
              <a:off x="5258162" y="4093731"/>
              <a:ext cx="6276340" cy="69215"/>
            </a:xfrm>
            <a:custGeom>
              <a:avLst/>
              <a:gdLst/>
              <a:ahLst/>
              <a:cxnLst/>
              <a:rect l="l" t="t" r="r" b="b"/>
              <a:pathLst>
                <a:path w="6276340" h="69214">
                  <a:moveTo>
                    <a:pt x="6200412" y="68693"/>
                  </a:moveTo>
                  <a:lnTo>
                    <a:pt x="75837" y="68693"/>
                  </a:lnTo>
                  <a:lnTo>
                    <a:pt x="68330" y="68331"/>
                  </a:lnTo>
                  <a:lnTo>
                    <a:pt x="27519" y="51426"/>
                  </a:lnTo>
                  <a:lnTo>
                    <a:pt x="2900" y="14580"/>
                  </a:lnTo>
                  <a:lnTo>
                    <a:pt x="0" y="0"/>
                  </a:lnTo>
                  <a:lnTo>
                    <a:pt x="1087" y="5503"/>
                  </a:lnTo>
                  <a:lnTo>
                    <a:pt x="2900" y="11819"/>
                  </a:lnTo>
                  <a:lnTo>
                    <a:pt x="27519" y="44059"/>
                  </a:lnTo>
                  <a:lnTo>
                    <a:pt x="68330" y="58851"/>
                  </a:lnTo>
                  <a:lnTo>
                    <a:pt x="75837" y="59168"/>
                  </a:lnTo>
                  <a:lnTo>
                    <a:pt x="6237230" y="59168"/>
                  </a:lnTo>
                  <a:lnTo>
                    <a:pt x="6236367" y="59685"/>
                  </a:lnTo>
                  <a:lnTo>
                    <a:pt x="6229571" y="62892"/>
                  </a:lnTo>
                  <a:lnTo>
                    <a:pt x="6222497" y="65430"/>
                  </a:lnTo>
                  <a:lnTo>
                    <a:pt x="6215280" y="67243"/>
                  </a:lnTo>
                  <a:lnTo>
                    <a:pt x="6207918" y="68331"/>
                  </a:lnTo>
                  <a:lnTo>
                    <a:pt x="6200412" y="68693"/>
                  </a:lnTo>
                  <a:close/>
                </a:path>
                <a:path w="6276340" h="69214">
                  <a:moveTo>
                    <a:pt x="6237230" y="59168"/>
                  </a:moveTo>
                  <a:lnTo>
                    <a:pt x="6200412" y="59168"/>
                  </a:lnTo>
                  <a:lnTo>
                    <a:pt x="6207918" y="58851"/>
                  </a:lnTo>
                  <a:lnTo>
                    <a:pt x="6215280" y="57899"/>
                  </a:lnTo>
                  <a:lnTo>
                    <a:pt x="6254292" y="39639"/>
                  </a:lnTo>
                  <a:lnTo>
                    <a:pt x="6275161" y="5503"/>
                  </a:lnTo>
                  <a:lnTo>
                    <a:pt x="6276129" y="0"/>
                  </a:lnTo>
                  <a:lnTo>
                    <a:pt x="6275436" y="5503"/>
                  </a:lnTo>
                  <a:lnTo>
                    <a:pt x="6259343" y="40810"/>
                  </a:lnTo>
                  <a:lnTo>
                    <a:pt x="6242753" y="55863"/>
                  </a:lnTo>
                  <a:lnTo>
                    <a:pt x="6237230" y="59168"/>
                  </a:lnTo>
                  <a:close/>
                </a:path>
              </a:pathLst>
            </a:custGeom>
            <a:solidFill>
              <a:srgbClr val="FFFFFF"/>
            </a:solidFill>
          </p:spPr>
          <p:txBody>
            <a:bodyPr wrap="square" lIns="0" tIns="0" rIns="0" bIns="0" rtlCol="0"/>
            <a:lstStyle/>
            <a:p/>
          </p:txBody>
        </p:sp>
        <p:pic>
          <p:nvPicPr>
            <p:cNvPr id="30" name="object 30"/>
            <p:cNvPicPr/>
            <p:nvPr/>
          </p:nvPicPr>
          <p:blipFill>
            <a:blip r:embed="rId2" cstate="print"/>
            <a:stretch>
              <a:fillRect/>
            </a:stretch>
          </p:blipFill>
          <p:spPr>
            <a:xfrm>
              <a:off x="5372099" y="3619499"/>
              <a:ext cx="228599" cy="228599"/>
            </a:xfrm>
            <a:prstGeom prst="rect">
              <a:avLst/>
            </a:prstGeom>
          </p:spPr>
        </p:pic>
      </p:grpSp>
      <p:sp>
        <p:nvSpPr>
          <p:cNvPr id="31" name="object 31"/>
          <p:cNvSpPr txBox="1"/>
          <p:nvPr/>
        </p:nvSpPr>
        <p:spPr>
          <a:xfrm>
            <a:off x="5421240" y="3579277"/>
            <a:ext cx="157749" cy="148026"/>
          </a:xfrm>
          <a:prstGeom prst="rect">
            <a:avLst/>
          </a:prstGeom>
        </p:spPr>
        <p:txBody>
          <a:bodyPr vert="horz" wrap="square" lIns="0" tIns="11847" rIns="0" bIns="0" rtlCol="0">
            <a:spAutoFit/>
          </a:bodyPr>
          <a:lstStyle/>
          <a:p>
            <a:pPr marL="12700">
              <a:spcBef>
                <a:spcPts val="95"/>
              </a:spcBef>
            </a:pPr>
            <a:r>
              <a:rPr sz="885" spc="-25" dirty="0">
                <a:solidFill>
                  <a:srgbClr val="FFFFFF"/>
                </a:solidFill>
                <a:latin typeface="Courier New" panose="02070309020205020404"/>
                <a:cs typeface="Courier New" panose="02070309020205020404"/>
              </a:rPr>
              <a:t>03</a:t>
            </a:r>
            <a:endParaRPr sz="885">
              <a:latin typeface="Courier New" panose="02070309020205020404"/>
              <a:cs typeface="Courier New" panose="02070309020205020404"/>
            </a:endParaRPr>
          </a:p>
        </p:txBody>
      </p:sp>
      <p:sp>
        <p:nvSpPr>
          <p:cNvPr id="32" name="object 32"/>
          <p:cNvSpPr txBox="1"/>
          <p:nvPr/>
        </p:nvSpPr>
        <p:spPr>
          <a:xfrm>
            <a:off x="5711175" y="3435913"/>
            <a:ext cx="3280308" cy="496941"/>
          </a:xfrm>
          <a:prstGeom prst="rect">
            <a:avLst/>
          </a:prstGeom>
        </p:spPr>
        <p:txBody>
          <a:bodyPr vert="horz" wrap="square" lIns="0" tIns="61728" rIns="0" bIns="0" rtlCol="0">
            <a:spAutoFit/>
          </a:bodyPr>
          <a:lstStyle/>
          <a:p>
            <a:pPr marL="12700">
              <a:spcBef>
                <a:spcPts val="485"/>
              </a:spcBef>
            </a:pPr>
            <a:r>
              <a:rPr sz="1325" b="1" spc="-152" dirty="0">
                <a:solidFill>
                  <a:srgbClr val="1D293B"/>
                </a:solidFill>
                <a:latin typeface="微软雅黑" panose="020B0503020204020204" charset="-122"/>
                <a:cs typeface="微软雅黑" panose="020B0503020204020204" charset="-122"/>
              </a:rPr>
              <a:t>轻量化推理架构</a:t>
            </a:r>
            <a:endParaRPr sz="1325">
              <a:latin typeface="微软雅黑" panose="020B0503020204020204" charset="-122"/>
              <a:cs typeface="微软雅黑" panose="020B0503020204020204" charset="-122"/>
            </a:endParaRPr>
          </a:p>
          <a:p>
            <a:pPr marL="12700">
              <a:spcBef>
                <a:spcPts val="375"/>
              </a:spcBef>
            </a:pPr>
            <a:r>
              <a:rPr sz="1130" spc="-123" dirty="0">
                <a:solidFill>
                  <a:srgbClr val="64738B"/>
                </a:solidFill>
                <a:latin typeface="宋体" panose="02010600030101010101" pitchFamily="2" charset="-122"/>
                <a:cs typeface="宋体" panose="02010600030101010101" pitchFamily="2" charset="-122"/>
              </a:rPr>
              <a:t>探索模型剪枝、量化或更高效的 </a:t>
            </a:r>
            <a:r>
              <a:rPr sz="1030" dirty="0">
                <a:solidFill>
                  <a:srgbClr val="64738B"/>
                </a:solidFill>
                <a:latin typeface="Times New Roman" panose="02020603050405020304"/>
                <a:cs typeface="Times New Roman" panose="02020603050405020304"/>
              </a:rPr>
              <a:t>Graph</a:t>
            </a:r>
            <a:r>
              <a:rPr sz="1030" spc="25" dirty="0">
                <a:solidFill>
                  <a:srgbClr val="64738B"/>
                </a:solidFill>
                <a:latin typeface="Times New Roman" panose="02020603050405020304"/>
                <a:cs typeface="Times New Roman" panose="02020603050405020304"/>
              </a:rPr>
              <a:t> </a:t>
            </a:r>
            <a:r>
              <a:rPr sz="1030" dirty="0">
                <a:solidFill>
                  <a:srgbClr val="64738B"/>
                </a:solidFill>
                <a:latin typeface="Times New Roman" panose="02020603050405020304"/>
                <a:cs typeface="Times New Roman" panose="02020603050405020304"/>
              </a:rPr>
              <a:t>Embedding</a:t>
            </a:r>
            <a:r>
              <a:rPr sz="1030" spc="25" dirty="0">
                <a:solidFill>
                  <a:srgbClr val="64738B"/>
                </a:solidFill>
                <a:latin typeface="Times New Roman" panose="02020603050405020304"/>
                <a:cs typeface="Times New Roman" panose="02020603050405020304"/>
              </a:rPr>
              <a:t> </a:t>
            </a:r>
            <a:r>
              <a:rPr sz="1130" spc="-88" dirty="0">
                <a:solidFill>
                  <a:srgbClr val="64738B"/>
                </a:solidFill>
                <a:latin typeface="宋体" panose="02010600030101010101" pitchFamily="2" charset="-122"/>
                <a:cs typeface="宋体" panose="02010600030101010101" pitchFamily="2" charset="-122"/>
              </a:rPr>
              <a:t>算子。</a:t>
            </a:r>
            <a:endParaRPr sz="1130">
              <a:latin typeface="宋体" panose="02010600030101010101" pitchFamily="2" charset="-122"/>
              <a:cs typeface="宋体" panose="02010600030101010101" pitchFamily="2" charset="-122"/>
            </a:endParaRPr>
          </a:p>
        </p:txBody>
      </p:sp>
      <p:sp>
        <p:nvSpPr>
          <p:cNvPr id="33" name="object 33"/>
          <p:cNvSpPr/>
          <p:nvPr/>
        </p:nvSpPr>
        <p:spPr>
          <a:xfrm>
            <a:off x="559194" y="4508007"/>
            <a:ext cx="11073612" cy="1964070"/>
          </a:xfrm>
          <a:custGeom>
            <a:avLst/>
            <a:gdLst/>
            <a:ahLst/>
            <a:cxnLst/>
            <a:rect l="l" t="t" r="r" b="b"/>
            <a:pathLst>
              <a:path w="11277600" h="2000250">
                <a:moveTo>
                  <a:pt x="11125199" y="2000249"/>
                </a:moveTo>
                <a:lnTo>
                  <a:pt x="152399" y="2000249"/>
                </a:lnTo>
                <a:lnTo>
                  <a:pt x="144912" y="2000066"/>
                </a:lnTo>
                <a:lnTo>
                  <a:pt x="101066" y="1991344"/>
                </a:lnTo>
                <a:lnTo>
                  <a:pt x="61607" y="1970253"/>
                </a:lnTo>
                <a:lnTo>
                  <a:pt x="29995" y="1938642"/>
                </a:lnTo>
                <a:lnTo>
                  <a:pt x="8904" y="1899183"/>
                </a:lnTo>
                <a:lnTo>
                  <a:pt x="183" y="1855336"/>
                </a:lnTo>
                <a:lnTo>
                  <a:pt x="0" y="1847849"/>
                </a:lnTo>
                <a:lnTo>
                  <a:pt x="0" y="152399"/>
                </a:lnTo>
                <a:lnTo>
                  <a:pt x="6560" y="108160"/>
                </a:lnTo>
                <a:lnTo>
                  <a:pt x="25684" y="67731"/>
                </a:lnTo>
                <a:lnTo>
                  <a:pt x="55717" y="34591"/>
                </a:lnTo>
                <a:lnTo>
                  <a:pt x="94079" y="11600"/>
                </a:lnTo>
                <a:lnTo>
                  <a:pt x="137461" y="732"/>
                </a:lnTo>
                <a:lnTo>
                  <a:pt x="152399" y="0"/>
                </a:lnTo>
                <a:lnTo>
                  <a:pt x="11125199" y="0"/>
                </a:lnTo>
                <a:lnTo>
                  <a:pt x="11169438" y="6560"/>
                </a:lnTo>
                <a:lnTo>
                  <a:pt x="11209866" y="25684"/>
                </a:lnTo>
                <a:lnTo>
                  <a:pt x="11243006" y="55717"/>
                </a:lnTo>
                <a:lnTo>
                  <a:pt x="11265996" y="94079"/>
                </a:lnTo>
                <a:lnTo>
                  <a:pt x="11276866" y="137461"/>
                </a:lnTo>
                <a:lnTo>
                  <a:pt x="11277599" y="152399"/>
                </a:lnTo>
                <a:lnTo>
                  <a:pt x="11277599" y="1847849"/>
                </a:lnTo>
                <a:lnTo>
                  <a:pt x="11271036" y="1892089"/>
                </a:lnTo>
                <a:lnTo>
                  <a:pt x="11251913" y="1932518"/>
                </a:lnTo>
                <a:lnTo>
                  <a:pt x="11221880" y="1965657"/>
                </a:lnTo>
                <a:lnTo>
                  <a:pt x="11183518" y="1988648"/>
                </a:lnTo>
                <a:lnTo>
                  <a:pt x="11140137" y="1999517"/>
                </a:lnTo>
                <a:lnTo>
                  <a:pt x="11125199" y="2000249"/>
                </a:lnTo>
                <a:close/>
              </a:path>
            </a:pathLst>
          </a:custGeom>
          <a:solidFill>
            <a:srgbClr val="312E81"/>
          </a:solidFill>
        </p:spPr>
        <p:txBody>
          <a:bodyPr wrap="square" lIns="0" tIns="0" rIns="0" bIns="0" rtlCol="0"/>
          <a:lstStyle/>
          <a:p/>
        </p:txBody>
      </p:sp>
      <p:sp>
        <p:nvSpPr>
          <p:cNvPr id="34" name="object 34"/>
          <p:cNvSpPr txBox="1"/>
          <p:nvPr/>
        </p:nvSpPr>
        <p:spPr>
          <a:xfrm>
            <a:off x="771188" y="5079381"/>
            <a:ext cx="5000584" cy="700688"/>
          </a:xfrm>
          <a:prstGeom prst="rect">
            <a:avLst/>
          </a:prstGeom>
        </p:spPr>
        <p:txBody>
          <a:bodyPr vert="horz" wrap="square" lIns="0" tIns="76692" rIns="0" bIns="0" rtlCol="0">
            <a:spAutoFit/>
          </a:bodyPr>
          <a:lstStyle/>
          <a:p>
            <a:pPr marL="12700">
              <a:spcBef>
                <a:spcPts val="605"/>
              </a:spcBef>
            </a:pPr>
            <a:r>
              <a:rPr sz="1520" b="1" spc="-206" dirty="0">
                <a:solidFill>
                  <a:srgbClr val="93C4FD"/>
                </a:solidFill>
                <a:latin typeface="微软雅黑" panose="020B0503020204020204" charset="-122"/>
                <a:cs typeface="微软雅黑" panose="020B0503020204020204" charset="-122"/>
              </a:rPr>
              <a:t>总结</a:t>
            </a:r>
            <a:r>
              <a:rPr sz="1375" b="1" i="1" dirty="0">
                <a:solidFill>
                  <a:srgbClr val="93C4FD"/>
                </a:solidFill>
                <a:latin typeface="Calibri" panose="020F0502020204030204"/>
                <a:cs typeface="Calibri" panose="020F0502020204030204"/>
              </a:rPr>
              <a:t>: </a:t>
            </a:r>
            <a:r>
              <a:rPr sz="1520" b="1" spc="-206" dirty="0">
                <a:solidFill>
                  <a:srgbClr val="93C4FD"/>
                </a:solidFill>
                <a:latin typeface="Yu Gothic UI Semibold" panose="020B0700000000000000" charset="-128"/>
                <a:cs typeface="Yu Gothic UI Semibold" panose="020B0700000000000000" charset="-128"/>
              </a:rPr>
              <a:t>序列决策</a:t>
            </a:r>
            <a:r>
              <a:rPr sz="1520" b="1" spc="-206" dirty="0">
                <a:solidFill>
                  <a:srgbClr val="93C4FD"/>
                </a:solidFill>
                <a:latin typeface="微软雅黑" panose="020B0503020204020204" charset="-122"/>
                <a:cs typeface="微软雅黑" panose="020B0503020204020204" charset="-122"/>
              </a:rPr>
              <a:t>视</a:t>
            </a:r>
            <a:r>
              <a:rPr sz="1520" b="1" spc="-162" dirty="0">
                <a:solidFill>
                  <a:srgbClr val="93C4FD"/>
                </a:solidFill>
                <a:latin typeface="Yu Gothic UI Semibold" panose="020B0700000000000000" charset="-128"/>
                <a:cs typeface="Yu Gothic UI Semibold" panose="020B0700000000000000" charset="-128"/>
              </a:rPr>
              <a:t>角 </a:t>
            </a:r>
            <a:r>
              <a:rPr sz="1375" b="1" i="1" dirty="0">
                <a:solidFill>
                  <a:srgbClr val="93C4FD"/>
                </a:solidFill>
                <a:latin typeface="Calibri" panose="020F0502020204030204"/>
                <a:cs typeface="Calibri" panose="020F0502020204030204"/>
              </a:rPr>
              <a:t>(Sequential</a:t>
            </a:r>
            <a:r>
              <a:rPr sz="1375" b="1" i="1" spc="10" dirty="0">
                <a:solidFill>
                  <a:srgbClr val="93C4FD"/>
                </a:solidFill>
                <a:latin typeface="Calibri" panose="020F0502020204030204"/>
                <a:cs typeface="Calibri" panose="020F0502020204030204"/>
              </a:rPr>
              <a:t> </a:t>
            </a:r>
            <a:r>
              <a:rPr sz="1375" b="1" i="1" spc="-10" dirty="0">
                <a:solidFill>
                  <a:srgbClr val="93C4FD"/>
                </a:solidFill>
                <a:latin typeface="Calibri" panose="020F0502020204030204"/>
                <a:cs typeface="Calibri" panose="020F0502020204030204"/>
              </a:rPr>
              <a:t>Decision)</a:t>
            </a:r>
            <a:endParaRPr sz="1375">
              <a:latin typeface="Calibri" panose="020F0502020204030204"/>
              <a:cs typeface="Calibri" panose="020F0502020204030204"/>
            </a:endParaRPr>
          </a:p>
          <a:p>
            <a:pPr marL="12700" marR="5080">
              <a:lnSpc>
                <a:spcPct val="103000"/>
              </a:lnSpc>
              <a:spcBef>
                <a:spcPts val="365"/>
              </a:spcBef>
            </a:pPr>
            <a:r>
              <a:rPr sz="1130" spc="-108" dirty="0">
                <a:solidFill>
                  <a:srgbClr val="DFE7FF"/>
                </a:solidFill>
                <a:latin typeface="宋体" panose="02010600030101010101" pitchFamily="2" charset="-122"/>
                <a:cs typeface="宋体" panose="02010600030101010101" pitchFamily="2" charset="-122"/>
              </a:rPr>
              <a:t>分支定界在本质上是状态空间中的序列寻优。尽管本文采用模仿学习作为高效起点，其底层逻辑仍遵循决策轨迹的概率分布建模。</a:t>
            </a:r>
            <a:endParaRPr sz="1130">
              <a:latin typeface="宋体" panose="02010600030101010101" pitchFamily="2" charset="-122"/>
              <a:cs typeface="宋体" panose="02010600030101010101" pitchFamily="2" charset="-122"/>
            </a:endParaRPr>
          </a:p>
        </p:txBody>
      </p:sp>
      <p:grpSp>
        <p:nvGrpSpPr>
          <p:cNvPr id="35" name="object 35"/>
          <p:cNvGrpSpPr/>
          <p:nvPr/>
        </p:nvGrpSpPr>
        <p:grpSpPr>
          <a:xfrm>
            <a:off x="6095999" y="4489302"/>
            <a:ext cx="5555512" cy="1758310"/>
            <a:chOff x="6095999" y="4572000"/>
            <a:chExt cx="5657850" cy="1790700"/>
          </a:xfrm>
        </p:grpSpPr>
        <p:sp>
          <p:nvSpPr>
            <p:cNvPr id="36" name="object 36"/>
            <p:cNvSpPr/>
            <p:nvPr/>
          </p:nvSpPr>
          <p:spPr>
            <a:xfrm>
              <a:off x="10496550" y="4591049"/>
              <a:ext cx="1238250" cy="1238250"/>
            </a:xfrm>
            <a:custGeom>
              <a:avLst/>
              <a:gdLst/>
              <a:ahLst/>
              <a:cxnLst/>
              <a:rect l="l" t="t" r="r" b="b"/>
              <a:pathLst>
                <a:path w="1238250" h="1238250">
                  <a:moveTo>
                    <a:pt x="1238250" y="1071012"/>
                  </a:moveTo>
                  <a:lnTo>
                    <a:pt x="1200770" y="1099246"/>
                  </a:lnTo>
                  <a:lnTo>
                    <a:pt x="1153746" y="1129839"/>
                  </a:lnTo>
                  <a:lnTo>
                    <a:pt x="1104598" y="1156889"/>
                  </a:lnTo>
                  <a:lnTo>
                    <a:pt x="1053604" y="1180245"/>
                  </a:lnTo>
                  <a:lnTo>
                    <a:pt x="1001030" y="1199788"/>
                  </a:lnTo>
                  <a:lnTo>
                    <a:pt x="947150" y="1215414"/>
                  </a:lnTo>
                  <a:lnTo>
                    <a:pt x="892267" y="1227032"/>
                  </a:lnTo>
                  <a:lnTo>
                    <a:pt x="836688" y="1234580"/>
                  </a:lnTo>
                  <a:lnTo>
                    <a:pt x="780705" y="1238020"/>
                  </a:lnTo>
                  <a:lnTo>
                    <a:pt x="761999" y="1238249"/>
                  </a:lnTo>
                  <a:lnTo>
                    <a:pt x="743293" y="1238020"/>
                  </a:lnTo>
                  <a:lnTo>
                    <a:pt x="687310" y="1234580"/>
                  </a:lnTo>
                  <a:lnTo>
                    <a:pt x="631732" y="1227032"/>
                  </a:lnTo>
                  <a:lnTo>
                    <a:pt x="576848" y="1215414"/>
                  </a:lnTo>
                  <a:lnTo>
                    <a:pt x="522968" y="1199788"/>
                  </a:lnTo>
                  <a:lnTo>
                    <a:pt x="470395" y="1180245"/>
                  </a:lnTo>
                  <a:lnTo>
                    <a:pt x="419400" y="1156889"/>
                  </a:lnTo>
                  <a:lnTo>
                    <a:pt x="370253" y="1129839"/>
                  </a:lnTo>
                  <a:lnTo>
                    <a:pt x="323229" y="1099246"/>
                  </a:lnTo>
                  <a:lnTo>
                    <a:pt x="278592" y="1065283"/>
                  </a:lnTo>
                  <a:lnTo>
                    <a:pt x="236573" y="1028130"/>
                  </a:lnTo>
                  <a:lnTo>
                    <a:pt x="197394" y="987978"/>
                  </a:lnTo>
                  <a:lnTo>
                    <a:pt x="161276" y="945051"/>
                  </a:lnTo>
                  <a:lnTo>
                    <a:pt x="128420" y="899594"/>
                  </a:lnTo>
                  <a:lnTo>
                    <a:pt x="98996" y="851843"/>
                  </a:lnTo>
                  <a:lnTo>
                    <a:pt x="73159" y="802046"/>
                  </a:lnTo>
                  <a:lnTo>
                    <a:pt x="51057" y="750484"/>
                  </a:lnTo>
                  <a:lnTo>
                    <a:pt x="32811" y="697446"/>
                  </a:lnTo>
                  <a:lnTo>
                    <a:pt x="18515" y="643210"/>
                  </a:lnTo>
                  <a:lnTo>
                    <a:pt x="8246" y="588058"/>
                  </a:lnTo>
                  <a:lnTo>
                    <a:pt x="2063" y="532300"/>
                  </a:lnTo>
                  <a:lnTo>
                    <a:pt x="0" y="476249"/>
                  </a:lnTo>
                  <a:lnTo>
                    <a:pt x="229" y="457543"/>
                  </a:lnTo>
                  <a:lnTo>
                    <a:pt x="3669" y="401560"/>
                  </a:lnTo>
                  <a:lnTo>
                    <a:pt x="11217" y="345982"/>
                  </a:lnTo>
                  <a:lnTo>
                    <a:pt x="22835" y="291098"/>
                  </a:lnTo>
                  <a:lnTo>
                    <a:pt x="38460" y="237218"/>
                  </a:lnTo>
                  <a:lnTo>
                    <a:pt x="58003" y="184644"/>
                  </a:lnTo>
                  <a:lnTo>
                    <a:pt x="81360" y="133650"/>
                  </a:lnTo>
                  <a:lnTo>
                    <a:pt x="108410" y="84503"/>
                  </a:lnTo>
                  <a:lnTo>
                    <a:pt x="139003" y="37479"/>
                  </a:lnTo>
                  <a:lnTo>
                    <a:pt x="161276" y="7447"/>
                  </a:lnTo>
                  <a:lnTo>
                    <a:pt x="167237" y="0"/>
                  </a:lnTo>
                </a:path>
              </a:pathLst>
            </a:custGeom>
            <a:ln w="38099">
              <a:solidFill>
                <a:srgbClr val="FFFFFF"/>
              </a:solidFill>
            </a:ln>
          </p:spPr>
          <p:txBody>
            <a:bodyPr wrap="square" lIns="0" tIns="0" rIns="0" bIns="0" rtlCol="0"/>
            <a:lstStyle/>
            <a:p/>
          </p:txBody>
        </p:sp>
        <p:sp>
          <p:nvSpPr>
            <p:cNvPr id="37" name="object 37"/>
            <p:cNvSpPr/>
            <p:nvPr/>
          </p:nvSpPr>
          <p:spPr>
            <a:xfrm>
              <a:off x="6095999" y="4819649"/>
              <a:ext cx="5410200" cy="1543050"/>
            </a:xfrm>
            <a:custGeom>
              <a:avLst/>
              <a:gdLst/>
              <a:ahLst/>
              <a:cxnLst/>
              <a:rect l="l" t="t" r="r" b="b"/>
              <a:pathLst>
                <a:path w="5410200" h="1543050">
                  <a:moveTo>
                    <a:pt x="5295899" y="1543049"/>
                  </a:moveTo>
                  <a:lnTo>
                    <a:pt x="114299" y="1543049"/>
                  </a:lnTo>
                  <a:lnTo>
                    <a:pt x="103040" y="1542506"/>
                  </a:lnTo>
                  <a:lnTo>
                    <a:pt x="60364" y="1529537"/>
                  </a:lnTo>
                  <a:lnTo>
                    <a:pt x="25900" y="1501225"/>
                  </a:lnTo>
                  <a:lnTo>
                    <a:pt x="4894" y="1461879"/>
                  </a:lnTo>
                  <a:lnTo>
                    <a:pt x="0" y="1428749"/>
                  </a:lnTo>
                  <a:lnTo>
                    <a:pt x="0" y="114299"/>
                  </a:lnTo>
                  <a:lnTo>
                    <a:pt x="8700" y="70559"/>
                  </a:lnTo>
                  <a:lnTo>
                    <a:pt x="33477" y="33477"/>
                  </a:lnTo>
                  <a:lnTo>
                    <a:pt x="70559" y="8700"/>
                  </a:lnTo>
                  <a:lnTo>
                    <a:pt x="114299" y="0"/>
                  </a:lnTo>
                  <a:lnTo>
                    <a:pt x="5295899" y="0"/>
                  </a:lnTo>
                  <a:lnTo>
                    <a:pt x="5339639" y="8700"/>
                  </a:lnTo>
                  <a:lnTo>
                    <a:pt x="5376721" y="33477"/>
                  </a:lnTo>
                  <a:lnTo>
                    <a:pt x="5401498" y="70559"/>
                  </a:lnTo>
                  <a:lnTo>
                    <a:pt x="5410199" y="114299"/>
                  </a:lnTo>
                  <a:lnTo>
                    <a:pt x="5410199" y="1428749"/>
                  </a:lnTo>
                  <a:lnTo>
                    <a:pt x="5401498" y="1472490"/>
                  </a:lnTo>
                  <a:lnTo>
                    <a:pt x="5376721" y="1509572"/>
                  </a:lnTo>
                  <a:lnTo>
                    <a:pt x="5339639" y="1534349"/>
                  </a:lnTo>
                  <a:lnTo>
                    <a:pt x="5295899" y="1543049"/>
                  </a:lnTo>
                  <a:close/>
                </a:path>
              </a:pathLst>
            </a:custGeom>
            <a:solidFill>
              <a:srgbClr val="FFFFFF">
                <a:alpha val="10198"/>
              </a:srgbClr>
            </a:solidFill>
          </p:spPr>
          <p:txBody>
            <a:bodyPr wrap="square" lIns="0" tIns="0" rIns="0" bIns="0" rtlCol="0"/>
            <a:lstStyle/>
            <a:p/>
          </p:txBody>
        </p:sp>
        <p:sp>
          <p:nvSpPr>
            <p:cNvPr id="38" name="object 38"/>
            <p:cNvSpPr/>
            <p:nvPr/>
          </p:nvSpPr>
          <p:spPr>
            <a:xfrm>
              <a:off x="6095999" y="4819649"/>
              <a:ext cx="5410200" cy="1543050"/>
            </a:xfrm>
            <a:custGeom>
              <a:avLst/>
              <a:gdLst/>
              <a:ahLst/>
              <a:cxnLst/>
              <a:rect l="l" t="t" r="r" b="b"/>
              <a:pathLst>
                <a:path w="5410200" h="1543050">
                  <a:moveTo>
                    <a:pt x="5295899" y="1543049"/>
                  </a:moveTo>
                  <a:lnTo>
                    <a:pt x="114299" y="1543049"/>
                  </a:lnTo>
                  <a:lnTo>
                    <a:pt x="103040" y="1542506"/>
                  </a:lnTo>
                  <a:lnTo>
                    <a:pt x="60364" y="1529537"/>
                  </a:lnTo>
                  <a:lnTo>
                    <a:pt x="25900" y="1501225"/>
                  </a:lnTo>
                  <a:lnTo>
                    <a:pt x="4894" y="1461879"/>
                  </a:lnTo>
                  <a:lnTo>
                    <a:pt x="0" y="1428749"/>
                  </a:lnTo>
                  <a:lnTo>
                    <a:pt x="0" y="114299"/>
                  </a:lnTo>
                  <a:lnTo>
                    <a:pt x="8700" y="70559"/>
                  </a:lnTo>
                  <a:lnTo>
                    <a:pt x="33477" y="33477"/>
                  </a:lnTo>
                  <a:lnTo>
                    <a:pt x="70559" y="8700"/>
                  </a:lnTo>
                  <a:lnTo>
                    <a:pt x="114299" y="0"/>
                  </a:lnTo>
                  <a:lnTo>
                    <a:pt x="5295899" y="0"/>
                  </a:lnTo>
                  <a:lnTo>
                    <a:pt x="5339640" y="8700"/>
                  </a:lnTo>
                  <a:lnTo>
                    <a:pt x="5341386" y="9524"/>
                  </a:lnTo>
                  <a:lnTo>
                    <a:pt x="107420" y="9524"/>
                  </a:lnTo>
                  <a:lnTo>
                    <a:pt x="100606" y="10196"/>
                  </a:lnTo>
                  <a:lnTo>
                    <a:pt x="61810" y="23360"/>
                  </a:lnTo>
                  <a:lnTo>
                    <a:pt x="31004" y="50369"/>
                  </a:lnTo>
                  <a:lnTo>
                    <a:pt x="12880" y="87111"/>
                  </a:lnTo>
                  <a:lnTo>
                    <a:pt x="9524" y="107420"/>
                  </a:lnTo>
                  <a:lnTo>
                    <a:pt x="9524" y="1435629"/>
                  </a:lnTo>
                  <a:lnTo>
                    <a:pt x="20133" y="1475201"/>
                  </a:lnTo>
                  <a:lnTo>
                    <a:pt x="45077" y="1507701"/>
                  </a:lnTo>
                  <a:lnTo>
                    <a:pt x="80560" y="1528181"/>
                  </a:lnTo>
                  <a:lnTo>
                    <a:pt x="107420" y="1533524"/>
                  </a:lnTo>
                  <a:lnTo>
                    <a:pt x="5341386" y="1533524"/>
                  </a:lnTo>
                  <a:lnTo>
                    <a:pt x="5339639" y="1534349"/>
                  </a:lnTo>
                  <a:lnTo>
                    <a:pt x="5329029" y="1538155"/>
                  </a:lnTo>
                  <a:lnTo>
                    <a:pt x="5318202" y="1540874"/>
                  </a:lnTo>
                  <a:lnTo>
                    <a:pt x="5307159" y="1542506"/>
                  </a:lnTo>
                  <a:lnTo>
                    <a:pt x="5295899" y="1543049"/>
                  </a:lnTo>
                  <a:close/>
                </a:path>
                <a:path w="5410200" h="1543050">
                  <a:moveTo>
                    <a:pt x="5341386" y="1533524"/>
                  </a:moveTo>
                  <a:lnTo>
                    <a:pt x="5302779" y="1533524"/>
                  </a:lnTo>
                  <a:lnTo>
                    <a:pt x="5309592" y="1532853"/>
                  </a:lnTo>
                  <a:lnTo>
                    <a:pt x="5323087" y="1530169"/>
                  </a:lnTo>
                  <a:lnTo>
                    <a:pt x="5359829" y="1512044"/>
                  </a:lnTo>
                  <a:lnTo>
                    <a:pt x="5386838" y="1481239"/>
                  </a:lnTo>
                  <a:lnTo>
                    <a:pt x="5400003" y="1442442"/>
                  </a:lnTo>
                  <a:lnTo>
                    <a:pt x="5400674" y="1435629"/>
                  </a:lnTo>
                  <a:lnTo>
                    <a:pt x="5400674" y="107420"/>
                  </a:lnTo>
                  <a:lnTo>
                    <a:pt x="5390065" y="67848"/>
                  </a:lnTo>
                  <a:lnTo>
                    <a:pt x="5365121" y="35348"/>
                  </a:lnTo>
                  <a:lnTo>
                    <a:pt x="5329638" y="14867"/>
                  </a:lnTo>
                  <a:lnTo>
                    <a:pt x="5302779" y="9524"/>
                  </a:lnTo>
                  <a:lnTo>
                    <a:pt x="5341386" y="9524"/>
                  </a:lnTo>
                  <a:lnTo>
                    <a:pt x="5376721" y="33477"/>
                  </a:lnTo>
                  <a:lnTo>
                    <a:pt x="5401498" y="70559"/>
                  </a:lnTo>
                  <a:lnTo>
                    <a:pt x="5410199" y="114299"/>
                  </a:lnTo>
                  <a:lnTo>
                    <a:pt x="5410199" y="1428749"/>
                  </a:lnTo>
                  <a:lnTo>
                    <a:pt x="5401499" y="1472490"/>
                  </a:lnTo>
                  <a:lnTo>
                    <a:pt x="5376721" y="1509572"/>
                  </a:lnTo>
                  <a:lnTo>
                    <a:pt x="5349834" y="1529537"/>
                  </a:lnTo>
                  <a:lnTo>
                    <a:pt x="5341386" y="1533524"/>
                  </a:lnTo>
                  <a:close/>
                </a:path>
              </a:pathLst>
            </a:custGeom>
            <a:solidFill>
              <a:srgbClr val="FFFFFF">
                <a:alpha val="19999"/>
              </a:srgbClr>
            </a:solidFill>
          </p:spPr>
          <p:txBody>
            <a:bodyPr wrap="square" lIns="0" tIns="0" rIns="0" bIns="0" rtlCol="0"/>
            <a:lstStyle/>
            <a:p/>
          </p:txBody>
        </p:sp>
      </p:grpSp>
      <p:sp>
        <p:nvSpPr>
          <p:cNvPr id="39" name="object 39"/>
          <p:cNvSpPr txBox="1"/>
          <p:nvPr/>
        </p:nvSpPr>
        <p:spPr>
          <a:xfrm>
            <a:off x="6537624" y="5060083"/>
            <a:ext cx="2320096" cy="791863"/>
          </a:xfrm>
          <a:prstGeom prst="rect">
            <a:avLst/>
          </a:prstGeom>
        </p:spPr>
        <p:txBody>
          <a:bodyPr vert="horz" wrap="square" lIns="0" tIns="30552" rIns="0" bIns="0" rtlCol="0">
            <a:spAutoFit/>
          </a:bodyPr>
          <a:lstStyle/>
          <a:p>
            <a:pPr marL="1364615">
              <a:spcBef>
                <a:spcPts val="240"/>
              </a:spcBef>
            </a:pPr>
            <a:r>
              <a:rPr sz="1225" i="1" spc="-39" dirty="0">
                <a:solidFill>
                  <a:srgbClr val="FFFFFF"/>
                </a:solidFill>
                <a:latin typeface="Arial" panose="020B0604020202020204"/>
                <a:cs typeface="Arial" panose="020B0604020202020204"/>
              </a:rPr>
              <a:t>T</a:t>
            </a:r>
            <a:r>
              <a:rPr sz="1225" i="1" spc="-152" dirty="0">
                <a:solidFill>
                  <a:srgbClr val="FFFFFF"/>
                </a:solidFill>
                <a:latin typeface="Arial" panose="020B0604020202020204"/>
                <a:cs typeface="Arial" panose="020B0604020202020204"/>
              </a:rPr>
              <a:t> </a:t>
            </a:r>
            <a:r>
              <a:rPr sz="1225" spc="-25" dirty="0">
                <a:solidFill>
                  <a:srgbClr val="FFFFFF"/>
                </a:solidFill>
                <a:latin typeface="Lucida Sans Unicode" panose="020B0602030504020204"/>
                <a:cs typeface="Lucida Sans Unicode" panose="020B0602030504020204"/>
              </a:rPr>
              <a:t>−1</a:t>
            </a:r>
            <a:endParaRPr sz="1225">
              <a:latin typeface="Lucida Sans Unicode" panose="020B0602030504020204"/>
              <a:cs typeface="Lucida Sans Unicode" panose="020B0602030504020204"/>
            </a:endParaRPr>
          </a:p>
          <a:p>
            <a:pPr marL="37465">
              <a:spcBef>
                <a:spcPts val="195"/>
              </a:spcBef>
              <a:tabLst>
                <a:tab pos="1840865" algn="l"/>
              </a:tabLst>
            </a:pPr>
            <a:r>
              <a:rPr sz="1765" i="1" spc="-123" dirty="0">
                <a:solidFill>
                  <a:srgbClr val="FFFFFF"/>
                </a:solidFill>
                <a:latin typeface="Arial" panose="020B0604020202020204"/>
                <a:cs typeface="Arial" panose="020B0604020202020204"/>
              </a:rPr>
              <a:t>p</a:t>
            </a:r>
            <a:r>
              <a:rPr sz="1840" i="1" spc="-184" baseline="-11000" dirty="0">
                <a:solidFill>
                  <a:srgbClr val="FFFFFF"/>
                </a:solidFill>
                <a:latin typeface="Arial" panose="020B0604020202020204"/>
                <a:cs typeface="Arial" panose="020B0604020202020204"/>
              </a:rPr>
              <a:t>π</a:t>
            </a:r>
            <a:r>
              <a:rPr sz="1840" i="1" spc="-272" baseline="-11000" dirty="0">
                <a:solidFill>
                  <a:srgbClr val="FFFFFF"/>
                </a:solidFill>
                <a:latin typeface="Arial" panose="020B0604020202020204"/>
                <a:cs typeface="Arial" panose="020B0604020202020204"/>
              </a:rPr>
              <a:t> </a:t>
            </a:r>
            <a:r>
              <a:rPr sz="1765" spc="152" dirty="0">
                <a:solidFill>
                  <a:srgbClr val="FFFFFF"/>
                </a:solidFill>
                <a:latin typeface="Lucida Sans Unicode" panose="020B0602030504020204"/>
                <a:cs typeface="Lucida Sans Unicode" panose="020B0602030504020204"/>
              </a:rPr>
              <a:t>(</a:t>
            </a:r>
            <a:r>
              <a:rPr sz="1765" i="1" spc="152" dirty="0">
                <a:solidFill>
                  <a:srgbClr val="FFFFFF"/>
                </a:solidFill>
                <a:latin typeface="Arial" panose="020B0604020202020204"/>
                <a:cs typeface="Arial" panose="020B0604020202020204"/>
              </a:rPr>
              <a:t>τ</a:t>
            </a:r>
            <a:r>
              <a:rPr sz="1765" spc="152" dirty="0">
                <a:solidFill>
                  <a:srgbClr val="FFFFFF"/>
                </a:solidFill>
                <a:latin typeface="Lucida Sans Unicode" panose="020B0602030504020204"/>
                <a:cs typeface="Lucida Sans Unicode" panose="020B0602030504020204"/>
              </a:rPr>
              <a:t>)</a:t>
            </a:r>
            <a:r>
              <a:rPr sz="1765" spc="-98" dirty="0">
                <a:solidFill>
                  <a:srgbClr val="FFFFFF"/>
                </a:solidFill>
                <a:latin typeface="Lucida Sans Unicode" panose="020B0602030504020204"/>
                <a:cs typeface="Lucida Sans Unicode" panose="020B0602030504020204"/>
              </a:rPr>
              <a:t> </a:t>
            </a:r>
            <a:r>
              <a:rPr sz="1765" dirty="0">
                <a:solidFill>
                  <a:srgbClr val="FFFFFF"/>
                </a:solidFill>
                <a:latin typeface="Lucida Sans Unicode" panose="020B0602030504020204"/>
                <a:cs typeface="Lucida Sans Unicode" panose="020B0602030504020204"/>
              </a:rPr>
              <a:t>=</a:t>
            </a:r>
            <a:r>
              <a:rPr sz="1765" spc="-44" dirty="0">
                <a:solidFill>
                  <a:srgbClr val="FFFFFF"/>
                </a:solidFill>
                <a:latin typeface="Lucida Sans Unicode" panose="020B0602030504020204"/>
                <a:cs typeface="Lucida Sans Unicode" panose="020B0602030504020204"/>
              </a:rPr>
              <a:t> </a:t>
            </a:r>
            <a:r>
              <a:rPr sz="1765" i="1" spc="-74" dirty="0">
                <a:solidFill>
                  <a:srgbClr val="FFFFFF"/>
                </a:solidFill>
                <a:latin typeface="Arial" panose="020B0604020202020204"/>
                <a:cs typeface="Arial" panose="020B0604020202020204"/>
              </a:rPr>
              <a:t>p</a:t>
            </a:r>
            <a:r>
              <a:rPr sz="1765" spc="-74" dirty="0">
                <a:solidFill>
                  <a:srgbClr val="FFFFFF"/>
                </a:solidFill>
                <a:latin typeface="Lucida Sans Unicode" panose="020B0602030504020204"/>
                <a:cs typeface="Lucida Sans Unicode" panose="020B0602030504020204"/>
              </a:rPr>
              <a:t>(</a:t>
            </a:r>
            <a:r>
              <a:rPr sz="1765" i="1" spc="-74" dirty="0">
                <a:solidFill>
                  <a:srgbClr val="FFFFFF"/>
                </a:solidFill>
                <a:latin typeface="Arial" panose="020B0604020202020204"/>
                <a:cs typeface="Arial" panose="020B0604020202020204"/>
              </a:rPr>
              <a:t>s</a:t>
            </a:r>
            <a:r>
              <a:rPr sz="1840" spc="-110" baseline="-11000" dirty="0">
                <a:solidFill>
                  <a:srgbClr val="FFFFFF"/>
                </a:solidFill>
                <a:latin typeface="Lucida Sans Unicode" panose="020B0602030504020204"/>
                <a:cs typeface="Lucida Sans Unicode" panose="020B0602030504020204"/>
              </a:rPr>
              <a:t>0</a:t>
            </a:r>
            <a:r>
              <a:rPr sz="1840" spc="-390" baseline="-11000" dirty="0">
                <a:solidFill>
                  <a:srgbClr val="FFFFFF"/>
                </a:solidFill>
                <a:latin typeface="Lucida Sans Unicode" panose="020B0602030504020204"/>
                <a:cs typeface="Lucida Sans Unicode" panose="020B0602030504020204"/>
              </a:rPr>
              <a:t> </a:t>
            </a:r>
            <a:r>
              <a:rPr sz="1765" spc="108" dirty="0">
                <a:solidFill>
                  <a:srgbClr val="FFFFFF"/>
                </a:solidFill>
                <a:latin typeface="Lucida Sans Unicode" panose="020B0602030504020204"/>
                <a:cs typeface="Lucida Sans Unicode" panose="020B0602030504020204"/>
              </a:rPr>
              <a:t>)</a:t>
            </a:r>
            <a:r>
              <a:rPr sz="1765" spc="-167" dirty="0">
                <a:solidFill>
                  <a:srgbClr val="FFFFFF"/>
                </a:solidFill>
                <a:latin typeface="Lucida Sans Unicode" panose="020B0602030504020204"/>
                <a:cs typeface="Lucida Sans Unicode" panose="020B0602030504020204"/>
              </a:rPr>
              <a:t> </a:t>
            </a:r>
            <a:r>
              <a:rPr sz="1765" spc="736" dirty="0">
                <a:solidFill>
                  <a:srgbClr val="FFFFFF"/>
                </a:solidFill>
                <a:latin typeface="Arial" panose="020B0604020202020204"/>
                <a:cs typeface="Arial" panose="020B0604020202020204"/>
              </a:rPr>
              <a:t>∏</a:t>
            </a:r>
            <a:r>
              <a:rPr sz="1765" dirty="0">
                <a:solidFill>
                  <a:srgbClr val="FFFFFF"/>
                </a:solidFill>
                <a:latin typeface="Arial" panose="020B0604020202020204"/>
                <a:cs typeface="Arial" panose="020B0604020202020204"/>
              </a:rPr>
              <a:t>	</a:t>
            </a:r>
            <a:r>
              <a:rPr sz="1765" spc="1227" dirty="0">
                <a:solidFill>
                  <a:srgbClr val="FFFFFF"/>
                </a:solidFill>
                <a:latin typeface="Arial" panose="020B0604020202020204"/>
                <a:cs typeface="Arial" panose="020B0604020202020204"/>
              </a:rPr>
              <a:t>∑</a:t>
            </a:r>
            <a:endParaRPr sz="1765">
              <a:latin typeface="Arial" panose="020B0604020202020204"/>
              <a:cs typeface="Arial" panose="020B0604020202020204"/>
            </a:endParaRPr>
          </a:p>
          <a:p>
            <a:pPr marL="1395095">
              <a:spcBef>
                <a:spcPts val="630"/>
              </a:spcBef>
            </a:pPr>
            <a:r>
              <a:rPr sz="1840" i="1" baseline="7000" dirty="0">
                <a:solidFill>
                  <a:srgbClr val="FFFFFF"/>
                </a:solidFill>
                <a:latin typeface="Arial" panose="020B0604020202020204"/>
                <a:cs typeface="Arial" panose="020B0604020202020204"/>
              </a:rPr>
              <a:t>t</a:t>
            </a:r>
            <a:r>
              <a:rPr sz="1840" baseline="7000" dirty="0">
                <a:solidFill>
                  <a:srgbClr val="FFFFFF"/>
                </a:solidFill>
                <a:latin typeface="Lucida Sans Unicode" panose="020B0602030504020204"/>
                <a:cs typeface="Lucida Sans Unicode" panose="020B0602030504020204"/>
              </a:rPr>
              <a:t>=0</a:t>
            </a:r>
            <a:r>
              <a:rPr sz="1840" spc="147" baseline="7000" dirty="0">
                <a:solidFill>
                  <a:srgbClr val="FFFFFF"/>
                </a:solidFill>
                <a:latin typeface="Lucida Sans Unicode" panose="020B0602030504020204"/>
                <a:cs typeface="Lucida Sans Unicode" panose="020B0602030504020204"/>
              </a:rPr>
              <a:t> </a:t>
            </a:r>
            <a:r>
              <a:rPr sz="1225" i="1" spc="-10" dirty="0">
                <a:solidFill>
                  <a:srgbClr val="FFFFFF"/>
                </a:solidFill>
                <a:latin typeface="Arial" panose="020B0604020202020204"/>
                <a:cs typeface="Arial" panose="020B0604020202020204"/>
              </a:rPr>
              <a:t>a</a:t>
            </a:r>
            <a:r>
              <a:rPr sz="1225" spc="-10" dirty="0">
                <a:solidFill>
                  <a:srgbClr val="FFFFFF"/>
                </a:solidFill>
                <a:latin typeface="Lucida Sans Unicode" panose="020B0602030504020204"/>
                <a:cs typeface="Lucida Sans Unicode" panose="020B0602030504020204"/>
              </a:rPr>
              <a:t>∈</a:t>
            </a:r>
            <a:r>
              <a:rPr sz="1225" i="1" spc="-10" dirty="0">
                <a:solidFill>
                  <a:srgbClr val="FFFFFF"/>
                </a:solidFill>
                <a:latin typeface="Arial" panose="020B0604020202020204"/>
                <a:cs typeface="Arial" panose="020B0604020202020204"/>
              </a:rPr>
              <a:t>A</a:t>
            </a:r>
            <a:r>
              <a:rPr sz="1225" spc="-10" dirty="0">
                <a:solidFill>
                  <a:srgbClr val="FFFFFF"/>
                </a:solidFill>
                <a:latin typeface="Lucida Sans Unicode" panose="020B0602030504020204"/>
                <a:cs typeface="Lucida Sans Unicode" panose="020B0602030504020204"/>
              </a:rPr>
              <a:t>(</a:t>
            </a:r>
            <a:r>
              <a:rPr sz="1225" i="1" spc="-10" dirty="0">
                <a:solidFill>
                  <a:srgbClr val="FFFFFF"/>
                </a:solidFill>
                <a:latin typeface="Arial" panose="020B0604020202020204"/>
                <a:cs typeface="Arial" panose="020B0604020202020204"/>
              </a:rPr>
              <a:t>s</a:t>
            </a:r>
            <a:r>
              <a:rPr sz="1325" i="1" spc="-15" baseline="-9000" dirty="0">
                <a:solidFill>
                  <a:srgbClr val="FFFFFF"/>
                </a:solidFill>
                <a:latin typeface="Arial" panose="020B0604020202020204"/>
                <a:cs typeface="Arial" panose="020B0604020202020204"/>
              </a:rPr>
              <a:t>t</a:t>
            </a:r>
            <a:r>
              <a:rPr sz="1225" spc="-10" dirty="0">
                <a:solidFill>
                  <a:srgbClr val="FFFFFF"/>
                </a:solidFill>
                <a:latin typeface="Lucida Sans Unicode" panose="020B0602030504020204"/>
                <a:cs typeface="Lucida Sans Unicode" panose="020B0602030504020204"/>
              </a:rPr>
              <a:t>)</a:t>
            </a:r>
            <a:endParaRPr sz="1225">
              <a:latin typeface="Lucida Sans Unicode" panose="020B0602030504020204"/>
              <a:cs typeface="Lucida Sans Unicode" panose="020B0602030504020204"/>
            </a:endParaRPr>
          </a:p>
        </p:txBody>
      </p:sp>
      <p:sp>
        <p:nvSpPr>
          <p:cNvPr id="40" name="object 40"/>
          <p:cNvSpPr txBox="1"/>
          <p:nvPr/>
        </p:nvSpPr>
        <p:spPr>
          <a:xfrm>
            <a:off x="8824362" y="5290518"/>
            <a:ext cx="2145512" cy="284526"/>
          </a:xfrm>
          <a:prstGeom prst="rect">
            <a:avLst/>
          </a:prstGeom>
        </p:spPr>
        <p:txBody>
          <a:bodyPr vert="horz" wrap="square" lIns="0" tIns="12470" rIns="0" bIns="0" rtlCol="0">
            <a:spAutoFit/>
          </a:bodyPr>
          <a:lstStyle/>
          <a:p>
            <a:pPr marL="37465">
              <a:spcBef>
                <a:spcPts val="100"/>
              </a:spcBef>
            </a:pPr>
            <a:r>
              <a:rPr sz="1765" i="1" dirty="0">
                <a:solidFill>
                  <a:srgbClr val="FFFFFF"/>
                </a:solidFill>
                <a:latin typeface="Arial" panose="020B0604020202020204"/>
                <a:cs typeface="Arial" panose="020B0604020202020204"/>
              </a:rPr>
              <a:t>π</a:t>
            </a:r>
            <a:r>
              <a:rPr sz="1765" dirty="0">
                <a:solidFill>
                  <a:srgbClr val="FFFFFF"/>
                </a:solidFill>
                <a:latin typeface="Lucida Sans Unicode" panose="020B0602030504020204"/>
                <a:cs typeface="Lucida Sans Unicode" panose="020B0602030504020204"/>
              </a:rPr>
              <a:t>(</a:t>
            </a:r>
            <a:r>
              <a:rPr sz="1765" i="1" dirty="0">
                <a:solidFill>
                  <a:srgbClr val="FFFFFF"/>
                </a:solidFill>
                <a:latin typeface="Arial" panose="020B0604020202020204"/>
                <a:cs typeface="Arial" panose="020B0604020202020204"/>
              </a:rPr>
              <a:t>a</a:t>
            </a:r>
            <a:r>
              <a:rPr sz="1765" i="1" spc="-123" dirty="0">
                <a:solidFill>
                  <a:srgbClr val="FFFFFF"/>
                </a:solidFill>
                <a:latin typeface="Arial" panose="020B0604020202020204"/>
                <a:cs typeface="Arial" panose="020B0604020202020204"/>
              </a:rPr>
              <a:t> </a:t>
            </a:r>
            <a:r>
              <a:rPr sz="1765" spc="-182" dirty="0">
                <a:solidFill>
                  <a:srgbClr val="FFFFFF"/>
                </a:solidFill>
                <a:latin typeface="Lucida Sans Unicode" panose="020B0602030504020204"/>
                <a:cs typeface="Lucida Sans Unicode" panose="020B0602030504020204"/>
              </a:rPr>
              <a:t>∣</a:t>
            </a:r>
            <a:r>
              <a:rPr sz="1765" spc="-49" dirty="0">
                <a:solidFill>
                  <a:srgbClr val="FFFFFF"/>
                </a:solidFill>
                <a:latin typeface="Lucida Sans Unicode" panose="020B0602030504020204"/>
                <a:cs typeface="Lucida Sans Unicode" panose="020B0602030504020204"/>
              </a:rPr>
              <a:t> </a:t>
            </a:r>
            <a:r>
              <a:rPr sz="1765" i="1" spc="69" dirty="0">
                <a:solidFill>
                  <a:srgbClr val="FFFFFF"/>
                </a:solidFill>
                <a:latin typeface="Arial" panose="020B0604020202020204"/>
                <a:cs typeface="Arial" panose="020B0604020202020204"/>
              </a:rPr>
              <a:t>s</a:t>
            </a:r>
            <a:r>
              <a:rPr sz="1840" i="1" spc="102" baseline="-11000" dirty="0">
                <a:solidFill>
                  <a:srgbClr val="FFFFFF"/>
                </a:solidFill>
                <a:latin typeface="Arial" panose="020B0604020202020204"/>
                <a:cs typeface="Arial" panose="020B0604020202020204"/>
              </a:rPr>
              <a:t>t</a:t>
            </a:r>
            <a:r>
              <a:rPr sz="1765" spc="69" dirty="0">
                <a:solidFill>
                  <a:srgbClr val="FFFFFF"/>
                </a:solidFill>
                <a:latin typeface="Lucida Sans Unicode" panose="020B0602030504020204"/>
                <a:cs typeface="Lucida Sans Unicode" panose="020B0602030504020204"/>
              </a:rPr>
              <a:t>)</a:t>
            </a:r>
            <a:r>
              <a:rPr sz="1765" spc="-290" dirty="0">
                <a:solidFill>
                  <a:srgbClr val="FFFFFF"/>
                </a:solidFill>
                <a:latin typeface="Lucida Sans Unicode" panose="020B0602030504020204"/>
                <a:cs typeface="Lucida Sans Unicode" panose="020B0602030504020204"/>
              </a:rPr>
              <a:t> </a:t>
            </a:r>
            <a:r>
              <a:rPr sz="1765" i="1" dirty="0">
                <a:solidFill>
                  <a:srgbClr val="FFFFFF"/>
                </a:solidFill>
                <a:latin typeface="Arial" panose="020B0604020202020204"/>
                <a:cs typeface="Arial" panose="020B0604020202020204"/>
              </a:rPr>
              <a:t>p</a:t>
            </a:r>
            <a:r>
              <a:rPr sz="1765" dirty="0">
                <a:solidFill>
                  <a:srgbClr val="FFFFFF"/>
                </a:solidFill>
                <a:latin typeface="Lucida Sans Unicode" panose="020B0602030504020204"/>
                <a:cs typeface="Lucida Sans Unicode" panose="020B0602030504020204"/>
              </a:rPr>
              <a:t>(</a:t>
            </a:r>
            <a:r>
              <a:rPr sz="1765" i="1" dirty="0">
                <a:solidFill>
                  <a:srgbClr val="FFFFFF"/>
                </a:solidFill>
                <a:latin typeface="Arial" panose="020B0604020202020204"/>
                <a:cs typeface="Arial" panose="020B0604020202020204"/>
              </a:rPr>
              <a:t>s</a:t>
            </a:r>
            <a:r>
              <a:rPr sz="1840" i="1" baseline="-11000" dirty="0">
                <a:solidFill>
                  <a:srgbClr val="FFFFFF"/>
                </a:solidFill>
                <a:latin typeface="Arial" panose="020B0604020202020204"/>
                <a:cs typeface="Arial" panose="020B0604020202020204"/>
              </a:rPr>
              <a:t>t</a:t>
            </a:r>
            <a:r>
              <a:rPr sz="1840" baseline="-11000" dirty="0">
                <a:solidFill>
                  <a:srgbClr val="FFFFFF"/>
                </a:solidFill>
                <a:latin typeface="Lucida Sans Unicode" panose="020B0602030504020204"/>
                <a:cs typeface="Lucida Sans Unicode" panose="020B0602030504020204"/>
              </a:rPr>
              <a:t>+1</a:t>
            </a:r>
            <a:r>
              <a:rPr sz="1840" spc="243" baseline="-11000" dirty="0">
                <a:solidFill>
                  <a:srgbClr val="FFFFFF"/>
                </a:solidFill>
                <a:latin typeface="Lucida Sans Unicode" panose="020B0602030504020204"/>
                <a:cs typeface="Lucida Sans Unicode" panose="020B0602030504020204"/>
              </a:rPr>
              <a:t> </a:t>
            </a:r>
            <a:r>
              <a:rPr sz="1765" spc="-182" dirty="0">
                <a:solidFill>
                  <a:srgbClr val="FFFFFF"/>
                </a:solidFill>
                <a:latin typeface="Lucida Sans Unicode" panose="020B0602030504020204"/>
                <a:cs typeface="Lucida Sans Unicode" panose="020B0602030504020204"/>
              </a:rPr>
              <a:t>∣</a:t>
            </a:r>
            <a:r>
              <a:rPr sz="1765" spc="-49" dirty="0">
                <a:solidFill>
                  <a:srgbClr val="FFFFFF"/>
                </a:solidFill>
                <a:latin typeface="Lucida Sans Unicode" panose="020B0602030504020204"/>
                <a:cs typeface="Lucida Sans Unicode" panose="020B0602030504020204"/>
              </a:rPr>
              <a:t> </a:t>
            </a:r>
            <a:r>
              <a:rPr sz="1765" i="1" dirty="0">
                <a:solidFill>
                  <a:srgbClr val="FFFFFF"/>
                </a:solidFill>
                <a:latin typeface="Arial" panose="020B0604020202020204"/>
                <a:cs typeface="Arial" panose="020B0604020202020204"/>
              </a:rPr>
              <a:t>s</a:t>
            </a:r>
            <a:r>
              <a:rPr sz="1840" i="1" baseline="-11000" dirty="0">
                <a:solidFill>
                  <a:srgbClr val="FFFFFF"/>
                </a:solidFill>
                <a:latin typeface="Arial" panose="020B0604020202020204"/>
                <a:cs typeface="Arial" panose="020B0604020202020204"/>
              </a:rPr>
              <a:t>t</a:t>
            </a:r>
            <a:r>
              <a:rPr sz="1765" dirty="0">
                <a:solidFill>
                  <a:srgbClr val="FFFFFF"/>
                </a:solidFill>
                <a:latin typeface="Lucida Sans Unicode" panose="020B0602030504020204"/>
                <a:cs typeface="Lucida Sans Unicode" panose="020B0602030504020204"/>
              </a:rPr>
              <a:t>,</a:t>
            </a:r>
            <a:r>
              <a:rPr sz="1765" spc="-241" dirty="0">
                <a:solidFill>
                  <a:srgbClr val="FFFFFF"/>
                </a:solidFill>
                <a:latin typeface="Lucida Sans Unicode" panose="020B0602030504020204"/>
                <a:cs typeface="Lucida Sans Unicode" panose="020B0602030504020204"/>
              </a:rPr>
              <a:t> </a:t>
            </a:r>
            <a:r>
              <a:rPr sz="1765" i="1" spc="-25" dirty="0">
                <a:solidFill>
                  <a:srgbClr val="FFFFFF"/>
                </a:solidFill>
                <a:latin typeface="Arial" panose="020B0604020202020204"/>
                <a:cs typeface="Arial" panose="020B0604020202020204"/>
              </a:rPr>
              <a:t>a</a:t>
            </a:r>
            <a:r>
              <a:rPr sz="1765" spc="-25" dirty="0">
                <a:solidFill>
                  <a:srgbClr val="FFFFFF"/>
                </a:solidFill>
                <a:latin typeface="Lucida Sans Unicode" panose="020B0602030504020204"/>
                <a:cs typeface="Lucida Sans Unicode" panose="020B0602030504020204"/>
              </a:rPr>
              <a:t>)</a:t>
            </a:r>
            <a:endParaRPr sz="1765">
              <a:latin typeface="Lucida Sans Unicode" panose="020B0602030504020204"/>
              <a:cs typeface="Lucida Sans Unicode" panose="020B0602030504020204"/>
            </a:endParaRPr>
          </a:p>
        </p:txBody>
      </p:sp>
      <p:grpSp>
        <p:nvGrpSpPr>
          <p:cNvPr id="41" name="object 41"/>
          <p:cNvGrpSpPr/>
          <p:nvPr/>
        </p:nvGrpSpPr>
        <p:grpSpPr>
          <a:xfrm>
            <a:off x="110264" y="6705895"/>
            <a:ext cx="11971473" cy="523752"/>
            <a:chOff x="0" y="6829425"/>
            <a:chExt cx="12192000" cy="533400"/>
          </a:xfrm>
        </p:grpSpPr>
        <p:sp>
          <p:nvSpPr>
            <p:cNvPr id="42" name="object 42"/>
            <p:cNvSpPr/>
            <p:nvPr/>
          </p:nvSpPr>
          <p:spPr>
            <a:xfrm>
              <a:off x="0" y="7143749"/>
              <a:ext cx="12192000" cy="219075"/>
            </a:xfrm>
            <a:custGeom>
              <a:avLst/>
              <a:gdLst/>
              <a:ahLst/>
              <a:cxnLst/>
              <a:rect l="l" t="t" r="r" b="b"/>
              <a:pathLst>
                <a:path w="12192000" h="219075">
                  <a:moveTo>
                    <a:pt x="12191999" y="219074"/>
                  </a:moveTo>
                  <a:lnTo>
                    <a:pt x="0" y="219074"/>
                  </a:lnTo>
                  <a:lnTo>
                    <a:pt x="0" y="0"/>
                  </a:lnTo>
                  <a:lnTo>
                    <a:pt x="12191999" y="0"/>
                  </a:lnTo>
                  <a:lnTo>
                    <a:pt x="12191999" y="219074"/>
                  </a:lnTo>
                  <a:close/>
                </a:path>
              </a:pathLst>
            </a:custGeom>
            <a:solidFill>
              <a:srgbClr val="372FA2"/>
            </a:solidFill>
          </p:spPr>
          <p:txBody>
            <a:bodyPr wrap="square" lIns="0" tIns="0" rIns="0" bIns="0" rtlCol="0"/>
            <a:lstStyle/>
            <a:p/>
          </p:txBody>
        </p:sp>
        <p:sp>
          <p:nvSpPr>
            <p:cNvPr id="43" name="object 43"/>
            <p:cNvSpPr/>
            <p:nvPr/>
          </p:nvSpPr>
          <p:spPr>
            <a:xfrm>
              <a:off x="11791937" y="7229475"/>
              <a:ext cx="152400" cy="57150"/>
            </a:xfrm>
            <a:custGeom>
              <a:avLst/>
              <a:gdLst/>
              <a:ahLst/>
              <a:cxnLst/>
              <a:rect l="l" t="t" r="r" b="b"/>
              <a:pathLst>
                <a:path w="152400" h="571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 w="152400" h="57150">
                  <a:moveTo>
                    <a:pt x="152400" y="24790"/>
                  </a:moveTo>
                  <a:lnTo>
                    <a:pt x="127622" y="0"/>
                  </a:lnTo>
                  <a:lnTo>
                    <a:pt x="120040" y="0"/>
                  </a:lnTo>
                  <a:lnTo>
                    <a:pt x="95250" y="24790"/>
                  </a:lnTo>
                  <a:lnTo>
                    <a:pt x="95250" y="32372"/>
                  </a:lnTo>
                  <a:lnTo>
                    <a:pt x="120040" y="57150"/>
                  </a:lnTo>
                  <a:lnTo>
                    <a:pt x="127622" y="57150"/>
                  </a:lnTo>
                  <a:lnTo>
                    <a:pt x="152400" y="32372"/>
                  </a:lnTo>
                  <a:lnTo>
                    <a:pt x="152400" y="28575"/>
                  </a:lnTo>
                  <a:lnTo>
                    <a:pt x="152400" y="24790"/>
                  </a:lnTo>
                  <a:close/>
                </a:path>
              </a:pathLst>
            </a:custGeom>
            <a:solidFill>
              <a:srgbClr val="FFFFFF">
                <a:alpha val="50199"/>
              </a:srgbClr>
            </a:solidFill>
          </p:spPr>
          <p:txBody>
            <a:bodyPr wrap="square" lIns="0" tIns="0" rIns="0" bIns="0" rtlCol="0"/>
            <a:lstStyle/>
            <a:p/>
          </p:txBody>
        </p:sp>
        <p:sp>
          <p:nvSpPr>
            <p:cNvPr id="44" name="object 44"/>
            <p:cNvSpPr/>
            <p:nvPr/>
          </p:nvSpPr>
          <p:spPr>
            <a:xfrm>
              <a:off x="11982447" y="7229474"/>
              <a:ext cx="57150" cy="57150"/>
            </a:xfrm>
            <a:custGeom>
              <a:avLst/>
              <a:gdLst/>
              <a:ahLst/>
              <a:cxnLst/>
              <a:rect l="l" t="t" r="r" b="b"/>
              <a:pathLst>
                <a:path w="57150" h="57150">
                  <a:moveTo>
                    <a:pt x="32365" y="57149"/>
                  </a:moveTo>
                  <a:lnTo>
                    <a:pt x="24784" y="57149"/>
                  </a:lnTo>
                  <a:lnTo>
                    <a:pt x="21139" y="56424"/>
                  </a:lnTo>
                  <a:lnTo>
                    <a:pt x="0" y="32363"/>
                  </a:lnTo>
                  <a:lnTo>
                    <a:pt x="0" y="24785"/>
                  </a:lnTo>
                  <a:lnTo>
                    <a:pt x="24784" y="0"/>
                  </a:lnTo>
                  <a:lnTo>
                    <a:pt x="32365" y="0"/>
                  </a:lnTo>
                  <a:lnTo>
                    <a:pt x="57151" y="28574"/>
                  </a:lnTo>
                  <a:lnTo>
                    <a:pt x="57149" y="32363"/>
                  </a:lnTo>
                  <a:lnTo>
                    <a:pt x="32365" y="57149"/>
                  </a:lnTo>
                  <a:close/>
                </a:path>
              </a:pathLst>
            </a:custGeom>
            <a:solidFill>
              <a:srgbClr val="FFFFFF"/>
            </a:solidFill>
          </p:spPr>
          <p:txBody>
            <a:bodyPr wrap="square" lIns="0" tIns="0" rIns="0" bIns="0" rtlCol="0"/>
            <a:lstStyle/>
            <a:p/>
          </p:txBody>
        </p:sp>
        <p:pic>
          <p:nvPicPr>
            <p:cNvPr id="45" name="object 45"/>
            <p:cNvPicPr/>
            <p:nvPr/>
          </p:nvPicPr>
          <p:blipFill>
            <a:blip r:embed="rId3" cstate="print"/>
            <a:stretch>
              <a:fillRect/>
            </a:stretch>
          </p:blipFill>
          <p:spPr>
            <a:xfrm>
              <a:off x="9896474" y="6829425"/>
              <a:ext cx="342899" cy="342899"/>
            </a:xfrm>
            <a:prstGeom prst="rect">
              <a:avLst/>
            </a:prstGeom>
          </p:spPr>
        </p:pic>
      </p:grpSp>
      <p:sp>
        <p:nvSpPr>
          <p:cNvPr id="46" name="object 46"/>
          <p:cNvSpPr txBox="1"/>
          <p:nvPr/>
        </p:nvSpPr>
        <p:spPr>
          <a:xfrm>
            <a:off x="10224491" y="6749541"/>
            <a:ext cx="1611784" cy="193860"/>
          </a:xfrm>
          <a:prstGeom prst="rect">
            <a:avLst/>
          </a:prstGeom>
        </p:spPr>
        <p:txBody>
          <a:bodyPr vert="horz" wrap="square" lIns="0" tIns="12470" rIns="0" bIns="0" rtlCol="0">
            <a:spAutoFit/>
          </a:bodyPr>
          <a:lstStyle/>
          <a:p>
            <a:pPr marL="37465">
              <a:spcBef>
                <a:spcPts val="100"/>
              </a:spcBef>
            </a:pPr>
            <a:r>
              <a:rPr sz="1180" b="1" dirty="0">
                <a:latin typeface="Arial" panose="020B0604020202020204"/>
                <a:cs typeface="Arial" panose="020B0604020202020204"/>
              </a:rPr>
              <a:t>Powered</a:t>
            </a:r>
            <a:r>
              <a:rPr sz="1180" b="1" spc="93" dirty="0">
                <a:latin typeface="Arial" panose="020B0604020202020204"/>
                <a:cs typeface="Arial" panose="020B0604020202020204"/>
              </a:rPr>
              <a:t> </a:t>
            </a:r>
            <a:r>
              <a:rPr sz="1180" b="1" dirty="0">
                <a:latin typeface="Arial" panose="020B0604020202020204"/>
                <a:cs typeface="Arial" panose="020B0604020202020204"/>
              </a:rPr>
              <a:t>By</a:t>
            </a:r>
            <a:r>
              <a:rPr sz="1180" b="1" spc="-54" dirty="0">
                <a:latin typeface="Arial" panose="020B0604020202020204"/>
                <a:cs typeface="Arial" panose="020B0604020202020204"/>
              </a:rPr>
              <a:t> </a:t>
            </a:r>
            <a:r>
              <a:rPr sz="1400" spc="-655" baseline="44000" dirty="0">
                <a:solidFill>
                  <a:srgbClr val="94A2B8"/>
                </a:solidFill>
                <a:latin typeface="Courier New" panose="02070309020205020404"/>
                <a:cs typeface="Courier New" panose="02070309020205020404"/>
              </a:rPr>
              <a:t>1</a:t>
            </a:r>
            <a:r>
              <a:rPr sz="1180" b="1" spc="-349" dirty="0">
                <a:latin typeface="Arial" panose="020B0604020202020204"/>
                <a:cs typeface="Arial" panose="020B0604020202020204"/>
              </a:rPr>
              <a:t>T</a:t>
            </a:r>
            <a:r>
              <a:rPr sz="1400" spc="-434" baseline="44000" dirty="0">
                <a:solidFill>
                  <a:srgbClr val="94A2B8"/>
                </a:solidFill>
                <a:latin typeface="Courier New" panose="02070309020205020404"/>
                <a:cs typeface="Courier New" panose="02070309020205020404"/>
              </a:rPr>
              <a:t>2</a:t>
            </a:r>
            <a:r>
              <a:rPr sz="1180" b="1" spc="10" dirty="0">
                <a:latin typeface="Arial" panose="020B0604020202020204"/>
                <a:cs typeface="Arial" panose="020B0604020202020204"/>
              </a:rPr>
              <a:t>o</a:t>
            </a:r>
            <a:r>
              <a:rPr sz="1180" b="1" spc="-648" dirty="0">
                <a:latin typeface="Arial" panose="020B0604020202020204"/>
                <a:cs typeface="Arial" panose="020B0604020202020204"/>
              </a:rPr>
              <a:t>s</a:t>
            </a:r>
            <a:r>
              <a:rPr sz="1400" spc="-15" baseline="44000" dirty="0">
                <a:solidFill>
                  <a:srgbClr val="94A2B8"/>
                </a:solidFill>
                <a:latin typeface="Courier New" panose="02070309020205020404"/>
                <a:cs typeface="Courier New" panose="02070309020205020404"/>
              </a:rPr>
              <a:t>/</a:t>
            </a:r>
            <a:r>
              <a:rPr sz="1400" spc="-619" baseline="44000" dirty="0">
                <a:solidFill>
                  <a:srgbClr val="94A2B8"/>
                </a:solidFill>
                <a:latin typeface="Courier New" panose="02070309020205020404"/>
                <a:cs typeface="Courier New" panose="02070309020205020404"/>
              </a:rPr>
              <a:t> </a:t>
            </a:r>
            <a:r>
              <a:rPr sz="1180" b="1" spc="-112" dirty="0">
                <a:latin typeface="Arial" panose="020B0604020202020204"/>
                <a:cs typeface="Arial" panose="020B0604020202020204"/>
              </a:rPr>
              <a:t>e</a:t>
            </a:r>
            <a:r>
              <a:rPr sz="1400" spc="-169" baseline="44000" dirty="0">
                <a:solidFill>
                  <a:srgbClr val="94A2B8"/>
                </a:solidFill>
                <a:latin typeface="Courier New" panose="02070309020205020404"/>
                <a:cs typeface="Courier New" panose="02070309020205020404"/>
              </a:rPr>
              <a:t>1</a:t>
            </a:r>
            <a:r>
              <a:rPr sz="1180" b="1" spc="-112" dirty="0">
                <a:latin typeface="Arial" panose="020B0604020202020204"/>
                <a:cs typeface="Arial" panose="020B0604020202020204"/>
              </a:rPr>
              <a:t>a</a:t>
            </a:r>
            <a:r>
              <a:rPr sz="1400" spc="-169" baseline="44000" dirty="0">
                <a:solidFill>
                  <a:srgbClr val="94A2B8"/>
                </a:solidFill>
                <a:latin typeface="Courier New" panose="02070309020205020404"/>
                <a:cs typeface="Courier New" panose="02070309020205020404"/>
              </a:rPr>
              <a:t>2</a:t>
            </a:r>
            <a:r>
              <a:rPr sz="1180" b="1" spc="-112" dirty="0">
                <a:latin typeface="Arial" panose="020B0604020202020204"/>
                <a:cs typeface="Arial" panose="020B0604020202020204"/>
              </a:rPr>
              <a:t>.ai</a:t>
            </a:r>
            <a:endParaRPr sz="1180">
              <a:latin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5349</Words>
  <Application>WPS 演示</Application>
  <PresentationFormat>自定义</PresentationFormat>
  <Paragraphs>550</Paragraphs>
  <Slides>12</Slides>
  <Notes>0</Notes>
  <HiddenSlides>0</HiddenSlides>
  <MMClips>0</MMClips>
  <ScaleCrop>false</ScaleCrop>
  <HeadingPairs>
    <vt:vector size="6" baseType="variant">
      <vt:variant>
        <vt:lpstr>已用的字体</vt:lpstr>
      </vt:variant>
      <vt:variant>
        <vt:i4>20</vt:i4>
      </vt:variant>
      <vt:variant>
        <vt:lpstr>主题</vt:lpstr>
      </vt:variant>
      <vt:variant>
        <vt:i4>8</vt:i4>
      </vt:variant>
      <vt:variant>
        <vt:lpstr>幻灯片标题</vt:lpstr>
      </vt:variant>
      <vt:variant>
        <vt:i4>12</vt:i4>
      </vt:variant>
    </vt:vector>
  </HeadingPairs>
  <TitlesOfParts>
    <vt:vector size="40" baseType="lpstr">
      <vt:lpstr>Arial</vt:lpstr>
      <vt:lpstr>宋体</vt:lpstr>
      <vt:lpstr>Wingdings</vt:lpstr>
      <vt:lpstr>Tahoma</vt:lpstr>
      <vt:lpstr>Times New Roman</vt:lpstr>
      <vt:lpstr>Arial</vt:lpstr>
      <vt:lpstr>微软雅黑</vt:lpstr>
      <vt:lpstr>Courier New</vt:lpstr>
      <vt:lpstr>Trebuchet MS</vt:lpstr>
      <vt:lpstr>Calibri</vt:lpstr>
      <vt:lpstr>Verdana</vt:lpstr>
      <vt:lpstr>Yu Gothic UI Semibold</vt:lpstr>
      <vt:lpstr>Cambria</vt:lpstr>
      <vt:lpstr>Lucida Console</vt:lpstr>
      <vt:lpstr>Lucida Sans Unicode</vt:lpstr>
      <vt:lpstr>Palatino Linotype</vt:lpstr>
      <vt:lpstr>Microsoft New Tai Lue</vt:lpstr>
      <vt:lpstr>Segoe UI Symbol</vt:lpstr>
      <vt:lpstr>Microsoft PhagsPa</vt:lpstr>
      <vt:lpstr>Arial Unicode MS</vt:lpstr>
      <vt:lpstr>Office Theme</vt:lpstr>
      <vt:lpstr>1_Office Theme</vt:lpstr>
      <vt:lpstr>2_Office Theme</vt:lpstr>
      <vt:lpstr>3_Office Theme</vt:lpstr>
      <vt:lpstr>4_Office Theme</vt:lpstr>
      <vt:lpstr>5_Office Theme</vt:lpstr>
      <vt:lpstr>6_Office Theme</vt:lpstr>
      <vt:lpstr>7_Office Theme</vt:lpstr>
      <vt:lpstr>PowerPoint 演示文稿</vt:lpstr>
      <vt:lpstr>汇报大纲 (Presentation Outline)</vt:lpstr>
      <vt:lpstr>引言: 问题定位与背景</vt:lpstr>
      <vt:lpstr>核心研究问题</vt:lpstr>
      <vt:lpstr>方法: 整体算法思路</vt:lpstr>
      <vt:lpstr>方法：训练数据生成与标签定义</vt:lpstr>
      <vt:lpstr>方法: 基于二部图的状态表示</vt:lpstr>
      <vt:lpstr>方法: 用于分支策略的图卷积网络</vt:lpstr>
      <vt:lpstr>方法: 学习目标与推理策略</vt:lpstr>
      <vt:lpstr>10. 结果与分析: 主要实验结果</vt:lpstr>
      <vt:lpstr>分析: 消融实验与局限性</vt:lpstr>
      <vt:lpstr>结论: 贡献、局限与展望</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吴承翰</cp:lastModifiedBy>
  <cp:revision>2</cp:revision>
  <dcterms:created xsi:type="dcterms:W3CDTF">2026-03-20T06:07:00Z</dcterms:created>
  <dcterms:modified xsi:type="dcterms:W3CDTF">2026-03-20T06:11:00Z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C67DD5084BDC4C1B95E728821F907911_13</vt:lpwstr>
  </property>
  <property fmtid="{D5CDD505-2E9C-101B-9397-08002B2CF9AE}" pid="3" name="KSOProductBuildVer">
    <vt:lpwstr>2052-12.1.0.25225</vt:lpwstr>
  </property>
</Properties>
</file>