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the paper's limitation claim before mentioning equations.
The practical pain point is data sparsity, especially cold-start users.
Evidence: Abstract; Section 1 Introduction; Figure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map for the rest of the talk.
The clean mental model is motif extraction -&gt; three channels -&gt; fusion -&gt; ranking -&gt; self-supervised regularization.
Evidence: Section 3; Figure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here: the paper identifies local motif instances and groups them by semantics.
This step is what turns vague high-order intuition into three usable channels.
Evidence: Section 3.2.1; Figure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main technical backbone of the talk.
Walk through it as SGU, per-channel propagation, layer average plus attention, graph branch, then BPR-based ranking.
Evidence: Section 3.2.2; Eq. (1), Eq. (4), Eq. (6), Eq. (7), Eq. (8).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as a regularizer, not as a second recommendation label.
The big idea is to preserve structural information that may be washed out by aggregation.
Evidence: Section 3.3; Figure 4; Eq. (9), Eq. (11), Eq. (12).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this as only a first-place table.
The stronger reading is that the architecture already beats strong baselines, then SSL brings another boost, especially for cold-start users.
Evidence: Section 4.1; Section 4.2; Table 3; Table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validates the design story from earlier sections.
Figure 7 is especially important because it checks whether the hierarchical self-supervised design is actually justified.
Evidence: Section 4.3; Section 4.4; Figure 5 to Figure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balanced judgment: the paper has a coherent design story and evidence, but it also shows clear boundaries.
That balance makes it a good group-meeting paper.
Evidence: Section 5 Conclusion; Table 4; Figure 5; Figure 7; Figure 8; Figure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Problem, Claim, and Research Question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 2021 | Junliang Yu et al. | Social recommendation under sparsity and cold-start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4206240" cy="537667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1078992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paper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572768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task: improve social recommendation when user-item interactions are sparse.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claim: pairwise social edges miss high-order patterns such as friends plus shared purchase behavior.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question: how to encode these high-order relations and turn them into better top-K ranking performance?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77824" y="3913632"/>
            <a:ext cx="3675888" cy="1024128"/>
          </a:xfrm>
          <a:prstGeom prst="roundRect">
            <a:avLst>
              <a:gd name="adj" fmla="val 4464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0416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takeaway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42428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pairwise social graph modeling to high-order relation construction, then regularize the learned structure with self-supervision.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77824" y="5138928"/>
            <a:ext cx="3675888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266944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remember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24128" y="5468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another recommender with a better backbone. The key move is to explicitly model high-order social structure.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84064" y="932688"/>
            <a:ext cx="6483096" cy="5376672"/>
          </a:xfrm>
          <a:prstGeom prst="roundRect">
            <a:avLst>
              <a:gd name="adj" fmla="val 8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0" descr="D:\桌面\PaperReadand Report\papers\2026-04-01_self-supervised-multi-channel-hypergraph-convolutional-network-for-social-recommendation\05_slides\ppt\assets\Figur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2252491"/>
            <a:ext cx="6153912" cy="259076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0" y="6080760"/>
            <a:ext cx="6044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1: intuitive examples of high-order user relations.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Abstract; Section 1; Figure 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motif extraction to ranking and structural regularization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3749040" cy="537667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676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steps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1572768"/>
            <a:ext cx="3236976" cy="841248"/>
          </a:xfrm>
          <a:prstGeom prst="roundRect">
            <a:avLst>
              <a:gd name="adj" fmla="val 5435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82496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Detect motifs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2024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interaction matrix R and social matrix S to find 10 local triangular motif instances.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2615184"/>
            <a:ext cx="32369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24912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Build channels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motif instances into social, joint, and purchase channels, each inducing one user relation structure.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" y="3657600"/>
            <a:ext cx="32369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67328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Learn embeddings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00507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channel-specific hypergraph propagation plus one user-item graph branch for collaborative item signal.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" y="4700016"/>
            <a:ext cx="3236976" cy="841248"/>
          </a:xfrm>
          <a:prstGeom prst="roundRect">
            <a:avLst>
              <a:gd name="adj" fmla="val 5435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09744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Train jointly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04748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channels with attention and optimize BPR together with hierarchical mutual information regularization.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932688"/>
            <a:ext cx="6995160" cy="5376672"/>
          </a:xfrm>
          <a:prstGeom prst="roundRect">
            <a:avLst>
              <a:gd name="adj" fmla="val 8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0" descr="D:\桌面\PaperReadand Report\papers\2026-04-01_self-supervised-multi-channel-hypergraph-convolutional-network-for-social-recommendation\05_slides\ppt\assets\Figur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2692130"/>
            <a:ext cx="6665976" cy="171148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91456" y="6080760"/>
            <a:ext cx="6556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3: the method combines three hypergraph channels, one graph branch, and an auxiliary self-supervised task.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3; Figure 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Motif Construction and Channel Semantics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explains what the three channels actually encode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10954512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0" descr="D:\桌面\PaperReadand Report\papers\2026-04-01_self-supervised-multi-channel-hypergraph-convolutional-network-for-social-recommendation\05_slides\ppt\assets\Figur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297607"/>
            <a:ext cx="10625328" cy="15195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099816"/>
            <a:ext cx="10515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2: 10 motif types grouped into social, joint, and purchase channels.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4672" y="3703320"/>
            <a:ext cx="3401568" cy="1207008"/>
          </a:xfrm>
          <a:prstGeom prst="roundRect">
            <a:avLst>
              <a:gd name="adj" fmla="val 3788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813048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channel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4050792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Motifs M1-M7 capture follow / social connectivity patterns among users.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07408" y="3703320"/>
            <a:ext cx="3401568" cy="1207008"/>
          </a:xfrm>
          <a:prstGeom prst="roundRect">
            <a:avLst>
              <a:gd name="adj" fmla="val 3788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35424" y="3813048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channel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35424" y="4050792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Motifs M8-M9 mix social and purchase evidence to encode shared but hybrid high-order relations.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10144" y="3703320"/>
            <a:ext cx="340156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3813048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channel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4050792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Motif M10 focuses on purchase-driven high-order proximity and later becomes the strongest branch in ablation.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4672" y="521208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5340096"/>
            <a:ext cx="10314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reading note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50976" y="5541264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motif is a local triangle instance, not a partition of the whole graph. Each channel then induces one user hypergraph or one equivalent motif-induced adjacency A_c.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3.2.1; Figure 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 Learning in Vanilla MHCN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SGU -&gt; channel propagation -&gt; attention fusion -&gt; graph branch -&gt; ranking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6537960" cy="5376672"/>
          </a:xfrm>
          <a:prstGeom prst="roundRect">
            <a:avLst>
              <a:gd name="adj" fmla="val 8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inside MHCN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1627632"/>
            <a:ext cx="1664208" cy="841248"/>
          </a:xfrm>
          <a:prstGeom prst="roundRect">
            <a:avLst>
              <a:gd name="adj" fmla="val 5435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73736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97510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the shared user embedding into channel-specific inputs.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1938528"/>
            <a:ext cx="310896" cy="219456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54096" y="1627632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737360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Hypergraph conv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82112" y="197510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Eq. (2) / Eq. (4) inside each semantic channel.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01768" y="1938528"/>
            <a:ext cx="310896" cy="219456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8384" y="1627632"/>
            <a:ext cx="1325880" cy="841248"/>
          </a:xfrm>
          <a:prstGeom prst="roundRect">
            <a:avLst>
              <a:gd name="adj" fmla="val 5435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73736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97510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P_s*, P_j*, and P_p* with user-specific weights.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61872" y="3054096"/>
            <a:ext cx="1975104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316382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branch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89888" y="34015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LightGCN-style user-item graph branch injects item-side collaborative signal.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3401568"/>
            <a:ext cx="310896" cy="219456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77056" y="3054096"/>
            <a:ext cx="2048256" cy="896112"/>
          </a:xfrm>
          <a:prstGeom prst="roundRect">
            <a:avLst>
              <a:gd name="adj" fmla="val 5102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316382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embeddings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05072" y="340156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channel fusion with the graph branch to get user and item embeddings P and Q.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17336" y="3401568"/>
            <a:ext cx="310896" cy="219456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498848"/>
            <a:ext cx="1719072" cy="786384"/>
          </a:xfrm>
          <a:prstGeom prst="roundRect">
            <a:avLst>
              <a:gd name="adj" fmla="val 5814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460857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4846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with p_u^T q_i and train with BPR ranking loss.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40680" y="3950208"/>
            <a:ext cx="0" cy="43891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" y="4882896"/>
            <a:ext cx="3337560" cy="822960"/>
          </a:xfrm>
          <a:prstGeom prst="roundRect">
            <a:avLst>
              <a:gd name="adj" fmla="val 555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5010912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nuance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60704" y="521208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propagation operator itself is mostly weight-light; the main learnable pieces are the SGU parameters, embeddings, and attention.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7333488" y="932688"/>
            <a:ext cx="4233672" cy="537667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52944" y="1097280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116586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equations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34656" y="1572768"/>
            <a:ext cx="3822192" cy="1152144"/>
          </a:xfrm>
          <a:prstGeom prst="roundRect">
            <a:avLst>
              <a:gd name="adj" fmla="val 3968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168249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input gating</a:t>
            </a:r>
            <a:endParaRPr lang="en-US" sz="11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0" y="1938528"/>
            <a:ext cx="3529584" cy="649224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7534656" y="2907792"/>
            <a:ext cx="382219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30175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hypergraph propagation</a:t>
            </a:r>
            <a:endParaRPr lang="en-US" sz="11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0" y="3273552"/>
            <a:ext cx="3529584" cy="612648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7534656" y="4224528"/>
            <a:ext cx="3822192" cy="969264"/>
          </a:xfrm>
          <a:prstGeom prst="roundRect">
            <a:avLst>
              <a:gd name="adj" fmla="val 471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680960" y="433425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score</a:t>
            </a:r>
            <a:endParaRPr lang="en-US" sz="110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960" y="4590288"/>
            <a:ext cx="3529584" cy="466344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3.2.2; Eq. (1); Eq. (4); Eq. (6); Eq. (7); Eq. (8)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Self-Supervised Learning Is Added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Hierarchical mutual information acts as structural regularization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3913632" cy="5376672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572768"/>
            <a:ext cx="35295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multi-channel aggregation, some high-order structure can be diluted. The paper calls this aggregating loss.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auxiliary task builds the hierarchy user &lt;- sub-hypergraph &lt;- hypergraph and maximizes mutual information across that hierarchy.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pairs come from the real structure; negative pairs come from shuffled sub-hypergraph representations.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877824" y="3822192"/>
            <a:ext cx="3657600" cy="896112"/>
          </a:xfrm>
          <a:prstGeom prst="roundRect">
            <a:avLst>
              <a:gd name="adj" fmla="val 510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31920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Discriminator view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4187952"/>
            <a:ext cx="3364992" cy="39319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77824" y="4882896"/>
            <a:ext cx="3657600" cy="786384"/>
          </a:xfrm>
          <a:prstGeom prst="roundRect">
            <a:avLst>
              <a:gd name="adj" fmla="val 5814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4992624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training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" y="5248656"/>
            <a:ext cx="3364992" cy="28346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36592" y="932688"/>
            <a:ext cx="6830568" cy="5376672"/>
          </a:xfrm>
          <a:prstGeom prst="roundRect">
            <a:avLst>
              <a:gd name="adj" fmla="val 8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2" descr="D:\桌面\PaperReadand Report\papers\2026-04-01_self-supervised-multi-channel-hypergraph-convolutional-network-for-social-recommendation\05_slides\ppt\assets\Figur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506409"/>
            <a:ext cx="6501384" cy="40829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56048" y="6080760"/>
            <a:ext cx="6391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4: hierarchical mutual information over user, sub-hypergraph, and hypergraph representations.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3.3; Figure 4; Eq. (9); Eq. (11); Eq. (12)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 and Main Results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 is already strong, and S^2-MHCN improves it further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3200400" cy="5376672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603504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Datasets: LastFM, Douban, and Yelp. Douban is converted from explicit ratings to implicit positive feedback for top-K recommendation.</a:t>
            </a:r>
            <a:endParaRPr lang="en-US" sz="1310" dirty="0"/>
          </a:p>
          <a:p>
            <a:pPr marL="152400" indent="-152400">
              <a:buSzPct val="100000"/>
              <a:buChar char="•"/>
            </a:pPr>
            <a:r>
              <a:rPr lang="en-US" sz="13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uses 5-fold cross-validation and full-candidate ranking, not sampled candidate sets.</a:t>
            </a:r>
            <a:endParaRPr lang="en-US" sz="1310" dirty="0"/>
          </a:p>
          <a:p>
            <a:pPr marL="152400" indent="-152400">
              <a:buSzPct val="100000"/>
              <a:buChar char="•"/>
            </a:pPr>
            <a:r>
              <a:rPr lang="en-US" sz="13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reports both complete test results and cold-start results.</a:t>
            </a:r>
            <a:endParaRPr lang="en-US" sz="1310" dirty="0"/>
          </a:p>
          <a:p>
            <a:pPr marL="152400" indent="-152400">
              <a:buSzPct val="100000"/>
              <a:buChar char="•"/>
            </a:pPr>
            <a:r>
              <a:rPr lang="en-US" sz="13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 include BPR, SBPR, GraphRec, DiffNet++, LightGCN, and DHCF.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877824" y="4846320"/>
            <a:ext cx="2670048" cy="841248"/>
          </a:xfrm>
          <a:prstGeom prst="roundRect">
            <a:avLst>
              <a:gd name="adj" fmla="val 543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97433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51755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two claims: MHCN &gt; baseline means the structure works; S^2-MHCN &gt; MHCN means the SSL module is not decorative.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041648" y="932688"/>
            <a:ext cx="7525512" cy="2688336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1104" y="1097280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165860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3: complete test set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61104" y="1591056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7373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180594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LastFM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30368" y="17373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27064" y="17373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LightGCN: 0.23392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662672" y="1737360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0.23834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997696" y="17373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0.24395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10040112" y="1773936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4120" y="18150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261104" y="2286000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43230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250088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243230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27064" y="243230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LightGCN: 6.247%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662672" y="2432304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6.556%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997696" y="24323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6.681%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0040112" y="2468880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04120" y="251002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261104" y="2980944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0832" y="312724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43984" y="319582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312724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27064" y="3127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LightGCN: 0.04998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7662672" y="312724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0.05356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8997696" y="312724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0.06061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10040112" y="3163824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04120" y="3204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4041648" y="3730752"/>
            <a:ext cx="7525512" cy="2615184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3895344"/>
            <a:ext cx="1536192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34256" y="396392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4: cold-start users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61104" y="4389120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70832" y="453542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43984" y="460400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LastFM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30368" y="453542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27064" y="453542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DiffNet++: 0.16031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7662672" y="4535424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0.17218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8997696" y="453542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0.19138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10040112" y="4572000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04120" y="461314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4261104" y="5065776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70832" y="52120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43984" y="528066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Douban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230368" y="521208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Recall@10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27064" y="521208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9.646%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7662672" y="5212080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9.646%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8997696" y="521208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10.632%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10040112" y="5248656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04120" y="528980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4261104" y="5742432"/>
            <a:ext cx="704088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70832" y="58887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43984" y="595731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Yelp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230368" y="588873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227064" y="588873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0.04354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7662672" y="5888736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MHCN: 0.04354</a:t>
            </a:r>
            <a:endParaRPr lang="en-US" sz="1020" dirty="0"/>
          </a:p>
        </p:txBody>
      </p:sp>
      <p:sp>
        <p:nvSpPr>
          <p:cNvPr id="72" name="Text 70"/>
          <p:cNvSpPr/>
          <p:nvPr/>
        </p:nvSpPr>
        <p:spPr>
          <a:xfrm>
            <a:off x="8997696" y="588873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S^2: 0.05143</a:t>
            </a:r>
            <a:endParaRPr lang="en-US" sz="1020" dirty="0"/>
          </a:p>
        </p:txBody>
      </p:sp>
      <p:sp>
        <p:nvSpPr>
          <p:cNvPr id="73" name="Shape 71"/>
          <p:cNvSpPr/>
          <p:nvPr/>
        </p:nvSpPr>
        <p:spPr>
          <a:xfrm>
            <a:off x="10040112" y="5925312"/>
            <a:ext cx="512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04120" y="596646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4.1; Section 4.2; Table 3; Table 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Ablation, Sensitivity, and Mechanism Validation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5 to Figure 9 explain why the method works and where its boundary lies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3456432" cy="5376672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experiments say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5 and Figure 6: all channels help, but purchase channel contributes the most.</a:t>
            </a:r>
            <a:endParaRPr lang="en-US" sz="1340" dirty="0"/>
          </a:p>
          <a:p>
            <a:pPr marL="152400" indent="-152400">
              <a:buSzPct val="100000"/>
              <a:buChar char="•"/>
            </a:pPr>
            <a:r>
              <a:rPr lang="en-US" sz="13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7: hierarchical MIM beats local-only, global-only, and DGI-style alternatives.</a:t>
            </a:r>
            <a:endParaRPr lang="en-US" sz="1340" dirty="0"/>
          </a:p>
          <a:p>
            <a:pPr marL="152400" indent="-152400">
              <a:buSzPct val="100000"/>
              <a:buChar char="•"/>
            </a:pPr>
            <a:r>
              <a:rPr lang="en-US" sz="13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8: the SSL weight beta should stay small; performance peaks around 0.01.</a:t>
            </a:r>
            <a:endParaRPr lang="en-US" sz="1340" dirty="0"/>
          </a:p>
          <a:p>
            <a:pPr marL="152400" indent="-152400">
              <a:buSzPct val="100000"/>
              <a:buChar char="•"/>
            </a:pPr>
            <a:r>
              <a:rPr lang="en-US" sz="13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9: shallow depth works best; deeper models suffer from over-smoothing.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77824" y="4791456"/>
            <a:ext cx="2761488" cy="896112"/>
          </a:xfrm>
          <a:prstGeom prst="roundRect">
            <a:avLst>
              <a:gd name="adj" fmla="val 5102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91947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one-line summary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proves not only that the method wins, but also which component matters most and what tuning range keeps it stable.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279392" y="932688"/>
            <a:ext cx="7287768" cy="2706624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0" descr="D:\桌面\PaperReadand Report\papers\2026-04-01_self-supervised-multi-channel-hypergraph-convolutional-network-for-social-recommendation\05_slides\ppt\assets\Figur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589" y="1097280"/>
            <a:ext cx="2989374" cy="22311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498848" y="3410712"/>
            <a:ext cx="6848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7: hierarchical MIM is the strongest self-supervised design.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79392" y="3913632"/>
            <a:ext cx="3529584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1" descr="D:\桌面\PaperReadand Report\papers\2026-04-01_self-supervised-multi-channel-hypergraph-convolutional-network-for-social-recommendation\05_slides\ppt\assets\Figure5&amp;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349" y="4078224"/>
            <a:ext cx="1075671" cy="1463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98848" y="5623560"/>
            <a:ext cx="3090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5-6: purchase channel dominates both ablation and attention.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28432" y="3913632"/>
            <a:ext cx="3547872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2" descr="D:\桌面\PaperReadand Report\papers\2026-04-01_self-supervised-multi-channel-hypergraph-convolutional-network-for-social-recommendation\05_slides\ppt\assets\Figure8&amp;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674" y="4078224"/>
            <a:ext cx="1225389" cy="1463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5623560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8-9: small beta and depth 2 work best.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4.3; Section 4.4; Figure 5; Figure 6; Figure 7; Figure 8; Figure 9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182880"/>
            <a:ext cx="713232" cy="283464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0429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6464" y="146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Contribution, Limitation, and Takeaway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4752" y="402336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explain the paper clearly to the group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704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5230368" cy="3675888"/>
          </a:xfrm>
          <a:prstGeom prst="roundRect">
            <a:avLst>
              <a:gd name="adj" fmla="val 12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1225296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5860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contributions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1591056"/>
            <a:ext cx="4700016" cy="768096"/>
          </a:xfrm>
          <a:prstGeom prst="roundRect">
            <a:avLst>
              <a:gd name="adj" fmla="val 5952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700784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High-order relation construction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 social recommendation from pairwise social graph modeling to multi-channel motif-induced hypergraph modeling.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2542032"/>
            <a:ext cx="4700016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51760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Practical representation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8950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SGU, efficient hypergraph propagation, channel attention, and one user-item graph branch in a clean ranking architecture.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" y="3493008"/>
            <a:ext cx="4700016" cy="768096"/>
          </a:xfrm>
          <a:prstGeom prst="roundRect">
            <a:avLst>
              <a:gd name="adj" fmla="val 5952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02736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Structural self-supervision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hierarchical mutual information that matches the user &lt;- sub-hypergraph &lt;- hypergraph hierarchy instead of generic DGI-style SSL.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932688"/>
            <a:ext cx="5477256" cy="3675888"/>
          </a:xfrm>
          <a:prstGeom prst="roundRect">
            <a:avLst>
              <a:gd name="adj" fmla="val 12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097280"/>
            <a:ext cx="1060704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1658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limitations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45936" y="1591056"/>
            <a:ext cx="4937760" cy="950976"/>
          </a:xfrm>
          <a:prstGeom prst="roundRect">
            <a:avLst>
              <a:gd name="adj" fmla="val 4808"/>
            </a:avLst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700784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signal dominates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3952" y="1938528"/>
            <a:ext cx="4681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evidence comes from purchase-related structure, so the method is not winning through explicit social edges alone.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45936" y="2761488"/>
            <a:ext cx="4937760" cy="950976"/>
          </a:xfrm>
          <a:prstGeom prst="roundRect">
            <a:avLst>
              <a:gd name="adj" fmla="val 4808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871216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Tuning and depth matter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3108960"/>
            <a:ext cx="4681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prefers small beta and shallow depth. Larger auxiliary weight or deeper propagation can hurt performance through interference or over-smoothing.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" y="4882896"/>
            <a:ext cx="10753344" cy="987552"/>
          </a:xfrm>
          <a:prstGeom prst="roundRect">
            <a:avLst>
              <a:gd name="adj" fmla="val 463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5010912"/>
            <a:ext cx="10460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final mental model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50976" y="5212080"/>
            <a:ext cx="1046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the story as high-order relation construction plus controlled structural regularization. That is the cleanest way to explain why this paper is different from a plain social GNN recommender.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73952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5 Conclusion; Table 4; Figure 5; Figure 7; Figure 8; Figure 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64040" y="64739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S^2-MHCN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PaperReadand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Self-Supervised Multi-Channel Hypergraph Convolutional Network for Social Recommendation</dc:title>
  <dc:subject>Research presentation deck</dc:subject>
  <dc:creator>Codex</dc:creator>
  <cp:lastModifiedBy>Codex</cp:lastModifiedBy>
  <cp:revision>1</cp:revision>
  <dcterms:created xsi:type="dcterms:W3CDTF">2026-04-03T07:55:05Z</dcterms:created>
  <dcterms:modified xsi:type="dcterms:W3CDTF">2026-04-03T07:55:05Z</dcterms:modified>
</cp:coreProperties>
</file>